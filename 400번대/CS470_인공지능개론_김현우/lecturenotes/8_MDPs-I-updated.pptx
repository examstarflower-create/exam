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notesSlides/notesSlide8.xml" ContentType="application/vnd.openxmlformats-officedocument.presentationml.notesSlide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tags/tag15.xml" ContentType="application/vnd.openxmlformats-officedocument.presentationml.tags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notesSlides/notesSlide15.xml" ContentType="application/vnd.openxmlformats-officedocument.presentationml.notesSlide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notesSlides/notesSlide16.xml" ContentType="application/vnd.openxmlformats-officedocument.presentationml.notesSlide+xml"/>
  <Override PartName="/ppt/tags/tag22.xml" ContentType="application/vnd.openxmlformats-officedocument.presentationml.tags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notesSlides/notesSlide32.xml" ContentType="application/vnd.openxmlformats-officedocument.presentationml.notesSlide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notesSlides/notesSlide3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58"/>
  </p:notesMasterIdLst>
  <p:sldIdLst>
    <p:sldId id="256" r:id="rId2"/>
    <p:sldId id="2551" r:id="rId3"/>
    <p:sldId id="260" r:id="rId4"/>
    <p:sldId id="2578" r:id="rId5"/>
    <p:sldId id="2580" r:id="rId6"/>
    <p:sldId id="2581" r:id="rId7"/>
    <p:sldId id="2582" r:id="rId8"/>
    <p:sldId id="2583" r:id="rId9"/>
    <p:sldId id="2584" r:id="rId10"/>
    <p:sldId id="2585" r:id="rId11"/>
    <p:sldId id="2586" r:id="rId12"/>
    <p:sldId id="2587" r:id="rId13"/>
    <p:sldId id="2588" r:id="rId14"/>
    <p:sldId id="2589" r:id="rId15"/>
    <p:sldId id="2591" r:id="rId16"/>
    <p:sldId id="2592" r:id="rId17"/>
    <p:sldId id="2593" r:id="rId18"/>
    <p:sldId id="2590" r:id="rId19"/>
    <p:sldId id="2594" r:id="rId20"/>
    <p:sldId id="2595" r:id="rId21"/>
    <p:sldId id="2596" r:id="rId22"/>
    <p:sldId id="2630" r:id="rId23"/>
    <p:sldId id="2597" r:id="rId24"/>
    <p:sldId id="2598" r:id="rId25"/>
    <p:sldId id="2599" r:id="rId26"/>
    <p:sldId id="2600" r:id="rId27"/>
    <p:sldId id="2601" r:id="rId28"/>
    <p:sldId id="2602" r:id="rId29"/>
    <p:sldId id="2603" r:id="rId30"/>
    <p:sldId id="2631" r:id="rId31"/>
    <p:sldId id="2604" r:id="rId32"/>
    <p:sldId id="2605" r:id="rId33"/>
    <p:sldId id="2606" r:id="rId34"/>
    <p:sldId id="2607" r:id="rId35"/>
    <p:sldId id="2608" r:id="rId36"/>
    <p:sldId id="2615" r:id="rId37"/>
    <p:sldId id="2616" r:id="rId38"/>
    <p:sldId id="2617" r:id="rId39"/>
    <p:sldId id="2618" r:id="rId40"/>
    <p:sldId id="2619" r:id="rId41"/>
    <p:sldId id="2620" r:id="rId42"/>
    <p:sldId id="2621" r:id="rId43"/>
    <p:sldId id="2622" r:id="rId44"/>
    <p:sldId id="2623" r:id="rId45"/>
    <p:sldId id="2624" r:id="rId46"/>
    <p:sldId id="2625" r:id="rId47"/>
    <p:sldId id="2626" r:id="rId48"/>
    <p:sldId id="2627" r:id="rId49"/>
    <p:sldId id="2610" r:id="rId50"/>
    <p:sldId id="2611" r:id="rId51"/>
    <p:sldId id="2612" r:id="rId52"/>
    <p:sldId id="2613" r:id="rId53"/>
    <p:sldId id="2614" r:id="rId54"/>
    <p:sldId id="2629" r:id="rId55"/>
    <p:sldId id="2628" r:id="rId56"/>
    <p:sldId id="919" r:id="rId57"/>
  </p:sldIdLst>
  <p:sldSz cx="9144000" cy="5143500" type="screen16x9"/>
  <p:notesSz cx="6858000" cy="9144000"/>
  <p:embeddedFontLst>
    <p:embeddedFont>
      <p:font typeface="ＭＳ Ｐゴシック" panose="020B0600070205080204" pitchFamily="34" charset="-128"/>
      <p:regular r:id="rId59"/>
    </p:embeddedFont>
    <p:embeddedFont>
      <p:font typeface="Pontano Sans" pitchFamily="2" charset="0"/>
      <p:regular r:id="rId60"/>
      <p:bold r:id="rId6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:p14="http://schemas.microsoft.com/office/powerpoint/2010/main">
        <p14:section name="Default Section" id="{33AA8D02-078C-C844-A8E7-18A7C7C84B8E}">
          <p14:sldIdLst>
            <p14:sldId id="256"/>
          </p14:sldIdLst>
        </p14:section>
        <p14:section name="Question" id="{AAD7E1AC-38C7-644D-BC3C-64C0E5A5FD6D}">
          <p14:sldIdLst/>
        </p14:section>
        <p14:section name="Announcement/logistics" id="{0AC2BA39-0842-C24C-9A8D-90E61D5975F3}">
          <p14:sldIdLst/>
        </p14:section>
        <p14:section name="Recap" id="{8B4DD86F-B2AA-2A4E-91D6-E496628ED625}">
          <p14:sldIdLst>
            <p14:sldId id="2551"/>
          </p14:sldIdLst>
        </p14:section>
        <p14:section name="agenda" id="{581E1E31-DCDA-624E-B3A4-4197B3A6EB52}">
          <p14:sldIdLst>
            <p14:sldId id="260"/>
          </p14:sldIdLst>
        </p14:section>
        <p14:section name="Main - MDP" id="{49C744F3-8023-E642-87EB-18CE5219D8BF}">
          <p14:sldIdLst>
            <p14:sldId id="2578"/>
            <p14:sldId id="2580"/>
            <p14:sldId id="2581"/>
            <p14:sldId id="2582"/>
            <p14:sldId id="2583"/>
            <p14:sldId id="2584"/>
            <p14:sldId id="2585"/>
            <p14:sldId id="2586"/>
            <p14:sldId id="2587"/>
            <p14:sldId id="2588"/>
            <p14:sldId id="2589"/>
            <p14:sldId id="2591"/>
            <p14:sldId id="2592"/>
            <p14:sldId id="2593"/>
            <p14:sldId id="2590"/>
            <p14:sldId id="2594"/>
            <p14:sldId id="2595"/>
            <p14:sldId id="2596"/>
            <p14:sldId id="2630"/>
            <p14:sldId id="2597"/>
            <p14:sldId id="2598"/>
          </p14:sldIdLst>
        </p14:section>
        <p14:section name="Solving MDPs" id="{FDA6659F-9A36-D84A-A09F-89EC4896F3A9}">
          <p14:sldIdLst>
            <p14:sldId id="2599"/>
            <p14:sldId id="2600"/>
            <p14:sldId id="2601"/>
            <p14:sldId id="2602"/>
            <p14:sldId id="2603"/>
            <p14:sldId id="2631"/>
            <p14:sldId id="2604"/>
            <p14:sldId id="2605"/>
            <p14:sldId id="2606"/>
            <p14:sldId id="2607"/>
            <p14:sldId id="2608"/>
            <p14:sldId id="2615"/>
            <p14:sldId id="2616"/>
            <p14:sldId id="2617"/>
            <p14:sldId id="2618"/>
            <p14:sldId id="2619"/>
            <p14:sldId id="2620"/>
            <p14:sldId id="2621"/>
            <p14:sldId id="2622"/>
            <p14:sldId id="2623"/>
            <p14:sldId id="2624"/>
            <p14:sldId id="2625"/>
            <p14:sldId id="2626"/>
            <p14:sldId id="2627"/>
            <p14:sldId id="2610"/>
          </p14:sldIdLst>
        </p14:section>
        <p14:section name="Value iteration" id="{06C1CE87-E7BB-014D-A6C9-17BD99A20874}">
          <p14:sldIdLst>
            <p14:sldId id="2611"/>
            <p14:sldId id="2612"/>
            <p14:sldId id="2613"/>
            <p14:sldId id="2614"/>
          </p14:sldIdLst>
        </p14:section>
        <p14:section name="Food for thought" id="{7BAAAB78-0C7C-3F46-A1EF-F9F1BE174092}">
          <p14:sldIdLst>
            <p14:sldId id="2629"/>
          </p14:sldIdLst>
        </p14:section>
        <p14:section name="Readings" id="{4A6C0F58-87C3-7E4F-9032-2C78EE2DB9C1}">
          <p14:sldIdLst>
            <p14:sldId id="2628"/>
          </p14:sldIdLst>
        </p14:section>
        <p14:section name="what's next?" id="{0BC83CC9-C6B9-6A41-91BA-9E3B677D7C4B}">
          <p14:sldIdLst>
            <p14:sldId id="919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18000"/>
    <a:srgbClr val="4F81BD"/>
    <a:srgbClr val="FFE2D7"/>
    <a:srgbClr val="181089"/>
    <a:srgbClr val="82A96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297"/>
    <p:restoredTop sz="88646"/>
  </p:normalViewPr>
  <p:slideViewPr>
    <p:cSldViewPr snapToGrid="0">
      <p:cViewPr varScale="1">
        <p:scale>
          <a:sx n="140" d="100"/>
          <a:sy n="140" d="100"/>
        </p:scale>
        <p:origin x="608" y="18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61" Type="http://schemas.openxmlformats.org/officeDocument/2006/relationships/font" Target="fonts/font3.fntdata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font" Target="fonts/font1.fntdata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font" Target="fonts/font2.fntdata"/><Relationship Id="rId65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1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Calibri"/>
                <a:sym typeface="Arial"/>
              </a:rPr>
              <a:t>[These slides were adapted from the slides by Dan Klein and Pieter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Calibri"/>
                <a:sym typeface="Arial"/>
              </a:rPr>
              <a:t>Abbeel</a:t>
            </a:r>
            <a:r>
              <a:rPr lang="en-US" sz="11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Calibri"/>
                <a:sym typeface="Arial"/>
              </a:rPr>
              <a:t> for CS188 Intro to AI at UC Berkeley. 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1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Calibri"/>
                <a:sym typeface="Arial"/>
              </a:rPr>
              <a:t>Original CS188 materials are available at http://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Calibri"/>
                <a:sym typeface="Arial"/>
              </a:rPr>
              <a:t>ai.berkeley.edu</a:t>
            </a:r>
            <a:r>
              <a:rPr lang="en-US" sz="11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Calibri"/>
                <a:sym typeface="Arial"/>
              </a:rPr>
              <a:t>.]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100" b="0" i="0" u="none" strike="noStrike" cap="none" dirty="0">
              <a:solidFill>
                <a:srgbClr val="000000"/>
              </a:solidFill>
              <a:latin typeface="Arial"/>
              <a:ea typeface="Arial"/>
              <a:cs typeface="Calibri"/>
              <a:sym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100" b="0" i="0" u="none" strike="noStrike" cap="none" dirty="0">
              <a:solidFill>
                <a:srgbClr val="000000"/>
              </a:solidFill>
              <a:latin typeface="Arial"/>
              <a:ea typeface="Arial"/>
              <a:cs typeface="Calibri"/>
              <a:sym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1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Calibri"/>
                <a:sym typeface="Arial"/>
              </a:rPr>
              <a:t>All right, today topic is </a:t>
            </a:r>
            <a:r>
              <a:rPr lang="en-US" dirty="0"/>
              <a:t>Markov decision processes, and let's start from where we left off.</a:t>
            </a:r>
            <a:endParaRPr lang="en-US" sz="1100" b="0" i="0" u="none" strike="noStrike" cap="none" dirty="0">
              <a:solidFill>
                <a:srgbClr val="000000"/>
              </a:solidFill>
              <a:latin typeface="Arial"/>
              <a:ea typeface="Arial"/>
              <a:cs typeface="Calibri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3d9a64326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3d9a64326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ea typeface="ＭＳ Ｐゴシック" pitchFamily="34" charset="-128"/>
              </a:rPr>
              <a:t>In search problems: did not talk about actions, but about successor functions --- now the information inside the successor function is unpacked into actions, transitions and reward</a:t>
            </a:r>
          </a:p>
          <a:p>
            <a:endParaRPr lang="en-US" dirty="0">
              <a:ea typeface="ＭＳ Ｐゴシック" pitchFamily="34" charset="-128"/>
            </a:endParaRPr>
          </a:p>
          <a:p>
            <a:r>
              <a:rPr lang="en-US" dirty="0">
                <a:ea typeface="ＭＳ Ｐゴシック" pitchFamily="34" charset="-128"/>
              </a:rPr>
              <a:t>Write out S, A, example entry in T, entry in R</a:t>
            </a:r>
          </a:p>
          <a:p>
            <a:endParaRPr lang="en-US" dirty="0">
              <a:ea typeface="ＭＳ Ｐゴシック" pitchFamily="34" charset="-128"/>
            </a:endParaRPr>
          </a:p>
          <a:p>
            <a:r>
              <a:rPr lang="en-US" dirty="0">
                <a:ea typeface="ＭＳ Ｐゴシック" pitchFamily="34" charset="-128"/>
              </a:rPr>
              <a:t>Reward function different from the book : R(</a:t>
            </a:r>
            <a:r>
              <a:rPr lang="en-US" dirty="0" err="1">
                <a:ea typeface="ＭＳ Ｐゴシック" pitchFamily="34" charset="-128"/>
              </a:rPr>
              <a:t>s,a,s</a:t>
            </a:r>
            <a:r>
              <a:rPr lang="ja-JP" altLang="en-US">
                <a:ea typeface="ＭＳ Ｐゴシック" pitchFamily="34" charset="-128"/>
              </a:rPr>
              <a:t>’</a:t>
            </a:r>
            <a:r>
              <a:rPr lang="en-US" altLang="ja-JP" dirty="0">
                <a:ea typeface="ＭＳ Ｐゴシック" pitchFamily="34" charset="-128"/>
              </a:rPr>
              <a:t>)</a:t>
            </a:r>
          </a:p>
          <a:p>
            <a:r>
              <a:rPr lang="en-US" dirty="0">
                <a:ea typeface="ＭＳ Ｐゴシック" pitchFamily="34" charset="-128"/>
              </a:rPr>
              <a:t>In book simpler for equations, but not useful for the projects.</a:t>
            </a:r>
          </a:p>
          <a:p>
            <a:endParaRPr lang="en-US" dirty="0">
              <a:ea typeface="ＭＳ Ｐゴシック" pitchFamily="34" charset="-128"/>
            </a:endParaRPr>
          </a:p>
          <a:p>
            <a:r>
              <a:rPr lang="en-US" dirty="0">
                <a:ea typeface="ＭＳ Ｐゴシック" pitchFamily="34" charset="-128"/>
              </a:rPr>
              <a:t>Need to modify </a:t>
            </a:r>
            <a:r>
              <a:rPr lang="en-US" dirty="0" err="1">
                <a:ea typeface="ＭＳ Ｐゴシック" pitchFamily="34" charset="-128"/>
              </a:rPr>
              <a:t>expectimax</a:t>
            </a:r>
            <a:r>
              <a:rPr lang="en-US" dirty="0">
                <a:ea typeface="ＭＳ Ｐゴシック" pitchFamily="34" charset="-128"/>
              </a:rPr>
              <a:t> a tiny little bit to account for rewards along the way, but that</a:t>
            </a:r>
            <a:r>
              <a:rPr lang="en-US" altLang="en-US" dirty="0">
                <a:ea typeface="ＭＳ Ｐゴシック" pitchFamily="34" charset="-128"/>
              </a:rPr>
              <a:t>’</a:t>
            </a:r>
            <a:r>
              <a:rPr lang="en-US" dirty="0">
                <a:ea typeface="ＭＳ Ｐゴシック" pitchFamily="34" charset="-128"/>
              </a:rPr>
              <a:t>s something you should be able to do, and so you can already solve MDP</a:t>
            </a:r>
            <a:r>
              <a:rPr lang="en-US" altLang="en-US" dirty="0">
                <a:ea typeface="ＭＳ Ｐゴシック" pitchFamily="34" charset="-128"/>
              </a:rPr>
              <a:t>’</a:t>
            </a:r>
            <a:r>
              <a:rPr lang="en-US" dirty="0">
                <a:ea typeface="ＭＳ Ｐゴシック" pitchFamily="34" charset="-128"/>
              </a:rPr>
              <a:t>s  (not in most efficient way)</a:t>
            </a:r>
          </a:p>
          <a:p>
            <a:endParaRPr lang="en-KR" dirty="0"/>
          </a:p>
        </p:txBody>
      </p:sp>
    </p:spTree>
    <p:extLst>
      <p:ext uri="{BB962C8B-B14F-4D97-AF65-F5344CB8AC3E}">
        <p14:creationId xmlns:p14="http://schemas.microsoft.com/office/powerpoint/2010/main" val="329176997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ea typeface="ＭＳ Ｐゴシック" pitchFamily="34" charset="-128"/>
              </a:rPr>
              <a:t>Like search: successor function only depended on current state</a:t>
            </a:r>
          </a:p>
          <a:p>
            <a:endParaRPr lang="en-US" dirty="0">
              <a:ea typeface="ＭＳ Ｐゴシック" pitchFamily="34" charset="-128"/>
            </a:endParaRPr>
          </a:p>
          <a:p>
            <a:r>
              <a:rPr lang="en-US" dirty="0">
                <a:ea typeface="ＭＳ Ｐゴシック" pitchFamily="34" charset="-128"/>
              </a:rPr>
              <a:t>Can make this happen by stuffing more into the state;  </a:t>
            </a:r>
          </a:p>
          <a:p>
            <a:endParaRPr lang="en-US" dirty="0">
              <a:ea typeface="ＭＳ Ｐゴシック" pitchFamily="34" charset="-128"/>
            </a:endParaRPr>
          </a:p>
          <a:p>
            <a:r>
              <a:rPr lang="en-US" dirty="0">
                <a:ea typeface="ＭＳ Ｐゴシック" pitchFamily="34" charset="-128"/>
              </a:rPr>
              <a:t>Very similar to search problems: when solving a maze with food pellets, we stored which food pellets were eaten </a:t>
            </a:r>
          </a:p>
          <a:p>
            <a:endParaRPr lang="en-US" dirty="0">
              <a:ea typeface="ＭＳ Ｐゴシック" pitchFamily="34" charset="-128"/>
            </a:endParaRPr>
          </a:p>
          <a:p>
            <a:endParaRPr lang="en-KR" dirty="0"/>
          </a:p>
        </p:txBody>
      </p:sp>
    </p:spTree>
    <p:extLst>
      <p:ext uri="{BB962C8B-B14F-4D97-AF65-F5344CB8AC3E}">
        <p14:creationId xmlns:p14="http://schemas.microsoft.com/office/powerpoint/2010/main" val="81896534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KR" dirty="0"/>
          </a:p>
        </p:txBody>
      </p:sp>
    </p:spTree>
    <p:extLst>
      <p:ext uri="{BB962C8B-B14F-4D97-AF65-F5344CB8AC3E}">
        <p14:creationId xmlns:p14="http://schemas.microsoft.com/office/powerpoint/2010/main" val="287163364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ea typeface="ＭＳ Ｐゴシック" pitchFamily="34" charset="-128"/>
              </a:rPr>
              <a:t>In MDP chance node represents uncertainty about what might happen based on (</a:t>
            </a:r>
            <a:r>
              <a:rPr lang="en-US" dirty="0" err="1">
                <a:ea typeface="ＭＳ Ｐゴシック" pitchFamily="34" charset="-128"/>
              </a:rPr>
              <a:t>s,a</a:t>
            </a:r>
            <a:r>
              <a:rPr lang="en-US" dirty="0">
                <a:ea typeface="ＭＳ Ｐゴシック" pitchFamily="34" charset="-128"/>
              </a:rPr>
              <a:t>)  [as opposed to being a random adversary]</a:t>
            </a:r>
          </a:p>
          <a:p>
            <a:r>
              <a:rPr lang="en-US" dirty="0">
                <a:ea typeface="ＭＳ Ｐゴシック" pitchFamily="34" charset="-128"/>
              </a:rPr>
              <a:t>Q-state (</a:t>
            </a:r>
            <a:r>
              <a:rPr lang="en-US" dirty="0" err="1">
                <a:ea typeface="ＭＳ Ｐゴシック" pitchFamily="34" charset="-128"/>
              </a:rPr>
              <a:t>s,a</a:t>
            </a:r>
            <a:r>
              <a:rPr lang="en-US" dirty="0">
                <a:ea typeface="ＭＳ Ｐゴシック" pitchFamily="34" charset="-128"/>
              </a:rPr>
              <a:t>) is when you were in a state and took an action </a:t>
            </a:r>
          </a:p>
          <a:p>
            <a:endParaRPr lang="en-KR" dirty="0"/>
          </a:p>
        </p:txBody>
      </p:sp>
    </p:spTree>
    <p:extLst>
      <p:ext uri="{BB962C8B-B14F-4D97-AF65-F5344CB8AC3E}">
        <p14:creationId xmlns:p14="http://schemas.microsoft.com/office/powerpoint/2010/main" val="203376389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KR" dirty="0"/>
          </a:p>
        </p:txBody>
      </p:sp>
    </p:spTree>
    <p:extLst>
      <p:ext uri="{BB962C8B-B14F-4D97-AF65-F5344CB8AC3E}">
        <p14:creationId xmlns:p14="http://schemas.microsoft.com/office/powerpoint/2010/main" val="292411495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ea typeface="ＭＳ Ｐゴシック" pitchFamily="34" charset="-128"/>
              </a:rPr>
              <a:t>Rewards in the future (deeper in the tree) matter less</a:t>
            </a:r>
          </a:p>
          <a:p>
            <a:r>
              <a:rPr lang="en-US" dirty="0">
                <a:ea typeface="ＭＳ Ｐゴシック" pitchFamily="34" charset="-128"/>
              </a:rPr>
              <a:t>Interesting: running </a:t>
            </a:r>
            <a:r>
              <a:rPr lang="en-US" dirty="0" err="1">
                <a:ea typeface="ＭＳ Ｐゴシック" pitchFamily="34" charset="-128"/>
              </a:rPr>
              <a:t>expectimax</a:t>
            </a:r>
            <a:r>
              <a:rPr lang="en-US" dirty="0">
                <a:ea typeface="ＭＳ Ｐゴシック" pitchFamily="34" charset="-128"/>
              </a:rPr>
              <a:t>, if having to truncate the search, then not losing much; e.g.,  less then \</a:t>
            </a:r>
            <a:r>
              <a:rPr lang="en-US" dirty="0" err="1">
                <a:ea typeface="ＭＳ Ｐゴシック" pitchFamily="34" charset="-128"/>
              </a:rPr>
              <a:t>gamma^d</a:t>
            </a:r>
            <a:r>
              <a:rPr lang="en-US" dirty="0">
                <a:ea typeface="ＭＳ Ｐゴシック" pitchFamily="34" charset="-128"/>
              </a:rPr>
              <a:t> / (1-\gamma)</a:t>
            </a:r>
          </a:p>
        </p:txBody>
      </p:sp>
    </p:spTree>
    <p:extLst>
      <p:ext uri="{BB962C8B-B14F-4D97-AF65-F5344CB8AC3E}">
        <p14:creationId xmlns:p14="http://schemas.microsoft.com/office/powerpoint/2010/main" val="181630797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KR" dirty="0"/>
              <a:t>Q1: 10 L, 10L, 10 L</a:t>
            </a:r>
          </a:p>
          <a:p>
            <a:r>
              <a:rPr lang="en-KR" dirty="0"/>
              <a:t>Q2: 1 L, 0.1 L, 0.1 R</a:t>
            </a:r>
          </a:p>
          <a:p>
            <a:r>
              <a:rPr lang="en-KR" dirty="0"/>
              <a:t>Q3: 10^{-1/2}</a:t>
            </a:r>
          </a:p>
        </p:txBody>
      </p:sp>
    </p:spTree>
    <p:extLst>
      <p:ext uri="{BB962C8B-B14F-4D97-AF65-F5344CB8AC3E}">
        <p14:creationId xmlns:p14="http://schemas.microsoft.com/office/powerpoint/2010/main" val="304992951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E33031-16EB-9661-75B6-E78295FEE3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F2E8953-D024-E573-426F-C2A672A0CF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CA77C4C-2FF9-6138-27B9-2E001CD2E43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KR" dirty="0"/>
              <a:t>Q1: 10 L, 10L, 10 L</a:t>
            </a:r>
          </a:p>
          <a:p>
            <a:r>
              <a:rPr lang="en-KR" dirty="0"/>
              <a:t>Q2: 1 L, 0.1 L, 0.1 R</a:t>
            </a:r>
          </a:p>
          <a:p>
            <a:r>
              <a:rPr lang="en-KR" dirty="0"/>
              <a:t>Q3: 10^{-1/2}</a:t>
            </a:r>
          </a:p>
        </p:txBody>
      </p:sp>
    </p:spTree>
    <p:extLst>
      <p:ext uri="{BB962C8B-B14F-4D97-AF65-F5344CB8AC3E}">
        <p14:creationId xmlns:p14="http://schemas.microsoft.com/office/powerpoint/2010/main" val="137840573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200" marR="0" lvl="0" indent="-298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tabLst/>
              <a:defRPr/>
            </a:pPr>
            <a:r>
              <a:rPr lang="en-US" dirty="0"/>
              <a:t>Infinite geometric series (</a:t>
            </a:r>
            <a:r>
              <a:rPr lang="ko-KR" altLang="en-US" dirty="0"/>
              <a:t>무한 등비 급수</a:t>
            </a:r>
            <a:r>
              <a:rPr lang="en-US" altLang="ko-KR" dirty="0"/>
              <a:t>)</a:t>
            </a:r>
            <a:endParaRPr lang="en-KR" dirty="0"/>
          </a:p>
        </p:txBody>
      </p:sp>
    </p:spTree>
    <p:extLst>
      <p:ext uri="{BB962C8B-B14F-4D97-AF65-F5344CB8AC3E}">
        <p14:creationId xmlns:p14="http://schemas.microsoft.com/office/powerpoint/2010/main" val="65121292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200" marR="0" lvl="0" indent="-298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tabLst/>
              <a:defRPr/>
            </a:pPr>
            <a:r>
              <a:rPr lang="en-US" dirty="0"/>
              <a:t>[Note:</a:t>
            </a:r>
            <a:r>
              <a:rPr lang="en-US" baseline="0" dirty="0"/>
              <a:t> this demo doesn’t show anything in action, just pops up V and Q values.]</a:t>
            </a:r>
            <a:endParaRPr lang="en-US" dirty="0"/>
          </a:p>
          <a:p>
            <a:endParaRPr lang="en-KR" dirty="0"/>
          </a:p>
        </p:txBody>
      </p:sp>
    </p:spTree>
    <p:extLst>
      <p:ext uri="{BB962C8B-B14F-4D97-AF65-F5344CB8AC3E}">
        <p14:creationId xmlns:p14="http://schemas.microsoft.com/office/powerpoint/2010/main" val="15916124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200" marR="0" lvl="0" indent="-298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tabLst/>
              <a:defRPr/>
            </a:pPr>
            <a:r>
              <a:rPr lang="en-US" dirty="0"/>
              <a:t>This demo doesn’t show</a:t>
            </a:r>
            <a:r>
              <a:rPr lang="en-US" baseline="0" dirty="0"/>
              <a:t> anything in action, it just shows the V and Q values.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204721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200" marR="0" lvl="0" indent="-298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tabLst/>
              <a:defRPr/>
            </a:pPr>
            <a:r>
              <a:rPr lang="en-US" dirty="0"/>
              <a:t>This demo doesn’t show</a:t>
            </a:r>
            <a:r>
              <a:rPr lang="en-US" baseline="0" dirty="0"/>
              <a:t> anything in action, it just shows the V and Q values.</a:t>
            </a:r>
            <a:endParaRPr lang="en-US" dirty="0"/>
          </a:p>
          <a:p>
            <a:endParaRPr lang="en-KR" dirty="0"/>
          </a:p>
        </p:txBody>
      </p:sp>
    </p:spTree>
    <p:extLst>
      <p:ext uri="{BB962C8B-B14F-4D97-AF65-F5344CB8AC3E}">
        <p14:creationId xmlns:p14="http://schemas.microsoft.com/office/powerpoint/2010/main" val="61100171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KR" dirty="0"/>
          </a:p>
        </p:txBody>
      </p:sp>
    </p:spTree>
    <p:extLst>
      <p:ext uri="{BB962C8B-B14F-4D97-AF65-F5344CB8AC3E}">
        <p14:creationId xmlns:p14="http://schemas.microsoft.com/office/powerpoint/2010/main" val="73533811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KR" dirty="0"/>
          </a:p>
        </p:txBody>
      </p:sp>
    </p:spTree>
    <p:extLst>
      <p:ext uri="{BB962C8B-B14F-4D97-AF65-F5344CB8AC3E}">
        <p14:creationId xmlns:p14="http://schemas.microsoft.com/office/powerpoint/2010/main" val="158445857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200" marR="0" lvl="0" indent="-298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tabLst/>
              <a:defRPr/>
            </a:pPr>
            <a:r>
              <a:rPr lang="en-US" dirty="0"/>
              <a:t>This demo generates the time-limited</a:t>
            </a:r>
            <a:r>
              <a:rPr lang="en-US" baseline="0" dirty="0"/>
              <a:t> values for </a:t>
            </a:r>
            <a:r>
              <a:rPr lang="en-US" baseline="0" dirty="0" err="1"/>
              <a:t>gridworld</a:t>
            </a:r>
            <a:r>
              <a:rPr lang="en-US" baseline="0" dirty="0"/>
              <a:t> as snapshotted onto the next slides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750837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200" marR="0" lvl="0" indent="-298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tabLst/>
              <a:defRPr/>
            </a:pPr>
            <a:r>
              <a:rPr lang="en-US" dirty="0"/>
              <a:t>Assuming zero living reward</a:t>
            </a:r>
          </a:p>
          <a:p>
            <a:endParaRPr lang="en-KR" dirty="0"/>
          </a:p>
        </p:txBody>
      </p:sp>
    </p:spTree>
    <p:extLst>
      <p:ext uri="{BB962C8B-B14F-4D97-AF65-F5344CB8AC3E}">
        <p14:creationId xmlns:p14="http://schemas.microsoft.com/office/powerpoint/2010/main" val="254423639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B1A1F4-5238-6834-EBA7-E3D1668570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7F65222-CC5D-3284-6765-5938F3551A2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5D23741-2291-ACE0-039D-3237EC45736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200" marR="0" lvl="0" indent="-298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tabLst/>
              <a:defRPr/>
            </a:pPr>
            <a:r>
              <a:rPr lang="en-US" dirty="0"/>
              <a:t>Assuming zero living reward</a:t>
            </a:r>
          </a:p>
          <a:p>
            <a:endParaRPr lang="en-KR" dirty="0"/>
          </a:p>
        </p:txBody>
      </p:sp>
    </p:spTree>
    <p:extLst>
      <p:ext uri="{BB962C8B-B14F-4D97-AF65-F5344CB8AC3E}">
        <p14:creationId xmlns:p14="http://schemas.microsoft.com/office/powerpoint/2010/main" val="1157704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684107-F7E1-3502-395A-B158435BF8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71F9688-4283-A076-CF8E-AE9BDB8D4F8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0E36D3B-184C-38EA-A51A-07B993369AE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200" marR="0" lvl="0" indent="-298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tabLst/>
              <a:defRPr/>
            </a:pPr>
            <a:r>
              <a:rPr lang="en-US" dirty="0"/>
              <a:t>Assuming zero living reward</a:t>
            </a:r>
          </a:p>
          <a:p>
            <a:endParaRPr lang="en-KR" dirty="0"/>
          </a:p>
        </p:txBody>
      </p:sp>
    </p:spTree>
    <p:extLst>
      <p:ext uri="{BB962C8B-B14F-4D97-AF65-F5344CB8AC3E}">
        <p14:creationId xmlns:p14="http://schemas.microsoft.com/office/powerpoint/2010/main" val="331745370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4900F3-7F7C-39A2-57C1-5B0C439CA9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67B60B2-8057-2E6F-6D0F-F2A4445C674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3012394-54A5-A158-06DC-B7A6C1AC58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200" marR="0" lvl="0" indent="-298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tabLst/>
              <a:defRPr/>
            </a:pPr>
            <a:r>
              <a:rPr lang="en-US" dirty="0"/>
              <a:t>Assuming zero living reward</a:t>
            </a:r>
          </a:p>
          <a:p>
            <a:endParaRPr lang="en-KR" dirty="0"/>
          </a:p>
        </p:txBody>
      </p:sp>
    </p:spTree>
    <p:extLst>
      <p:ext uri="{BB962C8B-B14F-4D97-AF65-F5344CB8AC3E}">
        <p14:creationId xmlns:p14="http://schemas.microsoft.com/office/powerpoint/2010/main" val="178885384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F00375-76B7-ACB8-8B88-CBAD16009A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6201586-33E4-B12D-D32C-89A6553435E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EF9F6F9-2BD7-C63A-BCDE-E534F66CE2D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200" marR="0" lvl="0" indent="-298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tabLst/>
              <a:defRPr/>
            </a:pPr>
            <a:r>
              <a:rPr lang="en-US" dirty="0"/>
              <a:t>Assuming zero living reward</a:t>
            </a:r>
          </a:p>
          <a:p>
            <a:endParaRPr lang="en-KR" dirty="0"/>
          </a:p>
        </p:txBody>
      </p:sp>
    </p:spTree>
    <p:extLst>
      <p:ext uri="{BB962C8B-B14F-4D97-AF65-F5344CB8AC3E}">
        <p14:creationId xmlns:p14="http://schemas.microsoft.com/office/powerpoint/2010/main" val="61143526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FF254D-15B9-E1EA-F6DA-2F3BAB96C3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963FE05-5B31-B64E-7F04-D6009479650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C1C7C7A-0A5B-2C92-A246-296A3810040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200" marR="0" lvl="0" indent="-298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tabLst/>
              <a:defRPr/>
            </a:pPr>
            <a:r>
              <a:rPr lang="en-US" dirty="0"/>
              <a:t>Assuming zero living reward</a:t>
            </a:r>
          </a:p>
          <a:p>
            <a:endParaRPr lang="en-KR" dirty="0"/>
          </a:p>
        </p:txBody>
      </p:sp>
    </p:spTree>
    <p:extLst>
      <p:ext uri="{BB962C8B-B14F-4D97-AF65-F5344CB8AC3E}">
        <p14:creationId xmlns:p14="http://schemas.microsoft.com/office/powerpoint/2010/main" val="249716047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4DF8A4-BD52-8EDC-3C35-E3D6BFD024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D3A2F5B-3282-F97E-765D-49799EEF4C0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AA856ED-962F-CFF7-7EE8-771D6D237B7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200" marR="0" lvl="0" indent="-298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tabLst/>
              <a:defRPr/>
            </a:pPr>
            <a:r>
              <a:rPr lang="en-US" dirty="0"/>
              <a:t>Assuming zero living reward</a:t>
            </a:r>
          </a:p>
          <a:p>
            <a:endParaRPr lang="en-KR" dirty="0"/>
          </a:p>
        </p:txBody>
      </p:sp>
    </p:spTree>
    <p:extLst>
      <p:ext uri="{BB962C8B-B14F-4D97-AF65-F5344CB8AC3E}">
        <p14:creationId xmlns:p14="http://schemas.microsoft.com/office/powerpoint/2010/main" val="239068855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79D6C5-C632-1E29-4F01-855AB6B36A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73D580D-C90D-1716-FB50-A51405CFF91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7A24AAE-7964-0791-A810-1363E64CD3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200" marR="0" lvl="0" indent="-298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tabLst/>
              <a:defRPr/>
            </a:pPr>
            <a:r>
              <a:rPr lang="en-US" dirty="0"/>
              <a:t>Assuming zero living reward</a:t>
            </a:r>
          </a:p>
          <a:p>
            <a:endParaRPr lang="en-KR" dirty="0"/>
          </a:p>
        </p:txBody>
      </p:sp>
    </p:spTree>
    <p:extLst>
      <p:ext uri="{BB962C8B-B14F-4D97-AF65-F5344CB8AC3E}">
        <p14:creationId xmlns:p14="http://schemas.microsoft.com/office/powerpoint/2010/main" val="74098707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804BE8-3E53-FED8-49D3-40AA69556C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198F40F-75D1-D018-78A2-39461C9B6F9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6EF438E-60C3-667B-29C4-C4A5C21BD9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200" marR="0" lvl="0" indent="-298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tabLst/>
              <a:defRPr/>
            </a:pPr>
            <a:r>
              <a:rPr lang="en-US" dirty="0"/>
              <a:t>Assuming zero living reward</a:t>
            </a:r>
          </a:p>
          <a:p>
            <a:endParaRPr lang="en-KR" dirty="0"/>
          </a:p>
        </p:txBody>
      </p:sp>
    </p:spTree>
    <p:extLst>
      <p:ext uri="{BB962C8B-B14F-4D97-AF65-F5344CB8AC3E}">
        <p14:creationId xmlns:p14="http://schemas.microsoft.com/office/powerpoint/2010/main" val="170315268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79DAC7-F081-6A0D-1145-B7D01B13F1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27E78D0-A817-F9BD-9BC5-30ACBDAA850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67B8D08-7B26-E464-1F42-D6367B8D380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200" marR="0" lvl="0" indent="-298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tabLst/>
              <a:defRPr/>
            </a:pPr>
            <a:r>
              <a:rPr lang="en-US" dirty="0"/>
              <a:t>Assuming zero living reward</a:t>
            </a:r>
          </a:p>
          <a:p>
            <a:endParaRPr lang="en-KR" dirty="0"/>
          </a:p>
        </p:txBody>
      </p:sp>
    </p:spTree>
    <p:extLst>
      <p:ext uri="{BB962C8B-B14F-4D97-AF65-F5344CB8AC3E}">
        <p14:creationId xmlns:p14="http://schemas.microsoft.com/office/powerpoint/2010/main" val="2618484066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D457E1-97B7-42BA-4262-7DA28800FD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3BFF966-2070-63E9-DF93-04691E5782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E1818BC-45B4-EB1F-0DD5-41FAF1F5CDE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200" marR="0" lvl="0" indent="-298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tabLst/>
              <a:defRPr/>
            </a:pPr>
            <a:r>
              <a:rPr lang="en-US" dirty="0"/>
              <a:t>Assuming zero living reward</a:t>
            </a:r>
          </a:p>
          <a:p>
            <a:endParaRPr lang="en-KR" dirty="0"/>
          </a:p>
        </p:txBody>
      </p:sp>
    </p:spTree>
    <p:extLst>
      <p:ext uri="{BB962C8B-B14F-4D97-AF65-F5344CB8AC3E}">
        <p14:creationId xmlns:p14="http://schemas.microsoft.com/office/powerpoint/2010/main" val="2430209489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F74C05-0435-DA41-68F8-6FFA2F9FD2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D7FB4D5-1C9D-BEF9-D280-891C4284308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0CA4128-57AB-A852-228E-004040F3A03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200" marR="0" lvl="0" indent="-298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tabLst/>
              <a:defRPr/>
            </a:pPr>
            <a:r>
              <a:rPr lang="en-US" dirty="0"/>
              <a:t>Assuming zero living reward</a:t>
            </a:r>
          </a:p>
          <a:p>
            <a:endParaRPr lang="en-KR" dirty="0"/>
          </a:p>
        </p:txBody>
      </p:sp>
    </p:spTree>
    <p:extLst>
      <p:ext uri="{BB962C8B-B14F-4D97-AF65-F5344CB8AC3E}">
        <p14:creationId xmlns:p14="http://schemas.microsoft.com/office/powerpoint/2010/main" val="4192648747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4C5856-A787-D548-06BA-156AB7CC9E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E0AC357-2E46-C88C-94DD-672952C5C10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4F1E163-4A2C-A430-1AA8-5DFE87B8E3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200" marR="0" lvl="0" indent="-298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tabLst/>
              <a:defRPr/>
            </a:pPr>
            <a:r>
              <a:rPr lang="en-US" dirty="0"/>
              <a:t>Assuming zero living reward</a:t>
            </a:r>
          </a:p>
          <a:p>
            <a:endParaRPr lang="en-KR" dirty="0"/>
          </a:p>
        </p:txBody>
      </p:sp>
    </p:spTree>
    <p:extLst>
      <p:ext uri="{BB962C8B-B14F-4D97-AF65-F5344CB8AC3E}">
        <p14:creationId xmlns:p14="http://schemas.microsoft.com/office/powerpoint/2010/main" val="3091263529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F7EBC9-8B9F-6829-E8F7-A584A33E37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11EA85B-8958-369B-F8B9-56D794F8EDA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328F236-F4B3-A775-7D79-775EAD3DD8A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200" marR="0" lvl="0" indent="-298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tabLst/>
              <a:defRPr/>
            </a:pPr>
            <a:r>
              <a:rPr lang="en-US" dirty="0"/>
              <a:t>Assuming zero living reward</a:t>
            </a:r>
          </a:p>
          <a:p>
            <a:endParaRPr lang="en-KR" dirty="0"/>
          </a:p>
        </p:txBody>
      </p:sp>
    </p:spTree>
    <p:extLst>
      <p:ext uri="{BB962C8B-B14F-4D97-AF65-F5344CB8AC3E}">
        <p14:creationId xmlns:p14="http://schemas.microsoft.com/office/powerpoint/2010/main" val="1500300138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ea typeface="ＭＳ Ｐゴシック" pitchFamily="34" charset="-128"/>
              </a:rPr>
              <a:t>Discuss computational complexity: S * A * S   times number of iterations</a:t>
            </a:r>
          </a:p>
          <a:p>
            <a:r>
              <a:rPr lang="en-US" dirty="0">
                <a:ea typeface="ＭＳ Ｐゴシック" pitchFamily="34" charset="-128"/>
              </a:rPr>
              <a:t>Note: updates not in place [if in place, it means something else and not even clear what it means]</a:t>
            </a:r>
          </a:p>
          <a:p>
            <a:endParaRPr lang="en-KR" dirty="0"/>
          </a:p>
        </p:txBody>
      </p:sp>
    </p:spTree>
    <p:extLst>
      <p:ext uri="{BB962C8B-B14F-4D97-AF65-F5344CB8AC3E}">
        <p14:creationId xmlns:p14="http://schemas.microsoft.com/office/powerpoint/2010/main" val="1081563393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KR" dirty="0"/>
              <a:t>Highly uncertain or environment terminates soon (limited horizon)</a:t>
            </a:r>
          </a:p>
          <a:p>
            <a:r>
              <a:rPr lang="en-KR" dirty="0"/>
              <a:t>If # states, it is not practical.. </a:t>
            </a:r>
            <a:r>
              <a:rPr lang="en-US" dirty="0"/>
              <a:t>P</a:t>
            </a:r>
            <a:r>
              <a:rPr lang="en-KR" dirty="0"/>
              <a:t>rohibitively expensive, infeasible.</a:t>
            </a:r>
          </a:p>
          <a:p>
            <a:r>
              <a:rPr lang="en-KR" dirty="0"/>
              <a:t>No under the current construction.  But feature-based policy is generalizable</a:t>
            </a:r>
          </a:p>
          <a:p>
            <a:r>
              <a:rPr lang="en-KR" dirty="0"/>
              <a:t>Not realistic. Paritially Observable MDPs (extension/generalization) -&gt; </a:t>
            </a:r>
            <a:r>
              <a:rPr lang="en-US" dirty="0"/>
              <a:t>a </a:t>
            </a:r>
            <a:r>
              <a:rPr lang="en-US" i="1" dirty="0"/>
              <a:t>belief state</a:t>
            </a:r>
            <a:r>
              <a:rPr lang="en-US" dirty="0"/>
              <a:t> (a probability distribution over states), making the problem vastly harder to solve.</a:t>
            </a:r>
            <a:endParaRPr lang="en-KR" dirty="0"/>
          </a:p>
          <a:p>
            <a:endParaRPr lang="en-KR" dirty="0"/>
          </a:p>
        </p:txBody>
      </p:sp>
    </p:spTree>
    <p:extLst>
      <p:ext uri="{BB962C8B-B14F-4D97-AF65-F5344CB8AC3E}">
        <p14:creationId xmlns:p14="http://schemas.microsoft.com/office/powerpoint/2010/main" val="7437119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8D567C3-285F-632B-2806-FBB213624F94}"/>
              </a:ext>
            </a:extLst>
          </p:cNvPr>
          <p:cNvSpPr/>
          <p:nvPr userDrawn="1"/>
        </p:nvSpPr>
        <p:spPr>
          <a:xfrm>
            <a:off x="7322634" y="200722"/>
            <a:ext cx="1605776" cy="55756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2E3225A-D58B-415B-A462-978FECB6BAE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22634" y="219201"/>
            <a:ext cx="1605776" cy="55756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KR" dirty="0"/>
              <a:t>691</a:t>
            </a:r>
            <a:endParaRPr lang="en-KR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E948F06-4943-E413-B8B7-A50B26DB8751}"/>
              </a:ext>
            </a:extLst>
          </p:cNvPr>
          <p:cNvSpPr/>
          <p:nvPr userDrawn="1"/>
        </p:nvSpPr>
        <p:spPr>
          <a:xfrm>
            <a:off x="7322634" y="200722"/>
            <a:ext cx="1605776" cy="55756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5ED1FF8-4CC7-858F-2426-19D5480E85F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22634" y="219201"/>
            <a:ext cx="1605776" cy="55756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KR" dirty="0"/>
              <a:t>691</a:t>
            </a:r>
            <a:endParaRPr lang="en-KR" sz="4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DE8900A-6B6D-16A7-5F4A-22D117459B09}"/>
              </a:ext>
            </a:extLst>
          </p:cNvPr>
          <p:cNvSpPr/>
          <p:nvPr userDrawn="1"/>
        </p:nvSpPr>
        <p:spPr>
          <a:xfrm>
            <a:off x="7322634" y="200722"/>
            <a:ext cx="1605776" cy="55756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229C65A-3229-FA6B-1719-24052028DE7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22634" y="219201"/>
            <a:ext cx="1605776" cy="55756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KR" dirty="0"/>
              <a:t>691</a:t>
            </a:r>
            <a:endParaRPr lang="en-KR" sz="40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B613A9C-F333-A654-EEE7-707E4135C1AA}"/>
              </a:ext>
            </a:extLst>
          </p:cNvPr>
          <p:cNvSpPr/>
          <p:nvPr userDrawn="1"/>
        </p:nvSpPr>
        <p:spPr>
          <a:xfrm>
            <a:off x="7322634" y="200722"/>
            <a:ext cx="1605776" cy="55756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9517715-D72F-B121-ADDA-E5864846286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22634" y="219201"/>
            <a:ext cx="1605776" cy="55756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KR" dirty="0"/>
              <a:t>691</a:t>
            </a:r>
            <a:endParaRPr lang="en-KR" sz="400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54D0517-0481-454E-FA38-29582564B9B3}"/>
              </a:ext>
            </a:extLst>
          </p:cNvPr>
          <p:cNvSpPr/>
          <p:nvPr userDrawn="1"/>
        </p:nvSpPr>
        <p:spPr>
          <a:xfrm>
            <a:off x="7322634" y="200722"/>
            <a:ext cx="1605776" cy="55756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76EB4BE-F5A1-72EE-2792-7C88265D161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22634" y="219201"/>
            <a:ext cx="1605776" cy="55756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KR" dirty="0"/>
              <a:t>691</a:t>
            </a:r>
            <a:endParaRPr lang="en-KR" sz="4000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37A294-3FAC-740D-5DC8-D51AA576FF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E0AB8E-2DBD-16BA-E0F4-82F692CC18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82F702-A0E2-C79B-49C5-CE2E646B1F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378C18-96E3-4E73-4D7F-83505B019A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66AB8E-4D2E-2743-977A-2B58C69BC574}" type="slidenum">
              <a:rPr lang="en-KR" smtClean="0"/>
              <a:t>‹#›</a:t>
            </a:fld>
            <a:endParaRPr lang="en-KR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E5243A6-1BAB-237E-94CB-22503EDA645B}"/>
              </a:ext>
            </a:extLst>
          </p:cNvPr>
          <p:cNvSpPr/>
          <p:nvPr userDrawn="1"/>
        </p:nvSpPr>
        <p:spPr>
          <a:xfrm>
            <a:off x="7322634" y="200722"/>
            <a:ext cx="1605776" cy="55756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 dirty="0"/>
          </a:p>
        </p:txBody>
      </p: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797C2CA8-276F-0D67-3E79-2720E3B4441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22634" y="219201"/>
            <a:ext cx="1605776" cy="55756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KR" dirty="0"/>
              <a:t>691</a:t>
            </a:r>
            <a:endParaRPr lang="en-KR" sz="4000" dirty="0"/>
          </a:p>
        </p:txBody>
      </p:sp>
    </p:spTree>
    <p:extLst>
      <p:ext uri="{BB962C8B-B14F-4D97-AF65-F5344CB8AC3E}">
        <p14:creationId xmlns:p14="http://schemas.microsoft.com/office/powerpoint/2010/main" val="20761026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ntano Sans"/>
              <a:buNone/>
              <a:defRPr sz="2800">
                <a:solidFill>
                  <a:schemeClr val="dk1"/>
                </a:solidFill>
                <a:latin typeface="Pontano Sans"/>
                <a:ea typeface="Pontano Sans"/>
                <a:cs typeface="Pontano Sans"/>
                <a:sym typeface="Pontan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ntano Sans"/>
              <a:buNone/>
              <a:defRPr sz="2800">
                <a:solidFill>
                  <a:schemeClr val="dk1"/>
                </a:solidFill>
                <a:latin typeface="Pontano Sans"/>
                <a:ea typeface="Pontano Sans"/>
                <a:cs typeface="Pontano Sans"/>
                <a:sym typeface="Pontan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ntano Sans"/>
              <a:buNone/>
              <a:defRPr sz="2800">
                <a:solidFill>
                  <a:schemeClr val="dk1"/>
                </a:solidFill>
                <a:latin typeface="Pontano Sans"/>
                <a:ea typeface="Pontano Sans"/>
                <a:cs typeface="Pontano Sans"/>
                <a:sym typeface="Pontan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ntano Sans"/>
              <a:buNone/>
              <a:defRPr sz="2800">
                <a:solidFill>
                  <a:schemeClr val="dk1"/>
                </a:solidFill>
                <a:latin typeface="Pontano Sans"/>
                <a:ea typeface="Pontano Sans"/>
                <a:cs typeface="Pontano Sans"/>
                <a:sym typeface="Pontan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ntano Sans"/>
              <a:buNone/>
              <a:defRPr sz="2800">
                <a:solidFill>
                  <a:schemeClr val="dk1"/>
                </a:solidFill>
                <a:latin typeface="Pontano Sans"/>
                <a:ea typeface="Pontano Sans"/>
                <a:cs typeface="Pontano Sans"/>
                <a:sym typeface="Pontan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ntano Sans"/>
              <a:buNone/>
              <a:defRPr sz="2800">
                <a:solidFill>
                  <a:schemeClr val="dk1"/>
                </a:solidFill>
                <a:latin typeface="Pontano Sans"/>
                <a:ea typeface="Pontano Sans"/>
                <a:cs typeface="Pontano Sans"/>
                <a:sym typeface="Pontan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ntano Sans"/>
              <a:buNone/>
              <a:defRPr sz="2800">
                <a:solidFill>
                  <a:schemeClr val="dk1"/>
                </a:solidFill>
                <a:latin typeface="Pontano Sans"/>
                <a:ea typeface="Pontano Sans"/>
                <a:cs typeface="Pontano Sans"/>
                <a:sym typeface="Pontan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ntano Sans"/>
              <a:buNone/>
              <a:defRPr sz="2800">
                <a:solidFill>
                  <a:schemeClr val="dk1"/>
                </a:solidFill>
                <a:latin typeface="Pontano Sans"/>
                <a:ea typeface="Pontano Sans"/>
                <a:cs typeface="Pontano Sans"/>
                <a:sym typeface="Pontan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ntano Sans"/>
              <a:buNone/>
              <a:defRPr sz="2800">
                <a:solidFill>
                  <a:schemeClr val="dk1"/>
                </a:solidFill>
                <a:latin typeface="Pontano Sans"/>
                <a:ea typeface="Pontano Sans"/>
                <a:cs typeface="Pontano Sans"/>
                <a:sym typeface="Pontano Sans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Pontano Sans"/>
              <a:buChar char="●"/>
              <a:defRPr sz="1800">
                <a:solidFill>
                  <a:schemeClr val="dk2"/>
                </a:solidFill>
                <a:latin typeface="Pontano Sans"/>
                <a:ea typeface="Pontano Sans"/>
                <a:cs typeface="Pontano Sans"/>
                <a:sym typeface="Pontano Sans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ontano Sans"/>
              <a:buChar char="○"/>
              <a:defRPr>
                <a:solidFill>
                  <a:schemeClr val="dk2"/>
                </a:solidFill>
                <a:latin typeface="Pontano Sans"/>
                <a:ea typeface="Pontano Sans"/>
                <a:cs typeface="Pontano Sans"/>
                <a:sym typeface="Pontano Sans"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ontano Sans"/>
              <a:buChar char="■"/>
              <a:defRPr>
                <a:solidFill>
                  <a:schemeClr val="dk2"/>
                </a:solidFill>
                <a:latin typeface="Pontano Sans"/>
                <a:ea typeface="Pontano Sans"/>
                <a:cs typeface="Pontano Sans"/>
                <a:sym typeface="Pontano Sans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ontano Sans"/>
              <a:buChar char="●"/>
              <a:defRPr>
                <a:solidFill>
                  <a:schemeClr val="dk2"/>
                </a:solidFill>
                <a:latin typeface="Pontano Sans"/>
                <a:ea typeface="Pontano Sans"/>
                <a:cs typeface="Pontano Sans"/>
                <a:sym typeface="Pontano Sans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ontano Sans"/>
              <a:buChar char="○"/>
              <a:defRPr>
                <a:solidFill>
                  <a:schemeClr val="dk2"/>
                </a:solidFill>
                <a:latin typeface="Pontano Sans"/>
                <a:ea typeface="Pontano Sans"/>
                <a:cs typeface="Pontano Sans"/>
                <a:sym typeface="Pontano Sans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ontano Sans"/>
              <a:buChar char="■"/>
              <a:defRPr>
                <a:solidFill>
                  <a:schemeClr val="dk2"/>
                </a:solidFill>
                <a:latin typeface="Pontano Sans"/>
                <a:ea typeface="Pontano Sans"/>
                <a:cs typeface="Pontano Sans"/>
                <a:sym typeface="Pontano Sans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ontano Sans"/>
              <a:buChar char="●"/>
              <a:defRPr>
                <a:solidFill>
                  <a:schemeClr val="dk2"/>
                </a:solidFill>
                <a:latin typeface="Pontano Sans"/>
                <a:ea typeface="Pontano Sans"/>
                <a:cs typeface="Pontano Sans"/>
                <a:sym typeface="Pontano Sans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ontano Sans"/>
              <a:buChar char="○"/>
              <a:defRPr>
                <a:solidFill>
                  <a:schemeClr val="dk2"/>
                </a:solidFill>
                <a:latin typeface="Pontano Sans"/>
                <a:ea typeface="Pontano Sans"/>
                <a:cs typeface="Pontano Sans"/>
                <a:sym typeface="Pontano Sans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Pontano Sans"/>
              <a:buChar char="■"/>
              <a:defRPr>
                <a:solidFill>
                  <a:schemeClr val="dk2"/>
                </a:solidFill>
                <a:latin typeface="Pontano Sans"/>
                <a:ea typeface="Pontano Sans"/>
                <a:cs typeface="Pontano Sans"/>
                <a:sym typeface="Pontano Sans"/>
              </a:defRPr>
            </a:lvl9pPr>
          </a:lstStyle>
          <a:p>
            <a:endParaRPr dirty="0"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C7DC5E7-3B37-F944-75D0-8626FAFE3A0F}"/>
              </a:ext>
            </a:extLst>
          </p:cNvPr>
          <p:cNvSpPr/>
          <p:nvPr userDrawn="1"/>
        </p:nvSpPr>
        <p:spPr>
          <a:xfrm>
            <a:off x="7322634" y="200722"/>
            <a:ext cx="1605776" cy="55756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A5FB012-EBB9-7D8C-7C15-2EB3BC20F330}"/>
              </a:ext>
            </a:extLst>
          </p:cNvPr>
          <p:cNvSpPr/>
          <p:nvPr userDrawn="1"/>
        </p:nvSpPr>
        <p:spPr>
          <a:xfrm>
            <a:off x="7322634" y="200722"/>
            <a:ext cx="1605776" cy="55756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043928C-5927-E176-34AC-986ADA8B2F7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22634" y="219201"/>
            <a:ext cx="1605776" cy="55756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KR" dirty="0"/>
              <a:t>691</a:t>
            </a:r>
            <a:endParaRPr lang="en-KR" sz="4000" dirty="0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1" r:id="rId3"/>
    <p:sldLayoutId id="2147483653" r:id="rId4"/>
    <p:sldLayoutId id="2147483655" r:id="rId5"/>
    <p:sldLayoutId id="2147483656" r:id="rId6"/>
    <p:sldLayoutId id="2147483660" r:id="rId7"/>
  </p:sldLayoutIdLst>
  <p:hf sldNum="0" hd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7.wmf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15.png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image" Target="../media/image14.png"/><Relationship Id="rId5" Type="http://schemas.openxmlformats.org/officeDocument/2006/relationships/image" Target="../media/image13.jpeg"/><Relationship Id="rId4" Type="http://schemas.openxmlformats.org/officeDocument/2006/relationships/notesSlide" Target="../notesSlides/notesSlide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wmf"/><Relationship Id="rId2" Type="http://schemas.openxmlformats.org/officeDocument/2006/relationships/image" Target="../media/image17.wm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wmf"/><Relationship Id="rId4" Type="http://schemas.openxmlformats.org/officeDocument/2006/relationships/image" Target="../media/image19.wmf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3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tags" Target="../tags/tag5.xml"/><Relationship Id="rId7" Type="http://schemas.openxmlformats.org/officeDocument/2006/relationships/image" Target="../media/image33.png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6" Type="http://schemas.openxmlformats.org/officeDocument/2006/relationships/image" Target="../media/image30.png"/><Relationship Id="rId5" Type="http://schemas.openxmlformats.org/officeDocument/2006/relationships/image" Target="../media/image32.png"/><Relationship Id="rId4" Type="http://schemas.openxmlformats.org/officeDocument/2006/relationships/slideLayout" Target="../slideLayouts/slideLayout2.xml"/><Relationship Id="rId9" Type="http://schemas.openxmlformats.org/officeDocument/2006/relationships/image" Target="../media/image35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tags" Target="../tags/tag8.xml"/><Relationship Id="rId7" Type="http://schemas.openxmlformats.org/officeDocument/2006/relationships/image" Target="../media/image34.png"/><Relationship Id="rId2" Type="http://schemas.openxmlformats.org/officeDocument/2006/relationships/tags" Target="../tags/tag7.xml"/><Relationship Id="rId1" Type="http://schemas.openxmlformats.org/officeDocument/2006/relationships/tags" Target="../tags/tag6.xml"/><Relationship Id="rId6" Type="http://schemas.openxmlformats.org/officeDocument/2006/relationships/image" Target="../media/image33.png"/><Relationship Id="rId5" Type="http://schemas.openxmlformats.org/officeDocument/2006/relationships/notesSlide" Target="../notesSlides/notesSlide8.xml"/><Relationship Id="rId10" Type="http://schemas.openxmlformats.org/officeDocument/2006/relationships/image" Target="../media/image36.png"/><Relationship Id="rId4" Type="http://schemas.openxmlformats.org/officeDocument/2006/relationships/slideLayout" Target="../slideLayouts/slideLayout2.xml"/><Relationship Id="rId9" Type="http://schemas.openxmlformats.org/officeDocument/2006/relationships/image" Target="../media/image32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3" Type="http://schemas.openxmlformats.org/officeDocument/2006/relationships/tags" Target="../tags/tag11.xml"/><Relationship Id="rId7" Type="http://schemas.openxmlformats.org/officeDocument/2006/relationships/image" Target="../media/image37.png"/><Relationship Id="rId12" Type="http://schemas.openxmlformats.org/officeDocument/2006/relationships/image" Target="../media/image42.png"/><Relationship Id="rId2" Type="http://schemas.openxmlformats.org/officeDocument/2006/relationships/tags" Target="../tags/tag10.xml"/><Relationship Id="rId1" Type="http://schemas.openxmlformats.org/officeDocument/2006/relationships/tags" Target="../tags/tag9.xml"/><Relationship Id="rId6" Type="http://schemas.openxmlformats.org/officeDocument/2006/relationships/slideLayout" Target="../slideLayouts/slideLayout2.xml"/><Relationship Id="rId11" Type="http://schemas.openxmlformats.org/officeDocument/2006/relationships/image" Target="../media/image41.png"/><Relationship Id="rId5" Type="http://schemas.openxmlformats.org/officeDocument/2006/relationships/tags" Target="../tags/tag13.xml"/><Relationship Id="rId10" Type="http://schemas.openxmlformats.org/officeDocument/2006/relationships/image" Target="../media/image40.png"/><Relationship Id="rId4" Type="http://schemas.openxmlformats.org/officeDocument/2006/relationships/tags" Target="../tags/tag12.xml"/><Relationship Id="rId9" Type="http://schemas.openxmlformats.org/officeDocument/2006/relationships/image" Target="../media/image39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4.xml"/><Relationship Id="rId6" Type="http://schemas.openxmlformats.org/officeDocument/2006/relationships/image" Target="../media/image45.png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5.xml"/><Relationship Id="rId5" Type="http://schemas.openxmlformats.org/officeDocument/2006/relationships/image" Target="../media/image47.png"/><Relationship Id="rId4" Type="http://schemas.openxmlformats.org/officeDocument/2006/relationships/image" Target="../media/image46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.png"/><Relationship Id="rId3" Type="http://schemas.openxmlformats.org/officeDocument/2006/relationships/tags" Target="../tags/tag18.xml"/><Relationship Id="rId7" Type="http://schemas.openxmlformats.org/officeDocument/2006/relationships/image" Target="../media/image51.png"/><Relationship Id="rId2" Type="http://schemas.openxmlformats.org/officeDocument/2006/relationships/tags" Target="../tags/tag17.xml"/><Relationship Id="rId1" Type="http://schemas.openxmlformats.org/officeDocument/2006/relationships/tags" Target="../tags/tag16.xml"/><Relationship Id="rId6" Type="http://schemas.openxmlformats.org/officeDocument/2006/relationships/image" Target="../media/image50.png"/><Relationship Id="rId5" Type="http://schemas.openxmlformats.org/officeDocument/2006/relationships/notesSlide" Target="../notesSlides/notesSlide15.xml"/><Relationship Id="rId4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tags" Target="../tags/tag21.xml"/><Relationship Id="rId7" Type="http://schemas.openxmlformats.org/officeDocument/2006/relationships/image" Target="../media/image52.png"/><Relationship Id="rId2" Type="http://schemas.openxmlformats.org/officeDocument/2006/relationships/tags" Target="../tags/tag20.xml"/><Relationship Id="rId1" Type="http://schemas.openxmlformats.org/officeDocument/2006/relationships/tags" Target="../tags/tag19.xml"/><Relationship Id="rId6" Type="http://schemas.openxmlformats.org/officeDocument/2006/relationships/image" Target="../media/image51.png"/><Relationship Id="rId5" Type="http://schemas.openxmlformats.org/officeDocument/2006/relationships/image" Target="../media/image50.png"/><Relationship Id="rId4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6.png"/><Relationship Id="rId4" Type="http://schemas.openxmlformats.org/officeDocument/2006/relationships/image" Target="../media/image55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6.png"/><Relationship Id="rId5" Type="http://schemas.openxmlformats.org/officeDocument/2006/relationships/image" Target="../media/image55.png"/><Relationship Id="rId4" Type="http://schemas.openxmlformats.org/officeDocument/2006/relationships/image" Target="../media/image54.png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1.png"/><Relationship Id="rId3" Type="http://schemas.openxmlformats.org/officeDocument/2006/relationships/notesSlide" Target="../notesSlides/notesSlide17.xml"/><Relationship Id="rId7" Type="http://schemas.openxmlformats.org/officeDocument/2006/relationships/image" Target="../media/image60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2.xml"/><Relationship Id="rId6" Type="http://schemas.openxmlformats.org/officeDocument/2006/relationships/image" Target="../media/image59.png"/><Relationship Id="rId5" Type="http://schemas.openxmlformats.org/officeDocument/2006/relationships/image" Target="../media/image58.png"/><Relationship Id="rId4" Type="http://schemas.openxmlformats.org/officeDocument/2006/relationships/image" Target="../media/image57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8" Type="http://schemas.openxmlformats.org/officeDocument/2006/relationships/tags" Target="../tags/tag30.xml"/><Relationship Id="rId13" Type="http://schemas.openxmlformats.org/officeDocument/2006/relationships/tags" Target="../tags/tag35.xml"/><Relationship Id="rId18" Type="http://schemas.openxmlformats.org/officeDocument/2006/relationships/image" Target="../media/image54.png"/><Relationship Id="rId26" Type="http://schemas.openxmlformats.org/officeDocument/2006/relationships/image" Target="../media/image61.png"/><Relationship Id="rId3" Type="http://schemas.openxmlformats.org/officeDocument/2006/relationships/tags" Target="../tags/tag25.xml"/><Relationship Id="rId21" Type="http://schemas.openxmlformats.org/officeDocument/2006/relationships/image" Target="../media/image76.png"/><Relationship Id="rId7" Type="http://schemas.openxmlformats.org/officeDocument/2006/relationships/tags" Target="../tags/tag29.xml"/><Relationship Id="rId12" Type="http://schemas.openxmlformats.org/officeDocument/2006/relationships/tags" Target="../tags/tag34.xml"/><Relationship Id="rId17" Type="http://schemas.openxmlformats.org/officeDocument/2006/relationships/image" Target="../media/image53.png"/><Relationship Id="rId25" Type="http://schemas.openxmlformats.org/officeDocument/2006/relationships/image" Target="../media/image77.png"/><Relationship Id="rId2" Type="http://schemas.openxmlformats.org/officeDocument/2006/relationships/tags" Target="../tags/tag24.xml"/><Relationship Id="rId16" Type="http://schemas.openxmlformats.org/officeDocument/2006/relationships/slideLayout" Target="../slideLayouts/slideLayout2.xml"/><Relationship Id="rId20" Type="http://schemas.openxmlformats.org/officeDocument/2006/relationships/image" Target="../media/image56.png"/><Relationship Id="rId29" Type="http://schemas.openxmlformats.org/officeDocument/2006/relationships/image" Target="../media/image80.png"/><Relationship Id="rId1" Type="http://schemas.openxmlformats.org/officeDocument/2006/relationships/tags" Target="../tags/tag23.xml"/><Relationship Id="rId6" Type="http://schemas.openxmlformats.org/officeDocument/2006/relationships/tags" Target="../tags/tag28.xml"/><Relationship Id="rId11" Type="http://schemas.openxmlformats.org/officeDocument/2006/relationships/tags" Target="../tags/tag33.xml"/><Relationship Id="rId24" Type="http://schemas.openxmlformats.org/officeDocument/2006/relationships/image" Target="../media/image59.png"/><Relationship Id="rId5" Type="http://schemas.openxmlformats.org/officeDocument/2006/relationships/tags" Target="../tags/tag27.xml"/><Relationship Id="rId15" Type="http://schemas.openxmlformats.org/officeDocument/2006/relationships/tags" Target="../tags/tag37.xml"/><Relationship Id="rId23" Type="http://schemas.openxmlformats.org/officeDocument/2006/relationships/image" Target="../media/image60.png"/><Relationship Id="rId28" Type="http://schemas.openxmlformats.org/officeDocument/2006/relationships/image" Target="../media/image79.png"/><Relationship Id="rId10" Type="http://schemas.openxmlformats.org/officeDocument/2006/relationships/tags" Target="../tags/tag32.xml"/><Relationship Id="rId19" Type="http://schemas.openxmlformats.org/officeDocument/2006/relationships/image" Target="../media/image55.png"/><Relationship Id="rId4" Type="http://schemas.openxmlformats.org/officeDocument/2006/relationships/tags" Target="../tags/tag26.xml"/><Relationship Id="rId9" Type="http://schemas.openxmlformats.org/officeDocument/2006/relationships/tags" Target="../tags/tag31.xml"/><Relationship Id="rId14" Type="http://schemas.openxmlformats.org/officeDocument/2006/relationships/tags" Target="../tags/tag36.xml"/><Relationship Id="rId22" Type="http://schemas.openxmlformats.org/officeDocument/2006/relationships/image" Target="../media/image58.png"/><Relationship Id="rId27" Type="http://schemas.openxmlformats.org/officeDocument/2006/relationships/image" Target="../media/image78.png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8.xml"/><Relationship Id="rId4" Type="http://schemas.openxmlformats.org/officeDocument/2006/relationships/image" Target="../media/image82.png"/></Relationships>
</file>

<file path=ppt/slides/_rels/slide5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5.png"/><Relationship Id="rId13" Type="http://schemas.openxmlformats.org/officeDocument/2006/relationships/image" Target="../media/image90.png"/><Relationship Id="rId3" Type="http://schemas.openxmlformats.org/officeDocument/2006/relationships/tags" Target="../tags/tag41.xml"/><Relationship Id="rId7" Type="http://schemas.openxmlformats.org/officeDocument/2006/relationships/image" Target="../media/image84.png"/><Relationship Id="rId12" Type="http://schemas.openxmlformats.org/officeDocument/2006/relationships/image" Target="../media/image89.png"/><Relationship Id="rId2" Type="http://schemas.openxmlformats.org/officeDocument/2006/relationships/tags" Target="../tags/tag40.xml"/><Relationship Id="rId1" Type="http://schemas.openxmlformats.org/officeDocument/2006/relationships/tags" Target="../tags/tag39.xml"/><Relationship Id="rId6" Type="http://schemas.openxmlformats.org/officeDocument/2006/relationships/image" Target="../media/image83.png"/><Relationship Id="rId11" Type="http://schemas.openxmlformats.org/officeDocument/2006/relationships/image" Target="../media/image88.png"/><Relationship Id="rId5" Type="http://schemas.openxmlformats.org/officeDocument/2006/relationships/slideLayout" Target="../slideLayouts/slideLayout2.xml"/><Relationship Id="rId10" Type="http://schemas.openxmlformats.org/officeDocument/2006/relationships/image" Target="../media/image87.png"/><Relationship Id="rId4" Type="http://schemas.openxmlformats.org/officeDocument/2006/relationships/tags" Target="../tags/tag42.xml"/><Relationship Id="rId9" Type="http://schemas.openxmlformats.org/officeDocument/2006/relationships/image" Target="../media/image86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44.xml"/><Relationship Id="rId1" Type="http://schemas.openxmlformats.org/officeDocument/2006/relationships/tags" Target="../tags/tag43.xml"/><Relationship Id="rId5" Type="http://schemas.openxmlformats.org/officeDocument/2006/relationships/image" Target="../media/image92.png"/><Relationship Id="rId4" Type="http://schemas.openxmlformats.org/officeDocument/2006/relationships/image" Target="../media/image91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5.xml"/><Relationship Id="rId4" Type="http://schemas.openxmlformats.org/officeDocument/2006/relationships/image" Target="../media/image93.png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en-US" sz="4400" dirty="0">
                <a:solidFill>
                  <a:srgbClr val="000000"/>
                </a:solidFill>
                <a:latin typeface="Calibri"/>
                <a:cs typeface="Calibri"/>
              </a:rPr>
              <a:t>8. </a:t>
            </a:r>
            <a:r>
              <a:rPr lang="en-US" sz="4400" dirty="0"/>
              <a:t>Markov Decision Processes</a:t>
            </a:r>
            <a:endParaRPr sz="32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55" name="Google Shape;55;p13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 dirty="0"/>
              <a:t>Instructor: Hyunwoo J. Kim</a:t>
            </a:r>
            <a:endParaRPr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FED2E00-8F56-001C-65E5-FC569DE73D54}"/>
              </a:ext>
            </a:extLst>
          </p:cNvPr>
          <p:cNvSpPr txBox="1"/>
          <p:nvPr/>
        </p:nvSpPr>
        <p:spPr>
          <a:xfrm>
            <a:off x="-965200" y="4330700"/>
            <a:ext cx="1847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KR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8EEA17C-8641-2DEF-1983-58796EBBF687}"/>
              </a:ext>
            </a:extLst>
          </p:cNvPr>
          <p:cNvSpPr txBox="1"/>
          <p:nvPr/>
        </p:nvSpPr>
        <p:spPr>
          <a:xfrm>
            <a:off x="6616700" y="-469900"/>
            <a:ext cx="1847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KR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8E4C63A-844A-4C56-6C10-470D3691AB20}"/>
              </a:ext>
            </a:extLst>
          </p:cNvPr>
          <p:cNvSpPr/>
          <p:nvPr/>
        </p:nvSpPr>
        <p:spPr>
          <a:xfrm>
            <a:off x="6903177" y="4818218"/>
            <a:ext cx="2076209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800" dirty="0">
                <a:solidFill>
                  <a:schemeClr val="bg1">
                    <a:lumMod val="65000"/>
                  </a:schemeClr>
                </a:solidFill>
                <a:cs typeface="Calibri"/>
              </a:rPr>
              <a:t>Adapted from CS188 of Klein and </a:t>
            </a:r>
            <a:r>
              <a:rPr lang="en-US" sz="800" dirty="0" err="1">
                <a:solidFill>
                  <a:schemeClr val="bg1">
                    <a:lumMod val="65000"/>
                  </a:schemeClr>
                </a:solidFill>
                <a:cs typeface="Calibri"/>
              </a:rPr>
              <a:t>Abbeel</a:t>
            </a:r>
            <a:br>
              <a:rPr lang="en-US" sz="800" dirty="0">
                <a:solidFill>
                  <a:schemeClr val="bg1">
                    <a:lumMod val="65000"/>
                  </a:schemeClr>
                </a:solidFill>
                <a:cs typeface="Calibri"/>
              </a:rPr>
            </a:br>
            <a:r>
              <a:rPr lang="en-US" sz="800" dirty="0">
                <a:solidFill>
                  <a:schemeClr val="bg1">
                    <a:lumMod val="65000"/>
                  </a:schemeClr>
                </a:solidFill>
                <a:cs typeface="Calibri"/>
              </a:rPr>
              <a:t>http://</a:t>
            </a:r>
            <a:r>
              <a:rPr lang="en-US" sz="800" dirty="0" err="1">
                <a:solidFill>
                  <a:schemeClr val="bg1">
                    <a:lumMod val="65000"/>
                  </a:schemeClr>
                </a:solidFill>
                <a:cs typeface="Calibri"/>
              </a:rPr>
              <a:t>ai.berkeley.edu</a:t>
            </a:r>
            <a:endParaRPr lang="en-KR" sz="800" dirty="0"/>
          </a:p>
        </p:txBody>
      </p:sp>
      <p:pic>
        <p:nvPicPr>
          <p:cNvPr id="11" name="Picture 3">
            <a:extLst>
              <a:ext uri="{FF2B5EF4-FFF2-40B4-BE49-F238E27FC236}">
                <a16:creationId xmlns:a16="http://schemas.microsoft.com/office/drawing/2014/main" id="{EFBDF55B-52D6-12D2-8294-52D8CB14BE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118199" y="3287483"/>
            <a:ext cx="2861187" cy="1530735"/>
          </a:xfrm>
          <a:prstGeom prst="rect">
            <a:avLst/>
          </a:prstGeom>
          <a:noFill/>
        </p:spPr>
      </p:pic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E2F09536-E932-BAB7-388F-6D15CC2A25B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KR"/>
              <a:t>691</a:t>
            </a:r>
            <a:endParaRPr lang="en-KR" sz="4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14F850D3-3C7A-9C2A-5E79-36078F2142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A34CC-3191-2A5E-30D5-64C1402F01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K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1ED7C8-A792-4275-46F3-6A8EAC2111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486" y="1282075"/>
            <a:ext cx="8868900" cy="3416400"/>
          </a:xfrm>
        </p:spPr>
        <p:txBody>
          <a:bodyPr/>
          <a:lstStyle/>
          <a:p>
            <a:pPr lvl="1">
              <a:spcBef>
                <a:spcPts val="600"/>
              </a:spcBef>
            </a:pPr>
            <a:endParaRPr lang="en-US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D8AE133B-6D0A-E216-D730-DDBD4CB90EAB}"/>
              </a:ext>
            </a:extLst>
          </p:cNvPr>
          <p:cNvSpPr/>
          <p:nvPr/>
        </p:nvSpPr>
        <p:spPr>
          <a:xfrm>
            <a:off x="6903177" y="4818218"/>
            <a:ext cx="2076209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800" dirty="0">
                <a:solidFill>
                  <a:schemeClr val="bg1">
                    <a:lumMod val="65000"/>
                  </a:schemeClr>
                </a:solidFill>
                <a:cs typeface="Calibri"/>
              </a:rPr>
              <a:t>Adapted from CS188 of Klein and </a:t>
            </a:r>
            <a:r>
              <a:rPr lang="en-US" sz="800" dirty="0" err="1">
                <a:solidFill>
                  <a:schemeClr val="bg1">
                    <a:lumMod val="65000"/>
                  </a:schemeClr>
                </a:solidFill>
                <a:cs typeface="Calibri"/>
              </a:rPr>
              <a:t>Abbeel</a:t>
            </a:r>
            <a:endParaRPr lang="en-KR" sz="8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8ACAE43-B75D-4CAA-ADBF-9F409EBB430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KR"/>
              <a:t>691</a:t>
            </a:r>
            <a:endParaRPr lang="en-KR" sz="4000" dirty="0"/>
          </a:p>
        </p:txBody>
      </p:sp>
    </p:spTree>
    <p:extLst>
      <p:ext uri="{BB962C8B-B14F-4D97-AF65-F5344CB8AC3E}">
        <p14:creationId xmlns:p14="http://schemas.microsoft.com/office/powerpoint/2010/main" val="15818353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7"/>
          <p:cNvSpPr txBox="1">
            <a:spLocks noGrp="1"/>
          </p:cNvSpPr>
          <p:nvPr>
            <p:ph type="title"/>
          </p:nvPr>
        </p:nvSpPr>
        <p:spPr>
          <a:xfrm>
            <a:off x="311700" y="124253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Today’s agenda</a:t>
            </a:r>
            <a:endParaRPr dirty="0"/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07088860-EB7C-B783-6275-7C969E6BD21E}"/>
              </a:ext>
            </a:extLst>
          </p:cNvPr>
          <p:cNvSpPr txBox="1">
            <a:spLocks/>
          </p:cNvSpPr>
          <p:nvPr/>
        </p:nvSpPr>
        <p:spPr>
          <a:xfrm>
            <a:off x="450595" y="696953"/>
            <a:ext cx="8520600" cy="42594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Pontano Sans"/>
              <a:buChar char="●"/>
              <a:defRPr sz="1800" b="0" i="0" u="none" strike="noStrike" cap="none">
                <a:solidFill>
                  <a:schemeClr val="dk2"/>
                </a:solidFill>
                <a:latin typeface="Pontano Sans"/>
                <a:ea typeface="Pontano Sans"/>
                <a:cs typeface="Pontano Sans"/>
                <a:sym typeface="Pontano Sans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ontano Sans"/>
              <a:buChar char="○"/>
              <a:defRPr sz="1400" b="0" i="0" u="none" strike="noStrike" cap="none">
                <a:solidFill>
                  <a:schemeClr val="dk2"/>
                </a:solidFill>
                <a:latin typeface="Pontano Sans"/>
                <a:ea typeface="Pontano Sans"/>
                <a:cs typeface="Pontano Sans"/>
                <a:sym typeface="Pontano Sans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ontano Sans"/>
              <a:buChar char="■"/>
              <a:defRPr sz="1400" b="0" i="0" u="none" strike="noStrike" cap="none">
                <a:solidFill>
                  <a:schemeClr val="dk2"/>
                </a:solidFill>
                <a:latin typeface="Pontano Sans"/>
                <a:ea typeface="Pontano Sans"/>
                <a:cs typeface="Pontano Sans"/>
                <a:sym typeface="Pontano Sans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ontano Sans"/>
              <a:buChar char="●"/>
              <a:defRPr sz="1400" b="0" i="0" u="none" strike="noStrike" cap="none">
                <a:solidFill>
                  <a:schemeClr val="dk2"/>
                </a:solidFill>
                <a:latin typeface="Pontano Sans"/>
                <a:ea typeface="Pontano Sans"/>
                <a:cs typeface="Pontano Sans"/>
                <a:sym typeface="Pontano Sans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ontano Sans"/>
              <a:buChar char="○"/>
              <a:defRPr sz="1400" b="0" i="0" u="none" strike="noStrike" cap="none">
                <a:solidFill>
                  <a:schemeClr val="dk2"/>
                </a:solidFill>
                <a:latin typeface="Pontano Sans"/>
                <a:ea typeface="Pontano Sans"/>
                <a:cs typeface="Pontano Sans"/>
                <a:sym typeface="Pontano Sans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ontano Sans"/>
              <a:buChar char="■"/>
              <a:defRPr sz="1400" b="0" i="0" u="none" strike="noStrike" cap="none">
                <a:solidFill>
                  <a:schemeClr val="dk2"/>
                </a:solidFill>
                <a:latin typeface="Pontano Sans"/>
                <a:ea typeface="Pontano Sans"/>
                <a:cs typeface="Pontano Sans"/>
                <a:sym typeface="Pontano Sans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ontano Sans"/>
              <a:buChar char="●"/>
              <a:defRPr sz="1400" b="0" i="0" u="none" strike="noStrike" cap="none">
                <a:solidFill>
                  <a:schemeClr val="dk2"/>
                </a:solidFill>
                <a:latin typeface="Pontano Sans"/>
                <a:ea typeface="Pontano Sans"/>
                <a:cs typeface="Pontano Sans"/>
                <a:sym typeface="Pontano Sans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ontano Sans"/>
              <a:buChar char="○"/>
              <a:defRPr sz="1400" b="0" i="0" u="none" strike="noStrike" cap="none">
                <a:solidFill>
                  <a:schemeClr val="dk2"/>
                </a:solidFill>
                <a:latin typeface="Pontano Sans"/>
                <a:ea typeface="Pontano Sans"/>
                <a:cs typeface="Pontano Sans"/>
                <a:sym typeface="Pontano Sans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Pontano Sans"/>
              <a:buChar char="■"/>
              <a:defRPr sz="1400" b="0" i="0" u="none" strike="noStrike" cap="none">
                <a:solidFill>
                  <a:schemeClr val="dk2"/>
                </a:solidFill>
                <a:latin typeface="Pontano Sans"/>
                <a:ea typeface="Pontano Sans"/>
                <a:cs typeface="Pontano Sans"/>
                <a:sym typeface="Pontano Sans"/>
              </a:defRPr>
            </a:lvl9pPr>
          </a:lstStyle>
          <a:p>
            <a:pPr marL="36000">
              <a:spcBef>
                <a:spcPts val="600"/>
              </a:spcBef>
            </a:pPr>
            <a:r>
              <a:rPr lang="en-US" sz="2000" dirty="0">
                <a:ea typeface="ＭＳ Ｐゴシック" pitchFamily="34" charset="-128"/>
              </a:rPr>
              <a:t>Non-Deterministic Search</a:t>
            </a:r>
          </a:p>
          <a:p>
            <a:pPr marL="36000">
              <a:spcBef>
                <a:spcPts val="600"/>
              </a:spcBef>
            </a:pPr>
            <a:r>
              <a:rPr lang="en-US" sz="2000" dirty="0">
                <a:ea typeface="ＭＳ Ｐゴシック" pitchFamily="34" charset="-128"/>
              </a:rPr>
              <a:t>Markov Decision Processes (MDPs)</a:t>
            </a:r>
          </a:p>
          <a:p>
            <a:pPr marL="36000">
              <a:spcBef>
                <a:spcPts val="600"/>
              </a:spcBef>
            </a:pPr>
            <a:r>
              <a:rPr lang="en-US" sz="2000" dirty="0"/>
              <a:t>Solving MDPs</a:t>
            </a:r>
          </a:p>
          <a:p>
            <a:pPr marL="36000">
              <a:spcBef>
                <a:spcPts val="600"/>
              </a:spcBef>
            </a:pPr>
            <a:r>
              <a:rPr lang="en-US" sz="2000" dirty="0"/>
              <a:t>Value iteration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EED6FA2E-E562-F4D6-8AD1-2607F78F872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KR"/>
              <a:t>691</a:t>
            </a:r>
            <a:endParaRPr lang="en-KR" sz="4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39A211-2B5F-F72B-0BE0-5B92832DD3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ＭＳ Ｐゴシック" pitchFamily="34" charset="-128"/>
              </a:rPr>
              <a:t>Non-Deterministic Search</a:t>
            </a:r>
            <a:endParaRPr lang="en-KR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399E8F-A4F9-1480-211A-0F9086DC25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KR" dirty="0"/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A9B7F4B2-5534-CB3E-7C76-87EAF33571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915336" y="1344883"/>
            <a:ext cx="3721715" cy="3223992"/>
          </a:xfrm>
          <a:prstGeom prst="rect">
            <a:avLst/>
          </a:prstGeom>
          <a:noFill/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FAF73D4C-0C5A-14BD-9A50-6114E7753DD3}"/>
              </a:ext>
            </a:extLst>
          </p:cNvPr>
          <p:cNvSpPr/>
          <p:nvPr/>
        </p:nvSpPr>
        <p:spPr>
          <a:xfrm>
            <a:off x="7067791" y="4928056"/>
            <a:ext cx="2076209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800" dirty="0">
                <a:solidFill>
                  <a:schemeClr val="bg1">
                    <a:lumMod val="65000"/>
                  </a:schemeClr>
                </a:solidFill>
                <a:cs typeface="Calibri"/>
              </a:rPr>
              <a:t>Adapted from CS188 of Klein and </a:t>
            </a:r>
            <a:r>
              <a:rPr lang="en-US" sz="800" dirty="0" err="1">
                <a:solidFill>
                  <a:schemeClr val="bg1">
                    <a:lumMod val="65000"/>
                  </a:schemeClr>
                </a:solidFill>
                <a:cs typeface="Calibri"/>
              </a:rPr>
              <a:t>Abbeel</a:t>
            </a:r>
            <a:endParaRPr lang="en-KR" sz="8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4FF4603-5517-91E2-DDF7-2450941762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KR"/>
              <a:t>691</a:t>
            </a:r>
            <a:endParaRPr lang="en-KR" sz="4000" dirty="0"/>
          </a:p>
        </p:txBody>
      </p:sp>
    </p:spTree>
    <p:extLst>
      <p:ext uri="{BB962C8B-B14F-4D97-AF65-F5344CB8AC3E}">
        <p14:creationId xmlns:p14="http://schemas.microsoft.com/office/powerpoint/2010/main" val="30413785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E5C350-B995-2557-61A0-5E29E6823F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EBDDC8-9806-159E-2DF5-F78CD8D086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ＭＳ Ｐゴシック" pitchFamily="34" charset="-128"/>
              </a:rPr>
              <a:t>Example: Grid World</a:t>
            </a:r>
            <a:endParaRPr lang="en-KR" dirty="0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7FB65694-D4C8-DD33-70CB-0E56D1883C78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311700" y="1152475"/>
            <a:ext cx="5381177" cy="3416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285750" indent="-285750" eaLnBrk="0" hangingPunct="0">
              <a:lnSpc>
                <a:spcPct val="100000"/>
              </a:lnSpc>
              <a:spcBef>
                <a:spcPct val="20000"/>
              </a:spcBef>
              <a:buClr>
                <a:schemeClr val="accent2"/>
              </a:buClr>
            </a:pPr>
            <a:r>
              <a:rPr lang="en-US" sz="1600" dirty="0">
                <a:solidFill>
                  <a:srgbClr val="C00000"/>
                </a:solidFill>
                <a:ea typeface="ＭＳ Ｐゴシック" pitchFamily="34" charset="-128"/>
              </a:rPr>
              <a:t>A maze-like problem</a:t>
            </a:r>
          </a:p>
          <a:p>
            <a:pPr marL="514350" lvl="1" indent="-171450" eaLnBrk="0" hangingPunct="0">
              <a:lnSpc>
                <a:spcPct val="100000"/>
              </a:lnSpc>
              <a:spcBef>
                <a:spcPct val="20000"/>
              </a:spcBef>
            </a:pPr>
            <a:r>
              <a:rPr lang="en-US" sz="1200" dirty="0">
                <a:solidFill>
                  <a:schemeClr val="dk1"/>
                </a:solidFill>
                <a:ea typeface="ＭＳ Ｐゴシック" pitchFamily="34" charset="-128"/>
              </a:rPr>
              <a:t>The agent lives in a grid</a:t>
            </a:r>
          </a:p>
          <a:p>
            <a:pPr marL="514350" lvl="1" indent="-171450" eaLnBrk="0" hangingPunct="0">
              <a:lnSpc>
                <a:spcPct val="100000"/>
              </a:lnSpc>
              <a:spcBef>
                <a:spcPct val="20000"/>
              </a:spcBef>
            </a:pPr>
            <a:r>
              <a:rPr lang="en-US" sz="1200" dirty="0">
                <a:solidFill>
                  <a:schemeClr val="dk1"/>
                </a:solidFill>
                <a:ea typeface="ＭＳ Ｐゴシック" pitchFamily="34" charset="-128"/>
              </a:rPr>
              <a:t>Walls block the agent’</a:t>
            </a:r>
            <a:r>
              <a:rPr lang="en-US" altLang="ja-JP" sz="1200" dirty="0">
                <a:solidFill>
                  <a:schemeClr val="dk1"/>
                </a:solidFill>
                <a:ea typeface="ＭＳ Ｐゴシック" pitchFamily="34" charset="-128"/>
              </a:rPr>
              <a:t>s path</a:t>
            </a:r>
          </a:p>
          <a:p>
            <a:pPr marL="514350" lvl="1" indent="-171450" eaLnBrk="0" hangingPunct="0">
              <a:lnSpc>
                <a:spcPct val="100000"/>
              </a:lnSpc>
              <a:spcBef>
                <a:spcPct val="20000"/>
              </a:spcBef>
            </a:pPr>
            <a:endParaRPr lang="en-US" altLang="ja-JP" sz="400" dirty="0">
              <a:solidFill>
                <a:schemeClr val="dk1"/>
              </a:solidFill>
              <a:ea typeface="ＭＳ Ｐゴシック" pitchFamily="34" charset="-128"/>
            </a:endParaRPr>
          </a:p>
          <a:p>
            <a:pPr marL="285750" indent="-285750" eaLnBrk="0" hangingPunct="0">
              <a:lnSpc>
                <a:spcPct val="100000"/>
              </a:lnSpc>
              <a:spcBef>
                <a:spcPct val="20000"/>
              </a:spcBef>
              <a:buClr>
                <a:schemeClr val="accent2"/>
              </a:buClr>
            </a:pPr>
            <a:r>
              <a:rPr lang="en-US" sz="1600" dirty="0">
                <a:solidFill>
                  <a:srgbClr val="C00000"/>
                </a:solidFill>
                <a:ea typeface="ＭＳ Ｐゴシック" pitchFamily="34" charset="-128"/>
              </a:rPr>
              <a:t>Noisy movement: </a:t>
            </a:r>
            <a:r>
              <a:rPr lang="en-US" altLang="ja-JP" sz="1600" dirty="0">
                <a:solidFill>
                  <a:srgbClr val="C00000"/>
                </a:solidFill>
                <a:ea typeface="ＭＳ Ｐゴシック" pitchFamily="34" charset="-128"/>
              </a:rPr>
              <a:t>actions do not always go as planned</a:t>
            </a:r>
          </a:p>
          <a:p>
            <a:pPr marL="514350" lvl="1" indent="-171450" eaLnBrk="0" hangingPunct="0">
              <a:lnSpc>
                <a:spcPct val="100000"/>
              </a:lnSpc>
              <a:spcBef>
                <a:spcPct val="20000"/>
              </a:spcBef>
              <a:buClr>
                <a:schemeClr val="accent2"/>
              </a:buClr>
            </a:pPr>
            <a:r>
              <a:rPr lang="en-US" sz="1200" dirty="0">
                <a:solidFill>
                  <a:schemeClr val="dk1"/>
                </a:solidFill>
                <a:ea typeface="ＭＳ Ｐゴシック" pitchFamily="34" charset="-128"/>
              </a:rPr>
              <a:t>80% of the time, the action North takes the agent North  </a:t>
            </a:r>
            <a:br>
              <a:rPr lang="en-US" sz="1200" dirty="0">
                <a:solidFill>
                  <a:schemeClr val="dk1"/>
                </a:solidFill>
                <a:ea typeface="ＭＳ Ｐゴシック" pitchFamily="34" charset="-128"/>
              </a:rPr>
            </a:br>
            <a:r>
              <a:rPr lang="en-US" sz="1200" dirty="0">
                <a:solidFill>
                  <a:schemeClr val="dk1"/>
                </a:solidFill>
                <a:ea typeface="ＭＳ Ｐゴシック" pitchFamily="34" charset="-128"/>
              </a:rPr>
              <a:t>(if there is no wall there)</a:t>
            </a:r>
          </a:p>
          <a:p>
            <a:pPr marL="514350" lvl="1" indent="-171450" eaLnBrk="0" hangingPunct="0">
              <a:lnSpc>
                <a:spcPct val="100000"/>
              </a:lnSpc>
              <a:spcBef>
                <a:spcPct val="20000"/>
              </a:spcBef>
              <a:buClr>
                <a:schemeClr val="accent2"/>
              </a:buClr>
            </a:pPr>
            <a:r>
              <a:rPr lang="en-US" sz="1200" dirty="0">
                <a:solidFill>
                  <a:schemeClr val="dk1"/>
                </a:solidFill>
                <a:ea typeface="ＭＳ Ｐゴシック" pitchFamily="34" charset="-128"/>
              </a:rPr>
              <a:t>10% of the time, North takes the agent West; 10% East</a:t>
            </a:r>
          </a:p>
          <a:p>
            <a:pPr marL="514350" lvl="1" indent="-171450" eaLnBrk="0" hangingPunct="0">
              <a:lnSpc>
                <a:spcPct val="100000"/>
              </a:lnSpc>
              <a:spcBef>
                <a:spcPct val="20000"/>
              </a:spcBef>
              <a:buClr>
                <a:schemeClr val="accent2"/>
              </a:buClr>
            </a:pPr>
            <a:r>
              <a:rPr lang="en-US" sz="1200" dirty="0">
                <a:solidFill>
                  <a:schemeClr val="dk1"/>
                </a:solidFill>
                <a:ea typeface="ＭＳ Ｐゴシック" pitchFamily="34" charset="-128"/>
              </a:rPr>
              <a:t>If there is a wall in the direction the agent would have been taken, the agent stays</a:t>
            </a:r>
          </a:p>
          <a:p>
            <a:pPr marL="514350" lvl="1" indent="-171450" eaLnBrk="0" hangingPunct="0">
              <a:lnSpc>
                <a:spcPct val="100000"/>
              </a:lnSpc>
              <a:spcBef>
                <a:spcPct val="20000"/>
              </a:spcBef>
              <a:buClr>
                <a:schemeClr val="accent2"/>
              </a:buClr>
            </a:pPr>
            <a:endParaRPr lang="en-US" sz="500" dirty="0">
              <a:solidFill>
                <a:schemeClr val="dk1"/>
              </a:solidFill>
              <a:ea typeface="ＭＳ Ｐゴシック" pitchFamily="34" charset="-128"/>
            </a:endParaRPr>
          </a:p>
          <a:p>
            <a:pPr marL="285750" indent="-285750" eaLnBrk="0" hangingPunct="0">
              <a:lnSpc>
                <a:spcPct val="100000"/>
              </a:lnSpc>
              <a:spcBef>
                <a:spcPct val="20000"/>
              </a:spcBef>
              <a:buClr>
                <a:schemeClr val="accent2"/>
              </a:buClr>
            </a:pPr>
            <a:r>
              <a:rPr lang="en-US" sz="1600" dirty="0">
                <a:solidFill>
                  <a:srgbClr val="C00000"/>
                </a:solidFill>
                <a:ea typeface="ＭＳ Ｐゴシック" pitchFamily="34" charset="-128"/>
              </a:rPr>
              <a:t>The agent receives rewards each time step</a:t>
            </a:r>
          </a:p>
          <a:p>
            <a:pPr marL="514350" lvl="1" indent="-171450" eaLnBrk="0" hangingPunct="0">
              <a:lnSpc>
                <a:spcPct val="100000"/>
              </a:lnSpc>
              <a:spcBef>
                <a:spcPct val="20000"/>
              </a:spcBef>
            </a:pPr>
            <a:r>
              <a:rPr lang="en-US" sz="1200" dirty="0">
                <a:solidFill>
                  <a:schemeClr val="dk1"/>
                </a:solidFill>
                <a:ea typeface="ＭＳ Ｐゴシック" pitchFamily="34" charset="-128"/>
              </a:rPr>
              <a:t>Small </a:t>
            </a:r>
            <a:r>
              <a:rPr lang="en-US" altLang="ja-JP" sz="1200" dirty="0">
                <a:solidFill>
                  <a:schemeClr val="dk1"/>
                </a:solidFill>
                <a:ea typeface="ＭＳ Ｐゴシック" pitchFamily="34" charset="-128"/>
              </a:rPr>
              <a:t>“living” reward each step (can be negative)</a:t>
            </a:r>
          </a:p>
          <a:p>
            <a:pPr marL="514350" lvl="1" indent="-171450" eaLnBrk="0" hangingPunct="0">
              <a:lnSpc>
                <a:spcPct val="100000"/>
              </a:lnSpc>
              <a:spcBef>
                <a:spcPct val="20000"/>
              </a:spcBef>
            </a:pPr>
            <a:r>
              <a:rPr lang="en-US" sz="1200" dirty="0">
                <a:solidFill>
                  <a:schemeClr val="dk1"/>
                </a:solidFill>
                <a:ea typeface="ＭＳ Ｐゴシック" pitchFamily="34" charset="-128"/>
              </a:rPr>
              <a:t>Big rewards come at the end (good or bad)</a:t>
            </a:r>
          </a:p>
          <a:p>
            <a:pPr marL="514350" lvl="1" indent="-171450" eaLnBrk="0" hangingPunct="0">
              <a:lnSpc>
                <a:spcPct val="100000"/>
              </a:lnSpc>
              <a:spcBef>
                <a:spcPct val="20000"/>
              </a:spcBef>
            </a:pPr>
            <a:endParaRPr lang="en-US" sz="500" dirty="0">
              <a:solidFill>
                <a:schemeClr val="dk1"/>
              </a:solidFill>
              <a:ea typeface="ＭＳ Ｐゴシック" pitchFamily="34" charset="-128"/>
            </a:endParaRPr>
          </a:p>
          <a:p>
            <a:pPr marL="285750" indent="-285750" eaLnBrk="0" hangingPunct="0">
              <a:lnSpc>
                <a:spcPct val="100000"/>
              </a:lnSpc>
              <a:spcBef>
                <a:spcPct val="20000"/>
              </a:spcBef>
              <a:buClr>
                <a:schemeClr val="accent2"/>
              </a:buClr>
            </a:pPr>
            <a:r>
              <a:rPr lang="en-US" sz="1600" dirty="0">
                <a:solidFill>
                  <a:srgbClr val="C00000"/>
                </a:solidFill>
                <a:ea typeface="ＭＳ Ｐゴシック" pitchFamily="34" charset="-128"/>
              </a:rPr>
              <a:t>Goal: maximize sum of rewards</a:t>
            </a:r>
          </a:p>
        </p:txBody>
      </p:sp>
      <p:pic>
        <p:nvPicPr>
          <p:cNvPr id="8" name="Picture 2">
            <a:extLst>
              <a:ext uri="{FF2B5EF4-FFF2-40B4-BE49-F238E27FC236}">
                <a16:creationId xmlns:a16="http://schemas.microsoft.com/office/drawing/2014/main" id="{9F4B40FC-CEB5-A7F8-A638-3C517F9A9B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487977" y="1720696"/>
            <a:ext cx="3440433" cy="2477678"/>
          </a:xfrm>
          <a:prstGeom prst="rect">
            <a:avLst/>
          </a:prstGeom>
          <a:noFill/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1E9CDDB7-E64B-820A-8273-56356C8FBA58}"/>
              </a:ext>
            </a:extLst>
          </p:cNvPr>
          <p:cNvSpPr/>
          <p:nvPr/>
        </p:nvSpPr>
        <p:spPr>
          <a:xfrm>
            <a:off x="7067791" y="4928056"/>
            <a:ext cx="2076209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800" dirty="0">
                <a:solidFill>
                  <a:schemeClr val="bg1">
                    <a:lumMod val="65000"/>
                  </a:schemeClr>
                </a:solidFill>
                <a:cs typeface="Calibri"/>
              </a:rPr>
              <a:t>Adapted from CS188 of Klein and </a:t>
            </a:r>
            <a:r>
              <a:rPr lang="en-US" sz="800" dirty="0" err="1">
                <a:solidFill>
                  <a:schemeClr val="bg1">
                    <a:lumMod val="65000"/>
                  </a:schemeClr>
                </a:solidFill>
                <a:cs typeface="Calibri"/>
              </a:rPr>
              <a:t>Abbeel</a:t>
            </a:r>
            <a:endParaRPr lang="en-KR" sz="800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0441675-82A2-EB10-D045-272D299045E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KR"/>
              <a:t>691</a:t>
            </a:r>
            <a:endParaRPr lang="en-KR" sz="4000" dirty="0"/>
          </a:p>
        </p:txBody>
      </p:sp>
    </p:spTree>
    <p:extLst>
      <p:ext uri="{BB962C8B-B14F-4D97-AF65-F5344CB8AC3E}">
        <p14:creationId xmlns:p14="http://schemas.microsoft.com/office/powerpoint/2010/main" val="17032018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7EC66A-70B7-A3A1-4374-BE193A1CE9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FC4D34-F4A3-5180-E9F9-7FCF6CDF7A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Grid World Actions</a:t>
            </a:r>
            <a:endParaRPr lang="en-KR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7EB783D-D0E8-8EB2-6F68-9FA7A20041B1}"/>
              </a:ext>
            </a:extLst>
          </p:cNvPr>
          <p:cNvSpPr/>
          <p:nvPr/>
        </p:nvSpPr>
        <p:spPr>
          <a:xfrm>
            <a:off x="7067791" y="4928056"/>
            <a:ext cx="2076209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800" dirty="0">
                <a:solidFill>
                  <a:schemeClr val="bg1">
                    <a:lumMod val="65000"/>
                  </a:schemeClr>
                </a:solidFill>
                <a:cs typeface="Calibri"/>
              </a:rPr>
              <a:t>Adapted from CS188 of Klein and </a:t>
            </a:r>
            <a:r>
              <a:rPr lang="en-US" sz="800" dirty="0" err="1">
                <a:solidFill>
                  <a:schemeClr val="bg1">
                    <a:lumMod val="65000"/>
                  </a:schemeClr>
                </a:solidFill>
                <a:cs typeface="Calibri"/>
              </a:rPr>
              <a:t>Abbeel</a:t>
            </a:r>
            <a:endParaRPr lang="en-KR" sz="800" dirty="0"/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25B423D6-A514-E09D-A462-180D1AAE92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342703" y="1569171"/>
            <a:ext cx="1429200" cy="2152207"/>
          </a:xfrm>
          <a:prstGeom prst="rect">
            <a:avLst/>
          </a:prstGeom>
          <a:noFill/>
        </p:spPr>
      </p:pic>
      <p:pic>
        <p:nvPicPr>
          <p:cNvPr id="10" name="Picture 2">
            <a:extLst>
              <a:ext uri="{FF2B5EF4-FFF2-40B4-BE49-F238E27FC236}">
                <a16:creationId xmlns:a16="http://schemas.microsoft.com/office/drawing/2014/main" id="{2A8B8149-D46C-1484-8491-63158065FE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053685" y="1697786"/>
            <a:ext cx="4567451" cy="3123547"/>
          </a:xfrm>
          <a:prstGeom prst="rect">
            <a:avLst/>
          </a:prstGeom>
          <a:noFill/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E8F0EA46-4161-6657-A581-50EC7DC519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1652" y="1190954"/>
            <a:ext cx="2847189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sz="2000" dirty="0">
                <a:solidFill>
                  <a:schemeClr val="dk1"/>
                </a:solidFill>
                <a:latin typeface="Pontano Sans"/>
                <a:sym typeface="Pontano Sans"/>
              </a:rPr>
              <a:t>Deterministic Grid World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F686BA6-D5FA-9879-9DF1-8B2C7008D2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34344" y="1190954"/>
            <a:ext cx="2766953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sz="2000" dirty="0">
                <a:solidFill>
                  <a:schemeClr val="dk1"/>
                </a:solidFill>
                <a:latin typeface="Pontano Sans"/>
              </a:rPr>
              <a:t>Stochastic Grid World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34098DB-2D6B-2ED7-CB72-34404D77AE45}"/>
              </a:ext>
            </a:extLst>
          </p:cNvPr>
          <p:cNvCxnSpPr>
            <a:cxnSpLocks/>
          </p:cNvCxnSpPr>
          <p:nvPr/>
        </p:nvCxnSpPr>
        <p:spPr>
          <a:xfrm>
            <a:off x="3669249" y="1165748"/>
            <a:ext cx="55328" cy="3762308"/>
          </a:xfrm>
          <a:prstGeom prst="line">
            <a:avLst/>
          </a:prstGeom>
          <a:ln w="508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Picture 2">
            <a:extLst>
              <a:ext uri="{FF2B5EF4-FFF2-40B4-BE49-F238E27FC236}">
                <a16:creationId xmlns:a16="http://schemas.microsoft.com/office/drawing/2014/main" id="{4B2D0525-5D50-9AA9-B485-282DD84789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294171" y="3930867"/>
            <a:ext cx="1422152" cy="997189"/>
          </a:xfrm>
          <a:prstGeom prst="rect">
            <a:avLst/>
          </a:prstGeom>
          <a:noFill/>
        </p:spPr>
      </p:pic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2A4BAA0-74E5-EF55-BE6C-9665310A1A3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KR"/>
              <a:t>691</a:t>
            </a:r>
            <a:endParaRPr lang="en-KR" sz="4000" dirty="0"/>
          </a:p>
        </p:txBody>
      </p:sp>
    </p:spTree>
    <p:extLst>
      <p:ext uri="{BB962C8B-B14F-4D97-AF65-F5344CB8AC3E}">
        <p14:creationId xmlns:p14="http://schemas.microsoft.com/office/powerpoint/2010/main" val="42612227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95E074-1B60-3A34-5511-063289F0AC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CAB932-927E-3298-0F3C-CCF4057133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ＭＳ Ｐゴシック" pitchFamily="34" charset="-128"/>
              </a:rPr>
              <a:t>Markov Decision Processes</a:t>
            </a:r>
            <a:endParaRPr lang="en-KR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B0DCD87-9361-3F9D-D06F-740E380F7C32}"/>
              </a:ext>
            </a:extLst>
          </p:cNvPr>
          <p:cNvSpPr/>
          <p:nvPr/>
        </p:nvSpPr>
        <p:spPr>
          <a:xfrm>
            <a:off x="7067791" y="4928056"/>
            <a:ext cx="2076209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800" dirty="0">
                <a:solidFill>
                  <a:schemeClr val="bg1">
                    <a:lumMod val="65000"/>
                  </a:schemeClr>
                </a:solidFill>
                <a:cs typeface="Calibri"/>
              </a:rPr>
              <a:t>Adapted from CS188 of Klein and </a:t>
            </a:r>
            <a:r>
              <a:rPr lang="en-US" sz="800" dirty="0" err="1">
                <a:solidFill>
                  <a:schemeClr val="bg1">
                    <a:lumMod val="65000"/>
                  </a:schemeClr>
                </a:solidFill>
                <a:cs typeface="Calibri"/>
              </a:rPr>
              <a:t>Abbeel</a:t>
            </a:r>
            <a:endParaRPr lang="en-KR" sz="800" dirty="0"/>
          </a:p>
        </p:txBody>
      </p:sp>
      <p:sp>
        <p:nvSpPr>
          <p:cNvPr id="17" name="Rectangle 3">
            <a:extLst>
              <a:ext uri="{FF2B5EF4-FFF2-40B4-BE49-F238E27FC236}">
                <a16:creationId xmlns:a16="http://schemas.microsoft.com/office/drawing/2014/main" id="{C2B3A699-A91D-C6F7-8235-3EC4FE5A9535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311700" y="1152475"/>
            <a:ext cx="5381177" cy="3416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285750" indent="-285750" eaLnBrk="0" hangingPunct="0">
              <a:spcBef>
                <a:spcPct val="20000"/>
              </a:spcBef>
              <a:buClr>
                <a:schemeClr val="accent2"/>
              </a:buClr>
            </a:pPr>
            <a:r>
              <a:rPr lang="en-US" sz="1600" dirty="0">
                <a:solidFill>
                  <a:schemeClr val="tx1"/>
                </a:solidFill>
                <a:ea typeface="ＭＳ Ｐゴシック" pitchFamily="34" charset="-128"/>
              </a:rPr>
              <a:t>An MDP is defined by:</a:t>
            </a:r>
          </a:p>
          <a:p>
            <a:pPr marL="628650" lvl="1" indent="-171450" eaLnBrk="0" hangingPunct="0">
              <a:spcBef>
                <a:spcPct val="20000"/>
              </a:spcBef>
              <a:buClr>
                <a:schemeClr val="accent2"/>
              </a:buClr>
            </a:pPr>
            <a:r>
              <a:rPr lang="en-US" sz="1200" dirty="0">
                <a:solidFill>
                  <a:schemeClr val="tx1"/>
                </a:solidFill>
                <a:ea typeface="ＭＳ Ｐゴシック" pitchFamily="34" charset="-128"/>
              </a:rPr>
              <a:t>A </a:t>
            </a:r>
            <a:r>
              <a:rPr lang="en-US" sz="1200" dirty="0">
                <a:solidFill>
                  <a:srgbClr val="CC0000"/>
                </a:solidFill>
                <a:ea typeface="ＭＳ Ｐゴシック" pitchFamily="34" charset="-128"/>
              </a:rPr>
              <a:t>set of states s </a:t>
            </a:r>
            <a:r>
              <a:rPr lang="en-US" sz="1200" dirty="0">
                <a:solidFill>
                  <a:srgbClr val="CC0000"/>
                </a:solidFill>
                <a:ea typeface="ＭＳ Ｐゴシック" pitchFamily="34" charset="-128"/>
                <a:sym typeface="Symbol" pitchFamily="18" charset="2"/>
              </a:rPr>
              <a:t> </a:t>
            </a:r>
            <a:r>
              <a:rPr lang="en-US" sz="1200" dirty="0">
                <a:solidFill>
                  <a:srgbClr val="CC0000"/>
                </a:solidFill>
                <a:ea typeface="ＭＳ Ｐゴシック" pitchFamily="34" charset="-128"/>
              </a:rPr>
              <a:t>S</a:t>
            </a:r>
          </a:p>
          <a:p>
            <a:pPr marL="628650" lvl="1" indent="-171450" eaLnBrk="0" hangingPunct="0">
              <a:spcBef>
                <a:spcPct val="20000"/>
              </a:spcBef>
              <a:buClr>
                <a:schemeClr val="accent2"/>
              </a:buClr>
            </a:pPr>
            <a:r>
              <a:rPr lang="en-US" sz="1200" dirty="0">
                <a:solidFill>
                  <a:schemeClr val="tx1"/>
                </a:solidFill>
                <a:ea typeface="ＭＳ Ｐゴシック" pitchFamily="34" charset="-128"/>
              </a:rPr>
              <a:t>A</a:t>
            </a:r>
            <a:r>
              <a:rPr lang="en-US" sz="1200" dirty="0">
                <a:ea typeface="ＭＳ Ｐゴシック" pitchFamily="34" charset="-128"/>
              </a:rPr>
              <a:t> </a:t>
            </a:r>
            <a:r>
              <a:rPr lang="en-US" sz="1200" dirty="0">
                <a:solidFill>
                  <a:srgbClr val="CC0000"/>
                </a:solidFill>
                <a:ea typeface="ＭＳ Ｐゴシック" pitchFamily="34" charset="-128"/>
              </a:rPr>
              <a:t>set of actions a </a:t>
            </a:r>
            <a:r>
              <a:rPr lang="en-US" sz="1200" dirty="0">
                <a:solidFill>
                  <a:srgbClr val="CC0000"/>
                </a:solidFill>
                <a:ea typeface="ＭＳ Ｐゴシック" pitchFamily="34" charset="-128"/>
                <a:sym typeface="Symbol" pitchFamily="18" charset="2"/>
              </a:rPr>
              <a:t> A</a:t>
            </a:r>
          </a:p>
          <a:p>
            <a:pPr marL="628650" lvl="1" indent="-171450" eaLnBrk="0" hangingPunct="0">
              <a:spcBef>
                <a:spcPct val="20000"/>
              </a:spcBef>
              <a:buClr>
                <a:schemeClr val="accent2"/>
              </a:buClr>
            </a:pPr>
            <a:r>
              <a:rPr lang="en-US" sz="1200" dirty="0">
                <a:solidFill>
                  <a:schemeClr val="tx1"/>
                </a:solidFill>
                <a:ea typeface="ＭＳ Ｐゴシック" pitchFamily="34" charset="-128"/>
              </a:rPr>
              <a:t>A </a:t>
            </a:r>
            <a:r>
              <a:rPr lang="en-US" sz="1200" dirty="0">
                <a:solidFill>
                  <a:srgbClr val="CC0000"/>
                </a:solidFill>
                <a:ea typeface="ＭＳ Ｐゴシック" pitchFamily="34" charset="-128"/>
              </a:rPr>
              <a:t>transition function T(s, a, s</a:t>
            </a:r>
            <a:r>
              <a:rPr lang="en-US" altLang="ja-JP" sz="1200" dirty="0">
                <a:solidFill>
                  <a:srgbClr val="CC0000"/>
                </a:solidFill>
                <a:ea typeface="ＭＳ Ｐゴシック" pitchFamily="34" charset="-128"/>
              </a:rPr>
              <a:t>’)</a:t>
            </a:r>
            <a:endParaRPr lang="en-US" altLang="ja-JP" sz="1200" dirty="0">
              <a:ea typeface="ＭＳ Ｐゴシック" pitchFamily="34" charset="-128"/>
            </a:endParaRPr>
          </a:p>
          <a:p>
            <a:pPr marL="1085850" lvl="2" indent="-171450" eaLnBrk="0" hangingPunct="0">
              <a:spcBef>
                <a:spcPct val="20000"/>
              </a:spcBef>
              <a:buClr>
                <a:schemeClr val="accent2"/>
              </a:buClr>
            </a:pPr>
            <a:r>
              <a:rPr lang="en-US" sz="1200" dirty="0">
                <a:solidFill>
                  <a:schemeClr val="tx1"/>
                </a:solidFill>
                <a:ea typeface="ＭＳ Ｐゴシック" pitchFamily="34" charset="-128"/>
              </a:rPr>
              <a:t>Probability that a from s leads to s’, i.e., P(s</a:t>
            </a:r>
            <a:r>
              <a:rPr lang="en-US" altLang="ja-JP" sz="1200" dirty="0">
                <a:solidFill>
                  <a:schemeClr val="tx1"/>
                </a:solidFill>
                <a:ea typeface="ＭＳ Ｐゴシック" pitchFamily="34" charset="-128"/>
              </a:rPr>
              <a:t>’</a:t>
            </a:r>
            <a:r>
              <a:rPr lang="ko-KR" altLang="en-US" sz="1200" dirty="0">
                <a:solidFill>
                  <a:schemeClr val="tx1"/>
                </a:solidFill>
                <a:ea typeface="ＭＳ Ｐゴシック" pitchFamily="34" charset="-128"/>
              </a:rPr>
              <a:t> </a:t>
            </a:r>
            <a:r>
              <a:rPr lang="en-US" altLang="ja-JP" sz="1200" dirty="0">
                <a:solidFill>
                  <a:schemeClr val="tx1"/>
                </a:solidFill>
                <a:ea typeface="ＭＳ Ｐゴシック" pitchFamily="34" charset="-128"/>
              </a:rPr>
              <a:t>| s, a)</a:t>
            </a:r>
          </a:p>
          <a:p>
            <a:pPr marL="1085850" lvl="2" indent="-171450" eaLnBrk="0" hangingPunct="0">
              <a:spcBef>
                <a:spcPct val="20000"/>
              </a:spcBef>
              <a:buClr>
                <a:schemeClr val="accent2"/>
              </a:buClr>
            </a:pPr>
            <a:r>
              <a:rPr lang="en-US" sz="1200" dirty="0">
                <a:solidFill>
                  <a:schemeClr val="tx1"/>
                </a:solidFill>
                <a:ea typeface="ＭＳ Ｐゴシック" pitchFamily="34" charset="-128"/>
              </a:rPr>
              <a:t>Also called the model or the dynamics</a:t>
            </a:r>
          </a:p>
          <a:p>
            <a:pPr marL="628650" lvl="1" indent="-171450" eaLnBrk="0" hangingPunct="0">
              <a:spcBef>
                <a:spcPct val="20000"/>
              </a:spcBef>
              <a:buClr>
                <a:schemeClr val="accent2"/>
              </a:buClr>
            </a:pPr>
            <a:r>
              <a:rPr lang="en-US" sz="1200" dirty="0">
                <a:solidFill>
                  <a:schemeClr val="tx1"/>
                </a:solidFill>
                <a:ea typeface="ＭＳ Ｐゴシック" pitchFamily="34" charset="-128"/>
              </a:rPr>
              <a:t>A </a:t>
            </a:r>
            <a:r>
              <a:rPr lang="en-US" sz="1200" dirty="0">
                <a:solidFill>
                  <a:srgbClr val="CC0000"/>
                </a:solidFill>
                <a:ea typeface="ＭＳ Ｐゴシック" pitchFamily="34" charset="-128"/>
              </a:rPr>
              <a:t>reward function R(s, a, s</a:t>
            </a:r>
            <a:r>
              <a:rPr lang="en-US" altLang="ja-JP" sz="1200" dirty="0">
                <a:solidFill>
                  <a:srgbClr val="CC0000"/>
                </a:solidFill>
                <a:ea typeface="ＭＳ Ｐゴシック" pitchFamily="34" charset="-128"/>
              </a:rPr>
              <a:t>’) </a:t>
            </a:r>
          </a:p>
          <a:p>
            <a:pPr marL="1085850" lvl="2" indent="-171450" eaLnBrk="0" hangingPunct="0">
              <a:spcBef>
                <a:spcPct val="20000"/>
              </a:spcBef>
              <a:buClr>
                <a:schemeClr val="accent2"/>
              </a:buClr>
            </a:pPr>
            <a:r>
              <a:rPr lang="en-US" sz="1200" dirty="0">
                <a:solidFill>
                  <a:schemeClr val="tx1"/>
                </a:solidFill>
                <a:ea typeface="ＭＳ Ｐゴシック" pitchFamily="34" charset="-128"/>
              </a:rPr>
              <a:t>Sometimes just R(s) or R(s</a:t>
            </a:r>
            <a:r>
              <a:rPr lang="en-US" altLang="ja-JP" sz="1200" dirty="0">
                <a:solidFill>
                  <a:schemeClr val="tx1"/>
                </a:solidFill>
                <a:ea typeface="ＭＳ Ｐゴシック" pitchFamily="34" charset="-128"/>
              </a:rPr>
              <a:t>’)</a:t>
            </a:r>
            <a:endParaRPr lang="en-US" altLang="ja-JP" sz="400" dirty="0">
              <a:solidFill>
                <a:schemeClr val="tx1"/>
              </a:solidFill>
              <a:ea typeface="ＭＳ Ｐゴシック" pitchFamily="34" charset="-128"/>
            </a:endParaRPr>
          </a:p>
          <a:p>
            <a:pPr marL="628650" lvl="1" indent="-171450" eaLnBrk="0" hangingPunct="0">
              <a:spcBef>
                <a:spcPct val="20000"/>
              </a:spcBef>
              <a:buClr>
                <a:schemeClr val="accent2"/>
              </a:buClr>
            </a:pPr>
            <a:r>
              <a:rPr lang="en-US" sz="1200" dirty="0">
                <a:solidFill>
                  <a:schemeClr val="tx1"/>
                </a:solidFill>
                <a:ea typeface="ＭＳ Ｐゴシック" pitchFamily="34" charset="-128"/>
              </a:rPr>
              <a:t>A </a:t>
            </a:r>
            <a:r>
              <a:rPr lang="en-US" sz="1200" dirty="0">
                <a:solidFill>
                  <a:srgbClr val="CC0000"/>
                </a:solidFill>
                <a:ea typeface="ＭＳ Ｐゴシック" pitchFamily="34" charset="-128"/>
              </a:rPr>
              <a:t>start state</a:t>
            </a:r>
            <a:endParaRPr lang="en-US" sz="1200" dirty="0">
              <a:ea typeface="ＭＳ Ｐゴシック" pitchFamily="34" charset="-128"/>
            </a:endParaRPr>
          </a:p>
          <a:p>
            <a:pPr marL="628650" lvl="1" indent="-171450" eaLnBrk="0" hangingPunct="0">
              <a:spcBef>
                <a:spcPct val="20000"/>
              </a:spcBef>
              <a:buClr>
                <a:schemeClr val="accent2"/>
              </a:buClr>
            </a:pPr>
            <a:r>
              <a:rPr lang="en-US" sz="1200" dirty="0">
                <a:solidFill>
                  <a:schemeClr val="tx1"/>
                </a:solidFill>
                <a:ea typeface="ＭＳ Ｐゴシック" pitchFamily="34" charset="-128"/>
              </a:rPr>
              <a:t>Maybe a </a:t>
            </a:r>
            <a:r>
              <a:rPr lang="en-US" sz="1200" dirty="0">
                <a:solidFill>
                  <a:srgbClr val="CC0000"/>
                </a:solidFill>
                <a:ea typeface="ＭＳ Ｐゴシック" pitchFamily="34" charset="-128"/>
              </a:rPr>
              <a:t>terminal state</a:t>
            </a:r>
          </a:p>
          <a:p>
            <a:pPr marL="285750" indent="-285750" eaLnBrk="0" hangingPunct="0">
              <a:spcBef>
                <a:spcPct val="20000"/>
              </a:spcBef>
              <a:buClr>
                <a:schemeClr val="accent2"/>
              </a:buClr>
            </a:pPr>
            <a:r>
              <a:rPr lang="en-US" sz="1600" dirty="0">
                <a:solidFill>
                  <a:schemeClr val="tx1"/>
                </a:solidFill>
                <a:ea typeface="ＭＳ Ｐゴシック" pitchFamily="34" charset="-128"/>
              </a:rPr>
              <a:t>MDPs are non-deterministic search problems</a:t>
            </a:r>
          </a:p>
          <a:p>
            <a:pPr marL="628650" lvl="1" indent="-171450" eaLnBrk="0" hangingPunct="0">
              <a:spcBef>
                <a:spcPct val="20000"/>
              </a:spcBef>
              <a:buClr>
                <a:schemeClr val="accent2"/>
              </a:buClr>
            </a:pPr>
            <a:r>
              <a:rPr lang="en-US" sz="1200" dirty="0">
                <a:solidFill>
                  <a:schemeClr val="tx1"/>
                </a:solidFill>
                <a:ea typeface="ＭＳ Ｐゴシック" pitchFamily="34" charset="-128"/>
              </a:rPr>
              <a:t>One way to solve them is with </a:t>
            </a:r>
            <a:r>
              <a:rPr lang="en-US" sz="1200" dirty="0" err="1">
                <a:solidFill>
                  <a:schemeClr val="tx1"/>
                </a:solidFill>
                <a:ea typeface="ＭＳ Ｐゴシック" pitchFamily="34" charset="-128"/>
              </a:rPr>
              <a:t>expectimax</a:t>
            </a:r>
            <a:r>
              <a:rPr lang="en-US" sz="1200" dirty="0">
                <a:solidFill>
                  <a:schemeClr val="tx1"/>
                </a:solidFill>
                <a:ea typeface="ＭＳ Ｐゴシック" pitchFamily="34" charset="-128"/>
              </a:rPr>
              <a:t> search</a:t>
            </a:r>
          </a:p>
          <a:p>
            <a:pPr marL="628650" lvl="1" indent="-171450" eaLnBrk="0" hangingPunct="0">
              <a:spcBef>
                <a:spcPct val="20000"/>
              </a:spcBef>
              <a:buClr>
                <a:schemeClr val="accent2"/>
              </a:buClr>
            </a:pPr>
            <a:r>
              <a:rPr lang="en-US" sz="1200" dirty="0">
                <a:solidFill>
                  <a:schemeClr val="tx1"/>
                </a:solidFill>
                <a:ea typeface="ＭＳ Ｐゴシック" pitchFamily="34" charset="-128"/>
              </a:rPr>
              <a:t>We’</a:t>
            </a:r>
            <a:r>
              <a:rPr lang="en-US" altLang="ja-JP" sz="1200" dirty="0">
                <a:solidFill>
                  <a:schemeClr val="tx1"/>
                </a:solidFill>
                <a:ea typeface="ＭＳ Ｐゴシック" pitchFamily="34" charset="-128"/>
              </a:rPr>
              <a:t>ll have a new tool soon</a:t>
            </a:r>
            <a:endParaRPr lang="en-US" sz="1200" dirty="0">
              <a:solidFill>
                <a:schemeClr val="tx1"/>
              </a:solidFill>
              <a:ea typeface="ＭＳ Ｐゴシック" pitchFamily="34" charset="-128"/>
            </a:endParaRP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4A5CE0C3-7461-9029-08A8-5965DDC888DA}"/>
              </a:ext>
            </a:extLst>
          </p:cNvPr>
          <p:cNvGrpSpPr/>
          <p:nvPr/>
        </p:nvGrpSpPr>
        <p:grpSpPr>
          <a:xfrm>
            <a:off x="5345916" y="1553800"/>
            <a:ext cx="3443750" cy="2613749"/>
            <a:chOff x="5243051" y="1885951"/>
            <a:chExt cx="3443750" cy="2613749"/>
          </a:xfrm>
        </p:grpSpPr>
        <p:pic>
          <p:nvPicPr>
            <p:cNvPr id="21" name="Picture 4">
              <a:extLst>
                <a:ext uri="{FF2B5EF4-FFF2-40B4-BE49-F238E27FC236}">
                  <a16:creationId xmlns:a16="http://schemas.microsoft.com/office/drawing/2014/main" id="{156523C0-5B17-1B1B-78F3-4EE7FBBDCD7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5243051" y="1885951"/>
              <a:ext cx="3371850" cy="26137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22" name="Picture 2">
              <a:extLst>
                <a:ext uri="{FF2B5EF4-FFF2-40B4-BE49-F238E27FC236}">
                  <a16:creationId xmlns:a16="http://schemas.microsoft.com/office/drawing/2014/main" id="{5B66EAA5-B53C-89F5-2983-8636F1DCFE1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auto">
            <a:xfrm>
              <a:off x="5357352" y="1887225"/>
              <a:ext cx="3329449" cy="2397751"/>
            </a:xfrm>
            <a:prstGeom prst="rect">
              <a:avLst/>
            </a:prstGeom>
            <a:noFill/>
          </p:spPr>
        </p:pic>
        <p:pic>
          <p:nvPicPr>
            <p:cNvPr id="23" name="Picture 3">
              <a:extLst>
                <a:ext uri="{FF2B5EF4-FFF2-40B4-BE49-F238E27FC236}">
                  <a16:creationId xmlns:a16="http://schemas.microsoft.com/office/drawing/2014/main" id="{85F041E2-5E1E-2FF0-F315-4778A4A1D96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/>
            <a:stretch>
              <a:fillRect/>
            </a:stretch>
          </p:blipFill>
          <p:spPr bwMode="auto">
            <a:xfrm>
              <a:off x="7658100" y="3779662"/>
              <a:ext cx="342900" cy="1834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24" name="Picture 4">
              <a:extLst>
                <a:ext uri="{FF2B5EF4-FFF2-40B4-BE49-F238E27FC236}">
                  <a16:creationId xmlns:a16="http://schemas.microsoft.com/office/drawing/2014/main" id="{CC65E483-2E07-BC59-ECBE-69A94F50628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/>
            <a:stretch>
              <a:fillRect/>
            </a:stretch>
          </p:blipFill>
          <p:spPr bwMode="auto">
            <a:xfrm>
              <a:off x="6800851" y="3771900"/>
              <a:ext cx="382214" cy="16414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25" name="Picture 5">
              <a:extLst>
                <a:ext uri="{FF2B5EF4-FFF2-40B4-BE49-F238E27FC236}">
                  <a16:creationId xmlns:a16="http://schemas.microsoft.com/office/drawing/2014/main" id="{6D93E97F-08A0-A6C9-FA72-77AAF018F8F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/>
            <a:stretch>
              <a:fillRect/>
            </a:stretch>
          </p:blipFill>
          <p:spPr bwMode="auto">
            <a:xfrm>
              <a:off x="7258050" y="3028950"/>
              <a:ext cx="324992" cy="5857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26" name="Picture 2" descr="C:\Users\Dan\Dropbox\Office\CS 188\Ketrina Art\MDPs\AgentTopDown.png">
              <a:extLst>
                <a:ext uri="{FF2B5EF4-FFF2-40B4-BE49-F238E27FC236}">
                  <a16:creationId xmlns:a16="http://schemas.microsoft.com/office/drawing/2014/main" id="{147D0504-B289-FF6C-53D5-4F6EE069084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 cstate="print"/>
            <a:srcRect/>
            <a:stretch>
              <a:fillRect/>
            </a:stretch>
          </p:blipFill>
          <p:spPr bwMode="auto">
            <a:xfrm>
              <a:off x="7103566" y="3543300"/>
              <a:ext cx="611684" cy="571500"/>
            </a:xfrm>
            <a:prstGeom prst="rect">
              <a:avLst/>
            </a:prstGeom>
            <a:noFill/>
          </p:spPr>
        </p:pic>
      </p:grpSp>
      <p:sp>
        <p:nvSpPr>
          <p:cNvPr id="27" name="Text Box 28">
            <a:extLst>
              <a:ext uri="{FF2B5EF4-FFF2-40B4-BE49-F238E27FC236}">
                <a16:creationId xmlns:a16="http://schemas.microsoft.com/office/drawing/2014/main" id="{F2E0FED2-CBB4-21F7-0AB2-AE4953808E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91906" y="4606205"/>
            <a:ext cx="3829050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sz="1200" dirty="0">
                <a:solidFill>
                  <a:srgbClr val="C00000"/>
                </a:solidFill>
                <a:latin typeface="Pontano Sans"/>
                <a:ea typeface="ＭＳ Ｐゴシック" pitchFamily="34" charset="-128"/>
                <a:sym typeface="Pontano Sans"/>
              </a:rPr>
              <a:t>[Demo – </a:t>
            </a:r>
            <a:r>
              <a:rPr lang="en-US" sz="1200" dirty="0" err="1">
                <a:solidFill>
                  <a:srgbClr val="C00000"/>
                </a:solidFill>
                <a:latin typeface="Pontano Sans"/>
                <a:ea typeface="ＭＳ Ｐゴシック" pitchFamily="34" charset="-128"/>
                <a:sym typeface="Pontano Sans"/>
              </a:rPr>
              <a:t>gridworld</a:t>
            </a:r>
            <a:r>
              <a:rPr lang="en-US" sz="1200" dirty="0">
                <a:solidFill>
                  <a:srgbClr val="C00000"/>
                </a:solidFill>
                <a:latin typeface="Pontano Sans"/>
                <a:ea typeface="ＭＳ Ｐゴシック" pitchFamily="34" charset="-128"/>
                <a:sym typeface="Pontano Sans"/>
              </a:rPr>
              <a:t> manual intro (L8D1)]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F6C4DD6-6D6C-3E61-8B01-3F395C830CD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KR"/>
              <a:t>691</a:t>
            </a:r>
            <a:endParaRPr lang="en-KR" sz="4000" dirty="0"/>
          </a:p>
        </p:txBody>
      </p:sp>
    </p:spTree>
    <p:extLst>
      <p:ext uri="{BB962C8B-B14F-4D97-AF65-F5344CB8AC3E}">
        <p14:creationId xmlns:p14="http://schemas.microsoft.com/office/powerpoint/2010/main" val="26110423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FD874C-6B5D-5F74-2622-B9F0F5C08F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1BDF30-4F39-6FC3-8933-2CCBF2F1C1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Video of Demo </a:t>
            </a:r>
            <a:r>
              <a:rPr lang="en-US" dirty="0" err="1"/>
              <a:t>Gridworld</a:t>
            </a:r>
            <a:r>
              <a:rPr lang="en-US" dirty="0"/>
              <a:t> Manual Intro</a:t>
            </a:r>
            <a:endParaRPr lang="en-KR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F0D6A66-0096-607A-66D4-6FD9EC242EF7}"/>
              </a:ext>
            </a:extLst>
          </p:cNvPr>
          <p:cNvSpPr/>
          <p:nvPr/>
        </p:nvSpPr>
        <p:spPr>
          <a:xfrm>
            <a:off x="7067791" y="4928056"/>
            <a:ext cx="2076209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800" dirty="0">
                <a:solidFill>
                  <a:schemeClr val="bg1">
                    <a:lumMod val="65000"/>
                  </a:schemeClr>
                </a:solidFill>
                <a:cs typeface="Calibri"/>
              </a:rPr>
              <a:t>Adapted from CS188 of Klein and </a:t>
            </a:r>
            <a:r>
              <a:rPr lang="en-US" sz="800" dirty="0" err="1">
                <a:solidFill>
                  <a:schemeClr val="bg1">
                    <a:lumMod val="65000"/>
                  </a:schemeClr>
                </a:solidFill>
                <a:cs typeface="Calibri"/>
              </a:rPr>
              <a:t>Abbeel</a:t>
            </a:r>
            <a:endParaRPr lang="en-KR" sz="800" dirty="0"/>
          </a:p>
        </p:txBody>
      </p:sp>
      <p:pic>
        <p:nvPicPr>
          <p:cNvPr id="5" name="Lec7_MDP_Gridworld Manual Intro_updated">
            <a:hlinkClick r:id="" action="ppaction://media"/>
            <a:extLst>
              <a:ext uri="{FF2B5EF4-FFF2-40B4-BE49-F238E27FC236}">
                <a16:creationId xmlns:a16="http://schemas.microsoft.com/office/drawing/2014/main" id="{A737FDFF-EAB0-A773-019D-CC34F5798A1F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245556" y="1101765"/>
            <a:ext cx="6652889" cy="3742250"/>
          </a:xfrm>
          <a:prstGeom prst="rect">
            <a:avLst/>
          </a:prstGeom>
        </p:spPr>
      </p:pic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7A6938A-0717-9E85-45E9-9E394882300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KR"/>
              <a:t>691</a:t>
            </a:r>
            <a:endParaRPr lang="en-KR" sz="4000" dirty="0"/>
          </a:p>
        </p:txBody>
      </p:sp>
    </p:spTree>
    <p:extLst>
      <p:ext uri="{BB962C8B-B14F-4D97-AF65-F5344CB8AC3E}">
        <p14:creationId xmlns:p14="http://schemas.microsoft.com/office/powerpoint/2010/main" val="28683714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8515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 mute="1">
                <p:cTn id="7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EC8EBE-B642-1BDC-DA09-C7E52A3776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8DCBB9-BB52-DB04-C220-C242013508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ＭＳ Ｐゴシック" pitchFamily="34" charset="-128"/>
              </a:rPr>
              <a:t>What is Markov about MDPs?</a:t>
            </a:r>
            <a:endParaRPr lang="en-KR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5FD6289-CA75-3A7E-BB3D-3B4ABDD9C83B}"/>
              </a:ext>
            </a:extLst>
          </p:cNvPr>
          <p:cNvSpPr/>
          <p:nvPr/>
        </p:nvSpPr>
        <p:spPr>
          <a:xfrm>
            <a:off x="7067791" y="4928056"/>
            <a:ext cx="2076209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800" dirty="0">
                <a:solidFill>
                  <a:schemeClr val="bg1">
                    <a:lumMod val="65000"/>
                  </a:schemeClr>
                </a:solidFill>
                <a:cs typeface="Calibri"/>
              </a:rPr>
              <a:t>Adapted from CS188 of Klein and </a:t>
            </a:r>
            <a:r>
              <a:rPr lang="en-US" sz="800" dirty="0" err="1">
                <a:solidFill>
                  <a:schemeClr val="bg1">
                    <a:lumMod val="65000"/>
                  </a:schemeClr>
                </a:solidFill>
                <a:cs typeface="Calibri"/>
              </a:rPr>
              <a:t>Abbeel</a:t>
            </a:r>
            <a:endParaRPr lang="en-KR" sz="800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1D18C3D-550C-9D3E-6A3C-A20705BE52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1152475"/>
            <a:ext cx="6207087" cy="3416400"/>
          </a:xfrm>
        </p:spPr>
        <p:txBody>
          <a:bodyPr/>
          <a:lstStyle/>
          <a:p>
            <a:r>
              <a:rPr lang="en-US" altLang="ja-JP" dirty="0">
                <a:solidFill>
                  <a:schemeClr val="tx1"/>
                </a:solidFill>
                <a:ea typeface="ＭＳ Ｐゴシック" pitchFamily="34" charset="-128"/>
              </a:rPr>
              <a:t>“Markov” generally means that </a:t>
            </a:r>
            <a:r>
              <a:rPr lang="en-US" altLang="ja-JP" b="1" u="sng" dirty="0">
                <a:solidFill>
                  <a:schemeClr val="tx1"/>
                </a:solidFill>
                <a:ea typeface="ＭＳ Ｐゴシック" pitchFamily="34" charset="-128"/>
              </a:rPr>
              <a:t>given the present state </a:t>
            </a:r>
            <a:r>
              <a:rPr lang="en-US" altLang="ja-JP" b="1" u="sng" dirty="0">
                <a:solidFill>
                  <a:schemeClr val="bg1">
                    <a:lumMod val="75000"/>
                  </a:schemeClr>
                </a:solidFill>
                <a:ea typeface="ＭＳ Ｐゴシック" pitchFamily="34" charset="-128"/>
              </a:rPr>
              <a:t>(and action in our case)</a:t>
            </a:r>
            <a:r>
              <a:rPr lang="en-US" altLang="ja-JP" b="1" u="sng" dirty="0">
                <a:solidFill>
                  <a:schemeClr val="tx1"/>
                </a:solidFill>
                <a:ea typeface="ＭＳ Ｐゴシック" pitchFamily="34" charset="-128"/>
              </a:rPr>
              <a:t>, the future and the past are independent</a:t>
            </a:r>
          </a:p>
          <a:p>
            <a:pPr lvl="2"/>
            <a:endParaRPr lang="en-US" sz="1200" dirty="0">
              <a:solidFill>
                <a:schemeClr val="tx1"/>
              </a:solidFill>
              <a:ea typeface="ＭＳ Ｐゴシック" pitchFamily="34" charset="-128"/>
            </a:endParaRPr>
          </a:p>
          <a:p>
            <a:r>
              <a:rPr lang="en-US" dirty="0">
                <a:solidFill>
                  <a:schemeClr val="tx1"/>
                </a:solidFill>
                <a:ea typeface="ＭＳ Ｐゴシック" pitchFamily="34" charset="-128"/>
              </a:rPr>
              <a:t>For Markov decision processes, </a:t>
            </a:r>
            <a:r>
              <a:rPr lang="en-US" altLang="ja-JP" dirty="0">
                <a:solidFill>
                  <a:schemeClr val="tx1"/>
                </a:solidFill>
                <a:ea typeface="ＭＳ Ｐゴシック" pitchFamily="34" charset="-128"/>
              </a:rPr>
              <a:t>“Markov” means action outcomes depend only on the current state</a:t>
            </a:r>
          </a:p>
          <a:p>
            <a:pPr marL="114300" indent="0">
              <a:buNone/>
            </a:pPr>
            <a:endParaRPr lang="en-US" altLang="ja-JP" dirty="0">
              <a:solidFill>
                <a:schemeClr val="tx1"/>
              </a:solidFill>
              <a:ea typeface="ＭＳ Ｐゴシック" pitchFamily="34" charset="-128"/>
            </a:endParaRPr>
          </a:p>
          <a:p>
            <a:pPr marL="114300" indent="0">
              <a:buNone/>
            </a:pPr>
            <a:endParaRPr lang="en-US" altLang="ja-JP" sz="1500" dirty="0">
              <a:solidFill>
                <a:schemeClr val="tx1"/>
              </a:solidFill>
              <a:ea typeface="ＭＳ Ｐゴシック" pitchFamily="34" charset="-128"/>
            </a:endParaRPr>
          </a:p>
          <a:p>
            <a:pPr marL="114300" indent="0">
              <a:buNone/>
            </a:pPr>
            <a:endParaRPr lang="en-US" altLang="ja-JP" sz="1500" dirty="0">
              <a:solidFill>
                <a:schemeClr val="tx1"/>
              </a:solidFill>
              <a:ea typeface="ＭＳ Ｐゴシック" pitchFamily="34" charset="-128"/>
            </a:endParaRPr>
          </a:p>
          <a:p>
            <a:endParaRPr lang="en-US" altLang="ja-JP" sz="1500" dirty="0">
              <a:solidFill>
                <a:schemeClr val="tx1"/>
              </a:solidFill>
              <a:ea typeface="ＭＳ Ｐゴシック" pitchFamily="34" charset="-128"/>
            </a:endParaRPr>
          </a:p>
          <a:p>
            <a:r>
              <a:rPr lang="en-US" altLang="ja-JP" dirty="0">
                <a:solidFill>
                  <a:schemeClr val="tx1"/>
                </a:solidFill>
                <a:ea typeface="ＭＳ Ｐゴシック" pitchFamily="34" charset="-128"/>
              </a:rPr>
              <a:t>This is just like search, where the successor function could only depend on the current state (not the history)</a:t>
            </a:r>
          </a:p>
          <a:p>
            <a:endParaRPr lang="en-KR" dirty="0">
              <a:solidFill>
                <a:schemeClr val="tx1"/>
              </a:solidFill>
            </a:endParaRPr>
          </a:p>
        </p:txBody>
      </p:sp>
      <p:pic>
        <p:nvPicPr>
          <p:cNvPr id="3" name="Picture 2" descr="\\.host\Shared Folders\Shared with PC\images\Markov.jpg">
            <a:extLst>
              <a:ext uri="{FF2B5EF4-FFF2-40B4-BE49-F238E27FC236}">
                <a16:creationId xmlns:a16="http://schemas.microsoft.com/office/drawing/2014/main" id="{CE1083FA-4C9C-C339-5E13-136E957865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7067791" y="1412117"/>
            <a:ext cx="1607344" cy="209311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AF47D1C-7A7F-E001-9598-31E431E5F741}"/>
              </a:ext>
            </a:extLst>
          </p:cNvPr>
          <p:cNvSpPr txBox="1"/>
          <p:nvPr/>
        </p:nvSpPr>
        <p:spPr>
          <a:xfrm>
            <a:off x="7182091" y="3577120"/>
            <a:ext cx="154305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tx1"/>
                </a:solidFill>
                <a:latin typeface="Pontano Sans"/>
                <a:ea typeface="ＭＳ Ｐゴシック" pitchFamily="34" charset="-128"/>
                <a:sym typeface="Pontano Sans"/>
              </a:rPr>
              <a:t>Andrey Markov (1856-1922)</a:t>
            </a:r>
          </a:p>
          <a:p>
            <a:pPr algn="ctr"/>
            <a:endParaRPr lang="en-US" dirty="0">
              <a:solidFill>
                <a:schemeClr val="tx1"/>
              </a:solidFill>
              <a:latin typeface="Pontano Sans"/>
              <a:ea typeface="ＭＳ Ｐゴシック" pitchFamily="34" charset="-128"/>
              <a:sym typeface="Pontano Sans"/>
            </a:endParaRPr>
          </a:p>
        </p:txBody>
      </p:sp>
      <p:pic>
        <p:nvPicPr>
          <p:cNvPr id="7" name="Picture 9" descr="TP_tmp.png">
            <a:extLst>
              <a:ext uri="{FF2B5EF4-FFF2-40B4-BE49-F238E27FC236}">
                <a16:creationId xmlns:a16="http://schemas.microsoft.com/office/drawing/2014/main" id="{E979E859-3DA6-C3F7-FBC3-B29A7C16D6E1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1036359" y="3390936"/>
            <a:ext cx="5392340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" name="Picture 10" descr="TP_tmp.png">
            <a:extLst>
              <a:ext uri="{FF2B5EF4-FFF2-40B4-BE49-F238E27FC236}">
                <a16:creationId xmlns:a16="http://schemas.microsoft.com/office/drawing/2014/main" id="{1DC44F16-BC86-29E7-CAB4-82594025786B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2046009" y="3818568"/>
            <a:ext cx="2622947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7EF5F07-04E0-6A4F-8CD4-D8BDCB09977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KR"/>
              <a:t>691</a:t>
            </a:r>
            <a:endParaRPr lang="en-KR" sz="4000" dirty="0"/>
          </a:p>
        </p:txBody>
      </p:sp>
    </p:spTree>
    <p:extLst>
      <p:ext uri="{BB962C8B-B14F-4D97-AF65-F5344CB8AC3E}">
        <p14:creationId xmlns:p14="http://schemas.microsoft.com/office/powerpoint/2010/main" val="14333108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C89C8B-1260-7E57-6B54-89B5290A0F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43382D-33D4-BDFD-CA5F-9640F31515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ＭＳ Ｐゴシック" pitchFamily="34" charset="-128"/>
              </a:rPr>
              <a:t>Policies</a:t>
            </a:r>
            <a:endParaRPr lang="en-KR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FBCCD4A-F658-834A-9773-412F91763DF7}"/>
              </a:ext>
            </a:extLst>
          </p:cNvPr>
          <p:cNvSpPr/>
          <p:nvPr/>
        </p:nvSpPr>
        <p:spPr>
          <a:xfrm>
            <a:off x="7067791" y="4928056"/>
            <a:ext cx="2076209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800" dirty="0">
                <a:solidFill>
                  <a:schemeClr val="bg1">
                    <a:lumMod val="65000"/>
                  </a:schemeClr>
                </a:solidFill>
                <a:cs typeface="Calibri"/>
              </a:rPr>
              <a:t>Adapted from CS188 of Klein and </a:t>
            </a:r>
            <a:r>
              <a:rPr lang="en-US" sz="800" dirty="0" err="1">
                <a:solidFill>
                  <a:schemeClr val="bg1">
                    <a:lumMod val="65000"/>
                  </a:schemeClr>
                </a:solidFill>
                <a:cs typeface="Calibri"/>
              </a:rPr>
              <a:t>Abbeel</a:t>
            </a:r>
            <a:endParaRPr lang="en-KR" sz="800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61ADD0D8-B47D-16EF-4645-EAAD7C58ED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1152474"/>
            <a:ext cx="8429177" cy="4412583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dirty="0">
                <a:solidFill>
                  <a:schemeClr val="tx1"/>
                </a:solidFill>
                <a:ea typeface="ＭＳ Ｐゴシック" pitchFamily="34" charset="-128"/>
              </a:rPr>
              <a:t>In deterministic single-agent search problems, we wanted an optimal </a:t>
            </a:r>
            <a:r>
              <a:rPr lang="en-US" dirty="0">
                <a:solidFill>
                  <a:srgbClr val="C00000"/>
                </a:solidFill>
                <a:ea typeface="ＭＳ Ｐゴシック" pitchFamily="34" charset="-128"/>
              </a:rPr>
              <a:t>plan</a:t>
            </a:r>
            <a:r>
              <a:rPr lang="en-US" dirty="0">
                <a:solidFill>
                  <a:schemeClr val="tx1"/>
                </a:solidFill>
                <a:ea typeface="ＭＳ Ｐゴシック" pitchFamily="34" charset="-128"/>
              </a:rPr>
              <a:t>, or sequence of actions, from start to a goal</a:t>
            </a:r>
          </a:p>
          <a:p>
            <a:pPr lvl="1">
              <a:lnSpc>
                <a:spcPct val="100000"/>
              </a:lnSpc>
            </a:pPr>
            <a:endParaRPr lang="en-US" sz="500" dirty="0">
              <a:solidFill>
                <a:schemeClr val="tx1"/>
              </a:solidFill>
              <a:ea typeface="ＭＳ Ｐゴシック" pitchFamily="34" charset="-128"/>
            </a:endParaRPr>
          </a:p>
          <a:p>
            <a:pPr>
              <a:lnSpc>
                <a:spcPct val="100000"/>
              </a:lnSpc>
            </a:pPr>
            <a:r>
              <a:rPr lang="en-US" dirty="0">
                <a:solidFill>
                  <a:schemeClr val="tx1"/>
                </a:solidFill>
                <a:ea typeface="ＭＳ Ｐゴシック" pitchFamily="34" charset="-128"/>
              </a:rPr>
              <a:t>For MDPs, we want an optimal </a:t>
            </a:r>
            <a:r>
              <a:rPr lang="en-US" dirty="0">
                <a:solidFill>
                  <a:srgbClr val="CC0000"/>
                </a:solidFill>
                <a:ea typeface="ＭＳ Ｐゴシック" pitchFamily="34" charset="-128"/>
              </a:rPr>
              <a:t>policy </a:t>
            </a:r>
            <a:r>
              <a:rPr lang="en-US" dirty="0">
                <a:solidFill>
                  <a:srgbClr val="CC0000"/>
                </a:solidFill>
                <a:ea typeface="ＭＳ Ｐゴシック" pitchFamily="34" charset="-128"/>
                <a:sym typeface="Symbol" pitchFamily="18" charset="2"/>
              </a:rPr>
              <a:t>*: S → A</a:t>
            </a: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en-US" sz="1600" dirty="0">
                <a:solidFill>
                  <a:schemeClr val="tx1"/>
                </a:solidFill>
                <a:ea typeface="ＭＳ Ｐゴシック" pitchFamily="34" charset="-128"/>
                <a:sym typeface="Symbol" pitchFamily="18" charset="2"/>
              </a:rPr>
              <a:t>A policy  gives an action for each state</a:t>
            </a: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en-US" sz="1600" dirty="0">
                <a:solidFill>
                  <a:schemeClr val="tx1"/>
                </a:solidFill>
                <a:ea typeface="ＭＳ Ｐゴシック" pitchFamily="34" charset="-128"/>
                <a:sym typeface="Symbol" pitchFamily="18" charset="2"/>
              </a:rPr>
              <a:t>An optimal policy is one that </a:t>
            </a:r>
            <a:r>
              <a:rPr lang="en-US" sz="1600" b="1" u="sng" dirty="0">
                <a:solidFill>
                  <a:schemeClr val="tx1"/>
                </a:solidFill>
                <a:ea typeface="ＭＳ Ｐゴシック" pitchFamily="34" charset="-128"/>
                <a:sym typeface="Symbol" pitchFamily="18" charset="2"/>
              </a:rPr>
              <a:t>maximizes expected </a:t>
            </a:r>
            <a:br>
              <a:rPr lang="en-US" sz="1600" b="1" u="sng" dirty="0">
                <a:solidFill>
                  <a:schemeClr val="tx1"/>
                </a:solidFill>
                <a:ea typeface="ＭＳ Ｐゴシック" pitchFamily="34" charset="-128"/>
                <a:sym typeface="Symbol" pitchFamily="18" charset="2"/>
              </a:rPr>
            </a:br>
            <a:r>
              <a:rPr lang="en-US" sz="1600" b="1" u="sng" dirty="0">
                <a:solidFill>
                  <a:schemeClr val="tx1"/>
                </a:solidFill>
                <a:ea typeface="ＭＳ Ｐゴシック" pitchFamily="34" charset="-128"/>
                <a:sym typeface="Symbol" pitchFamily="18" charset="2"/>
              </a:rPr>
              <a:t>utility if followed</a:t>
            </a: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en-US" sz="1600" dirty="0">
                <a:solidFill>
                  <a:schemeClr val="tx1"/>
                </a:solidFill>
                <a:ea typeface="ＭＳ Ｐゴシック" pitchFamily="34" charset="-128"/>
                <a:sym typeface="Symbol" pitchFamily="18" charset="2"/>
              </a:rPr>
              <a:t>An explicit policy defines a reflex agent</a:t>
            </a:r>
          </a:p>
          <a:p>
            <a:pPr lvl="1">
              <a:lnSpc>
                <a:spcPct val="100000"/>
              </a:lnSpc>
            </a:pPr>
            <a:endParaRPr lang="en-US" sz="500" dirty="0">
              <a:solidFill>
                <a:schemeClr val="tx1"/>
              </a:solidFill>
              <a:ea typeface="ＭＳ Ｐゴシック" pitchFamily="34" charset="-128"/>
              <a:sym typeface="Symbol" pitchFamily="18" charset="2"/>
            </a:endParaRPr>
          </a:p>
          <a:p>
            <a:pPr>
              <a:lnSpc>
                <a:spcPct val="100000"/>
              </a:lnSpc>
            </a:pPr>
            <a:r>
              <a:rPr lang="en-US" dirty="0" err="1">
                <a:solidFill>
                  <a:schemeClr val="tx1"/>
                </a:solidFill>
                <a:ea typeface="ＭＳ Ｐゴシック" pitchFamily="34" charset="-128"/>
                <a:sym typeface="Symbol" pitchFamily="18" charset="2"/>
              </a:rPr>
              <a:t>Expectimax</a:t>
            </a:r>
            <a:r>
              <a:rPr lang="en-US" dirty="0">
                <a:solidFill>
                  <a:schemeClr val="tx1"/>
                </a:solidFill>
                <a:ea typeface="ＭＳ Ｐゴシック" pitchFamily="34" charset="-128"/>
                <a:sym typeface="Symbol" pitchFamily="18" charset="2"/>
              </a:rPr>
              <a:t> didn’t compute entire policies</a:t>
            </a: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en-US" sz="1600" dirty="0">
                <a:solidFill>
                  <a:schemeClr val="tx1"/>
                </a:solidFill>
                <a:ea typeface="ＭＳ Ｐゴシック" pitchFamily="34" charset="-128"/>
                <a:sym typeface="Symbol" pitchFamily="18" charset="2"/>
              </a:rPr>
              <a:t>It computed the action for a single state only</a:t>
            </a:r>
          </a:p>
        </p:txBody>
      </p:sp>
      <p:sp>
        <p:nvSpPr>
          <p:cNvPr id="3" name="Text Box 5">
            <a:extLst>
              <a:ext uri="{FF2B5EF4-FFF2-40B4-BE49-F238E27FC236}">
                <a16:creationId xmlns:a16="http://schemas.microsoft.com/office/drawing/2014/main" id="{16EE81AB-2408-6D30-950C-42DC85669B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48586" y="4032351"/>
            <a:ext cx="314175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dirty="0">
                <a:solidFill>
                  <a:schemeClr val="tx1"/>
                </a:solidFill>
                <a:latin typeface="Pontano Sans"/>
                <a:ea typeface="ＭＳ Ｐゴシック" pitchFamily="34" charset="-128"/>
                <a:sym typeface="Pontano Sans"/>
              </a:rPr>
              <a:t>Optimal policy when R(s, a, s</a:t>
            </a:r>
            <a:r>
              <a:rPr lang="en-US" altLang="ja-JP" dirty="0">
                <a:solidFill>
                  <a:schemeClr val="tx1"/>
                </a:solidFill>
                <a:latin typeface="Pontano Sans"/>
                <a:ea typeface="ＭＳ Ｐゴシック" pitchFamily="34" charset="-128"/>
                <a:sym typeface="Pontano Sans"/>
              </a:rPr>
              <a:t>’) = -0.03 for all non-terminals s</a:t>
            </a:r>
            <a:endParaRPr lang="en-US" dirty="0">
              <a:solidFill>
                <a:schemeClr val="tx1"/>
              </a:solidFill>
              <a:latin typeface="Pontano Sans"/>
              <a:ea typeface="ＭＳ Ｐゴシック" pitchFamily="34" charset="-128"/>
              <a:sym typeface="Pontano Sans"/>
            </a:endParaRPr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741B426D-7CC9-36E9-21B5-3C408EFC13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847358" y="1850800"/>
            <a:ext cx="3142978" cy="1837496"/>
          </a:xfrm>
          <a:prstGeom prst="rect">
            <a:avLst/>
          </a:prstGeom>
          <a:noFill/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7F9394A-1E32-81B7-9A71-B55E17FAD33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KR"/>
              <a:t>691</a:t>
            </a:r>
            <a:endParaRPr lang="en-KR" sz="4000" dirty="0"/>
          </a:p>
        </p:txBody>
      </p:sp>
    </p:spTree>
    <p:extLst>
      <p:ext uri="{BB962C8B-B14F-4D97-AF65-F5344CB8AC3E}">
        <p14:creationId xmlns:p14="http://schemas.microsoft.com/office/powerpoint/2010/main" val="1417545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60D2BF-A541-FB32-05A3-8D5AF84B63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2E11D1-B218-E204-2B4D-B8607042A5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ＭＳ Ｐゴシック" pitchFamily="34" charset="-128"/>
                <a:sym typeface="Symbol" pitchFamily="18" charset="2"/>
              </a:rPr>
              <a:t>Optimal Policies</a:t>
            </a:r>
            <a:endParaRPr lang="en-KR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EB8875B-800F-B6FE-8209-1FFF9784EA25}"/>
              </a:ext>
            </a:extLst>
          </p:cNvPr>
          <p:cNvSpPr/>
          <p:nvPr/>
        </p:nvSpPr>
        <p:spPr>
          <a:xfrm>
            <a:off x="7067791" y="4928056"/>
            <a:ext cx="2076209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800" dirty="0">
                <a:solidFill>
                  <a:schemeClr val="bg1">
                    <a:lumMod val="65000"/>
                  </a:schemeClr>
                </a:solidFill>
                <a:cs typeface="Calibri"/>
              </a:rPr>
              <a:t>Adapted from CS188 of Klein and </a:t>
            </a:r>
            <a:r>
              <a:rPr lang="en-US" sz="800" dirty="0" err="1">
                <a:solidFill>
                  <a:schemeClr val="bg1">
                    <a:lumMod val="65000"/>
                  </a:schemeClr>
                </a:solidFill>
                <a:cs typeface="Calibri"/>
              </a:rPr>
              <a:t>Abbeel</a:t>
            </a:r>
            <a:endParaRPr lang="en-KR" sz="800" dirty="0"/>
          </a:p>
        </p:txBody>
      </p:sp>
      <p:pic>
        <p:nvPicPr>
          <p:cNvPr id="3" name="Picture 4">
            <a:extLst>
              <a:ext uri="{FF2B5EF4-FFF2-40B4-BE49-F238E27FC236}">
                <a16:creationId xmlns:a16="http://schemas.microsoft.com/office/drawing/2014/main" id="{82B394B9-2D27-EE9D-B2EC-9D074601D8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 r="1050"/>
          <a:stretch>
            <a:fillRect/>
          </a:stretch>
        </p:blipFill>
        <p:spPr bwMode="auto">
          <a:xfrm>
            <a:off x="5409585" y="1128669"/>
            <a:ext cx="2074678" cy="15751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" name="Picture 5">
            <a:extLst>
              <a:ext uri="{FF2B5EF4-FFF2-40B4-BE49-F238E27FC236}">
                <a16:creationId xmlns:a16="http://schemas.microsoft.com/office/drawing/2014/main" id="{3CB0DD22-DA41-977B-8D7C-81500CE9D6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637685" y="1128669"/>
            <a:ext cx="2096691" cy="15823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FD5B0FC-0861-7AF7-AFF1-383009DA75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/>
          <a:srcRect r="1141"/>
          <a:stretch>
            <a:fillRect/>
          </a:stretch>
        </p:blipFill>
        <p:spPr bwMode="auto">
          <a:xfrm>
            <a:off x="1649646" y="3020080"/>
            <a:ext cx="2072767" cy="15680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09B424C-B884-E426-E0D2-FEEB272B43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/>
          <a:srcRect r="1521"/>
          <a:stretch>
            <a:fillRect/>
          </a:stretch>
        </p:blipFill>
        <p:spPr bwMode="auto">
          <a:xfrm>
            <a:off x="5409585" y="3020080"/>
            <a:ext cx="2064793" cy="15751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" name="Text Box 11">
            <a:extLst>
              <a:ext uri="{FF2B5EF4-FFF2-40B4-BE49-F238E27FC236}">
                <a16:creationId xmlns:a16="http://schemas.microsoft.com/office/drawing/2014/main" id="{4AD2DA96-8150-4719-EED8-E8004EB28A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91105" y="2728868"/>
            <a:ext cx="2616648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596900" lvl="1">
              <a:spcBef>
                <a:spcPts val="1600"/>
              </a:spcBef>
              <a:buClr>
                <a:schemeClr val="dk2"/>
              </a:buClr>
              <a:buSzPts val="1400"/>
            </a:pPr>
            <a:r>
              <a:rPr lang="en-US" dirty="0">
                <a:solidFill>
                  <a:schemeClr val="tx1"/>
                </a:solidFill>
                <a:latin typeface="Pontano Sans"/>
                <a:ea typeface="ＭＳ Ｐゴシック" pitchFamily="34" charset="-128"/>
                <a:sym typeface="Pontano Sans"/>
              </a:rPr>
              <a:t>R(s) = -0.01</a:t>
            </a:r>
          </a:p>
        </p:txBody>
      </p:sp>
      <p:sp>
        <p:nvSpPr>
          <p:cNvPr id="14" name="Text Box 11">
            <a:extLst>
              <a:ext uri="{FF2B5EF4-FFF2-40B4-BE49-F238E27FC236}">
                <a16:creationId xmlns:a16="http://schemas.microsoft.com/office/drawing/2014/main" id="{6A9E5E1E-CDF2-0770-5A01-7AD381DCDA1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91105" y="4607778"/>
            <a:ext cx="2616648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596900" lvl="1">
              <a:spcBef>
                <a:spcPts val="1600"/>
              </a:spcBef>
              <a:buClr>
                <a:schemeClr val="dk2"/>
              </a:buClr>
              <a:buSzPts val="1400"/>
            </a:pPr>
            <a:r>
              <a:rPr lang="en-US" dirty="0">
                <a:solidFill>
                  <a:schemeClr val="tx1"/>
                </a:solidFill>
                <a:latin typeface="Pontano Sans"/>
                <a:ea typeface="ＭＳ Ｐゴシック" pitchFamily="34" charset="-128"/>
                <a:sym typeface="Pontano Sans"/>
              </a:rPr>
              <a:t>R(s) = -0.4</a:t>
            </a:r>
          </a:p>
        </p:txBody>
      </p:sp>
      <p:sp>
        <p:nvSpPr>
          <p:cNvPr id="15" name="Text Box 11">
            <a:extLst>
              <a:ext uri="{FF2B5EF4-FFF2-40B4-BE49-F238E27FC236}">
                <a16:creationId xmlns:a16="http://schemas.microsoft.com/office/drawing/2014/main" id="{B7C64466-8532-813F-71E6-2A78D33CCC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94383" y="2728868"/>
            <a:ext cx="2616648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596900" lvl="1">
              <a:spcBef>
                <a:spcPts val="1600"/>
              </a:spcBef>
              <a:buClr>
                <a:schemeClr val="dk2"/>
              </a:buClr>
              <a:buSzPts val="1400"/>
            </a:pPr>
            <a:r>
              <a:rPr lang="en-US" dirty="0">
                <a:solidFill>
                  <a:schemeClr val="tx1"/>
                </a:solidFill>
                <a:latin typeface="Pontano Sans"/>
                <a:ea typeface="ＭＳ Ｐゴシック" pitchFamily="34" charset="-128"/>
                <a:sym typeface="Pontano Sans"/>
              </a:rPr>
              <a:t>R(s) = -0.03</a:t>
            </a:r>
          </a:p>
        </p:txBody>
      </p:sp>
      <p:sp>
        <p:nvSpPr>
          <p:cNvPr id="16" name="Text Box 11">
            <a:extLst>
              <a:ext uri="{FF2B5EF4-FFF2-40B4-BE49-F238E27FC236}">
                <a16:creationId xmlns:a16="http://schemas.microsoft.com/office/drawing/2014/main" id="{74942A71-76F8-8FD4-1C64-C0A403A851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94383" y="4607778"/>
            <a:ext cx="2616648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596900" lvl="1">
              <a:spcBef>
                <a:spcPts val="1600"/>
              </a:spcBef>
              <a:buClr>
                <a:schemeClr val="dk2"/>
              </a:buClr>
              <a:buSzPts val="1400"/>
            </a:pPr>
            <a:r>
              <a:rPr lang="en-US" dirty="0">
                <a:solidFill>
                  <a:schemeClr val="tx1"/>
                </a:solidFill>
                <a:latin typeface="Pontano Sans"/>
                <a:ea typeface="ＭＳ Ｐゴシック" pitchFamily="34" charset="-128"/>
                <a:sym typeface="Pontano Sans"/>
              </a:rPr>
              <a:t>R(s) = -2.0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734106B-218B-2EF0-F0B0-D74C5E9E71C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KR"/>
              <a:t>691</a:t>
            </a:r>
            <a:endParaRPr lang="en-KR" sz="4000" dirty="0"/>
          </a:p>
        </p:txBody>
      </p:sp>
    </p:spTree>
    <p:extLst>
      <p:ext uri="{BB962C8B-B14F-4D97-AF65-F5344CB8AC3E}">
        <p14:creationId xmlns:p14="http://schemas.microsoft.com/office/powerpoint/2010/main" val="33873240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F050A7-D7CB-A786-A244-28CE9F069F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948BB7-C297-87CB-5FC9-2853163763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Racing</a:t>
            </a:r>
            <a:endParaRPr lang="en-KR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86DFD72-FC77-BDEF-EAFF-182DC422441B}"/>
              </a:ext>
            </a:extLst>
          </p:cNvPr>
          <p:cNvSpPr/>
          <p:nvPr/>
        </p:nvSpPr>
        <p:spPr>
          <a:xfrm>
            <a:off x="7067791" y="4928056"/>
            <a:ext cx="2076209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800" dirty="0">
                <a:solidFill>
                  <a:schemeClr val="bg1">
                    <a:lumMod val="65000"/>
                  </a:schemeClr>
                </a:solidFill>
                <a:cs typeface="Calibri"/>
              </a:rPr>
              <a:t>Adapted from CS188 of Klein and </a:t>
            </a:r>
            <a:r>
              <a:rPr lang="en-US" sz="800" dirty="0" err="1">
                <a:solidFill>
                  <a:schemeClr val="bg1">
                    <a:lumMod val="65000"/>
                  </a:schemeClr>
                </a:solidFill>
                <a:cs typeface="Calibri"/>
              </a:rPr>
              <a:t>Abbeel</a:t>
            </a:r>
            <a:endParaRPr lang="en-KR" sz="8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9D1B8F2-A885-0ABF-F4B4-5D3A3EC985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061543" y="1142507"/>
            <a:ext cx="7063979" cy="3785549"/>
          </a:xfrm>
          <a:prstGeom prst="rect">
            <a:avLst/>
          </a:prstGeom>
          <a:noFill/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B0E2943-2350-7F73-4A14-89F72815B73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KR"/>
              <a:t>691</a:t>
            </a:r>
            <a:endParaRPr lang="en-KR" sz="4000" dirty="0"/>
          </a:p>
        </p:txBody>
      </p:sp>
    </p:spTree>
    <p:extLst>
      <p:ext uri="{BB962C8B-B14F-4D97-AF65-F5344CB8AC3E}">
        <p14:creationId xmlns:p14="http://schemas.microsoft.com/office/powerpoint/2010/main" val="322692194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CC1A63-DC71-A326-FE1B-23DB368669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0F18CC-C5EC-1408-A572-EA4362527C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Racing</a:t>
            </a:r>
            <a:endParaRPr lang="en-KR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B18CCBC-333A-C024-0E33-7A2FFDC6419B}"/>
              </a:ext>
            </a:extLst>
          </p:cNvPr>
          <p:cNvSpPr/>
          <p:nvPr/>
        </p:nvSpPr>
        <p:spPr>
          <a:xfrm>
            <a:off x="7067791" y="4928056"/>
            <a:ext cx="2076209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800" dirty="0">
                <a:solidFill>
                  <a:schemeClr val="bg1">
                    <a:lumMod val="65000"/>
                  </a:schemeClr>
                </a:solidFill>
                <a:cs typeface="Calibri"/>
              </a:rPr>
              <a:t>Adapted from CS188 of Klein and </a:t>
            </a:r>
            <a:r>
              <a:rPr lang="en-US" sz="800" dirty="0" err="1">
                <a:solidFill>
                  <a:schemeClr val="bg1">
                    <a:lumMod val="65000"/>
                  </a:schemeClr>
                </a:solidFill>
                <a:cs typeface="Calibri"/>
              </a:rPr>
              <a:t>Abbeel</a:t>
            </a:r>
            <a:endParaRPr lang="en-KR" sz="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70EECF-5147-BDB6-AFF5-8BF4D5BF7E9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ClrTx/>
            </a:pPr>
            <a:r>
              <a:rPr lang="en-US" sz="1500" dirty="0">
                <a:solidFill>
                  <a:schemeClr val="dk1"/>
                </a:solidFill>
              </a:rPr>
              <a:t>A robot car wants to travel far, quickly</a:t>
            </a:r>
          </a:p>
          <a:p>
            <a:pPr>
              <a:buClrTx/>
            </a:pPr>
            <a:r>
              <a:rPr lang="en-US" sz="1500" dirty="0">
                <a:solidFill>
                  <a:schemeClr val="dk1"/>
                </a:solidFill>
              </a:rPr>
              <a:t>Three states: </a:t>
            </a:r>
            <a:r>
              <a:rPr lang="en-US" sz="1500" dirty="0">
                <a:solidFill>
                  <a:srgbClr val="00B0F0"/>
                </a:solidFill>
              </a:rPr>
              <a:t>Cool</a:t>
            </a:r>
            <a:r>
              <a:rPr lang="en-US" sz="1500" dirty="0">
                <a:solidFill>
                  <a:schemeClr val="dk1"/>
                </a:solidFill>
              </a:rPr>
              <a:t>, </a:t>
            </a:r>
            <a:r>
              <a:rPr lang="en-US" sz="1500" dirty="0">
                <a:solidFill>
                  <a:srgbClr val="7030A0"/>
                </a:solidFill>
              </a:rPr>
              <a:t>Warm</a:t>
            </a:r>
            <a:r>
              <a:rPr lang="en-US" sz="1500" dirty="0">
                <a:solidFill>
                  <a:schemeClr val="dk1"/>
                </a:solidFill>
              </a:rPr>
              <a:t>, Overheated</a:t>
            </a:r>
          </a:p>
          <a:p>
            <a:pPr>
              <a:buClrTx/>
            </a:pPr>
            <a:r>
              <a:rPr lang="en-US" sz="1500" dirty="0">
                <a:solidFill>
                  <a:schemeClr val="dk1"/>
                </a:solidFill>
              </a:rPr>
              <a:t>Two actions: </a:t>
            </a:r>
            <a:r>
              <a:rPr lang="en-US" sz="1500" i="1" dirty="0">
                <a:solidFill>
                  <a:schemeClr val="accent1"/>
                </a:solidFill>
              </a:rPr>
              <a:t>Slow</a:t>
            </a:r>
            <a:r>
              <a:rPr lang="en-US" sz="1500" i="1" dirty="0">
                <a:solidFill>
                  <a:schemeClr val="dk1"/>
                </a:solidFill>
              </a:rPr>
              <a:t>, </a:t>
            </a:r>
            <a:r>
              <a:rPr lang="en-US" sz="1500" i="1" dirty="0">
                <a:solidFill>
                  <a:srgbClr val="C00000"/>
                </a:solidFill>
              </a:rPr>
              <a:t>Fast</a:t>
            </a:r>
          </a:p>
          <a:p>
            <a:pPr>
              <a:buClrTx/>
            </a:pPr>
            <a:r>
              <a:rPr lang="en-US" sz="1500" dirty="0">
                <a:solidFill>
                  <a:schemeClr val="dk1"/>
                </a:solidFill>
              </a:rPr>
              <a:t>Going faster gets double reward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7F5EDD06-B76A-94BB-E085-EE2C42A8E316}"/>
              </a:ext>
            </a:extLst>
          </p:cNvPr>
          <p:cNvGrpSpPr/>
          <p:nvPr/>
        </p:nvGrpSpPr>
        <p:grpSpPr>
          <a:xfrm>
            <a:off x="644888" y="1933173"/>
            <a:ext cx="8283522" cy="2994883"/>
            <a:chOff x="838200" y="2286000"/>
            <a:chExt cx="11044696" cy="3993176"/>
          </a:xfrm>
        </p:grpSpPr>
        <p:pic>
          <p:nvPicPr>
            <p:cNvPr id="7" name="Picture 2">
              <a:extLst>
                <a:ext uri="{FF2B5EF4-FFF2-40B4-BE49-F238E27FC236}">
                  <a16:creationId xmlns:a16="http://schemas.microsoft.com/office/drawing/2014/main" id="{A9EDA84C-FC93-F6B3-D432-4783FC2322E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auto">
            <a:xfrm>
              <a:off x="1983518" y="3950732"/>
              <a:ext cx="2433764" cy="1600200"/>
            </a:xfrm>
            <a:prstGeom prst="rect">
              <a:avLst/>
            </a:prstGeom>
            <a:noFill/>
          </p:spPr>
        </p:pic>
        <p:pic>
          <p:nvPicPr>
            <p:cNvPr id="8" name="Picture 2">
              <a:extLst>
                <a:ext uri="{FF2B5EF4-FFF2-40B4-BE49-F238E27FC236}">
                  <a16:creationId xmlns:a16="http://schemas.microsoft.com/office/drawing/2014/main" id="{1094BFCE-CCE6-50DB-1605-80619C5B9CC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auto">
            <a:xfrm>
              <a:off x="5946913" y="2731532"/>
              <a:ext cx="2660373" cy="1676400"/>
            </a:xfrm>
            <a:prstGeom prst="rect">
              <a:avLst/>
            </a:prstGeom>
            <a:noFill/>
          </p:spPr>
        </p:pic>
        <p:pic>
          <p:nvPicPr>
            <p:cNvPr id="10" name="Picture 2">
              <a:extLst>
                <a:ext uri="{FF2B5EF4-FFF2-40B4-BE49-F238E27FC236}">
                  <a16:creationId xmlns:a16="http://schemas.microsoft.com/office/drawing/2014/main" id="{AFA19D52-13EB-A4B4-4589-2AC19435597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auto">
            <a:xfrm>
              <a:off x="9300704" y="3798332"/>
              <a:ext cx="2582192" cy="1828800"/>
            </a:xfrm>
            <a:prstGeom prst="rect">
              <a:avLst/>
            </a:prstGeom>
            <a:noFill/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BD9D0BC7-C11A-DBA9-67E8-26A2734A0D9D}"/>
                </a:ext>
              </a:extLst>
            </p:cNvPr>
            <p:cNvSpPr txBox="1"/>
            <p:nvPr/>
          </p:nvSpPr>
          <p:spPr>
            <a:xfrm>
              <a:off x="2057400" y="5341442"/>
              <a:ext cx="2286000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500" dirty="0">
                  <a:solidFill>
                    <a:srgbClr val="00B0F0"/>
                  </a:solidFill>
                  <a:latin typeface="Calibri"/>
                  <a:cs typeface="Calibri"/>
                </a:rPr>
                <a:t>Cool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4B9B475F-2258-C41D-20BB-4F4E58C9F4AE}"/>
                </a:ext>
              </a:extLst>
            </p:cNvPr>
            <p:cNvSpPr txBox="1"/>
            <p:nvPr/>
          </p:nvSpPr>
          <p:spPr>
            <a:xfrm>
              <a:off x="5943600" y="4160222"/>
              <a:ext cx="2286000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500" dirty="0">
                  <a:solidFill>
                    <a:srgbClr val="7030A0"/>
                  </a:solidFill>
                  <a:latin typeface="Calibri"/>
                  <a:cs typeface="Calibri"/>
                </a:rPr>
                <a:t>Warm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187FF7D7-71B6-3B77-60B9-C1B23D49BA7C}"/>
                </a:ext>
              </a:extLst>
            </p:cNvPr>
            <p:cNvSpPr txBox="1"/>
            <p:nvPr/>
          </p:nvSpPr>
          <p:spPr>
            <a:xfrm>
              <a:off x="9296400" y="5455622"/>
              <a:ext cx="2286000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500" dirty="0">
                  <a:latin typeface="Calibri"/>
                  <a:cs typeface="Calibri"/>
                </a:rPr>
                <a:t>Overheated</a:t>
              </a:r>
            </a:p>
          </p:txBody>
        </p:sp>
        <p:cxnSp>
          <p:nvCxnSpPr>
            <p:cNvPr id="14" name="Curved Connector 13">
              <a:extLst>
                <a:ext uri="{FF2B5EF4-FFF2-40B4-BE49-F238E27FC236}">
                  <a16:creationId xmlns:a16="http://schemas.microsoft.com/office/drawing/2014/main" id="{A664C9AB-A9B7-CEC0-A237-5E8E13B06AA2}"/>
                </a:ext>
              </a:extLst>
            </p:cNvPr>
            <p:cNvCxnSpPr>
              <a:stCxn id="7" idx="3"/>
              <a:endCxn id="11" idx="2"/>
            </p:cNvCxnSpPr>
            <p:nvPr/>
          </p:nvCxnSpPr>
          <p:spPr>
            <a:xfrm flipH="1">
              <a:off x="3200400" y="4750832"/>
              <a:ext cx="1216883" cy="1021497"/>
            </a:xfrm>
            <a:prstGeom prst="curvedConnector4">
              <a:avLst>
                <a:gd name="adj1" fmla="val -25048"/>
                <a:gd name="adj2" fmla="val 129839"/>
              </a:avLst>
            </a:prstGeom>
            <a:ln w="76200">
              <a:solidFill>
                <a:srgbClr val="C00000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Curved Connector 12">
              <a:extLst>
                <a:ext uri="{FF2B5EF4-FFF2-40B4-BE49-F238E27FC236}">
                  <a16:creationId xmlns:a16="http://schemas.microsoft.com/office/drawing/2014/main" id="{04BAC60B-F82C-A215-AAE9-95922CBBFC56}"/>
                </a:ext>
              </a:extLst>
            </p:cNvPr>
            <p:cNvCxnSpPr>
              <a:stCxn id="7" idx="3"/>
              <a:endCxn id="12" idx="2"/>
            </p:cNvCxnSpPr>
            <p:nvPr/>
          </p:nvCxnSpPr>
          <p:spPr>
            <a:xfrm flipV="1">
              <a:off x="4417283" y="4591109"/>
              <a:ext cx="2669317" cy="159723"/>
            </a:xfrm>
            <a:prstGeom prst="curvedConnector2">
              <a:avLst/>
            </a:prstGeom>
            <a:ln w="76200">
              <a:solidFill>
                <a:srgbClr val="C00000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CE6CC9DD-7483-D789-BB6A-F4C662D0391E}"/>
                </a:ext>
              </a:extLst>
            </p:cNvPr>
            <p:cNvSpPr txBox="1"/>
            <p:nvPr/>
          </p:nvSpPr>
          <p:spPr>
            <a:xfrm>
              <a:off x="4724400" y="4788932"/>
              <a:ext cx="914400" cy="40010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350" i="1" dirty="0">
                  <a:solidFill>
                    <a:srgbClr val="C00000"/>
                  </a:solidFill>
                  <a:latin typeface="Calibri"/>
                  <a:cs typeface="Calibri"/>
                </a:rPr>
                <a:t>Fast</a:t>
              </a:r>
            </a:p>
          </p:txBody>
        </p:sp>
        <p:cxnSp>
          <p:nvCxnSpPr>
            <p:cNvPr id="17" name="Curved Connector 12">
              <a:extLst>
                <a:ext uri="{FF2B5EF4-FFF2-40B4-BE49-F238E27FC236}">
                  <a16:creationId xmlns:a16="http://schemas.microsoft.com/office/drawing/2014/main" id="{D2CC6D3C-78DA-0B17-85D6-9AD439B451D4}"/>
                </a:ext>
              </a:extLst>
            </p:cNvPr>
            <p:cNvCxnSpPr>
              <a:stCxn id="8" idx="0"/>
            </p:cNvCxnSpPr>
            <p:nvPr/>
          </p:nvCxnSpPr>
          <p:spPr>
            <a:xfrm rot="16200000" flipH="1">
              <a:off x="8096250" y="1912382"/>
              <a:ext cx="1447800" cy="3086100"/>
            </a:xfrm>
            <a:prstGeom prst="curvedConnector4">
              <a:avLst>
                <a:gd name="adj1" fmla="val -15789"/>
                <a:gd name="adj2" fmla="val 105099"/>
              </a:avLst>
            </a:prstGeom>
            <a:ln w="76200">
              <a:solidFill>
                <a:srgbClr val="C00000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C9CBE2AA-B9BE-79C7-5C20-87BD47ACED06}"/>
                </a:ext>
              </a:extLst>
            </p:cNvPr>
            <p:cNvSpPr txBox="1"/>
            <p:nvPr/>
          </p:nvSpPr>
          <p:spPr>
            <a:xfrm>
              <a:off x="9144000" y="2731532"/>
              <a:ext cx="914400" cy="40010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350" i="1" dirty="0">
                  <a:solidFill>
                    <a:srgbClr val="C00000"/>
                  </a:solidFill>
                  <a:latin typeface="Calibri"/>
                  <a:cs typeface="Calibri"/>
                </a:rPr>
                <a:t>Fast</a:t>
              </a:r>
            </a:p>
          </p:txBody>
        </p:sp>
        <p:cxnSp>
          <p:nvCxnSpPr>
            <p:cNvPr id="19" name="Curved Connector 12">
              <a:extLst>
                <a:ext uri="{FF2B5EF4-FFF2-40B4-BE49-F238E27FC236}">
                  <a16:creationId xmlns:a16="http://schemas.microsoft.com/office/drawing/2014/main" id="{431C1EE6-D829-6C52-3F0F-FF816FC02F35}"/>
                </a:ext>
              </a:extLst>
            </p:cNvPr>
            <p:cNvCxnSpPr>
              <a:stCxn id="7" idx="1"/>
            </p:cNvCxnSpPr>
            <p:nvPr/>
          </p:nvCxnSpPr>
          <p:spPr>
            <a:xfrm rot="10800000" flipH="1" flipV="1">
              <a:off x="1981200" y="4750832"/>
              <a:ext cx="152400" cy="190500"/>
            </a:xfrm>
            <a:prstGeom prst="curvedConnector4">
              <a:avLst>
                <a:gd name="adj1" fmla="val -635217"/>
                <a:gd name="adj2" fmla="val 482610"/>
              </a:avLst>
            </a:prstGeom>
            <a:ln w="76200">
              <a:solidFill>
                <a:schemeClr val="accent2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Curved Connector 12">
              <a:extLst>
                <a:ext uri="{FF2B5EF4-FFF2-40B4-BE49-F238E27FC236}">
                  <a16:creationId xmlns:a16="http://schemas.microsoft.com/office/drawing/2014/main" id="{B76AFCDF-7164-10A5-6FC7-FFA10B4882EB}"/>
                </a:ext>
              </a:extLst>
            </p:cNvPr>
            <p:cNvCxnSpPr>
              <a:stCxn id="8" idx="1"/>
              <a:endCxn id="7" idx="0"/>
            </p:cNvCxnSpPr>
            <p:nvPr/>
          </p:nvCxnSpPr>
          <p:spPr>
            <a:xfrm rot="10800000" flipV="1">
              <a:off x="3200400" y="3569732"/>
              <a:ext cx="2743200" cy="381000"/>
            </a:xfrm>
            <a:prstGeom prst="curvedConnector2">
              <a:avLst/>
            </a:prstGeom>
            <a:ln w="76200">
              <a:solidFill>
                <a:schemeClr val="accent2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CB314EC1-8A53-5657-263B-5DB8106FEE30}"/>
                </a:ext>
              </a:extLst>
            </p:cNvPr>
            <p:cNvSpPr txBox="1"/>
            <p:nvPr/>
          </p:nvSpPr>
          <p:spPr>
            <a:xfrm>
              <a:off x="990600" y="4331732"/>
              <a:ext cx="914400" cy="40010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350" i="1" dirty="0">
                  <a:solidFill>
                    <a:schemeClr val="accent4"/>
                  </a:solidFill>
                  <a:latin typeface="Calibri"/>
                  <a:cs typeface="Calibri"/>
                </a:rPr>
                <a:t>Slow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32697463-34A3-55FC-0C2F-B5442FE0F292}"/>
                </a:ext>
              </a:extLst>
            </p:cNvPr>
            <p:cNvSpPr txBox="1"/>
            <p:nvPr/>
          </p:nvSpPr>
          <p:spPr>
            <a:xfrm>
              <a:off x="4495800" y="3112532"/>
              <a:ext cx="914400" cy="40010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350" i="1" dirty="0">
                  <a:solidFill>
                    <a:schemeClr val="accent4"/>
                  </a:solidFill>
                  <a:latin typeface="Calibri"/>
                  <a:cs typeface="Calibri"/>
                </a:rPr>
                <a:t>Slow</a:t>
              </a:r>
            </a:p>
          </p:txBody>
        </p:sp>
        <p:cxnSp>
          <p:nvCxnSpPr>
            <p:cNvPr id="23" name="Curved Connector 12">
              <a:extLst>
                <a:ext uri="{FF2B5EF4-FFF2-40B4-BE49-F238E27FC236}">
                  <a16:creationId xmlns:a16="http://schemas.microsoft.com/office/drawing/2014/main" id="{9BF85E2C-F075-91CC-5185-BDD15C318F83}"/>
                </a:ext>
              </a:extLst>
            </p:cNvPr>
            <p:cNvCxnSpPr/>
            <p:nvPr/>
          </p:nvCxnSpPr>
          <p:spPr>
            <a:xfrm rot="-5400000" flipH="1" flipV="1">
              <a:off x="5962650" y="3398282"/>
              <a:ext cx="152400" cy="190500"/>
            </a:xfrm>
            <a:prstGeom prst="curvedConnector4">
              <a:avLst>
                <a:gd name="adj1" fmla="val -635217"/>
                <a:gd name="adj2" fmla="val 482610"/>
              </a:avLst>
            </a:prstGeom>
            <a:ln w="76200">
              <a:solidFill>
                <a:schemeClr val="accent2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05E874D2-0C58-1D0D-7817-CB203E77922D}"/>
                </a:ext>
              </a:extLst>
            </p:cNvPr>
            <p:cNvSpPr txBox="1"/>
            <p:nvPr/>
          </p:nvSpPr>
          <p:spPr>
            <a:xfrm>
              <a:off x="4572000" y="3645932"/>
              <a:ext cx="609600" cy="40010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350" dirty="0">
                  <a:solidFill>
                    <a:schemeClr val="accent4"/>
                  </a:solidFill>
                  <a:latin typeface="Calibri"/>
                  <a:cs typeface="Calibri"/>
                </a:rPr>
                <a:t>0.5 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1A77CF49-0266-9258-30E0-D242917025F3}"/>
                </a:ext>
              </a:extLst>
            </p:cNvPr>
            <p:cNvSpPr txBox="1"/>
            <p:nvPr/>
          </p:nvSpPr>
          <p:spPr>
            <a:xfrm>
              <a:off x="4800600" y="2286000"/>
              <a:ext cx="609600" cy="40010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350" dirty="0">
                  <a:solidFill>
                    <a:schemeClr val="accent4"/>
                  </a:solidFill>
                  <a:latin typeface="Calibri"/>
                  <a:cs typeface="Calibri"/>
                </a:rPr>
                <a:t>0.5</a:t>
              </a:r>
              <a:r>
                <a:rPr lang="en-US" sz="1350" dirty="0">
                  <a:solidFill>
                    <a:schemeClr val="accent6"/>
                  </a:solidFill>
                  <a:latin typeface="Calibri"/>
                  <a:cs typeface="Calibri"/>
                </a:rPr>
                <a:t> 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9D6432F1-0BDD-1A2E-D3CD-E2E7BA16D4CE}"/>
                </a:ext>
              </a:extLst>
            </p:cNvPr>
            <p:cNvSpPr txBox="1"/>
            <p:nvPr/>
          </p:nvSpPr>
          <p:spPr>
            <a:xfrm>
              <a:off x="4724400" y="5333999"/>
              <a:ext cx="609600" cy="40010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350" dirty="0">
                  <a:solidFill>
                    <a:srgbClr val="C00000"/>
                  </a:solidFill>
                  <a:latin typeface="Calibri"/>
                  <a:cs typeface="Calibri"/>
                </a:rPr>
                <a:t>0.5 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0D8136FC-EC85-8317-2C88-2FCD623846B7}"/>
                </a:ext>
              </a:extLst>
            </p:cNvPr>
            <p:cNvSpPr txBox="1"/>
            <p:nvPr/>
          </p:nvSpPr>
          <p:spPr>
            <a:xfrm>
              <a:off x="5867400" y="4788932"/>
              <a:ext cx="609600" cy="40010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350" dirty="0">
                  <a:solidFill>
                    <a:srgbClr val="C00000"/>
                  </a:solidFill>
                  <a:latin typeface="Calibri"/>
                  <a:cs typeface="Calibri"/>
                </a:rPr>
                <a:t>0.5 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C341FA6C-0333-D3BC-38B9-BCDEC6D54BB6}"/>
                </a:ext>
              </a:extLst>
            </p:cNvPr>
            <p:cNvSpPr txBox="1"/>
            <p:nvPr/>
          </p:nvSpPr>
          <p:spPr>
            <a:xfrm>
              <a:off x="838200" y="5627131"/>
              <a:ext cx="609600" cy="40010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350" dirty="0">
                  <a:solidFill>
                    <a:schemeClr val="accent4"/>
                  </a:solidFill>
                  <a:latin typeface="Calibri"/>
                  <a:cs typeface="Calibri"/>
                </a:rPr>
                <a:t>1.0 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7B37154C-2420-CBF3-1278-78D0930079A9}"/>
                </a:ext>
              </a:extLst>
            </p:cNvPr>
            <p:cNvSpPr txBox="1"/>
            <p:nvPr/>
          </p:nvSpPr>
          <p:spPr>
            <a:xfrm>
              <a:off x="10210800" y="2579132"/>
              <a:ext cx="609600" cy="40010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350" dirty="0">
                  <a:solidFill>
                    <a:srgbClr val="C00000"/>
                  </a:solidFill>
                  <a:latin typeface="Calibri"/>
                  <a:cs typeface="Calibri"/>
                </a:rPr>
                <a:t>1.0 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FBBF1104-D2BD-3CC4-EB00-E72B466A15D6}"/>
                </a:ext>
              </a:extLst>
            </p:cNvPr>
            <p:cNvSpPr txBox="1"/>
            <p:nvPr/>
          </p:nvSpPr>
          <p:spPr>
            <a:xfrm>
              <a:off x="1905000" y="5486399"/>
              <a:ext cx="609600" cy="40010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350" dirty="0">
                  <a:solidFill>
                    <a:srgbClr val="00B050"/>
                  </a:solidFill>
                  <a:latin typeface="Calibri"/>
                  <a:cs typeface="Calibri"/>
                </a:rPr>
                <a:t>+1 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950AB99B-6959-513E-3695-E901C4C6DD3C}"/>
                </a:ext>
              </a:extLst>
            </p:cNvPr>
            <p:cNvSpPr txBox="1"/>
            <p:nvPr/>
          </p:nvSpPr>
          <p:spPr>
            <a:xfrm>
              <a:off x="3581400" y="3288268"/>
              <a:ext cx="609600" cy="40010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350" dirty="0">
                  <a:solidFill>
                    <a:srgbClr val="00B050"/>
                  </a:solidFill>
                  <a:latin typeface="Calibri"/>
                  <a:cs typeface="Calibri"/>
                </a:rPr>
                <a:t>+1 </a:t>
              </a: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4917EF03-C178-954A-D00E-652A537CFAF8}"/>
                </a:ext>
              </a:extLst>
            </p:cNvPr>
            <p:cNvSpPr txBox="1"/>
            <p:nvPr/>
          </p:nvSpPr>
          <p:spPr>
            <a:xfrm>
              <a:off x="5943600" y="2286000"/>
              <a:ext cx="609600" cy="40010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350" dirty="0">
                  <a:solidFill>
                    <a:srgbClr val="00B050"/>
                  </a:solidFill>
                  <a:latin typeface="Calibri"/>
                  <a:cs typeface="Calibri"/>
                </a:rPr>
                <a:t>+1 </a:t>
              </a: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D4515BFD-88A3-2715-0DE7-CF0DCE258FAE}"/>
                </a:ext>
              </a:extLst>
            </p:cNvPr>
            <p:cNvSpPr txBox="1"/>
            <p:nvPr/>
          </p:nvSpPr>
          <p:spPr>
            <a:xfrm>
              <a:off x="4648200" y="5879067"/>
              <a:ext cx="609600" cy="40010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350" dirty="0">
                  <a:solidFill>
                    <a:srgbClr val="00B050"/>
                  </a:solidFill>
                  <a:latin typeface="Calibri"/>
                  <a:cs typeface="Calibri"/>
                </a:rPr>
                <a:t>+2 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CF27E000-EDD1-04D5-BDE9-EBDA547760BB}"/>
                </a:ext>
              </a:extLst>
            </p:cNvPr>
            <p:cNvSpPr txBox="1"/>
            <p:nvPr/>
          </p:nvSpPr>
          <p:spPr>
            <a:xfrm>
              <a:off x="6477000" y="4788415"/>
              <a:ext cx="609600" cy="40010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350" dirty="0">
                  <a:solidFill>
                    <a:srgbClr val="00B050"/>
                  </a:solidFill>
                  <a:latin typeface="Calibri"/>
                  <a:cs typeface="Calibri"/>
                </a:rPr>
                <a:t>+2 </a:t>
              </a: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E6E2FE48-375F-FBFD-377B-4A84613DA850}"/>
                </a:ext>
              </a:extLst>
            </p:cNvPr>
            <p:cNvSpPr txBox="1"/>
            <p:nvPr/>
          </p:nvSpPr>
          <p:spPr>
            <a:xfrm>
              <a:off x="10668000" y="3124200"/>
              <a:ext cx="609600" cy="40010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350" dirty="0">
                  <a:solidFill>
                    <a:srgbClr val="00B050"/>
                  </a:solidFill>
                  <a:latin typeface="Calibri"/>
                  <a:cs typeface="Calibri"/>
                </a:rPr>
                <a:t>-10</a:t>
              </a:r>
            </a:p>
          </p:txBody>
        </p:sp>
      </p:grp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96309A8-6A65-ADDB-CC0D-4848254266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KR"/>
              <a:t>691</a:t>
            </a:r>
            <a:endParaRPr lang="en-KR" sz="4000" dirty="0"/>
          </a:p>
        </p:txBody>
      </p:sp>
    </p:spTree>
    <p:extLst>
      <p:ext uri="{BB962C8B-B14F-4D97-AF65-F5344CB8AC3E}">
        <p14:creationId xmlns:p14="http://schemas.microsoft.com/office/powerpoint/2010/main" val="7648327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A1B682-537F-BB1E-248A-5B1F828824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AA5D1C-FB07-A2BA-B34D-75D5D8D4FB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Racing Search Tree</a:t>
            </a:r>
            <a:endParaRPr lang="en-KR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295801D-9311-8E87-C746-8395DF2343BD}"/>
              </a:ext>
            </a:extLst>
          </p:cNvPr>
          <p:cNvSpPr/>
          <p:nvPr/>
        </p:nvSpPr>
        <p:spPr>
          <a:xfrm>
            <a:off x="7067791" y="4928056"/>
            <a:ext cx="2076209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800" dirty="0">
                <a:solidFill>
                  <a:schemeClr val="bg1">
                    <a:lumMod val="65000"/>
                  </a:schemeClr>
                </a:solidFill>
                <a:cs typeface="Calibri"/>
              </a:rPr>
              <a:t>Adapted from CS188 of Klein and </a:t>
            </a:r>
            <a:r>
              <a:rPr lang="en-US" sz="800" dirty="0" err="1">
                <a:solidFill>
                  <a:schemeClr val="bg1">
                    <a:lumMod val="65000"/>
                  </a:schemeClr>
                </a:solidFill>
                <a:cs typeface="Calibri"/>
              </a:rPr>
              <a:t>Abbeel</a:t>
            </a:r>
            <a:endParaRPr lang="en-KR" sz="800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3B4DDBC9-10AB-48B7-EC07-95F6041167E3}"/>
              </a:ext>
            </a:extLst>
          </p:cNvPr>
          <p:cNvGrpSpPr/>
          <p:nvPr/>
        </p:nvGrpSpPr>
        <p:grpSpPr>
          <a:xfrm>
            <a:off x="311700" y="1332960"/>
            <a:ext cx="8511566" cy="3279860"/>
            <a:chOff x="345453" y="1828800"/>
            <a:chExt cx="8511566" cy="3279860"/>
          </a:xfrm>
        </p:grpSpPr>
        <p:pic>
          <p:nvPicPr>
            <p:cNvPr id="5" name="Picture 2">
              <a:extLst>
                <a:ext uri="{FF2B5EF4-FFF2-40B4-BE49-F238E27FC236}">
                  <a16:creationId xmlns:a16="http://schemas.microsoft.com/office/drawing/2014/main" id="{FA6B4FD6-4190-C27A-BD54-D479346C4D0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auto">
            <a:xfrm>
              <a:off x="3557521" y="1828800"/>
              <a:ext cx="696143" cy="457714"/>
            </a:xfrm>
            <a:prstGeom prst="rect">
              <a:avLst/>
            </a:prstGeom>
            <a:noFill/>
          </p:spPr>
        </p:pic>
        <p:pic>
          <p:nvPicPr>
            <p:cNvPr id="7" name="Picture 2">
              <a:extLst>
                <a:ext uri="{FF2B5EF4-FFF2-40B4-BE49-F238E27FC236}">
                  <a16:creationId xmlns:a16="http://schemas.microsoft.com/office/drawing/2014/main" id="{CDC32A31-DFC4-8DDA-FFE1-E5907B4A7A8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auto">
            <a:xfrm>
              <a:off x="7240981" y="3200400"/>
              <a:ext cx="760961" cy="479510"/>
            </a:xfrm>
            <a:prstGeom prst="rect">
              <a:avLst/>
            </a:prstGeom>
            <a:noFill/>
          </p:spPr>
        </p:pic>
        <p:pic>
          <p:nvPicPr>
            <p:cNvPr id="8" name="Picture 2">
              <a:extLst>
                <a:ext uri="{FF2B5EF4-FFF2-40B4-BE49-F238E27FC236}">
                  <a16:creationId xmlns:a16="http://schemas.microsoft.com/office/drawing/2014/main" id="{DBE5883F-1F4E-6454-E673-A19532DD19F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auto">
            <a:xfrm>
              <a:off x="8118421" y="4563249"/>
              <a:ext cx="738598" cy="523101"/>
            </a:xfrm>
            <a:prstGeom prst="rect">
              <a:avLst/>
            </a:prstGeom>
            <a:noFill/>
          </p:spPr>
        </p:pic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EF7888AB-CF72-F6FC-8155-3B60E4735333}"/>
                </a:ext>
              </a:extLst>
            </p:cNvPr>
            <p:cNvSpPr/>
            <p:nvPr/>
          </p:nvSpPr>
          <p:spPr>
            <a:xfrm>
              <a:off x="1328009" y="2514600"/>
              <a:ext cx="228600" cy="228600"/>
            </a:xfrm>
            <a:prstGeom prst="ellipse">
              <a:avLst/>
            </a:prstGeom>
            <a:solidFill>
              <a:srgbClr val="B8EAC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9D2E2542-9070-D042-46FF-31DB0D53E1AA}"/>
                </a:ext>
              </a:extLst>
            </p:cNvPr>
            <p:cNvSpPr/>
            <p:nvPr/>
          </p:nvSpPr>
          <p:spPr>
            <a:xfrm>
              <a:off x="5842859" y="2514600"/>
              <a:ext cx="228600" cy="228600"/>
            </a:xfrm>
            <a:prstGeom prst="ellipse">
              <a:avLst/>
            </a:prstGeom>
            <a:solidFill>
              <a:srgbClr val="B8EAC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641325D4-3026-8DB7-11A1-DAFDB5D3F6FF}"/>
                </a:ext>
              </a:extLst>
            </p:cNvPr>
            <p:cNvCxnSpPr>
              <a:stCxn id="5" idx="2"/>
              <a:endCxn id="11" idx="1"/>
            </p:cNvCxnSpPr>
            <p:nvPr/>
          </p:nvCxnSpPr>
          <p:spPr>
            <a:xfrm>
              <a:off x="3905593" y="2286514"/>
              <a:ext cx="1970744" cy="261564"/>
            </a:xfrm>
            <a:prstGeom prst="straightConnector1">
              <a:avLst/>
            </a:prstGeom>
            <a:ln w="12700">
              <a:solidFill>
                <a:srgbClr val="C00000"/>
              </a:solidFill>
              <a:headEnd type="none" w="med" len="med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0F51C798-0361-7F57-92C8-17C428B0760B}"/>
                </a:ext>
              </a:extLst>
            </p:cNvPr>
            <p:cNvCxnSpPr>
              <a:stCxn id="5" idx="2"/>
              <a:endCxn id="10" idx="7"/>
            </p:cNvCxnSpPr>
            <p:nvPr/>
          </p:nvCxnSpPr>
          <p:spPr>
            <a:xfrm flipH="1">
              <a:off x="1523131" y="2286514"/>
              <a:ext cx="2382462" cy="261564"/>
            </a:xfrm>
            <a:prstGeom prst="straightConnector1">
              <a:avLst/>
            </a:prstGeom>
            <a:ln w="12700">
              <a:solidFill>
                <a:schemeClr val="accent2"/>
              </a:solidFill>
              <a:headEnd type="none" w="med" len="med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4" name="Picture 2">
              <a:extLst>
                <a:ext uri="{FF2B5EF4-FFF2-40B4-BE49-F238E27FC236}">
                  <a16:creationId xmlns:a16="http://schemas.microsoft.com/office/drawing/2014/main" id="{404B4E47-5959-15A0-C0FB-1BC46A20FAB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auto">
            <a:xfrm>
              <a:off x="4174503" y="3200400"/>
              <a:ext cx="696143" cy="457714"/>
            </a:xfrm>
            <a:prstGeom prst="rect">
              <a:avLst/>
            </a:prstGeom>
            <a:noFill/>
          </p:spPr>
        </p:pic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954838D3-5469-0DEF-23D7-8C8F5A9E1102}"/>
                </a:ext>
              </a:extLst>
            </p:cNvPr>
            <p:cNvCxnSpPr>
              <a:stCxn id="11" idx="4"/>
              <a:endCxn id="14" idx="0"/>
            </p:cNvCxnSpPr>
            <p:nvPr/>
          </p:nvCxnSpPr>
          <p:spPr>
            <a:xfrm flipH="1">
              <a:off x="4522575" y="2743200"/>
              <a:ext cx="1434584" cy="457200"/>
            </a:xfrm>
            <a:prstGeom prst="straightConnector1">
              <a:avLst/>
            </a:prstGeom>
            <a:ln w="12700">
              <a:solidFill>
                <a:srgbClr val="C00000"/>
              </a:solidFill>
              <a:headEnd type="none" w="med" len="med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BE0CFE17-E4E5-02A2-AEA0-9494DD970910}"/>
                </a:ext>
              </a:extLst>
            </p:cNvPr>
            <p:cNvCxnSpPr>
              <a:stCxn id="11" idx="4"/>
              <a:endCxn id="7" idx="0"/>
            </p:cNvCxnSpPr>
            <p:nvPr/>
          </p:nvCxnSpPr>
          <p:spPr>
            <a:xfrm>
              <a:off x="5957159" y="2743200"/>
              <a:ext cx="1664304" cy="457200"/>
            </a:xfrm>
            <a:prstGeom prst="straightConnector1">
              <a:avLst/>
            </a:prstGeom>
            <a:ln w="12700">
              <a:solidFill>
                <a:srgbClr val="C00000"/>
              </a:solidFill>
              <a:headEnd type="none" w="med" len="med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7" name="Picture 2">
              <a:extLst>
                <a:ext uri="{FF2B5EF4-FFF2-40B4-BE49-F238E27FC236}">
                  <a16:creationId xmlns:a16="http://schemas.microsoft.com/office/drawing/2014/main" id="{5A5B31C3-C6E0-1ED0-AB82-399ACEC7358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auto">
            <a:xfrm>
              <a:off x="1088403" y="3199887"/>
              <a:ext cx="696143" cy="457714"/>
            </a:xfrm>
            <a:prstGeom prst="rect">
              <a:avLst/>
            </a:prstGeom>
            <a:noFill/>
          </p:spPr>
        </p:pic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E6172396-3D21-0083-1EAC-D639F9C67F80}"/>
                </a:ext>
              </a:extLst>
            </p:cNvPr>
            <p:cNvCxnSpPr>
              <a:stCxn id="10" idx="4"/>
              <a:endCxn id="17" idx="0"/>
            </p:cNvCxnSpPr>
            <p:nvPr/>
          </p:nvCxnSpPr>
          <p:spPr>
            <a:xfrm flipH="1">
              <a:off x="1436475" y="2743201"/>
              <a:ext cx="5834" cy="456686"/>
            </a:xfrm>
            <a:prstGeom prst="straightConnector1">
              <a:avLst/>
            </a:prstGeom>
            <a:ln w="12700">
              <a:solidFill>
                <a:schemeClr val="accent2"/>
              </a:solidFill>
              <a:headEnd type="none" w="med" len="med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9" name="Picture 2">
              <a:extLst>
                <a:ext uri="{FF2B5EF4-FFF2-40B4-BE49-F238E27FC236}">
                  <a16:creationId xmlns:a16="http://schemas.microsoft.com/office/drawing/2014/main" id="{AA15A487-73B3-5F23-4BB7-9CBBD4C1FDB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auto">
            <a:xfrm>
              <a:off x="2154631" y="4629150"/>
              <a:ext cx="760961" cy="479510"/>
            </a:xfrm>
            <a:prstGeom prst="rect">
              <a:avLst/>
            </a:prstGeom>
            <a:noFill/>
          </p:spPr>
        </p:pic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EF2AFC78-C8A1-DB4C-1312-86CC4EBAE231}"/>
                </a:ext>
              </a:extLst>
            </p:cNvPr>
            <p:cNvSpPr/>
            <p:nvPr/>
          </p:nvSpPr>
          <p:spPr>
            <a:xfrm>
              <a:off x="573390" y="3942836"/>
              <a:ext cx="228600" cy="228600"/>
            </a:xfrm>
            <a:prstGeom prst="ellipse">
              <a:avLst/>
            </a:prstGeom>
            <a:solidFill>
              <a:srgbClr val="B8EAC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E6D38AE6-60AE-E0EA-3D14-948A45B09C33}"/>
                </a:ext>
              </a:extLst>
            </p:cNvPr>
            <p:cNvSpPr/>
            <p:nvPr/>
          </p:nvSpPr>
          <p:spPr>
            <a:xfrm>
              <a:off x="2085030" y="3942836"/>
              <a:ext cx="228600" cy="228600"/>
            </a:xfrm>
            <a:prstGeom prst="ellipse">
              <a:avLst/>
            </a:prstGeom>
            <a:solidFill>
              <a:srgbClr val="B8EAC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FDEDF831-CB47-45CE-5BA6-5B15B3661598}"/>
                </a:ext>
              </a:extLst>
            </p:cNvPr>
            <p:cNvCxnSpPr>
              <a:stCxn id="17" idx="2"/>
              <a:endCxn id="21" idx="1"/>
            </p:cNvCxnSpPr>
            <p:nvPr/>
          </p:nvCxnSpPr>
          <p:spPr>
            <a:xfrm>
              <a:off x="1436474" y="3657600"/>
              <a:ext cx="682034" cy="318714"/>
            </a:xfrm>
            <a:prstGeom prst="straightConnector1">
              <a:avLst/>
            </a:prstGeom>
            <a:ln w="12700">
              <a:solidFill>
                <a:srgbClr val="C00000"/>
              </a:solidFill>
              <a:headEnd type="none" w="med" len="med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FA407B08-AA72-F07E-2661-C993B647590B}"/>
                </a:ext>
              </a:extLst>
            </p:cNvPr>
            <p:cNvCxnSpPr>
              <a:stCxn id="17" idx="2"/>
              <a:endCxn id="20" idx="7"/>
            </p:cNvCxnSpPr>
            <p:nvPr/>
          </p:nvCxnSpPr>
          <p:spPr>
            <a:xfrm flipH="1">
              <a:off x="768512" y="3657600"/>
              <a:ext cx="667962" cy="318714"/>
            </a:xfrm>
            <a:prstGeom prst="straightConnector1">
              <a:avLst/>
            </a:prstGeom>
            <a:ln w="12700">
              <a:solidFill>
                <a:schemeClr val="accent2"/>
              </a:solidFill>
              <a:headEnd type="none" w="med" len="med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24" name="Picture 2">
              <a:extLst>
                <a:ext uri="{FF2B5EF4-FFF2-40B4-BE49-F238E27FC236}">
                  <a16:creationId xmlns:a16="http://schemas.microsoft.com/office/drawing/2014/main" id="{64C4D36D-D18D-6605-CD20-DB869D5D2E4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auto">
            <a:xfrm>
              <a:off x="1545603" y="4629150"/>
              <a:ext cx="696143" cy="457714"/>
            </a:xfrm>
            <a:prstGeom prst="rect">
              <a:avLst/>
            </a:prstGeom>
            <a:noFill/>
          </p:spPr>
        </p:pic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52F3DA9D-6C43-E099-2F62-33F156D80945}"/>
                </a:ext>
              </a:extLst>
            </p:cNvPr>
            <p:cNvCxnSpPr>
              <a:stCxn id="21" idx="4"/>
              <a:endCxn id="24" idx="0"/>
            </p:cNvCxnSpPr>
            <p:nvPr/>
          </p:nvCxnSpPr>
          <p:spPr>
            <a:xfrm flipH="1">
              <a:off x="1893675" y="4171437"/>
              <a:ext cx="305656" cy="457714"/>
            </a:xfrm>
            <a:prstGeom prst="straightConnector1">
              <a:avLst/>
            </a:prstGeom>
            <a:ln w="12700">
              <a:solidFill>
                <a:srgbClr val="C00000"/>
              </a:solidFill>
              <a:headEnd type="none" w="med" len="med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E969DD7B-A35C-7E47-F501-0503353F3E13}"/>
                </a:ext>
              </a:extLst>
            </p:cNvPr>
            <p:cNvCxnSpPr>
              <a:stCxn id="21" idx="4"/>
              <a:endCxn id="19" idx="0"/>
            </p:cNvCxnSpPr>
            <p:nvPr/>
          </p:nvCxnSpPr>
          <p:spPr>
            <a:xfrm>
              <a:off x="2199330" y="4171437"/>
              <a:ext cx="335783" cy="457714"/>
            </a:xfrm>
            <a:prstGeom prst="straightConnector1">
              <a:avLst/>
            </a:prstGeom>
            <a:ln w="12700">
              <a:solidFill>
                <a:srgbClr val="C00000"/>
              </a:solidFill>
              <a:headEnd type="none" w="med" len="med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27" name="Picture 2">
              <a:extLst>
                <a:ext uri="{FF2B5EF4-FFF2-40B4-BE49-F238E27FC236}">
                  <a16:creationId xmlns:a16="http://schemas.microsoft.com/office/drawing/2014/main" id="{F5154DD3-358A-4090-77F5-D07D659A048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auto">
            <a:xfrm>
              <a:off x="345453" y="4628123"/>
              <a:ext cx="696143" cy="457714"/>
            </a:xfrm>
            <a:prstGeom prst="rect">
              <a:avLst/>
            </a:prstGeom>
            <a:noFill/>
          </p:spPr>
        </p:pic>
        <p:cxnSp>
          <p:nvCxnSpPr>
            <p:cNvPr id="28" name="Straight Arrow Connector 27">
              <a:extLst>
                <a:ext uri="{FF2B5EF4-FFF2-40B4-BE49-F238E27FC236}">
                  <a16:creationId xmlns:a16="http://schemas.microsoft.com/office/drawing/2014/main" id="{3FF7DAFA-6C38-D265-0716-3D50BEFA6A03}"/>
                </a:ext>
              </a:extLst>
            </p:cNvPr>
            <p:cNvCxnSpPr>
              <a:stCxn id="20" idx="4"/>
              <a:endCxn id="27" idx="0"/>
            </p:cNvCxnSpPr>
            <p:nvPr/>
          </p:nvCxnSpPr>
          <p:spPr>
            <a:xfrm>
              <a:off x="687691" y="4171437"/>
              <a:ext cx="5834" cy="456686"/>
            </a:xfrm>
            <a:prstGeom prst="straightConnector1">
              <a:avLst/>
            </a:prstGeom>
            <a:ln w="12700">
              <a:solidFill>
                <a:schemeClr val="accent2"/>
              </a:solidFill>
              <a:headEnd type="none" w="med" len="med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92AE3814-0C6C-C865-8DD4-6C024EE13BA5}"/>
                </a:ext>
              </a:extLst>
            </p:cNvPr>
            <p:cNvSpPr/>
            <p:nvPr/>
          </p:nvSpPr>
          <p:spPr>
            <a:xfrm>
              <a:off x="3647822" y="3942836"/>
              <a:ext cx="228600" cy="228600"/>
            </a:xfrm>
            <a:prstGeom prst="ellipse">
              <a:avLst/>
            </a:prstGeom>
            <a:solidFill>
              <a:srgbClr val="B8EAC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cxnSp>
          <p:nvCxnSpPr>
            <p:cNvPr id="30" name="Straight Arrow Connector 29">
              <a:extLst>
                <a:ext uri="{FF2B5EF4-FFF2-40B4-BE49-F238E27FC236}">
                  <a16:creationId xmlns:a16="http://schemas.microsoft.com/office/drawing/2014/main" id="{C127FF2D-6F5C-2658-1E50-7967ECA95E56}"/>
                </a:ext>
              </a:extLst>
            </p:cNvPr>
            <p:cNvCxnSpPr>
              <a:endCxn id="29" idx="7"/>
            </p:cNvCxnSpPr>
            <p:nvPr/>
          </p:nvCxnSpPr>
          <p:spPr>
            <a:xfrm flipH="1">
              <a:off x="3842944" y="3657600"/>
              <a:ext cx="667962" cy="318714"/>
            </a:xfrm>
            <a:prstGeom prst="straightConnector1">
              <a:avLst/>
            </a:prstGeom>
            <a:ln w="12700">
              <a:solidFill>
                <a:schemeClr val="accent2"/>
              </a:solidFill>
              <a:headEnd type="none" w="med" len="med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31" name="Picture 2">
              <a:extLst>
                <a:ext uri="{FF2B5EF4-FFF2-40B4-BE49-F238E27FC236}">
                  <a16:creationId xmlns:a16="http://schemas.microsoft.com/office/drawing/2014/main" id="{6CC66209-B8BC-0675-9194-6377486EEF5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auto">
            <a:xfrm>
              <a:off x="3419884" y="4628123"/>
              <a:ext cx="696143" cy="457714"/>
            </a:xfrm>
            <a:prstGeom prst="rect">
              <a:avLst/>
            </a:prstGeom>
            <a:noFill/>
          </p:spPr>
        </p:pic>
        <p:cxnSp>
          <p:nvCxnSpPr>
            <p:cNvPr id="32" name="Straight Arrow Connector 31">
              <a:extLst>
                <a:ext uri="{FF2B5EF4-FFF2-40B4-BE49-F238E27FC236}">
                  <a16:creationId xmlns:a16="http://schemas.microsoft.com/office/drawing/2014/main" id="{C61C27B8-9259-2A7D-6EE9-A8B81ACC942A}"/>
                </a:ext>
              </a:extLst>
            </p:cNvPr>
            <p:cNvCxnSpPr>
              <a:stCxn id="29" idx="4"/>
              <a:endCxn id="31" idx="0"/>
            </p:cNvCxnSpPr>
            <p:nvPr/>
          </p:nvCxnSpPr>
          <p:spPr>
            <a:xfrm>
              <a:off x="3762122" y="4171437"/>
              <a:ext cx="5834" cy="456686"/>
            </a:xfrm>
            <a:prstGeom prst="straightConnector1">
              <a:avLst/>
            </a:prstGeom>
            <a:ln w="12700">
              <a:solidFill>
                <a:schemeClr val="accent2"/>
              </a:solidFill>
              <a:headEnd type="none" w="med" len="med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33" name="Picture 2">
              <a:extLst>
                <a:ext uri="{FF2B5EF4-FFF2-40B4-BE49-F238E27FC236}">
                  <a16:creationId xmlns:a16="http://schemas.microsoft.com/office/drawing/2014/main" id="{7FDBD292-B454-4D85-D202-E8C522260BE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auto">
            <a:xfrm>
              <a:off x="5240731" y="4629150"/>
              <a:ext cx="760961" cy="479510"/>
            </a:xfrm>
            <a:prstGeom prst="rect">
              <a:avLst/>
            </a:prstGeom>
            <a:noFill/>
          </p:spPr>
        </p:pic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C631E58F-B298-6B35-63E5-348D03E23986}"/>
                </a:ext>
              </a:extLst>
            </p:cNvPr>
            <p:cNvSpPr/>
            <p:nvPr/>
          </p:nvSpPr>
          <p:spPr>
            <a:xfrm>
              <a:off x="5171130" y="3942836"/>
              <a:ext cx="228600" cy="228600"/>
            </a:xfrm>
            <a:prstGeom prst="ellipse">
              <a:avLst/>
            </a:prstGeom>
            <a:solidFill>
              <a:srgbClr val="B8EAC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cxnSp>
          <p:nvCxnSpPr>
            <p:cNvPr id="35" name="Straight Arrow Connector 34">
              <a:extLst>
                <a:ext uri="{FF2B5EF4-FFF2-40B4-BE49-F238E27FC236}">
                  <a16:creationId xmlns:a16="http://schemas.microsoft.com/office/drawing/2014/main" id="{D7588761-AE3F-7224-C7A7-263315D9A75B}"/>
                </a:ext>
              </a:extLst>
            </p:cNvPr>
            <p:cNvCxnSpPr>
              <a:stCxn id="14" idx="2"/>
              <a:endCxn id="34" idx="1"/>
            </p:cNvCxnSpPr>
            <p:nvPr/>
          </p:nvCxnSpPr>
          <p:spPr>
            <a:xfrm>
              <a:off x="4522574" y="3658114"/>
              <a:ext cx="682034" cy="318200"/>
            </a:xfrm>
            <a:prstGeom prst="straightConnector1">
              <a:avLst/>
            </a:prstGeom>
            <a:ln w="12700">
              <a:solidFill>
                <a:srgbClr val="C00000"/>
              </a:solidFill>
              <a:headEnd type="none" w="med" len="med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36" name="Picture 2">
              <a:extLst>
                <a:ext uri="{FF2B5EF4-FFF2-40B4-BE49-F238E27FC236}">
                  <a16:creationId xmlns:a16="http://schemas.microsoft.com/office/drawing/2014/main" id="{1E53B682-9FA1-05BB-7A60-3891C1A7658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auto">
            <a:xfrm>
              <a:off x="4631703" y="4629150"/>
              <a:ext cx="696143" cy="457714"/>
            </a:xfrm>
            <a:prstGeom prst="rect">
              <a:avLst/>
            </a:prstGeom>
            <a:noFill/>
          </p:spPr>
        </p:pic>
        <p:cxnSp>
          <p:nvCxnSpPr>
            <p:cNvPr id="37" name="Straight Arrow Connector 36">
              <a:extLst>
                <a:ext uri="{FF2B5EF4-FFF2-40B4-BE49-F238E27FC236}">
                  <a16:creationId xmlns:a16="http://schemas.microsoft.com/office/drawing/2014/main" id="{C438A834-1EE5-36A6-7B1D-67142DE44897}"/>
                </a:ext>
              </a:extLst>
            </p:cNvPr>
            <p:cNvCxnSpPr>
              <a:stCxn id="34" idx="4"/>
              <a:endCxn id="36" idx="0"/>
            </p:cNvCxnSpPr>
            <p:nvPr/>
          </p:nvCxnSpPr>
          <p:spPr>
            <a:xfrm flipH="1">
              <a:off x="4979775" y="4171437"/>
              <a:ext cx="305656" cy="457714"/>
            </a:xfrm>
            <a:prstGeom prst="straightConnector1">
              <a:avLst/>
            </a:prstGeom>
            <a:ln w="12700">
              <a:solidFill>
                <a:srgbClr val="C00000"/>
              </a:solidFill>
              <a:headEnd type="none" w="med" len="med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Arrow Connector 37">
              <a:extLst>
                <a:ext uri="{FF2B5EF4-FFF2-40B4-BE49-F238E27FC236}">
                  <a16:creationId xmlns:a16="http://schemas.microsoft.com/office/drawing/2014/main" id="{24839B74-27A6-7BB8-F08B-F0778091D381}"/>
                </a:ext>
              </a:extLst>
            </p:cNvPr>
            <p:cNvCxnSpPr>
              <a:stCxn id="34" idx="4"/>
              <a:endCxn id="33" idx="0"/>
            </p:cNvCxnSpPr>
            <p:nvPr/>
          </p:nvCxnSpPr>
          <p:spPr>
            <a:xfrm>
              <a:off x="5285430" y="4171437"/>
              <a:ext cx="335783" cy="457714"/>
            </a:xfrm>
            <a:prstGeom prst="straightConnector1">
              <a:avLst/>
            </a:prstGeom>
            <a:ln w="12700">
              <a:solidFill>
                <a:srgbClr val="C00000"/>
              </a:solidFill>
              <a:headEnd type="none" w="med" len="med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39" name="Picture 2">
              <a:extLst>
                <a:ext uri="{FF2B5EF4-FFF2-40B4-BE49-F238E27FC236}">
                  <a16:creationId xmlns:a16="http://schemas.microsoft.com/office/drawing/2014/main" id="{AF8DA511-73A7-3A7E-8BE2-19CDC9329D6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auto">
            <a:xfrm>
              <a:off x="6783781" y="4628636"/>
              <a:ext cx="760961" cy="479510"/>
            </a:xfrm>
            <a:prstGeom prst="rect">
              <a:avLst/>
            </a:prstGeom>
            <a:noFill/>
          </p:spPr>
        </p:pic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7436BC57-51A4-015C-6CA1-65B183396497}"/>
                </a:ext>
              </a:extLst>
            </p:cNvPr>
            <p:cNvSpPr/>
            <p:nvPr/>
          </p:nvSpPr>
          <p:spPr>
            <a:xfrm>
              <a:off x="6714180" y="3942323"/>
              <a:ext cx="228600" cy="228600"/>
            </a:xfrm>
            <a:prstGeom prst="ellipse">
              <a:avLst/>
            </a:prstGeom>
            <a:solidFill>
              <a:srgbClr val="B8EAC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cxnSp>
          <p:nvCxnSpPr>
            <p:cNvPr id="41" name="Straight Arrow Connector 40">
              <a:extLst>
                <a:ext uri="{FF2B5EF4-FFF2-40B4-BE49-F238E27FC236}">
                  <a16:creationId xmlns:a16="http://schemas.microsoft.com/office/drawing/2014/main" id="{148131A2-0E02-7B65-8481-F103601F2A5C}"/>
                </a:ext>
              </a:extLst>
            </p:cNvPr>
            <p:cNvCxnSpPr>
              <a:stCxn id="7" idx="2"/>
              <a:endCxn id="40" idx="7"/>
            </p:cNvCxnSpPr>
            <p:nvPr/>
          </p:nvCxnSpPr>
          <p:spPr>
            <a:xfrm flipH="1">
              <a:off x="6909303" y="3679910"/>
              <a:ext cx="712160" cy="295891"/>
            </a:xfrm>
            <a:prstGeom prst="straightConnector1">
              <a:avLst/>
            </a:prstGeom>
            <a:ln w="12700">
              <a:solidFill>
                <a:schemeClr val="accent2"/>
              </a:solidFill>
              <a:headEnd type="none" w="med" len="med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42" name="Picture 2">
              <a:extLst>
                <a:ext uri="{FF2B5EF4-FFF2-40B4-BE49-F238E27FC236}">
                  <a16:creationId xmlns:a16="http://schemas.microsoft.com/office/drawing/2014/main" id="{1D48FF32-5190-0B88-0FFB-997E3B0C67E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auto">
            <a:xfrm>
              <a:off x="6174753" y="4628637"/>
              <a:ext cx="696143" cy="457714"/>
            </a:xfrm>
            <a:prstGeom prst="rect">
              <a:avLst/>
            </a:prstGeom>
            <a:noFill/>
          </p:spPr>
        </p:pic>
        <p:cxnSp>
          <p:nvCxnSpPr>
            <p:cNvPr id="43" name="Straight Arrow Connector 42">
              <a:extLst>
                <a:ext uri="{FF2B5EF4-FFF2-40B4-BE49-F238E27FC236}">
                  <a16:creationId xmlns:a16="http://schemas.microsoft.com/office/drawing/2014/main" id="{F05526FB-21EF-4D4B-685D-C7A06D228068}"/>
                </a:ext>
              </a:extLst>
            </p:cNvPr>
            <p:cNvCxnSpPr>
              <a:stCxn id="40" idx="4"/>
              <a:endCxn id="42" idx="0"/>
            </p:cNvCxnSpPr>
            <p:nvPr/>
          </p:nvCxnSpPr>
          <p:spPr>
            <a:xfrm flipH="1">
              <a:off x="6522825" y="4170923"/>
              <a:ext cx="305656" cy="457714"/>
            </a:xfrm>
            <a:prstGeom prst="straightConnector1">
              <a:avLst/>
            </a:prstGeom>
            <a:ln w="12700">
              <a:solidFill>
                <a:schemeClr val="accent2"/>
              </a:solidFill>
              <a:headEnd type="none" w="med" len="med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Arrow Connector 43">
              <a:extLst>
                <a:ext uri="{FF2B5EF4-FFF2-40B4-BE49-F238E27FC236}">
                  <a16:creationId xmlns:a16="http://schemas.microsoft.com/office/drawing/2014/main" id="{FAE637CF-D2FA-2600-6DF2-41C170C7D3AA}"/>
                </a:ext>
              </a:extLst>
            </p:cNvPr>
            <p:cNvCxnSpPr>
              <a:stCxn id="40" idx="4"/>
              <a:endCxn id="39" idx="0"/>
            </p:cNvCxnSpPr>
            <p:nvPr/>
          </p:nvCxnSpPr>
          <p:spPr>
            <a:xfrm>
              <a:off x="6828480" y="4170923"/>
              <a:ext cx="335783" cy="457714"/>
            </a:xfrm>
            <a:prstGeom prst="straightConnector1">
              <a:avLst/>
            </a:prstGeom>
            <a:ln w="12700">
              <a:solidFill>
                <a:schemeClr val="accent2"/>
              </a:solidFill>
              <a:headEnd type="none" w="med" len="med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Oval 44">
              <a:extLst>
                <a:ext uri="{FF2B5EF4-FFF2-40B4-BE49-F238E27FC236}">
                  <a16:creationId xmlns:a16="http://schemas.microsoft.com/office/drawing/2014/main" id="{9029992A-6077-047C-5FEB-80FC7E304A0E}"/>
                </a:ext>
              </a:extLst>
            </p:cNvPr>
            <p:cNvSpPr/>
            <p:nvPr/>
          </p:nvSpPr>
          <p:spPr>
            <a:xfrm>
              <a:off x="8339956" y="3942836"/>
              <a:ext cx="228600" cy="228600"/>
            </a:xfrm>
            <a:prstGeom prst="ellipse">
              <a:avLst/>
            </a:prstGeom>
            <a:solidFill>
              <a:srgbClr val="B8EAC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cxnSp>
          <p:nvCxnSpPr>
            <p:cNvPr id="46" name="Straight Arrow Connector 45">
              <a:extLst>
                <a:ext uri="{FF2B5EF4-FFF2-40B4-BE49-F238E27FC236}">
                  <a16:creationId xmlns:a16="http://schemas.microsoft.com/office/drawing/2014/main" id="{0B678BE6-D071-FF7D-90D2-230AD7B8065C}"/>
                </a:ext>
              </a:extLst>
            </p:cNvPr>
            <p:cNvCxnSpPr>
              <a:stCxn id="7" idx="2"/>
              <a:endCxn id="45" idx="1"/>
            </p:cNvCxnSpPr>
            <p:nvPr/>
          </p:nvCxnSpPr>
          <p:spPr>
            <a:xfrm>
              <a:off x="7621463" y="3679909"/>
              <a:ext cx="751971" cy="296405"/>
            </a:xfrm>
            <a:prstGeom prst="straightConnector1">
              <a:avLst/>
            </a:prstGeom>
            <a:ln w="12700">
              <a:solidFill>
                <a:srgbClr val="C00000"/>
              </a:solidFill>
              <a:headEnd type="none" w="med" len="med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Arrow Connector 46">
              <a:extLst>
                <a:ext uri="{FF2B5EF4-FFF2-40B4-BE49-F238E27FC236}">
                  <a16:creationId xmlns:a16="http://schemas.microsoft.com/office/drawing/2014/main" id="{8FFD86F9-5325-C825-0063-163E78C61493}"/>
                </a:ext>
              </a:extLst>
            </p:cNvPr>
            <p:cNvCxnSpPr>
              <a:stCxn id="45" idx="4"/>
            </p:cNvCxnSpPr>
            <p:nvPr/>
          </p:nvCxnSpPr>
          <p:spPr>
            <a:xfrm>
              <a:off x="8454256" y="4171437"/>
              <a:ext cx="5834" cy="456686"/>
            </a:xfrm>
            <a:prstGeom prst="straightConnector1">
              <a:avLst/>
            </a:prstGeom>
            <a:ln w="12700">
              <a:solidFill>
                <a:srgbClr val="C00000"/>
              </a:solidFill>
              <a:headEnd type="none" w="med" len="med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D3088B1-2C2D-7B3F-6C6C-AA19855B217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KR"/>
              <a:t>691</a:t>
            </a:r>
            <a:endParaRPr lang="en-KR" sz="4000" dirty="0"/>
          </a:p>
        </p:txBody>
      </p:sp>
    </p:spTree>
    <p:extLst>
      <p:ext uri="{BB962C8B-B14F-4D97-AF65-F5344CB8AC3E}">
        <p14:creationId xmlns:p14="http://schemas.microsoft.com/office/powerpoint/2010/main" val="273735197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45E60F-FE40-8307-205C-BB99F8ADE3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27B9C3-8766-DD77-4C12-84EDDC6FD9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MDP Search Trees</a:t>
            </a:r>
            <a:endParaRPr lang="en-KR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56F724D-5389-6E89-20EC-AF3C6F5B244B}"/>
              </a:ext>
            </a:extLst>
          </p:cNvPr>
          <p:cNvSpPr/>
          <p:nvPr/>
        </p:nvSpPr>
        <p:spPr>
          <a:xfrm>
            <a:off x="7067791" y="4928056"/>
            <a:ext cx="2076209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800" dirty="0">
                <a:solidFill>
                  <a:schemeClr val="bg1">
                    <a:lumMod val="65000"/>
                  </a:schemeClr>
                </a:solidFill>
                <a:cs typeface="Calibri"/>
              </a:rPr>
              <a:t>Adapted from CS188 of Klein and </a:t>
            </a:r>
            <a:r>
              <a:rPr lang="en-US" sz="800" dirty="0" err="1">
                <a:solidFill>
                  <a:schemeClr val="bg1">
                    <a:lumMod val="65000"/>
                  </a:schemeClr>
                </a:solidFill>
                <a:cs typeface="Calibri"/>
              </a:rPr>
              <a:t>Abbeel</a:t>
            </a:r>
            <a:endParaRPr lang="en-KR" sz="800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D4D42A7-3F53-641B-A376-8B9DC41A49A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solidFill>
                  <a:schemeClr val="dk1"/>
                </a:solidFill>
              </a:rPr>
              <a:t>Each MDP state projects an </a:t>
            </a:r>
            <a:r>
              <a:rPr lang="en-US" dirty="0" err="1">
                <a:solidFill>
                  <a:schemeClr val="dk1"/>
                </a:solidFill>
              </a:rPr>
              <a:t>expectimax</a:t>
            </a:r>
            <a:r>
              <a:rPr lang="en-US" dirty="0">
                <a:solidFill>
                  <a:schemeClr val="dk1"/>
                </a:solidFill>
              </a:rPr>
              <a:t>-like search tree</a:t>
            </a:r>
          </a:p>
          <a:p>
            <a:pPr marL="114300" indent="0">
              <a:buNone/>
            </a:pPr>
            <a:endParaRPr lang="en-KR" dirty="0">
              <a:solidFill>
                <a:schemeClr val="dk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95DC591-6B1E-8478-6020-2923D48197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4646" y="2263111"/>
            <a:ext cx="2263379" cy="1694774"/>
          </a:xfrm>
          <a:prstGeom prst="rect">
            <a:avLst/>
          </a:prstGeom>
          <a:noFill/>
        </p:spPr>
      </p:pic>
      <p:grpSp>
        <p:nvGrpSpPr>
          <p:cNvPr id="37" name="Group 36">
            <a:extLst>
              <a:ext uri="{FF2B5EF4-FFF2-40B4-BE49-F238E27FC236}">
                <a16:creationId xmlns:a16="http://schemas.microsoft.com/office/drawing/2014/main" id="{6D6B1073-CAFB-F19E-BE93-C445F09797C7}"/>
              </a:ext>
            </a:extLst>
          </p:cNvPr>
          <p:cNvGrpSpPr/>
          <p:nvPr/>
        </p:nvGrpSpPr>
        <p:grpSpPr>
          <a:xfrm>
            <a:off x="2233743" y="1339535"/>
            <a:ext cx="6698354" cy="3428313"/>
            <a:chOff x="2286000" y="1943787"/>
            <a:chExt cx="6698354" cy="3428313"/>
          </a:xfrm>
        </p:grpSpPr>
        <p:sp>
          <p:nvSpPr>
            <p:cNvPr id="5" name="AutoShape 4">
              <a:extLst>
                <a:ext uri="{FF2B5EF4-FFF2-40B4-BE49-F238E27FC236}">
                  <a16:creationId xmlns:a16="http://schemas.microsoft.com/office/drawing/2014/main" id="{DE0E86B2-BF9E-7041-8B9B-0CB2769A8E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14800" y="2457450"/>
              <a:ext cx="342900" cy="273844"/>
            </a:xfrm>
            <a:prstGeom prst="triangle">
              <a:avLst>
                <a:gd name="adj" fmla="val 50000"/>
              </a:avLst>
            </a:prstGeom>
            <a:solidFill>
              <a:srgbClr val="8FAA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US" sz="1800">
                <a:latin typeface="Calibri"/>
                <a:cs typeface="Calibri"/>
              </a:endParaRPr>
            </a:p>
          </p:txBody>
        </p:sp>
        <p:sp>
          <p:nvSpPr>
            <p:cNvPr id="7" name="AutoShape 5">
              <a:extLst>
                <a:ext uri="{FF2B5EF4-FFF2-40B4-BE49-F238E27FC236}">
                  <a16:creationId xmlns:a16="http://schemas.microsoft.com/office/drawing/2014/main" id="{82888602-708C-469B-8612-CC1059DBD1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00500" y="4698207"/>
              <a:ext cx="342900" cy="273844"/>
            </a:xfrm>
            <a:prstGeom prst="triangle">
              <a:avLst>
                <a:gd name="adj" fmla="val 50000"/>
              </a:avLst>
            </a:prstGeom>
            <a:solidFill>
              <a:srgbClr val="8FAA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r" rtl="1"/>
              <a:endParaRPr lang="en-US" sz="1800">
                <a:latin typeface="Calibri"/>
                <a:cs typeface="Calibri"/>
              </a:endParaRPr>
            </a:p>
          </p:txBody>
        </p:sp>
        <p:grpSp>
          <p:nvGrpSpPr>
            <p:cNvPr id="8" name="Group 6">
              <a:extLst>
                <a:ext uri="{FF2B5EF4-FFF2-40B4-BE49-F238E27FC236}">
                  <a16:creationId xmlns:a16="http://schemas.microsoft.com/office/drawing/2014/main" id="{29C6CDB3-DE37-0CAF-C7E1-47EDE5E2907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914650" y="2743200"/>
              <a:ext cx="2800350" cy="800100"/>
              <a:chOff x="1584" y="1680"/>
              <a:chExt cx="2352" cy="336"/>
            </a:xfrm>
          </p:grpSpPr>
          <p:sp>
            <p:nvSpPr>
              <p:cNvPr id="10" name="Line 7">
                <a:extLst>
                  <a:ext uri="{FF2B5EF4-FFF2-40B4-BE49-F238E27FC236}">
                    <a16:creationId xmlns:a16="http://schemas.microsoft.com/office/drawing/2014/main" id="{BA36E756-F46D-63CC-627C-3139B8FBE08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584" y="1680"/>
                <a:ext cx="1152" cy="33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dash"/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en-US" sz="1800">
                  <a:latin typeface="Calibri"/>
                  <a:cs typeface="Calibri"/>
                </a:endParaRPr>
              </a:p>
            </p:txBody>
          </p:sp>
          <p:sp>
            <p:nvSpPr>
              <p:cNvPr id="11" name="Line 8">
                <a:extLst>
                  <a:ext uri="{FF2B5EF4-FFF2-40B4-BE49-F238E27FC236}">
                    <a16:creationId xmlns:a16="http://schemas.microsoft.com/office/drawing/2014/main" id="{6C3F3EF8-F25D-230B-DE58-7C3F303B5BB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736" y="1680"/>
                <a:ext cx="1200" cy="28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dash"/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en-US" sz="1800">
                  <a:latin typeface="Calibri"/>
                  <a:cs typeface="Calibri"/>
                </a:endParaRPr>
              </a:p>
            </p:txBody>
          </p:sp>
          <p:sp>
            <p:nvSpPr>
              <p:cNvPr id="12" name="Line 9">
                <a:extLst>
                  <a:ext uri="{FF2B5EF4-FFF2-40B4-BE49-F238E27FC236}">
                    <a16:creationId xmlns:a16="http://schemas.microsoft.com/office/drawing/2014/main" id="{016BEF4F-A047-D6F2-15C8-34DF11C5969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304" y="1680"/>
                <a:ext cx="432" cy="33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en-US" sz="1800">
                  <a:latin typeface="Calibri"/>
                  <a:cs typeface="Calibri"/>
                </a:endParaRPr>
              </a:p>
            </p:txBody>
          </p:sp>
          <p:sp>
            <p:nvSpPr>
              <p:cNvPr id="13" name="Line 10">
                <a:extLst>
                  <a:ext uri="{FF2B5EF4-FFF2-40B4-BE49-F238E27FC236}">
                    <a16:creationId xmlns:a16="http://schemas.microsoft.com/office/drawing/2014/main" id="{A6A20BE4-ABF2-06AB-41F6-5F000DBB1A3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736" y="1680"/>
                <a:ext cx="432" cy="28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dash"/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en-US" sz="1800">
                  <a:latin typeface="Calibri"/>
                  <a:cs typeface="Calibri"/>
                </a:endParaRPr>
              </a:p>
            </p:txBody>
          </p:sp>
        </p:grpSp>
        <p:sp>
          <p:nvSpPr>
            <p:cNvPr id="14" name="Oval 11">
              <a:extLst>
                <a:ext uri="{FF2B5EF4-FFF2-40B4-BE49-F238E27FC236}">
                  <a16:creationId xmlns:a16="http://schemas.microsoft.com/office/drawing/2014/main" id="{BA1282DD-D799-45A6-F694-C0F41423B02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57600" y="3543300"/>
              <a:ext cx="285750" cy="285750"/>
            </a:xfrm>
            <a:prstGeom prst="ellipse">
              <a:avLst/>
            </a:prstGeom>
            <a:solidFill>
              <a:srgbClr val="B8EAC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sz="1800">
                <a:latin typeface="Calibri"/>
                <a:cs typeface="Calibri"/>
              </a:endParaRPr>
            </a:p>
          </p:txBody>
        </p:sp>
        <p:grpSp>
          <p:nvGrpSpPr>
            <p:cNvPr id="15" name="Group 12">
              <a:extLst>
                <a:ext uri="{FF2B5EF4-FFF2-40B4-BE49-F238E27FC236}">
                  <a16:creationId xmlns:a16="http://schemas.microsoft.com/office/drawing/2014/main" id="{5AB62F3A-EC81-63CD-EE1D-4D61329692D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628900" y="3829050"/>
              <a:ext cx="2343150" cy="857250"/>
              <a:chOff x="1536" y="2400"/>
              <a:chExt cx="1584" cy="624"/>
            </a:xfrm>
          </p:grpSpPr>
          <p:sp>
            <p:nvSpPr>
              <p:cNvPr id="16" name="Line 13">
                <a:extLst>
                  <a:ext uri="{FF2B5EF4-FFF2-40B4-BE49-F238E27FC236}">
                    <a16:creationId xmlns:a16="http://schemas.microsoft.com/office/drawing/2014/main" id="{4CF89356-00C5-6B9A-73EF-81DFA30C9A7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536" y="2400"/>
                <a:ext cx="776" cy="62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dash"/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en-US" sz="1800">
                  <a:latin typeface="Calibri"/>
                  <a:cs typeface="Calibri"/>
                </a:endParaRPr>
              </a:p>
            </p:txBody>
          </p:sp>
          <p:sp>
            <p:nvSpPr>
              <p:cNvPr id="17" name="Line 14">
                <a:extLst>
                  <a:ext uri="{FF2B5EF4-FFF2-40B4-BE49-F238E27FC236}">
                    <a16:creationId xmlns:a16="http://schemas.microsoft.com/office/drawing/2014/main" id="{457F1F5A-02A2-A4CD-008C-DC09050042F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12" y="2400"/>
                <a:ext cx="808" cy="62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dash"/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en-US" sz="1800">
                  <a:latin typeface="Calibri"/>
                  <a:cs typeface="Calibri"/>
                </a:endParaRPr>
              </a:p>
            </p:txBody>
          </p:sp>
          <p:sp>
            <p:nvSpPr>
              <p:cNvPr id="18" name="Line 15">
                <a:extLst>
                  <a:ext uri="{FF2B5EF4-FFF2-40B4-BE49-F238E27FC236}">
                    <a16:creationId xmlns:a16="http://schemas.microsoft.com/office/drawing/2014/main" id="{15E85243-9516-342A-6C04-951F5515D8A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021" y="2400"/>
                <a:ext cx="291" cy="624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prstDash val="dash"/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en-US" sz="1800">
                  <a:latin typeface="Calibri"/>
                  <a:cs typeface="Calibri"/>
                </a:endParaRPr>
              </a:p>
            </p:txBody>
          </p:sp>
          <p:sp>
            <p:nvSpPr>
              <p:cNvPr id="19" name="Line 16">
                <a:extLst>
                  <a:ext uri="{FF2B5EF4-FFF2-40B4-BE49-F238E27FC236}">
                    <a16:creationId xmlns:a16="http://schemas.microsoft.com/office/drawing/2014/main" id="{27F91088-711A-A6C6-B0BF-BC782C04A68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12" y="2400"/>
                <a:ext cx="280" cy="624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en-US" sz="1800">
                  <a:latin typeface="Calibri"/>
                  <a:cs typeface="Calibri"/>
                </a:endParaRPr>
              </a:p>
            </p:txBody>
          </p:sp>
        </p:grpSp>
        <p:sp>
          <p:nvSpPr>
            <p:cNvPr id="20" name="Text Box 17">
              <a:extLst>
                <a:ext uri="{FF2B5EF4-FFF2-40B4-BE49-F238E27FC236}">
                  <a16:creationId xmlns:a16="http://schemas.microsoft.com/office/drawing/2014/main" id="{8BEF9654-AB9A-13A2-F88C-48A7B31D1EE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57650" y="2982516"/>
              <a:ext cx="285750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1800">
                  <a:latin typeface="Calibri"/>
                  <a:cs typeface="Calibri"/>
                </a:rPr>
                <a:t>a</a:t>
              </a:r>
            </a:p>
          </p:txBody>
        </p:sp>
        <p:sp>
          <p:nvSpPr>
            <p:cNvPr id="21" name="Text Box 18">
              <a:extLst>
                <a:ext uri="{FF2B5EF4-FFF2-40B4-BE49-F238E27FC236}">
                  <a16:creationId xmlns:a16="http://schemas.microsoft.com/office/drawing/2014/main" id="{87AF2B50-BA52-8A66-6720-3173A940968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57700" y="2457450"/>
              <a:ext cx="285750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1800" dirty="0">
                  <a:solidFill>
                    <a:srgbClr val="0000FF"/>
                  </a:solidFill>
                  <a:latin typeface="Calibri"/>
                  <a:cs typeface="Calibri"/>
                </a:rPr>
                <a:t>s</a:t>
              </a:r>
            </a:p>
          </p:txBody>
        </p:sp>
        <p:sp>
          <p:nvSpPr>
            <p:cNvPr id="22" name="Text Box 19">
              <a:extLst>
                <a:ext uri="{FF2B5EF4-FFF2-40B4-BE49-F238E27FC236}">
                  <a16:creationId xmlns:a16="http://schemas.microsoft.com/office/drawing/2014/main" id="{544A6E74-5267-723B-C949-10195EBAA33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43400" y="4686300"/>
              <a:ext cx="342900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r" rtl="1">
                <a:spcBef>
                  <a:spcPct val="50000"/>
                </a:spcBef>
              </a:pPr>
              <a:r>
                <a:rPr lang="en-US" sz="1800" dirty="0">
                  <a:solidFill>
                    <a:schemeClr val="accent2"/>
                  </a:solidFill>
                  <a:latin typeface="Calibri"/>
                  <a:cs typeface="Calibri"/>
                </a:rPr>
                <a:t>s</a:t>
              </a:r>
              <a:r>
                <a:rPr lang="ja-JP" altLang="en-US" sz="1800">
                  <a:solidFill>
                    <a:schemeClr val="accent2"/>
                  </a:solidFill>
                  <a:latin typeface="Calibri"/>
                  <a:cs typeface="Calibri"/>
                </a:rPr>
                <a:t>’</a:t>
              </a:r>
              <a:endParaRPr lang="en-US" sz="1800" dirty="0">
                <a:solidFill>
                  <a:schemeClr val="accent2"/>
                </a:solidFill>
                <a:latin typeface="Calibri"/>
                <a:cs typeface="Calibri"/>
              </a:endParaRPr>
            </a:p>
          </p:txBody>
        </p:sp>
        <p:sp>
          <p:nvSpPr>
            <p:cNvPr id="23" name="Text Box 20">
              <a:extLst>
                <a:ext uri="{FF2B5EF4-FFF2-40B4-BE49-F238E27FC236}">
                  <a16:creationId xmlns:a16="http://schemas.microsoft.com/office/drawing/2014/main" id="{B6FFB2B8-C634-B6C4-61AC-97BD20E4A5A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43350" y="3543300"/>
              <a:ext cx="571500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1800" dirty="0">
                  <a:solidFill>
                    <a:srgbClr val="008000"/>
                  </a:solidFill>
                  <a:latin typeface="Calibri"/>
                  <a:cs typeface="Calibri"/>
                </a:rPr>
                <a:t>s, a</a:t>
              </a:r>
            </a:p>
          </p:txBody>
        </p:sp>
        <p:grpSp>
          <p:nvGrpSpPr>
            <p:cNvPr id="24" name="Group 21">
              <a:extLst>
                <a:ext uri="{FF2B5EF4-FFF2-40B4-BE49-F238E27FC236}">
                  <a16:creationId xmlns:a16="http://schemas.microsoft.com/office/drawing/2014/main" id="{B8373E39-8717-4013-03A8-64C3404E332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00350" y="4972050"/>
              <a:ext cx="2800350" cy="400050"/>
              <a:chOff x="1584" y="1680"/>
              <a:chExt cx="2352" cy="336"/>
            </a:xfrm>
          </p:grpSpPr>
          <p:sp>
            <p:nvSpPr>
              <p:cNvPr id="25" name="Line 22">
                <a:extLst>
                  <a:ext uri="{FF2B5EF4-FFF2-40B4-BE49-F238E27FC236}">
                    <a16:creationId xmlns:a16="http://schemas.microsoft.com/office/drawing/2014/main" id="{CB40864B-BA4B-B89E-D985-08174D8A0E6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584" y="1680"/>
                <a:ext cx="1152" cy="33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dash"/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en-US" sz="1800">
                  <a:latin typeface="Calibri"/>
                  <a:cs typeface="Calibri"/>
                </a:endParaRPr>
              </a:p>
            </p:txBody>
          </p:sp>
          <p:sp>
            <p:nvSpPr>
              <p:cNvPr id="26" name="Line 23">
                <a:extLst>
                  <a:ext uri="{FF2B5EF4-FFF2-40B4-BE49-F238E27FC236}">
                    <a16:creationId xmlns:a16="http://schemas.microsoft.com/office/drawing/2014/main" id="{8F0C3E2E-E003-D54E-5F90-606FF686F2B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736" y="1680"/>
                <a:ext cx="1200" cy="28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dash"/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en-US" sz="1800">
                  <a:latin typeface="Calibri"/>
                  <a:cs typeface="Calibri"/>
                </a:endParaRPr>
              </a:p>
            </p:txBody>
          </p:sp>
          <p:sp>
            <p:nvSpPr>
              <p:cNvPr id="27" name="Line 24">
                <a:extLst>
                  <a:ext uri="{FF2B5EF4-FFF2-40B4-BE49-F238E27FC236}">
                    <a16:creationId xmlns:a16="http://schemas.microsoft.com/office/drawing/2014/main" id="{FE568EE3-3946-F7B0-B6C7-4F18B9CFFD4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304" y="1680"/>
                <a:ext cx="432" cy="33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en-US" sz="1800">
                  <a:latin typeface="Calibri"/>
                  <a:cs typeface="Calibri"/>
                </a:endParaRPr>
              </a:p>
            </p:txBody>
          </p:sp>
          <p:sp>
            <p:nvSpPr>
              <p:cNvPr id="28" name="Line 25">
                <a:extLst>
                  <a:ext uri="{FF2B5EF4-FFF2-40B4-BE49-F238E27FC236}">
                    <a16:creationId xmlns:a16="http://schemas.microsoft.com/office/drawing/2014/main" id="{50B56FB3-10B3-4208-715A-F6375FE5404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736" y="1680"/>
                <a:ext cx="432" cy="28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dash"/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en-US" sz="1800">
                  <a:latin typeface="Calibri"/>
                  <a:cs typeface="Calibri"/>
                </a:endParaRPr>
              </a:p>
            </p:txBody>
          </p:sp>
        </p:grpSp>
        <p:sp>
          <p:nvSpPr>
            <p:cNvPr id="29" name="Freeform 26">
              <a:extLst>
                <a:ext uri="{FF2B5EF4-FFF2-40B4-BE49-F238E27FC236}">
                  <a16:creationId xmlns:a16="http://schemas.microsoft.com/office/drawing/2014/main" id="{64480E3C-B1F6-965D-1CA6-7F00734AFA86}"/>
                </a:ext>
              </a:extLst>
            </p:cNvPr>
            <p:cNvSpPr>
              <a:spLocks/>
            </p:cNvSpPr>
            <p:nvPr/>
          </p:nvSpPr>
          <p:spPr bwMode="auto">
            <a:xfrm>
              <a:off x="4114800" y="3982641"/>
              <a:ext cx="1600200" cy="303609"/>
            </a:xfrm>
            <a:custGeom>
              <a:avLst/>
              <a:gdLst>
                <a:gd name="T0" fmla="*/ 0 w 1344"/>
                <a:gd name="T1" fmla="*/ 2147483647 h 255"/>
                <a:gd name="T2" fmla="*/ 2147483647 w 1344"/>
                <a:gd name="T3" fmla="*/ 2147483647 h 255"/>
                <a:gd name="T4" fmla="*/ 2147483647 w 1344"/>
                <a:gd name="T5" fmla="*/ 2147483647 h 255"/>
                <a:gd name="T6" fmla="*/ 0 60000 65536"/>
                <a:gd name="T7" fmla="*/ 0 60000 65536"/>
                <a:gd name="T8" fmla="*/ 0 60000 65536"/>
                <a:gd name="T9" fmla="*/ 0 w 1344"/>
                <a:gd name="T10" fmla="*/ 0 h 255"/>
                <a:gd name="T11" fmla="*/ 1344 w 1344"/>
                <a:gd name="T12" fmla="*/ 255 h 25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344" h="255">
                  <a:moveTo>
                    <a:pt x="0" y="255"/>
                  </a:moveTo>
                  <a:cubicBezTo>
                    <a:pt x="79" y="219"/>
                    <a:pt x="251" y="80"/>
                    <a:pt x="475" y="40"/>
                  </a:cubicBezTo>
                  <a:cubicBezTo>
                    <a:pt x="699" y="0"/>
                    <a:pt x="1199" y="19"/>
                    <a:pt x="1344" y="15"/>
                  </a:cubicBezTo>
                </a:path>
              </a:pathLst>
            </a:custGeom>
            <a:noFill/>
            <a:ln w="50800">
              <a:solidFill>
                <a:srgbClr val="C00000"/>
              </a:solidFill>
              <a:round/>
              <a:headEnd/>
              <a:tailEnd type="triangle" w="lg" len="lg"/>
            </a:ln>
          </p:spPr>
          <p:txBody>
            <a:bodyPr/>
            <a:lstStyle/>
            <a:p>
              <a:endParaRPr lang="en-US" sz="1800">
                <a:latin typeface="Calibri"/>
                <a:cs typeface="Calibri"/>
              </a:endParaRPr>
            </a:p>
          </p:txBody>
        </p:sp>
        <p:sp>
          <p:nvSpPr>
            <p:cNvPr id="30" name="Text Box 27">
              <a:extLst>
                <a:ext uri="{FF2B5EF4-FFF2-40B4-BE49-F238E27FC236}">
                  <a16:creationId xmlns:a16="http://schemas.microsoft.com/office/drawing/2014/main" id="{07164F28-CA63-7718-FE0F-F4291E48283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829299" y="3829050"/>
              <a:ext cx="2514601" cy="120032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1800" dirty="0">
                  <a:solidFill>
                    <a:srgbClr val="C00000"/>
                  </a:solidFill>
                  <a:latin typeface="Calibri"/>
                  <a:cs typeface="Calibri"/>
                </a:rPr>
                <a:t>(</a:t>
              </a:r>
              <a:r>
                <a:rPr lang="en-US" sz="1800" dirty="0" err="1">
                  <a:solidFill>
                    <a:srgbClr val="C00000"/>
                  </a:solidFill>
                  <a:latin typeface="Calibri"/>
                  <a:cs typeface="Calibri"/>
                </a:rPr>
                <a:t>s,a,s</a:t>
              </a:r>
              <a:r>
                <a:rPr lang="ja-JP" altLang="en-US" sz="1800" dirty="0">
                  <a:solidFill>
                    <a:srgbClr val="C00000"/>
                  </a:solidFill>
                  <a:latin typeface="Calibri"/>
                  <a:cs typeface="Calibri"/>
                </a:rPr>
                <a:t>’</a:t>
              </a:r>
              <a:r>
                <a:rPr lang="en-US" altLang="ja-JP" sz="1800" dirty="0">
                  <a:solidFill>
                    <a:srgbClr val="C00000"/>
                  </a:solidFill>
                  <a:latin typeface="Calibri"/>
                  <a:cs typeface="Calibri"/>
                </a:rPr>
                <a:t>) called a </a:t>
              </a:r>
              <a:r>
                <a:rPr lang="en-US" altLang="ja-JP" sz="1800" i="1" dirty="0">
                  <a:solidFill>
                    <a:srgbClr val="C00000"/>
                  </a:solidFill>
                  <a:latin typeface="Calibri"/>
                  <a:cs typeface="Calibri"/>
                </a:rPr>
                <a:t>transition</a:t>
              </a:r>
            </a:p>
            <a:p>
              <a:pPr>
                <a:spcBef>
                  <a:spcPct val="50000"/>
                </a:spcBef>
              </a:pPr>
              <a:r>
                <a:rPr lang="en-US" sz="1800" dirty="0">
                  <a:solidFill>
                    <a:srgbClr val="C00000"/>
                  </a:solidFill>
                  <a:latin typeface="Calibri"/>
                  <a:cs typeface="Calibri"/>
                </a:rPr>
                <a:t>T(</a:t>
              </a:r>
              <a:r>
                <a:rPr lang="en-US" sz="1800" dirty="0" err="1">
                  <a:solidFill>
                    <a:srgbClr val="C00000"/>
                  </a:solidFill>
                  <a:latin typeface="Calibri"/>
                  <a:cs typeface="Calibri"/>
                </a:rPr>
                <a:t>s,a,s</a:t>
              </a:r>
              <a:r>
                <a:rPr lang="ja-JP" altLang="en-US" sz="1800" dirty="0">
                  <a:solidFill>
                    <a:srgbClr val="C00000"/>
                  </a:solidFill>
                  <a:latin typeface="Calibri"/>
                  <a:cs typeface="Calibri"/>
                </a:rPr>
                <a:t>’</a:t>
              </a:r>
              <a:r>
                <a:rPr lang="en-US" altLang="ja-JP" sz="1800" dirty="0">
                  <a:solidFill>
                    <a:srgbClr val="C00000"/>
                  </a:solidFill>
                  <a:latin typeface="Calibri"/>
                  <a:cs typeface="Calibri"/>
                </a:rPr>
                <a:t>) = P(s</a:t>
              </a:r>
              <a:r>
                <a:rPr lang="ja-JP" altLang="en-US" sz="1800" dirty="0">
                  <a:solidFill>
                    <a:srgbClr val="C00000"/>
                  </a:solidFill>
                  <a:latin typeface="Calibri"/>
                  <a:cs typeface="Calibri"/>
                </a:rPr>
                <a:t>’</a:t>
              </a:r>
              <a:r>
                <a:rPr lang="en-US" altLang="ja-JP" sz="1800" dirty="0">
                  <a:solidFill>
                    <a:srgbClr val="C00000"/>
                  </a:solidFill>
                  <a:latin typeface="Calibri"/>
                  <a:cs typeface="Calibri"/>
                </a:rPr>
                <a:t>|</a:t>
              </a:r>
              <a:r>
                <a:rPr lang="en-US" altLang="ja-JP" sz="1800" dirty="0" err="1">
                  <a:solidFill>
                    <a:srgbClr val="C00000"/>
                  </a:solidFill>
                  <a:latin typeface="Calibri"/>
                  <a:cs typeface="Calibri"/>
                </a:rPr>
                <a:t>s,a</a:t>
              </a:r>
              <a:r>
                <a:rPr lang="en-US" altLang="ja-JP" sz="1800" dirty="0">
                  <a:solidFill>
                    <a:srgbClr val="C00000"/>
                  </a:solidFill>
                  <a:latin typeface="Calibri"/>
                  <a:cs typeface="Calibri"/>
                </a:rPr>
                <a:t>)</a:t>
              </a:r>
            </a:p>
            <a:p>
              <a:pPr>
                <a:spcBef>
                  <a:spcPct val="50000"/>
                </a:spcBef>
              </a:pPr>
              <a:r>
                <a:rPr lang="en-US" sz="1800" dirty="0">
                  <a:solidFill>
                    <a:srgbClr val="C00000"/>
                  </a:solidFill>
                  <a:latin typeface="Calibri"/>
                  <a:cs typeface="Calibri"/>
                </a:rPr>
                <a:t>R(</a:t>
              </a:r>
              <a:r>
                <a:rPr lang="en-US" sz="1800" dirty="0" err="1">
                  <a:solidFill>
                    <a:srgbClr val="C00000"/>
                  </a:solidFill>
                  <a:latin typeface="Calibri"/>
                  <a:cs typeface="Calibri"/>
                </a:rPr>
                <a:t>s,a,s</a:t>
              </a:r>
              <a:r>
                <a:rPr lang="ja-JP" altLang="en-US" sz="1800" dirty="0">
                  <a:solidFill>
                    <a:srgbClr val="C00000"/>
                  </a:solidFill>
                  <a:latin typeface="Calibri"/>
                  <a:cs typeface="Calibri"/>
                </a:rPr>
                <a:t>’</a:t>
              </a:r>
              <a:r>
                <a:rPr lang="en-US" altLang="ja-JP" sz="1800" dirty="0">
                  <a:solidFill>
                    <a:srgbClr val="C00000"/>
                  </a:solidFill>
                  <a:latin typeface="Calibri"/>
                  <a:cs typeface="Calibri"/>
                </a:rPr>
                <a:t>)</a:t>
              </a:r>
              <a:endParaRPr lang="en-US" sz="1800" dirty="0">
                <a:solidFill>
                  <a:srgbClr val="C00000"/>
                </a:solidFill>
                <a:latin typeface="Calibri"/>
                <a:cs typeface="Calibri"/>
              </a:endParaRPr>
            </a:p>
          </p:txBody>
        </p:sp>
        <p:sp>
          <p:nvSpPr>
            <p:cNvPr id="31" name="Text Box 28">
              <a:extLst>
                <a:ext uri="{FF2B5EF4-FFF2-40B4-BE49-F238E27FC236}">
                  <a16:creationId xmlns:a16="http://schemas.microsoft.com/office/drawing/2014/main" id="{49599D72-15B0-FBD3-AD55-9E512FC0273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71850" y="4171950"/>
              <a:ext cx="800100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1800">
                  <a:latin typeface="Calibri"/>
                  <a:cs typeface="Calibri"/>
                </a:rPr>
                <a:t>s,a,s</a:t>
              </a:r>
              <a:r>
                <a:rPr lang="ja-JP" altLang="en-US" sz="1800">
                  <a:latin typeface="Calibri"/>
                  <a:cs typeface="Calibri"/>
                </a:rPr>
                <a:t>’</a:t>
              </a:r>
              <a:endParaRPr lang="en-US" sz="1800">
                <a:latin typeface="Calibri"/>
                <a:cs typeface="Calibri"/>
              </a:endParaRPr>
            </a:p>
          </p:txBody>
        </p:sp>
        <p:sp>
          <p:nvSpPr>
            <p:cNvPr id="32" name="Freeform 29">
              <a:extLst>
                <a:ext uri="{FF2B5EF4-FFF2-40B4-BE49-F238E27FC236}">
                  <a16:creationId xmlns:a16="http://schemas.microsoft.com/office/drawing/2014/main" id="{C3E2F0DD-F119-2A89-E3B8-1495B1617A3D}"/>
                </a:ext>
              </a:extLst>
            </p:cNvPr>
            <p:cNvSpPr>
              <a:spLocks/>
            </p:cNvSpPr>
            <p:nvPr/>
          </p:nvSpPr>
          <p:spPr bwMode="auto">
            <a:xfrm>
              <a:off x="4749403" y="2583656"/>
              <a:ext cx="1079897" cy="102393"/>
            </a:xfrm>
            <a:custGeom>
              <a:avLst/>
              <a:gdLst>
                <a:gd name="T0" fmla="*/ 0 w 1387"/>
                <a:gd name="T1" fmla="*/ 2147483647 h 38"/>
                <a:gd name="T2" fmla="*/ 2147483647 w 1387"/>
                <a:gd name="T3" fmla="*/ 2147483647 h 38"/>
                <a:gd name="T4" fmla="*/ 2147483647 w 1387"/>
                <a:gd name="T5" fmla="*/ 0 h 38"/>
                <a:gd name="T6" fmla="*/ 0 60000 65536"/>
                <a:gd name="T7" fmla="*/ 0 60000 65536"/>
                <a:gd name="T8" fmla="*/ 0 60000 65536"/>
                <a:gd name="T9" fmla="*/ 0 w 1387"/>
                <a:gd name="T10" fmla="*/ 0 h 38"/>
                <a:gd name="T11" fmla="*/ 1387 w 1387"/>
                <a:gd name="T12" fmla="*/ 38 h 3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387" h="38">
                  <a:moveTo>
                    <a:pt x="0" y="38"/>
                  </a:moveTo>
                  <a:cubicBezTo>
                    <a:pt x="86" y="36"/>
                    <a:pt x="287" y="31"/>
                    <a:pt x="518" y="25"/>
                  </a:cubicBezTo>
                  <a:cubicBezTo>
                    <a:pt x="749" y="19"/>
                    <a:pt x="1242" y="4"/>
                    <a:pt x="1387" y="0"/>
                  </a:cubicBezTo>
                </a:path>
              </a:pathLst>
            </a:custGeom>
            <a:noFill/>
            <a:ln w="50800">
              <a:solidFill>
                <a:srgbClr val="0000FF"/>
              </a:solidFill>
              <a:round/>
              <a:headEnd/>
              <a:tailEnd type="triangle" w="lg" len="lg"/>
            </a:ln>
          </p:spPr>
          <p:txBody>
            <a:bodyPr/>
            <a:lstStyle/>
            <a:p>
              <a:endParaRPr lang="en-US" sz="1800">
                <a:latin typeface="Calibri"/>
                <a:cs typeface="Calibri"/>
              </a:endParaRPr>
            </a:p>
          </p:txBody>
        </p:sp>
        <p:sp>
          <p:nvSpPr>
            <p:cNvPr id="33" name="Text Box 30">
              <a:extLst>
                <a:ext uri="{FF2B5EF4-FFF2-40B4-BE49-F238E27FC236}">
                  <a16:creationId xmlns:a16="http://schemas.microsoft.com/office/drawing/2014/main" id="{F92CA9FF-AA40-12B9-0D1B-50D57D23886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972054" y="2429767"/>
              <a:ext cx="1285996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1800" dirty="0">
                  <a:solidFill>
                    <a:srgbClr val="0000FF"/>
                  </a:solidFill>
                  <a:latin typeface="Calibri"/>
                  <a:cs typeface="Calibri"/>
                </a:rPr>
                <a:t>s is a </a:t>
              </a:r>
              <a:r>
                <a:rPr lang="en-US" sz="1800" i="1" dirty="0">
                  <a:solidFill>
                    <a:srgbClr val="0000FF"/>
                  </a:solidFill>
                  <a:latin typeface="Calibri"/>
                  <a:cs typeface="Calibri"/>
                </a:rPr>
                <a:t>state</a:t>
              </a:r>
            </a:p>
          </p:txBody>
        </p:sp>
        <p:sp>
          <p:nvSpPr>
            <p:cNvPr id="34" name="Freeform 31">
              <a:extLst>
                <a:ext uri="{FF2B5EF4-FFF2-40B4-BE49-F238E27FC236}">
                  <a16:creationId xmlns:a16="http://schemas.microsoft.com/office/drawing/2014/main" id="{C4E60208-4B2E-C106-FC4C-40E90F7FCC8B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2286000" y="3657600"/>
              <a:ext cx="1257300" cy="57150"/>
            </a:xfrm>
            <a:custGeom>
              <a:avLst/>
              <a:gdLst>
                <a:gd name="T0" fmla="*/ 0 w 1387"/>
                <a:gd name="T1" fmla="*/ 2147483647 h 38"/>
                <a:gd name="T2" fmla="*/ 2147483647 w 1387"/>
                <a:gd name="T3" fmla="*/ 2147483647 h 38"/>
                <a:gd name="T4" fmla="*/ 2147483647 w 1387"/>
                <a:gd name="T5" fmla="*/ 0 h 38"/>
                <a:gd name="T6" fmla="*/ 0 60000 65536"/>
                <a:gd name="T7" fmla="*/ 0 60000 65536"/>
                <a:gd name="T8" fmla="*/ 0 60000 65536"/>
                <a:gd name="T9" fmla="*/ 0 w 1387"/>
                <a:gd name="T10" fmla="*/ 0 h 38"/>
                <a:gd name="T11" fmla="*/ 1387 w 1387"/>
                <a:gd name="T12" fmla="*/ 38 h 3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387" h="38">
                  <a:moveTo>
                    <a:pt x="0" y="38"/>
                  </a:moveTo>
                  <a:cubicBezTo>
                    <a:pt x="86" y="36"/>
                    <a:pt x="287" y="31"/>
                    <a:pt x="518" y="25"/>
                  </a:cubicBezTo>
                  <a:cubicBezTo>
                    <a:pt x="749" y="19"/>
                    <a:pt x="1242" y="4"/>
                    <a:pt x="1387" y="0"/>
                  </a:cubicBezTo>
                </a:path>
              </a:pathLst>
            </a:custGeom>
            <a:noFill/>
            <a:ln w="50800">
              <a:solidFill>
                <a:srgbClr val="008000"/>
              </a:solidFill>
              <a:round/>
              <a:headEnd/>
              <a:tailEnd type="triangle" w="lg" len="lg"/>
            </a:ln>
          </p:spPr>
          <p:txBody>
            <a:bodyPr/>
            <a:lstStyle/>
            <a:p>
              <a:endParaRPr lang="en-US" sz="1800">
                <a:latin typeface="Calibri"/>
                <a:cs typeface="Calibri"/>
              </a:endParaRPr>
            </a:p>
          </p:txBody>
        </p:sp>
        <p:pic>
          <p:nvPicPr>
            <p:cNvPr id="35" name="Picture 3">
              <a:extLst>
                <a:ext uri="{FF2B5EF4-FFF2-40B4-BE49-F238E27FC236}">
                  <a16:creationId xmlns:a16="http://schemas.microsoft.com/office/drawing/2014/main" id="{6E391DBA-746B-4CE4-783D-C05EB44EC56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auto">
            <a:xfrm>
              <a:off x="7600950" y="4116462"/>
              <a:ext cx="1383404" cy="1196826"/>
            </a:xfrm>
            <a:prstGeom prst="rect">
              <a:avLst/>
            </a:prstGeom>
            <a:noFill/>
          </p:spPr>
        </p:pic>
        <p:pic>
          <p:nvPicPr>
            <p:cNvPr id="36" name="Picture 2">
              <a:extLst>
                <a:ext uri="{FF2B5EF4-FFF2-40B4-BE49-F238E27FC236}">
                  <a16:creationId xmlns:a16="http://schemas.microsoft.com/office/drawing/2014/main" id="{817B2092-4764-F0CB-5727-89C660C7993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auto">
            <a:xfrm>
              <a:off x="7429500" y="1943787"/>
              <a:ext cx="1543050" cy="1081961"/>
            </a:xfrm>
            <a:prstGeom prst="rect">
              <a:avLst/>
            </a:prstGeom>
            <a:noFill/>
          </p:spPr>
        </p:pic>
      </p:grp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CEA2E53-273F-5B32-8348-214E9FF3ED4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KR"/>
              <a:t>691</a:t>
            </a:r>
            <a:endParaRPr lang="en-KR" sz="4000" dirty="0"/>
          </a:p>
        </p:txBody>
      </p:sp>
    </p:spTree>
    <p:extLst>
      <p:ext uri="{BB962C8B-B14F-4D97-AF65-F5344CB8AC3E}">
        <p14:creationId xmlns:p14="http://schemas.microsoft.com/office/powerpoint/2010/main" val="178584474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EBB616-A3DE-4E86-FE76-32B13ADE67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704AF3-9879-A1D5-C177-ADE76540E0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Utilities of Sequences</a:t>
            </a:r>
            <a:endParaRPr lang="en-KR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3B4D4AD-C2DF-C84B-2139-E9D164763855}"/>
              </a:ext>
            </a:extLst>
          </p:cNvPr>
          <p:cNvSpPr/>
          <p:nvPr/>
        </p:nvSpPr>
        <p:spPr>
          <a:xfrm>
            <a:off x="7067791" y="4928056"/>
            <a:ext cx="2076209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800" dirty="0">
                <a:solidFill>
                  <a:schemeClr val="bg1">
                    <a:lumMod val="65000"/>
                  </a:schemeClr>
                </a:solidFill>
                <a:cs typeface="Calibri"/>
              </a:rPr>
              <a:t>Adapted from CS188 of Klein and </a:t>
            </a:r>
            <a:r>
              <a:rPr lang="en-US" sz="800" dirty="0" err="1">
                <a:solidFill>
                  <a:schemeClr val="bg1">
                    <a:lumMod val="65000"/>
                  </a:schemeClr>
                </a:solidFill>
                <a:cs typeface="Calibri"/>
              </a:rPr>
              <a:t>Abbeel</a:t>
            </a:r>
            <a:endParaRPr lang="en-KR" sz="8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430F9FF-38E9-6816-00B6-86CDF22D84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618654" y="1017725"/>
            <a:ext cx="5906691" cy="3749713"/>
          </a:xfrm>
          <a:prstGeom prst="rect">
            <a:avLst/>
          </a:prstGeom>
          <a:noFill/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D6A4A81-5C47-38BC-C8AA-EA719494235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KR"/>
              <a:t>691</a:t>
            </a:r>
            <a:endParaRPr lang="en-KR" sz="4000" dirty="0"/>
          </a:p>
        </p:txBody>
      </p:sp>
    </p:spTree>
    <p:extLst>
      <p:ext uri="{BB962C8B-B14F-4D97-AF65-F5344CB8AC3E}">
        <p14:creationId xmlns:p14="http://schemas.microsoft.com/office/powerpoint/2010/main" val="124470768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17DB2E-AA9F-978F-CC63-44E7643B33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13CFA6-B476-26B8-1B64-8F7661B778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Utilities of Sequences</a:t>
            </a:r>
            <a:endParaRPr lang="en-KR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A5BDE43-0C8D-2051-F749-4D94DC2BC4B0}"/>
              </a:ext>
            </a:extLst>
          </p:cNvPr>
          <p:cNvSpPr/>
          <p:nvPr/>
        </p:nvSpPr>
        <p:spPr>
          <a:xfrm>
            <a:off x="7067791" y="4928056"/>
            <a:ext cx="2076209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800" dirty="0">
                <a:solidFill>
                  <a:schemeClr val="bg1">
                    <a:lumMod val="65000"/>
                  </a:schemeClr>
                </a:solidFill>
                <a:cs typeface="Calibri"/>
              </a:rPr>
              <a:t>Adapted from CS188 of Klein and </a:t>
            </a:r>
            <a:r>
              <a:rPr lang="en-US" sz="800" dirty="0" err="1">
                <a:solidFill>
                  <a:schemeClr val="bg1">
                    <a:lumMod val="65000"/>
                  </a:schemeClr>
                </a:solidFill>
                <a:cs typeface="Calibri"/>
              </a:rPr>
              <a:t>Abbeel</a:t>
            </a:r>
            <a:endParaRPr lang="en-KR" sz="800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028B6C3-161D-4878-A55F-F956122406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What preferences should an agent have over reward sequences?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More or less?     [1, 2, 2]     or     [2, 3, 4]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Now or later?     [0, 0, 1]     or     [1, 0, 0]</a:t>
            </a:r>
          </a:p>
          <a:p>
            <a:pPr marL="114300" indent="0">
              <a:buNone/>
            </a:pPr>
            <a:endParaRPr lang="en-US" dirty="0">
              <a:solidFill>
                <a:schemeClr val="tx1"/>
              </a:solidFill>
            </a:endParaRPr>
          </a:p>
          <a:p>
            <a:pPr marL="114300" indent="0">
              <a:buNone/>
            </a:pPr>
            <a:endParaRPr lang="en-KR" dirty="0">
              <a:solidFill>
                <a:schemeClr val="tx1"/>
              </a:solidFill>
            </a:endParaRPr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DBCAC830-75F6-AC05-DAAE-D8C5D2C572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168156" y="2310581"/>
            <a:ext cx="3897553" cy="2474263"/>
          </a:xfrm>
          <a:prstGeom prst="rect">
            <a:avLst/>
          </a:prstGeom>
          <a:noFill/>
        </p:spPr>
      </p:pic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920D3B7-CFCD-21D5-5E4C-BF9DE19D386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KR"/>
              <a:t>691</a:t>
            </a:r>
            <a:endParaRPr lang="en-KR" sz="4000" dirty="0"/>
          </a:p>
        </p:txBody>
      </p:sp>
    </p:spTree>
    <p:extLst>
      <p:ext uri="{BB962C8B-B14F-4D97-AF65-F5344CB8AC3E}">
        <p14:creationId xmlns:p14="http://schemas.microsoft.com/office/powerpoint/2010/main" val="13274908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0846D3-9CDC-8A02-3478-76100D3466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B8251C-346F-DB76-22BF-EF6C57827B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Discounting</a:t>
            </a:r>
            <a:endParaRPr lang="en-KR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5721A7F-67DD-81A5-42B4-40A237D1B2C8}"/>
              </a:ext>
            </a:extLst>
          </p:cNvPr>
          <p:cNvSpPr/>
          <p:nvPr/>
        </p:nvSpPr>
        <p:spPr>
          <a:xfrm>
            <a:off x="7067791" y="4928056"/>
            <a:ext cx="2076209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800" dirty="0">
                <a:solidFill>
                  <a:schemeClr val="bg1">
                    <a:lumMod val="65000"/>
                  </a:schemeClr>
                </a:solidFill>
                <a:cs typeface="Calibri"/>
              </a:rPr>
              <a:t>Adapted from CS188 of Klein and </a:t>
            </a:r>
            <a:r>
              <a:rPr lang="en-US" sz="800" dirty="0" err="1">
                <a:solidFill>
                  <a:schemeClr val="bg1">
                    <a:lumMod val="65000"/>
                  </a:schemeClr>
                </a:solidFill>
                <a:cs typeface="Calibri"/>
              </a:rPr>
              <a:t>Abbeel</a:t>
            </a:r>
            <a:endParaRPr lang="en-KR" sz="800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13E0E48-A2A4-F385-6423-241E0274376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It’s reasonable to maximize the sum of rewards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It’s also reasonable to prefer rewards now to rewards later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One solution: values of rewards decay exponentially</a:t>
            </a:r>
          </a:p>
          <a:p>
            <a:endParaRPr lang="en-KR" dirty="0">
              <a:solidFill>
                <a:schemeClr val="tx1"/>
              </a:solidFill>
            </a:endParaRPr>
          </a:p>
        </p:txBody>
      </p:sp>
      <p:pic>
        <p:nvPicPr>
          <p:cNvPr id="3" name="Picture 3" descr="C:\Users\Dan\Dropbox\Office\CS 188\Ketrina Art\MDPs\Discounting.png">
            <a:extLst>
              <a:ext uri="{FF2B5EF4-FFF2-40B4-BE49-F238E27FC236}">
                <a16:creationId xmlns:a16="http://schemas.microsoft.com/office/drawing/2014/main" id="{4B49179A-5EDB-375D-FC83-15E38613E5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/>
          <a:srcRect l="73764" t="76543" r="1569"/>
          <a:stretch>
            <a:fillRect/>
          </a:stretch>
        </p:blipFill>
        <p:spPr bwMode="auto">
          <a:xfrm>
            <a:off x="5312802" y="3078726"/>
            <a:ext cx="1712786" cy="1085850"/>
          </a:xfrm>
          <a:prstGeom prst="rect">
            <a:avLst/>
          </a:prstGeom>
          <a:noFill/>
        </p:spPr>
      </p:pic>
      <p:pic>
        <p:nvPicPr>
          <p:cNvPr id="5" name="Picture 3">
            <a:extLst>
              <a:ext uri="{FF2B5EF4-FFF2-40B4-BE49-F238E27FC236}">
                <a16:creationId xmlns:a16="http://schemas.microsoft.com/office/drawing/2014/main" id="{945C2EE1-5D6E-0278-37D1-E22FB043C5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056240" y="2737884"/>
            <a:ext cx="1712786" cy="1481785"/>
          </a:xfrm>
          <a:prstGeom prst="rect">
            <a:avLst/>
          </a:prstGeom>
          <a:noFill/>
        </p:spPr>
      </p:pic>
      <p:pic>
        <p:nvPicPr>
          <p:cNvPr id="7" name="Picture 3" descr="C:\Users\Dan\Dropbox\Office\CS 188\Ketrina Art\MDPs\Discounting.png">
            <a:extLst>
              <a:ext uri="{FF2B5EF4-FFF2-40B4-BE49-F238E27FC236}">
                <a16:creationId xmlns:a16="http://schemas.microsoft.com/office/drawing/2014/main" id="{C2E1E594-D06E-CE2A-3918-AEF45655E6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/>
          <a:srcRect l="73764" t="38272" r="1569" b="35802"/>
          <a:stretch>
            <a:fillRect/>
          </a:stretch>
        </p:blipFill>
        <p:spPr bwMode="auto">
          <a:xfrm>
            <a:off x="3641493" y="2907276"/>
            <a:ext cx="1712786" cy="1200150"/>
          </a:xfrm>
          <a:prstGeom prst="rect">
            <a:avLst/>
          </a:prstGeom>
          <a:noFill/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B6D66A7-8464-B3ED-ED1F-75682F131366}"/>
              </a:ext>
            </a:extLst>
          </p:cNvPr>
          <p:cNvSpPr txBox="1"/>
          <p:nvPr/>
        </p:nvSpPr>
        <p:spPr>
          <a:xfrm>
            <a:off x="2056240" y="4678926"/>
            <a:ext cx="15430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Pontano Sans" pitchFamily="2" charset="77"/>
              </a:rPr>
              <a:t>Worth Now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A21FEEC-A2E4-A41D-02F4-89E899F234B4}"/>
              </a:ext>
            </a:extLst>
          </p:cNvPr>
          <p:cNvSpPr txBox="1"/>
          <p:nvPr/>
        </p:nvSpPr>
        <p:spPr>
          <a:xfrm>
            <a:off x="3525479" y="4678926"/>
            <a:ext cx="18288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Pontano Sans" pitchFamily="2" charset="77"/>
              </a:rPr>
              <a:t>Worth Next Step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F3CAC9F-6AE4-BE6A-4D98-C67537E036AF}"/>
              </a:ext>
            </a:extLst>
          </p:cNvPr>
          <p:cNvSpPr txBox="1"/>
          <p:nvPr/>
        </p:nvSpPr>
        <p:spPr>
          <a:xfrm>
            <a:off x="5139638" y="4678926"/>
            <a:ext cx="2286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Pontano Sans" pitchFamily="2" charset="77"/>
              </a:rPr>
              <a:t>Worth In Two Steps</a:t>
            </a:r>
          </a:p>
        </p:txBody>
      </p:sp>
      <p:pic>
        <p:nvPicPr>
          <p:cNvPr id="12" name="Picture 11" descr="txp_fig">
            <a:extLst>
              <a:ext uri="{FF2B5EF4-FFF2-40B4-BE49-F238E27FC236}">
                <a16:creationId xmlns:a16="http://schemas.microsoft.com/office/drawing/2014/main" id="{D7D6A469-8094-79DD-4B4B-451572D8F623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7" cstate="print"/>
          <a:stretch>
            <a:fillRect/>
          </a:stretch>
        </p:blipFill>
        <p:spPr bwMode="auto">
          <a:xfrm>
            <a:off x="2742040" y="4185783"/>
            <a:ext cx="158354" cy="263923"/>
          </a:xfrm>
          <a:prstGeom prst="rect">
            <a:avLst/>
          </a:prstGeom>
          <a:noFill/>
          <a:ln/>
          <a:effectLst/>
        </p:spPr>
      </p:pic>
      <p:pic>
        <p:nvPicPr>
          <p:cNvPr id="13" name="Picture 12" descr="txp_fig">
            <a:extLst>
              <a:ext uri="{FF2B5EF4-FFF2-40B4-BE49-F238E27FC236}">
                <a16:creationId xmlns:a16="http://schemas.microsoft.com/office/drawing/2014/main" id="{A749DCD7-AF2B-BB3F-9BF1-D86A7E4E1207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8" cstate="print"/>
          <a:stretch>
            <a:fillRect/>
          </a:stretch>
        </p:blipFill>
        <p:spPr bwMode="auto">
          <a:xfrm>
            <a:off x="4382729" y="4261563"/>
            <a:ext cx="210516" cy="245252"/>
          </a:xfrm>
          <a:prstGeom prst="rect">
            <a:avLst/>
          </a:prstGeom>
          <a:noFill/>
          <a:ln/>
          <a:effectLst/>
        </p:spPr>
      </p:pic>
      <p:pic>
        <p:nvPicPr>
          <p:cNvPr id="14" name="Picture 13" descr="txp_fig">
            <a:extLst>
              <a:ext uri="{FF2B5EF4-FFF2-40B4-BE49-F238E27FC236}">
                <a16:creationId xmlns:a16="http://schemas.microsoft.com/office/drawing/2014/main" id="{884FB91C-DF09-E9F4-D74C-133075ABBCE5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9" cstate="print"/>
          <a:stretch>
            <a:fillRect/>
          </a:stretch>
        </p:blipFill>
        <p:spPr bwMode="auto">
          <a:xfrm>
            <a:off x="5996712" y="4107427"/>
            <a:ext cx="385988" cy="420695"/>
          </a:xfrm>
          <a:prstGeom prst="rect">
            <a:avLst/>
          </a:prstGeom>
          <a:noFill/>
          <a:ln/>
          <a:effectLst/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B259E54-1816-7D0C-A84E-B354D4E52CF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KR"/>
              <a:t>691</a:t>
            </a:r>
            <a:endParaRPr lang="en-KR" sz="4000" dirty="0"/>
          </a:p>
        </p:txBody>
      </p:sp>
    </p:spTree>
    <p:extLst>
      <p:ext uri="{BB962C8B-B14F-4D97-AF65-F5344CB8AC3E}">
        <p14:creationId xmlns:p14="http://schemas.microsoft.com/office/powerpoint/2010/main" val="925441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0" grpId="0"/>
      <p:bldP spid="11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991257-AB09-CFA1-4385-6C9654D1C8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0EF116-D7EA-4B75-90CC-1663B8AAC8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ＭＳ Ｐゴシック" pitchFamily="34" charset="-128"/>
              </a:rPr>
              <a:t>Discounting</a:t>
            </a:r>
            <a:endParaRPr lang="en-KR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8681ACD-AB49-E745-80AF-358A3E0D29F5}"/>
              </a:ext>
            </a:extLst>
          </p:cNvPr>
          <p:cNvSpPr/>
          <p:nvPr/>
        </p:nvSpPr>
        <p:spPr>
          <a:xfrm>
            <a:off x="7067791" y="4928056"/>
            <a:ext cx="2076209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800" dirty="0">
                <a:solidFill>
                  <a:schemeClr val="bg1">
                    <a:lumMod val="65000"/>
                  </a:schemeClr>
                </a:solidFill>
                <a:cs typeface="Calibri"/>
              </a:rPr>
              <a:t>Adapted from CS188 of Klein and </a:t>
            </a:r>
            <a:r>
              <a:rPr lang="en-US" sz="800" dirty="0" err="1">
                <a:solidFill>
                  <a:schemeClr val="bg1">
                    <a:lumMod val="65000"/>
                  </a:schemeClr>
                </a:solidFill>
                <a:cs typeface="Calibri"/>
              </a:rPr>
              <a:t>Abbeel</a:t>
            </a:r>
            <a:endParaRPr lang="en-KR" sz="800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84F359A-34C8-E231-1F29-37F1FD81DF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1152475"/>
            <a:ext cx="4959109" cy="34164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dirty="0">
                <a:solidFill>
                  <a:schemeClr val="tx1"/>
                </a:solidFill>
                <a:ea typeface="ＭＳ Ｐゴシック" pitchFamily="34" charset="-128"/>
              </a:rPr>
              <a:t>How to discount?</a:t>
            </a:r>
          </a:p>
          <a:p>
            <a:pPr lvl="1">
              <a:lnSpc>
                <a:spcPct val="100000"/>
              </a:lnSpc>
            </a:pPr>
            <a:r>
              <a:rPr lang="en-US" sz="1600" dirty="0">
                <a:solidFill>
                  <a:schemeClr val="tx1"/>
                </a:solidFill>
                <a:ea typeface="ＭＳ Ｐゴシック" pitchFamily="34" charset="-128"/>
              </a:rPr>
              <a:t>Each time we descend a level, we multiply the discount once</a:t>
            </a:r>
          </a:p>
          <a:p>
            <a:pPr lvl="1">
              <a:lnSpc>
                <a:spcPct val="100000"/>
              </a:lnSpc>
            </a:pPr>
            <a:endParaRPr lang="en-US" sz="500" dirty="0">
              <a:solidFill>
                <a:schemeClr val="tx1"/>
              </a:solidFill>
              <a:ea typeface="ＭＳ Ｐゴシック" pitchFamily="34" charset="-128"/>
            </a:endParaRPr>
          </a:p>
          <a:p>
            <a:pPr>
              <a:lnSpc>
                <a:spcPct val="100000"/>
              </a:lnSpc>
            </a:pPr>
            <a:r>
              <a:rPr lang="en-US" dirty="0">
                <a:solidFill>
                  <a:schemeClr val="tx1"/>
                </a:solidFill>
                <a:ea typeface="ＭＳ Ｐゴシック" pitchFamily="34" charset="-128"/>
              </a:rPr>
              <a:t>Why discount?</a:t>
            </a:r>
            <a:endParaRPr lang="en-US" dirty="0">
              <a:solidFill>
                <a:schemeClr val="tx1"/>
              </a:solidFill>
              <a:ea typeface="ＭＳ Ｐゴシック" pitchFamily="34" charset="-128"/>
              <a:sym typeface="Symbol" pitchFamily="18" charset="2"/>
            </a:endParaRP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en-US" sz="1600" dirty="0">
                <a:solidFill>
                  <a:schemeClr val="tx1"/>
                </a:solidFill>
                <a:ea typeface="ＭＳ Ｐゴシック" pitchFamily="34" charset="-128"/>
                <a:sym typeface="Symbol" pitchFamily="18" charset="2"/>
              </a:rPr>
              <a:t>Sooner rewards probably do have higher utility than later rewards</a:t>
            </a: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en-US" sz="1600" dirty="0">
                <a:solidFill>
                  <a:schemeClr val="tx1"/>
                </a:solidFill>
                <a:ea typeface="ＭＳ Ｐゴシック" pitchFamily="34" charset="-128"/>
                <a:sym typeface="Symbol" pitchFamily="18" charset="2"/>
              </a:rPr>
              <a:t>Also helps our algorithms </a:t>
            </a:r>
            <a:r>
              <a:rPr lang="en-US" sz="1600" b="1" dirty="0">
                <a:solidFill>
                  <a:schemeClr val="tx1"/>
                </a:solidFill>
                <a:ea typeface="ＭＳ Ｐゴシック" pitchFamily="34" charset="-128"/>
                <a:sym typeface="Symbol" pitchFamily="18" charset="2"/>
              </a:rPr>
              <a:t>converge</a:t>
            </a:r>
          </a:p>
          <a:p>
            <a:pPr lvl="1">
              <a:lnSpc>
                <a:spcPct val="100000"/>
              </a:lnSpc>
            </a:pPr>
            <a:endParaRPr lang="en-US" sz="500" dirty="0">
              <a:solidFill>
                <a:schemeClr val="tx1"/>
              </a:solidFill>
              <a:ea typeface="ＭＳ Ｐゴシック" pitchFamily="34" charset="-128"/>
              <a:sym typeface="Symbol" pitchFamily="18" charset="2"/>
            </a:endParaRPr>
          </a:p>
          <a:p>
            <a:pPr>
              <a:lnSpc>
                <a:spcPct val="100000"/>
              </a:lnSpc>
            </a:pPr>
            <a:r>
              <a:rPr lang="en-US" dirty="0">
                <a:solidFill>
                  <a:schemeClr val="tx1"/>
                </a:solidFill>
                <a:ea typeface="ＭＳ Ｐゴシック" pitchFamily="34" charset="-128"/>
                <a:sym typeface="Symbol" pitchFamily="18" charset="2"/>
              </a:rPr>
              <a:t>Example: discount of 0.5</a:t>
            </a: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en-US" sz="1600" dirty="0">
                <a:solidFill>
                  <a:schemeClr val="tx1"/>
                </a:solidFill>
                <a:ea typeface="ＭＳ Ｐゴシック" pitchFamily="34" charset="-128"/>
                <a:sym typeface="Symbol" pitchFamily="18" charset="2"/>
              </a:rPr>
              <a:t>U ( [ 1,2,3 ] ) = 1 * 1 + 0.5 * 2 + 0.25 * 3</a:t>
            </a: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en-US" sz="1600" dirty="0">
                <a:solidFill>
                  <a:schemeClr val="tx1"/>
                </a:solidFill>
                <a:ea typeface="ＭＳ Ｐゴシック" pitchFamily="34" charset="-128"/>
                <a:sym typeface="Symbol" pitchFamily="18" charset="2"/>
              </a:rPr>
              <a:t>U ( [ 1,2,3 ] )  &lt;  U ( [ 3,2,1 ] )</a:t>
            </a:r>
          </a:p>
          <a:p>
            <a:pPr>
              <a:lnSpc>
                <a:spcPct val="100000"/>
              </a:lnSpc>
            </a:pPr>
            <a:endParaRPr lang="en-KR" sz="1600" dirty="0">
              <a:solidFill>
                <a:schemeClr val="tx1"/>
              </a:solidFill>
            </a:endParaRPr>
          </a:p>
        </p:txBody>
      </p:sp>
      <p:grpSp>
        <p:nvGrpSpPr>
          <p:cNvPr id="73" name="Group 72">
            <a:extLst>
              <a:ext uri="{FF2B5EF4-FFF2-40B4-BE49-F238E27FC236}">
                <a16:creationId xmlns:a16="http://schemas.microsoft.com/office/drawing/2014/main" id="{77D494FB-C30E-BCF8-6E1F-254B79B98437}"/>
              </a:ext>
            </a:extLst>
          </p:cNvPr>
          <p:cNvGrpSpPr/>
          <p:nvPr/>
        </p:nvGrpSpPr>
        <p:grpSpPr>
          <a:xfrm>
            <a:off x="5213660" y="1074825"/>
            <a:ext cx="3714750" cy="3681413"/>
            <a:chOff x="4114800" y="1885950"/>
            <a:chExt cx="3714750" cy="3681413"/>
          </a:xfrm>
        </p:grpSpPr>
        <p:grpSp>
          <p:nvGrpSpPr>
            <p:cNvPr id="3" name="Group 4">
              <a:extLst>
                <a:ext uri="{FF2B5EF4-FFF2-40B4-BE49-F238E27FC236}">
                  <a16:creationId xmlns:a16="http://schemas.microsoft.com/office/drawing/2014/main" id="{070372A3-12AF-9110-2402-7C7428EA293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228160" y="1885950"/>
              <a:ext cx="1601390" cy="3681413"/>
              <a:chOff x="4085" y="960"/>
              <a:chExt cx="1345" cy="3092"/>
            </a:xfrm>
          </p:grpSpPr>
          <p:grpSp>
            <p:nvGrpSpPr>
              <p:cNvPr id="5" name="Group 5">
                <a:extLst>
                  <a:ext uri="{FF2B5EF4-FFF2-40B4-BE49-F238E27FC236}">
                    <a16:creationId xmlns:a16="http://schemas.microsoft.com/office/drawing/2014/main" id="{58E6A2D5-88AF-E452-4301-37C555A5EB5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085" y="960"/>
                <a:ext cx="1291" cy="1223"/>
                <a:chOff x="2400" y="1401"/>
                <a:chExt cx="1392" cy="1319"/>
              </a:xfrm>
            </p:grpSpPr>
            <p:sp>
              <p:nvSpPr>
                <p:cNvPr id="46" name="AutoShape 6">
                  <a:extLst>
                    <a:ext uri="{FF2B5EF4-FFF2-40B4-BE49-F238E27FC236}">
                      <a16:creationId xmlns:a16="http://schemas.microsoft.com/office/drawing/2014/main" id="{020F9AE1-01F4-41EF-4498-58E7C5357EA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070" y="1488"/>
                  <a:ext cx="155" cy="124"/>
                </a:xfrm>
                <a:prstGeom prst="triangle">
                  <a:avLst>
                    <a:gd name="adj" fmla="val 50000"/>
                  </a:avLst>
                </a:prstGeom>
                <a:solidFill>
                  <a:srgbClr val="0000FF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algn="ctr"/>
                  <a:endParaRPr lang="en-US" sz="1350"/>
                </a:p>
              </p:txBody>
            </p:sp>
            <p:grpSp>
              <p:nvGrpSpPr>
                <p:cNvPr id="47" name="Group 7">
                  <a:extLst>
                    <a:ext uri="{FF2B5EF4-FFF2-40B4-BE49-F238E27FC236}">
                      <a16:creationId xmlns:a16="http://schemas.microsoft.com/office/drawing/2014/main" id="{ED636810-DA28-9A9B-5668-5AACDEBE20A9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2529" y="1617"/>
                  <a:ext cx="1263" cy="361"/>
                  <a:chOff x="1584" y="1680"/>
                  <a:chExt cx="2352" cy="336"/>
                </a:xfrm>
              </p:grpSpPr>
              <p:sp>
                <p:nvSpPr>
                  <p:cNvPr id="60" name="Line 8">
                    <a:extLst>
                      <a:ext uri="{FF2B5EF4-FFF2-40B4-BE49-F238E27FC236}">
                        <a16:creationId xmlns:a16="http://schemas.microsoft.com/office/drawing/2014/main" id="{B1B7EB5F-5D95-7201-E82D-D55CEA42B81C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1584" y="1680"/>
                    <a:ext cx="1152" cy="336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prstDash val="dash"/>
                    <a:round/>
                    <a:headEnd/>
                    <a:tailEnd type="triangle" w="med" len="med"/>
                  </a:ln>
                </p:spPr>
                <p:txBody>
                  <a:bodyPr/>
                  <a:lstStyle/>
                  <a:p>
                    <a:endParaRPr lang="en-US" sz="1350"/>
                  </a:p>
                </p:txBody>
              </p:sp>
              <p:sp>
                <p:nvSpPr>
                  <p:cNvPr id="61" name="Line 9">
                    <a:extLst>
                      <a:ext uri="{FF2B5EF4-FFF2-40B4-BE49-F238E27FC236}">
                        <a16:creationId xmlns:a16="http://schemas.microsoft.com/office/drawing/2014/main" id="{96F9B7F1-2135-517F-CDB1-CFB38A4C9D1E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2736" y="1680"/>
                    <a:ext cx="1200" cy="288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prstDash val="dash"/>
                    <a:round/>
                    <a:headEnd/>
                    <a:tailEnd type="triangle" w="med" len="med"/>
                  </a:ln>
                </p:spPr>
                <p:txBody>
                  <a:bodyPr/>
                  <a:lstStyle/>
                  <a:p>
                    <a:endParaRPr lang="en-US" sz="1350"/>
                  </a:p>
                </p:txBody>
              </p:sp>
              <p:sp>
                <p:nvSpPr>
                  <p:cNvPr id="62" name="Line 10">
                    <a:extLst>
                      <a:ext uri="{FF2B5EF4-FFF2-40B4-BE49-F238E27FC236}">
                        <a16:creationId xmlns:a16="http://schemas.microsoft.com/office/drawing/2014/main" id="{DA09CD01-585F-DA5F-E7D6-22A4F386C797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2304" y="1680"/>
                    <a:ext cx="432" cy="336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 type="triangle" w="med" len="med"/>
                  </a:ln>
                </p:spPr>
                <p:txBody>
                  <a:bodyPr/>
                  <a:lstStyle/>
                  <a:p>
                    <a:endParaRPr lang="en-US" sz="1350"/>
                  </a:p>
                </p:txBody>
              </p:sp>
              <p:sp>
                <p:nvSpPr>
                  <p:cNvPr id="63" name="Line 11">
                    <a:extLst>
                      <a:ext uri="{FF2B5EF4-FFF2-40B4-BE49-F238E27FC236}">
                        <a16:creationId xmlns:a16="http://schemas.microsoft.com/office/drawing/2014/main" id="{F5561DA7-5807-3DFB-B66E-322A32DFC9F6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2736" y="1680"/>
                    <a:ext cx="432" cy="288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prstDash val="dash"/>
                    <a:round/>
                    <a:headEnd/>
                    <a:tailEnd type="triangle" w="med" len="med"/>
                  </a:ln>
                </p:spPr>
                <p:txBody>
                  <a:bodyPr/>
                  <a:lstStyle/>
                  <a:p>
                    <a:endParaRPr lang="en-US" sz="1350"/>
                  </a:p>
                </p:txBody>
              </p:sp>
            </p:grpSp>
            <p:sp>
              <p:nvSpPr>
                <p:cNvPr id="48" name="Oval 12">
                  <a:extLst>
                    <a:ext uri="{FF2B5EF4-FFF2-40B4-BE49-F238E27FC236}">
                      <a16:creationId xmlns:a16="http://schemas.microsoft.com/office/drawing/2014/main" id="{CA150205-D243-655A-40EA-132914672CD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864" y="1978"/>
                  <a:ext cx="129" cy="129"/>
                </a:xfrm>
                <a:prstGeom prst="ellipse">
                  <a:avLst/>
                </a:prstGeom>
                <a:solidFill>
                  <a:srgbClr val="008000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grpSp>
              <p:nvGrpSpPr>
                <p:cNvPr id="49" name="Group 13">
                  <a:extLst>
                    <a:ext uri="{FF2B5EF4-FFF2-40B4-BE49-F238E27FC236}">
                      <a16:creationId xmlns:a16="http://schemas.microsoft.com/office/drawing/2014/main" id="{F774279C-F413-0673-F499-E0A203C1965B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2400" y="2107"/>
                  <a:ext cx="1057" cy="386"/>
                  <a:chOff x="1536" y="2400"/>
                  <a:chExt cx="1584" cy="624"/>
                </a:xfrm>
              </p:grpSpPr>
              <p:sp>
                <p:nvSpPr>
                  <p:cNvPr id="56" name="Line 14">
                    <a:extLst>
                      <a:ext uri="{FF2B5EF4-FFF2-40B4-BE49-F238E27FC236}">
                        <a16:creationId xmlns:a16="http://schemas.microsoft.com/office/drawing/2014/main" id="{7A506D2A-5956-5AB6-6936-B53ECCFC184A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1536" y="2400"/>
                    <a:ext cx="776" cy="624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prstDash val="dash"/>
                    <a:round/>
                    <a:headEnd/>
                    <a:tailEnd type="triangle" w="med" len="med"/>
                  </a:ln>
                </p:spPr>
                <p:txBody>
                  <a:bodyPr/>
                  <a:lstStyle/>
                  <a:p>
                    <a:endParaRPr lang="en-US" sz="1350"/>
                  </a:p>
                </p:txBody>
              </p:sp>
              <p:sp>
                <p:nvSpPr>
                  <p:cNvPr id="57" name="Line 15">
                    <a:extLst>
                      <a:ext uri="{FF2B5EF4-FFF2-40B4-BE49-F238E27FC236}">
                        <a16:creationId xmlns:a16="http://schemas.microsoft.com/office/drawing/2014/main" id="{83A99D96-68B4-CCD3-ED2B-BB2498E87E15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2312" y="2400"/>
                    <a:ext cx="808" cy="624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prstDash val="dash"/>
                    <a:round/>
                    <a:headEnd/>
                    <a:tailEnd type="triangle" w="med" len="med"/>
                  </a:ln>
                </p:spPr>
                <p:txBody>
                  <a:bodyPr/>
                  <a:lstStyle/>
                  <a:p>
                    <a:endParaRPr lang="en-US" sz="1350"/>
                  </a:p>
                </p:txBody>
              </p:sp>
              <p:sp>
                <p:nvSpPr>
                  <p:cNvPr id="58" name="Line 16">
                    <a:extLst>
                      <a:ext uri="{FF2B5EF4-FFF2-40B4-BE49-F238E27FC236}">
                        <a16:creationId xmlns:a16="http://schemas.microsoft.com/office/drawing/2014/main" id="{FF86C6F5-9C1A-3509-9377-9D03279EE183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2021" y="2400"/>
                    <a:ext cx="291" cy="624"/>
                  </a:xfrm>
                  <a:prstGeom prst="line">
                    <a:avLst/>
                  </a:prstGeom>
                  <a:noFill/>
                  <a:ln w="9525">
                    <a:solidFill>
                      <a:schemeClr val="bg1"/>
                    </a:solidFill>
                    <a:prstDash val="dash"/>
                    <a:round/>
                    <a:headEnd/>
                    <a:tailEnd type="triangle" w="med" len="med"/>
                  </a:ln>
                </p:spPr>
                <p:txBody>
                  <a:bodyPr/>
                  <a:lstStyle/>
                  <a:p>
                    <a:endParaRPr lang="en-US" sz="1350"/>
                  </a:p>
                </p:txBody>
              </p:sp>
              <p:sp>
                <p:nvSpPr>
                  <p:cNvPr id="59" name="Line 17">
                    <a:extLst>
                      <a:ext uri="{FF2B5EF4-FFF2-40B4-BE49-F238E27FC236}">
                        <a16:creationId xmlns:a16="http://schemas.microsoft.com/office/drawing/2014/main" id="{7FE2F25B-510C-70EB-D151-5340F23D1153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2312" y="2400"/>
                    <a:ext cx="280" cy="624"/>
                  </a:xfrm>
                  <a:prstGeom prst="line">
                    <a:avLst/>
                  </a:prstGeom>
                  <a:noFill/>
                  <a:ln w="28575">
                    <a:solidFill>
                      <a:srgbClr val="C00000"/>
                    </a:solidFill>
                    <a:round/>
                    <a:headEnd/>
                    <a:tailEnd type="triangle" w="med" len="med"/>
                  </a:ln>
                </p:spPr>
                <p:txBody>
                  <a:bodyPr/>
                  <a:lstStyle/>
                  <a:p>
                    <a:endParaRPr lang="en-US" sz="1350"/>
                  </a:p>
                </p:txBody>
              </p:sp>
            </p:grpSp>
            <p:sp>
              <p:nvSpPr>
                <p:cNvPr id="50" name="Text Box 18">
                  <a:extLst>
                    <a:ext uri="{FF2B5EF4-FFF2-40B4-BE49-F238E27FC236}">
                      <a16:creationId xmlns:a16="http://schemas.microsoft.com/office/drawing/2014/main" id="{46885DB7-C8C8-4694-C710-3E9299C176CF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024" y="1680"/>
                  <a:ext cx="129" cy="272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>
                  <a:spAutoFit/>
                </a:bodyPr>
                <a:lstStyle/>
                <a:p>
                  <a:pPr>
                    <a:spcBef>
                      <a:spcPct val="50000"/>
                    </a:spcBef>
                  </a:pPr>
                  <a:endParaRPr lang="en-US" sz="1350"/>
                </a:p>
              </p:txBody>
            </p:sp>
            <p:sp>
              <p:nvSpPr>
                <p:cNvPr id="51" name="Text Box 19">
                  <a:extLst>
                    <a:ext uri="{FF2B5EF4-FFF2-40B4-BE49-F238E27FC236}">
                      <a16:creationId xmlns:a16="http://schemas.microsoft.com/office/drawing/2014/main" id="{71D07B25-BE98-3CFF-6A24-28828ACABDA0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216" y="1401"/>
                  <a:ext cx="129" cy="272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>
                  <a:spAutoFit/>
                </a:bodyPr>
                <a:lstStyle/>
                <a:p>
                  <a:pPr>
                    <a:spcBef>
                      <a:spcPct val="50000"/>
                    </a:spcBef>
                  </a:pPr>
                  <a:endParaRPr lang="en-US" sz="1350">
                    <a:solidFill>
                      <a:srgbClr val="CC0000"/>
                    </a:solidFill>
                  </a:endParaRPr>
                </a:p>
              </p:txBody>
            </p:sp>
            <p:sp>
              <p:nvSpPr>
                <p:cNvPr id="52" name="Text Box 20">
                  <a:extLst>
                    <a:ext uri="{FF2B5EF4-FFF2-40B4-BE49-F238E27FC236}">
                      <a16:creationId xmlns:a16="http://schemas.microsoft.com/office/drawing/2014/main" id="{8B4CFB77-B221-1DD0-3E94-D806F3AEE4C5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76" y="1920"/>
                  <a:ext cx="559" cy="272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>
                  <a:spAutoFit/>
                </a:bodyPr>
                <a:lstStyle/>
                <a:p>
                  <a:pPr>
                    <a:spcBef>
                      <a:spcPct val="50000"/>
                    </a:spcBef>
                  </a:pPr>
                  <a:endParaRPr lang="en-US" sz="1350">
                    <a:solidFill>
                      <a:srgbClr val="3333FF"/>
                    </a:solidFill>
                  </a:endParaRPr>
                </a:p>
              </p:txBody>
            </p:sp>
            <p:sp>
              <p:nvSpPr>
                <p:cNvPr id="53" name="Text Box 21">
                  <a:extLst>
                    <a:ext uri="{FF2B5EF4-FFF2-40B4-BE49-F238E27FC236}">
                      <a16:creationId xmlns:a16="http://schemas.microsoft.com/office/drawing/2014/main" id="{5A7E9102-7786-710A-A2A4-4B38DE0D119E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616" y="2261"/>
                  <a:ext cx="504" cy="272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>
                  <a:spAutoFit/>
                </a:bodyPr>
                <a:lstStyle/>
                <a:p>
                  <a:pPr>
                    <a:spcBef>
                      <a:spcPct val="50000"/>
                    </a:spcBef>
                  </a:pPr>
                  <a:endParaRPr lang="en-US" sz="1350"/>
                </a:p>
              </p:txBody>
            </p:sp>
            <p:sp>
              <p:nvSpPr>
                <p:cNvPr id="54" name="AutoShape 22">
                  <a:extLst>
                    <a:ext uri="{FF2B5EF4-FFF2-40B4-BE49-F238E27FC236}">
                      <a16:creationId xmlns:a16="http://schemas.microsoft.com/office/drawing/2014/main" id="{6363A962-A9BF-9769-09C5-187FDA9CCAB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019" y="2499"/>
                  <a:ext cx="154" cy="123"/>
                </a:xfrm>
                <a:prstGeom prst="triangle">
                  <a:avLst>
                    <a:gd name="adj" fmla="val 50000"/>
                  </a:avLst>
                </a:prstGeom>
                <a:solidFill>
                  <a:srgbClr val="CC0000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algn="r" rtl="1"/>
                  <a:endParaRPr lang="en-US" sz="1350"/>
                </a:p>
              </p:txBody>
            </p:sp>
            <p:sp>
              <p:nvSpPr>
                <p:cNvPr id="55" name="Text Box 23">
                  <a:extLst>
                    <a:ext uri="{FF2B5EF4-FFF2-40B4-BE49-F238E27FC236}">
                      <a16:creationId xmlns:a16="http://schemas.microsoft.com/office/drawing/2014/main" id="{F754596F-894B-69A8-B5FF-966B1803D510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173" y="2448"/>
                  <a:ext cx="235" cy="272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>
                  <a:spAutoFit/>
                </a:bodyPr>
                <a:lstStyle/>
                <a:p>
                  <a:pPr algn="r" rtl="1">
                    <a:spcBef>
                      <a:spcPct val="50000"/>
                    </a:spcBef>
                  </a:pPr>
                  <a:endParaRPr lang="en-US" sz="1350">
                    <a:solidFill>
                      <a:srgbClr val="CC0000"/>
                    </a:solidFill>
                  </a:endParaRPr>
                </a:p>
              </p:txBody>
            </p:sp>
          </p:grpSp>
          <p:grpSp>
            <p:nvGrpSpPr>
              <p:cNvPr id="7" name="Group 24">
                <a:extLst>
                  <a:ext uri="{FF2B5EF4-FFF2-40B4-BE49-F238E27FC236}">
                    <a16:creationId xmlns:a16="http://schemas.microsoft.com/office/drawing/2014/main" id="{52E9658C-FE3A-8D04-4EEB-CA1793FCDC4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flipH="1">
                <a:off x="4128" y="1895"/>
                <a:ext cx="1302" cy="1222"/>
                <a:chOff x="2400" y="1401"/>
                <a:chExt cx="1392" cy="1319"/>
              </a:xfrm>
            </p:grpSpPr>
            <p:sp>
              <p:nvSpPr>
                <p:cNvPr id="28" name="AutoShape 25">
                  <a:extLst>
                    <a:ext uri="{FF2B5EF4-FFF2-40B4-BE49-F238E27FC236}">
                      <a16:creationId xmlns:a16="http://schemas.microsoft.com/office/drawing/2014/main" id="{9D468301-7B2B-F3E1-6FFD-AE12187013E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070" y="1488"/>
                  <a:ext cx="155" cy="124"/>
                </a:xfrm>
                <a:prstGeom prst="triangle">
                  <a:avLst>
                    <a:gd name="adj" fmla="val 50000"/>
                  </a:avLst>
                </a:prstGeom>
                <a:solidFill>
                  <a:srgbClr val="0000FF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algn="ctr"/>
                  <a:endParaRPr lang="en-US" sz="1350"/>
                </a:p>
              </p:txBody>
            </p:sp>
            <p:grpSp>
              <p:nvGrpSpPr>
                <p:cNvPr id="29" name="Group 26">
                  <a:extLst>
                    <a:ext uri="{FF2B5EF4-FFF2-40B4-BE49-F238E27FC236}">
                      <a16:creationId xmlns:a16="http://schemas.microsoft.com/office/drawing/2014/main" id="{F635B6EF-CE71-F841-50E9-02D93D0E99F4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2529" y="1617"/>
                  <a:ext cx="1263" cy="361"/>
                  <a:chOff x="1584" y="1680"/>
                  <a:chExt cx="2352" cy="336"/>
                </a:xfrm>
              </p:grpSpPr>
              <p:sp>
                <p:nvSpPr>
                  <p:cNvPr id="42" name="Line 27">
                    <a:extLst>
                      <a:ext uri="{FF2B5EF4-FFF2-40B4-BE49-F238E27FC236}">
                        <a16:creationId xmlns:a16="http://schemas.microsoft.com/office/drawing/2014/main" id="{03F5478F-1E13-8FB2-BC51-802DFE012743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1584" y="1680"/>
                    <a:ext cx="1152" cy="336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prstDash val="dash"/>
                    <a:round/>
                    <a:headEnd/>
                    <a:tailEnd type="triangle" w="med" len="med"/>
                  </a:ln>
                </p:spPr>
                <p:txBody>
                  <a:bodyPr/>
                  <a:lstStyle/>
                  <a:p>
                    <a:endParaRPr lang="en-US" sz="1350"/>
                  </a:p>
                </p:txBody>
              </p:sp>
              <p:sp>
                <p:nvSpPr>
                  <p:cNvPr id="43" name="Line 28">
                    <a:extLst>
                      <a:ext uri="{FF2B5EF4-FFF2-40B4-BE49-F238E27FC236}">
                        <a16:creationId xmlns:a16="http://schemas.microsoft.com/office/drawing/2014/main" id="{C7F23230-AD26-381F-3046-C3FDD9D0CD2D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2736" y="1680"/>
                    <a:ext cx="1200" cy="288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prstDash val="dash"/>
                    <a:round/>
                    <a:headEnd/>
                    <a:tailEnd type="triangle" w="med" len="med"/>
                  </a:ln>
                </p:spPr>
                <p:txBody>
                  <a:bodyPr/>
                  <a:lstStyle/>
                  <a:p>
                    <a:endParaRPr lang="en-US" sz="1350"/>
                  </a:p>
                </p:txBody>
              </p:sp>
              <p:sp>
                <p:nvSpPr>
                  <p:cNvPr id="44" name="Line 29">
                    <a:extLst>
                      <a:ext uri="{FF2B5EF4-FFF2-40B4-BE49-F238E27FC236}">
                        <a16:creationId xmlns:a16="http://schemas.microsoft.com/office/drawing/2014/main" id="{3F7B47B4-D6AB-6D12-8159-72AADCE25990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2304" y="1680"/>
                    <a:ext cx="432" cy="336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 type="triangle" w="med" len="med"/>
                  </a:ln>
                </p:spPr>
                <p:txBody>
                  <a:bodyPr/>
                  <a:lstStyle/>
                  <a:p>
                    <a:endParaRPr lang="en-US" sz="1350"/>
                  </a:p>
                </p:txBody>
              </p:sp>
              <p:sp>
                <p:nvSpPr>
                  <p:cNvPr id="45" name="Line 30">
                    <a:extLst>
                      <a:ext uri="{FF2B5EF4-FFF2-40B4-BE49-F238E27FC236}">
                        <a16:creationId xmlns:a16="http://schemas.microsoft.com/office/drawing/2014/main" id="{C4E65DB1-7AD5-731E-C570-4C12F29F8D0C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2736" y="1680"/>
                    <a:ext cx="432" cy="288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prstDash val="dash"/>
                    <a:round/>
                    <a:headEnd/>
                    <a:tailEnd type="triangle" w="med" len="med"/>
                  </a:ln>
                </p:spPr>
                <p:txBody>
                  <a:bodyPr/>
                  <a:lstStyle/>
                  <a:p>
                    <a:endParaRPr lang="en-US" sz="1350"/>
                  </a:p>
                </p:txBody>
              </p:sp>
            </p:grpSp>
            <p:sp>
              <p:nvSpPr>
                <p:cNvPr id="30" name="Oval 31">
                  <a:extLst>
                    <a:ext uri="{FF2B5EF4-FFF2-40B4-BE49-F238E27FC236}">
                      <a16:creationId xmlns:a16="http://schemas.microsoft.com/office/drawing/2014/main" id="{7089D155-67B4-B039-E449-AC20E136A59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864" y="1978"/>
                  <a:ext cx="129" cy="129"/>
                </a:xfrm>
                <a:prstGeom prst="ellipse">
                  <a:avLst/>
                </a:prstGeom>
                <a:solidFill>
                  <a:srgbClr val="008000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grpSp>
              <p:nvGrpSpPr>
                <p:cNvPr id="31" name="Group 32">
                  <a:extLst>
                    <a:ext uri="{FF2B5EF4-FFF2-40B4-BE49-F238E27FC236}">
                      <a16:creationId xmlns:a16="http://schemas.microsoft.com/office/drawing/2014/main" id="{A5B09138-19D8-B7B5-CBA7-95FA97A54373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2400" y="2107"/>
                  <a:ext cx="1057" cy="386"/>
                  <a:chOff x="1536" y="2400"/>
                  <a:chExt cx="1584" cy="624"/>
                </a:xfrm>
              </p:grpSpPr>
              <p:sp>
                <p:nvSpPr>
                  <p:cNvPr id="38" name="Line 33">
                    <a:extLst>
                      <a:ext uri="{FF2B5EF4-FFF2-40B4-BE49-F238E27FC236}">
                        <a16:creationId xmlns:a16="http://schemas.microsoft.com/office/drawing/2014/main" id="{C4292B23-0E14-5ABA-8831-247483E220B6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1536" y="2400"/>
                    <a:ext cx="776" cy="624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prstDash val="dash"/>
                    <a:round/>
                    <a:headEnd/>
                    <a:tailEnd type="triangle" w="med" len="med"/>
                  </a:ln>
                </p:spPr>
                <p:txBody>
                  <a:bodyPr/>
                  <a:lstStyle/>
                  <a:p>
                    <a:endParaRPr lang="en-US" sz="1350"/>
                  </a:p>
                </p:txBody>
              </p:sp>
              <p:sp>
                <p:nvSpPr>
                  <p:cNvPr id="39" name="Line 34">
                    <a:extLst>
                      <a:ext uri="{FF2B5EF4-FFF2-40B4-BE49-F238E27FC236}">
                        <a16:creationId xmlns:a16="http://schemas.microsoft.com/office/drawing/2014/main" id="{97E56CF4-656D-6E1A-FD8C-A2AD0CD5C860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2312" y="2400"/>
                    <a:ext cx="808" cy="624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prstDash val="dash"/>
                    <a:round/>
                    <a:headEnd/>
                    <a:tailEnd type="triangle" w="med" len="med"/>
                  </a:ln>
                </p:spPr>
                <p:txBody>
                  <a:bodyPr/>
                  <a:lstStyle/>
                  <a:p>
                    <a:endParaRPr lang="en-US" sz="1350"/>
                  </a:p>
                </p:txBody>
              </p:sp>
              <p:sp>
                <p:nvSpPr>
                  <p:cNvPr id="40" name="Line 35">
                    <a:extLst>
                      <a:ext uri="{FF2B5EF4-FFF2-40B4-BE49-F238E27FC236}">
                        <a16:creationId xmlns:a16="http://schemas.microsoft.com/office/drawing/2014/main" id="{F2DA1959-F86D-A6EC-94BA-2C7D7B4A4CEF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2021" y="2400"/>
                    <a:ext cx="291" cy="624"/>
                  </a:xfrm>
                  <a:prstGeom prst="line">
                    <a:avLst/>
                  </a:prstGeom>
                  <a:noFill/>
                  <a:ln w="9525">
                    <a:solidFill>
                      <a:schemeClr val="bg1"/>
                    </a:solidFill>
                    <a:prstDash val="dash"/>
                    <a:round/>
                    <a:headEnd/>
                    <a:tailEnd type="triangle" w="med" len="med"/>
                  </a:ln>
                </p:spPr>
                <p:txBody>
                  <a:bodyPr/>
                  <a:lstStyle/>
                  <a:p>
                    <a:endParaRPr lang="en-US" sz="1350"/>
                  </a:p>
                </p:txBody>
              </p:sp>
              <p:sp>
                <p:nvSpPr>
                  <p:cNvPr id="41" name="Line 36">
                    <a:extLst>
                      <a:ext uri="{FF2B5EF4-FFF2-40B4-BE49-F238E27FC236}">
                        <a16:creationId xmlns:a16="http://schemas.microsoft.com/office/drawing/2014/main" id="{8B806E8A-B208-1FDC-EAAB-02B8D1CD6659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2312" y="2400"/>
                    <a:ext cx="280" cy="624"/>
                  </a:xfrm>
                  <a:prstGeom prst="line">
                    <a:avLst/>
                  </a:prstGeom>
                  <a:noFill/>
                  <a:ln w="28575">
                    <a:solidFill>
                      <a:srgbClr val="C00000"/>
                    </a:solidFill>
                    <a:round/>
                    <a:headEnd/>
                    <a:tailEnd type="triangle" w="med" len="med"/>
                  </a:ln>
                </p:spPr>
                <p:txBody>
                  <a:bodyPr/>
                  <a:lstStyle/>
                  <a:p>
                    <a:endParaRPr lang="en-US" sz="1350"/>
                  </a:p>
                </p:txBody>
              </p:sp>
            </p:grpSp>
            <p:sp>
              <p:nvSpPr>
                <p:cNvPr id="32" name="Text Box 37">
                  <a:extLst>
                    <a:ext uri="{FF2B5EF4-FFF2-40B4-BE49-F238E27FC236}">
                      <a16:creationId xmlns:a16="http://schemas.microsoft.com/office/drawing/2014/main" id="{A5F9BB6A-A1DA-0151-C8D8-2C109C17B480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024" y="1680"/>
                  <a:ext cx="129" cy="272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>
                  <a:spAutoFit/>
                </a:bodyPr>
                <a:lstStyle/>
                <a:p>
                  <a:pPr>
                    <a:spcBef>
                      <a:spcPct val="50000"/>
                    </a:spcBef>
                  </a:pPr>
                  <a:endParaRPr lang="en-US" sz="1350"/>
                </a:p>
              </p:txBody>
            </p:sp>
            <p:sp>
              <p:nvSpPr>
                <p:cNvPr id="33" name="Text Box 38">
                  <a:extLst>
                    <a:ext uri="{FF2B5EF4-FFF2-40B4-BE49-F238E27FC236}">
                      <a16:creationId xmlns:a16="http://schemas.microsoft.com/office/drawing/2014/main" id="{81693C20-5BF6-8629-ABDA-A0AE6E41E7D2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216" y="1401"/>
                  <a:ext cx="129" cy="272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>
                  <a:spAutoFit/>
                </a:bodyPr>
                <a:lstStyle/>
                <a:p>
                  <a:pPr>
                    <a:spcBef>
                      <a:spcPct val="50000"/>
                    </a:spcBef>
                  </a:pPr>
                  <a:endParaRPr lang="en-US" sz="1350">
                    <a:solidFill>
                      <a:srgbClr val="CC0000"/>
                    </a:solidFill>
                  </a:endParaRPr>
                </a:p>
              </p:txBody>
            </p:sp>
            <p:sp>
              <p:nvSpPr>
                <p:cNvPr id="34" name="Text Box 39">
                  <a:extLst>
                    <a:ext uri="{FF2B5EF4-FFF2-40B4-BE49-F238E27FC236}">
                      <a16:creationId xmlns:a16="http://schemas.microsoft.com/office/drawing/2014/main" id="{CA0024A1-381E-4FF5-2AF3-D55C0929A6ED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76" y="1920"/>
                  <a:ext cx="559" cy="272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>
                  <a:spAutoFit/>
                </a:bodyPr>
                <a:lstStyle/>
                <a:p>
                  <a:pPr>
                    <a:spcBef>
                      <a:spcPct val="50000"/>
                    </a:spcBef>
                  </a:pPr>
                  <a:endParaRPr lang="en-US" sz="1350">
                    <a:solidFill>
                      <a:srgbClr val="3333FF"/>
                    </a:solidFill>
                  </a:endParaRPr>
                </a:p>
              </p:txBody>
            </p:sp>
            <p:sp>
              <p:nvSpPr>
                <p:cNvPr id="35" name="Text Box 40">
                  <a:extLst>
                    <a:ext uri="{FF2B5EF4-FFF2-40B4-BE49-F238E27FC236}">
                      <a16:creationId xmlns:a16="http://schemas.microsoft.com/office/drawing/2014/main" id="{C774714C-202F-53FC-289B-CDB2EB627BD5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616" y="2261"/>
                  <a:ext cx="504" cy="272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>
                  <a:spAutoFit/>
                </a:bodyPr>
                <a:lstStyle/>
                <a:p>
                  <a:pPr>
                    <a:spcBef>
                      <a:spcPct val="50000"/>
                    </a:spcBef>
                  </a:pPr>
                  <a:endParaRPr lang="en-US" sz="1350"/>
                </a:p>
              </p:txBody>
            </p:sp>
            <p:sp>
              <p:nvSpPr>
                <p:cNvPr id="36" name="AutoShape 41">
                  <a:extLst>
                    <a:ext uri="{FF2B5EF4-FFF2-40B4-BE49-F238E27FC236}">
                      <a16:creationId xmlns:a16="http://schemas.microsoft.com/office/drawing/2014/main" id="{7175F743-0E9C-DDFD-26BF-0ACADA7962C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019" y="2499"/>
                  <a:ext cx="154" cy="123"/>
                </a:xfrm>
                <a:prstGeom prst="triangle">
                  <a:avLst>
                    <a:gd name="adj" fmla="val 50000"/>
                  </a:avLst>
                </a:prstGeom>
                <a:solidFill>
                  <a:srgbClr val="CC0000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algn="r" rtl="1"/>
                  <a:endParaRPr lang="en-US" sz="1350"/>
                </a:p>
              </p:txBody>
            </p:sp>
            <p:sp>
              <p:nvSpPr>
                <p:cNvPr id="37" name="Text Box 42">
                  <a:extLst>
                    <a:ext uri="{FF2B5EF4-FFF2-40B4-BE49-F238E27FC236}">
                      <a16:creationId xmlns:a16="http://schemas.microsoft.com/office/drawing/2014/main" id="{92D410A7-1990-3493-9F96-F56D95C1FDE4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173" y="2448"/>
                  <a:ext cx="235" cy="272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>
                  <a:spAutoFit/>
                </a:bodyPr>
                <a:lstStyle/>
                <a:p>
                  <a:pPr algn="r" rtl="1">
                    <a:spcBef>
                      <a:spcPct val="50000"/>
                    </a:spcBef>
                  </a:pPr>
                  <a:endParaRPr lang="en-US" sz="1350">
                    <a:solidFill>
                      <a:srgbClr val="CC0000"/>
                    </a:solidFill>
                  </a:endParaRPr>
                </a:p>
              </p:txBody>
            </p:sp>
          </p:grpSp>
          <p:grpSp>
            <p:nvGrpSpPr>
              <p:cNvPr id="8" name="Group 43">
                <a:extLst>
                  <a:ext uri="{FF2B5EF4-FFF2-40B4-BE49-F238E27FC236}">
                    <a16:creationId xmlns:a16="http://schemas.microsoft.com/office/drawing/2014/main" id="{03286AC6-9E50-A57F-4A34-A6619E8BA71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085" y="2829"/>
                <a:ext cx="1291" cy="1223"/>
                <a:chOff x="2400" y="1401"/>
                <a:chExt cx="1392" cy="1319"/>
              </a:xfrm>
            </p:grpSpPr>
            <p:sp>
              <p:nvSpPr>
                <p:cNvPr id="10" name="AutoShape 44">
                  <a:extLst>
                    <a:ext uri="{FF2B5EF4-FFF2-40B4-BE49-F238E27FC236}">
                      <a16:creationId xmlns:a16="http://schemas.microsoft.com/office/drawing/2014/main" id="{4DE17C08-D79E-AEDA-DF3A-21027A96784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070" y="1488"/>
                  <a:ext cx="155" cy="124"/>
                </a:xfrm>
                <a:prstGeom prst="triangle">
                  <a:avLst>
                    <a:gd name="adj" fmla="val 50000"/>
                  </a:avLst>
                </a:prstGeom>
                <a:solidFill>
                  <a:srgbClr val="0000FF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algn="ctr"/>
                  <a:endParaRPr lang="en-US" sz="1350"/>
                </a:p>
              </p:txBody>
            </p:sp>
            <p:grpSp>
              <p:nvGrpSpPr>
                <p:cNvPr id="11" name="Group 45">
                  <a:extLst>
                    <a:ext uri="{FF2B5EF4-FFF2-40B4-BE49-F238E27FC236}">
                      <a16:creationId xmlns:a16="http://schemas.microsoft.com/office/drawing/2014/main" id="{779BC56F-4BC9-9ED3-63E3-8719C18D93EE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2529" y="1617"/>
                  <a:ext cx="1263" cy="361"/>
                  <a:chOff x="1584" y="1680"/>
                  <a:chExt cx="2352" cy="336"/>
                </a:xfrm>
              </p:grpSpPr>
              <p:sp>
                <p:nvSpPr>
                  <p:cNvPr id="24" name="Line 46">
                    <a:extLst>
                      <a:ext uri="{FF2B5EF4-FFF2-40B4-BE49-F238E27FC236}">
                        <a16:creationId xmlns:a16="http://schemas.microsoft.com/office/drawing/2014/main" id="{EE15BA8E-1D16-0663-AD3A-F11F6E1C9674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1584" y="1680"/>
                    <a:ext cx="1152" cy="336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prstDash val="dash"/>
                    <a:round/>
                    <a:headEnd/>
                    <a:tailEnd type="triangle" w="med" len="med"/>
                  </a:ln>
                </p:spPr>
                <p:txBody>
                  <a:bodyPr/>
                  <a:lstStyle/>
                  <a:p>
                    <a:endParaRPr lang="en-US" sz="1350"/>
                  </a:p>
                </p:txBody>
              </p:sp>
              <p:sp>
                <p:nvSpPr>
                  <p:cNvPr id="25" name="Line 47">
                    <a:extLst>
                      <a:ext uri="{FF2B5EF4-FFF2-40B4-BE49-F238E27FC236}">
                        <a16:creationId xmlns:a16="http://schemas.microsoft.com/office/drawing/2014/main" id="{BBCC9058-D5B3-4D16-4BED-535E5466D6C3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2736" y="1680"/>
                    <a:ext cx="1200" cy="288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prstDash val="dash"/>
                    <a:round/>
                    <a:headEnd/>
                    <a:tailEnd type="triangle" w="med" len="med"/>
                  </a:ln>
                </p:spPr>
                <p:txBody>
                  <a:bodyPr/>
                  <a:lstStyle/>
                  <a:p>
                    <a:endParaRPr lang="en-US" sz="1350"/>
                  </a:p>
                </p:txBody>
              </p:sp>
              <p:sp>
                <p:nvSpPr>
                  <p:cNvPr id="26" name="Line 48">
                    <a:extLst>
                      <a:ext uri="{FF2B5EF4-FFF2-40B4-BE49-F238E27FC236}">
                        <a16:creationId xmlns:a16="http://schemas.microsoft.com/office/drawing/2014/main" id="{B71A4AE6-2FD6-8826-DB93-9E7684693179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2304" y="1680"/>
                    <a:ext cx="432" cy="336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 type="triangle" w="med" len="med"/>
                  </a:ln>
                </p:spPr>
                <p:txBody>
                  <a:bodyPr/>
                  <a:lstStyle/>
                  <a:p>
                    <a:endParaRPr lang="en-US" sz="1350"/>
                  </a:p>
                </p:txBody>
              </p:sp>
              <p:sp>
                <p:nvSpPr>
                  <p:cNvPr id="27" name="Line 49">
                    <a:extLst>
                      <a:ext uri="{FF2B5EF4-FFF2-40B4-BE49-F238E27FC236}">
                        <a16:creationId xmlns:a16="http://schemas.microsoft.com/office/drawing/2014/main" id="{B4E404F4-F686-7CEC-6CCE-4DBF98FC1689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2736" y="1680"/>
                    <a:ext cx="432" cy="288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prstDash val="dash"/>
                    <a:round/>
                    <a:headEnd/>
                    <a:tailEnd type="triangle" w="med" len="med"/>
                  </a:ln>
                </p:spPr>
                <p:txBody>
                  <a:bodyPr/>
                  <a:lstStyle/>
                  <a:p>
                    <a:endParaRPr lang="en-US" sz="1350"/>
                  </a:p>
                </p:txBody>
              </p:sp>
            </p:grpSp>
            <p:sp>
              <p:nvSpPr>
                <p:cNvPr id="12" name="Oval 50">
                  <a:extLst>
                    <a:ext uri="{FF2B5EF4-FFF2-40B4-BE49-F238E27FC236}">
                      <a16:creationId xmlns:a16="http://schemas.microsoft.com/office/drawing/2014/main" id="{BE3E73D0-3789-8367-985B-3814711AE36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864" y="1978"/>
                  <a:ext cx="129" cy="129"/>
                </a:xfrm>
                <a:prstGeom prst="ellipse">
                  <a:avLst/>
                </a:prstGeom>
                <a:solidFill>
                  <a:srgbClr val="008000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grpSp>
              <p:nvGrpSpPr>
                <p:cNvPr id="13" name="Group 51">
                  <a:extLst>
                    <a:ext uri="{FF2B5EF4-FFF2-40B4-BE49-F238E27FC236}">
                      <a16:creationId xmlns:a16="http://schemas.microsoft.com/office/drawing/2014/main" id="{FB0029AE-9087-C3FB-8DA4-34ACEB21BCB0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2400" y="2107"/>
                  <a:ext cx="1057" cy="386"/>
                  <a:chOff x="1536" y="2400"/>
                  <a:chExt cx="1584" cy="624"/>
                </a:xfrm>
              </p:grpSpPr>
              <p:sp>
                <p:nvSpPr>
                  <p:cNvPr id="20" name="Line 52">
                    <a:extLst>
                      <a:ext uri="{FF2B5EF4-FFF2-40B4-BE49-F238E27FC236}">
                        <a16:creationId xmlns:a16="http://schemas.microsoft.com/office/drawing/2014/main" id="{19DE08F5-2E21-0E86-CE78-4F0267B317B1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1536" y="2400"/>
                    <a:ext cx="776" cy="624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prstDash val="dash"/>
                    <a:round/>
                    <a:headEnd/>
                    <a:tailEnd type="triangle" w="med" len="med"/>
                  </a:ln>
                </p:spPr>
                <p:txBody>
                  <a:bodyPr/>
                  <a:lstStyle/>
                  <a:p>
                    <a:endParaRPr lang="en-US" sz="1350"/>
                  </a:p>
                </p:txBody>
              </p:sp>
              <p:sp>
                <p:nvSpPr>
                  <p:cNvPr id="21" name="Line 53">
                    <a:extLst>
                      <a:ext uri="{FF2B5EF4-FFF2-40B4-BE49-F238E27FC236}">
                        <a16:creationId xmlns:a16="http://schemas.microsoft.com/office/drawing/2014/main" id="{3214D79D-EE70-F6A9-BE8D-5624F4EF1C24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2312" y="2400"/>
                    <a:ext cx="808" cy="624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prstDash val="dash"/>
                    <a:round/>
                    <a:headEnd/>
                    <a:tailEnd type="triangle" w="med" len="med"/>
                  </a:ln>
                </p:spPr>
                <p:txBody>
                  <a:bodyPr/>
                  <a:lstStyle/>
                  <a:p>
                    <a:endParaRPr lang="en-US" sz="1350"/>
                  </a:p>
                </p:txBody>
              </p:sp>
              <p:sp>
                <p:nvSpPr>
                  <p:cNvPr id="22" name="Line 54">
                    <a:extLst>
                      <a:ext uri="{FF2B5EF4-FFF2-40B4-BE49-F238E27FC236}">
                        <a16:creationId xmlns:a16="http://schemas.microsoft.com/office/drawing/2014/main" id="{FE215EFC-DE7B-D1EF-6079-C484E1DF1D7B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2021" y="2400"/>
                    <a:ext cx="291" cy="624"/>
                  </a:xfrm>
                  <a:prstGeom prst="line">
                    <a:avLst/>
                  </a:prstGeom>
                  <a:noFill/>
                  <a:ln w="9525">
                    <a:solidFill>
                      <a:schemeClr val="bg1"/>
                    </a:solidFill>
                    <a:prstDash val="dash"/>
                    <a:round/>
                    <a:headEnd/>
                    <a:tailEnd type="triangle" w="med" len="med"/>
                  </a:ln>
                </p:spPr>
                <p:txBody>
                  <a:bodyPr/>
                  <a:lstStyle/>
                  <a:p>
                    <a:endParaRPr lang="en-US" sz="1350"/>
                  </a:p>
                </p:txBody>
              </p:sp>
              <p:sp>
                <p:nvSpPr>
                  <p:cNvPr id="23" name="Line 55">
                    <a:extLst>
                      <a:ext uri="{FF2B5EF4-FFF2-40B4-BE49-F238E27FC236}">
                        <a16:creationId xmlns:a16="http://schemas.microsoft.com/office/drawing/2014/main" id="{4410A3E6-0E2E-6236-FE74-59FB53B06DA7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2312" y="2400"/>
                    <a:ext cx="280" cy="624"/>
                  </a:xfrm>
                  <a:prstGeom prst="line">
                    <a:avLst/>
                  </a:prstGeom>
                  <a:noFill/>
                  <a:ln w="28575">
                    <a:solidFill>
                      <a:srgbClr val="C00000"/>
                    </a:solidFill>
                    <a:round/>
                    <a:headEnd/>
                    <a:tailEnd type="triangle" w="med" len="med"/>
                  </a:ln>
                </p:spPr>
                <p:txBody>
                  <a:bodyPr/>
                  <a:lstStyle/>
                  <a:p>
                    <a:endParaRPr lang="en-US" sz="1350"/>
                  </a:p>
                </p:txBody>
              </p:sp>
            </p:grpSp>
            <p:sp>
              <p:nvSpPr>
                <p:cNvPr id="14" name="Text Box 56">
                  <a:extLst>
                    <a:ext uri="{FF2B5EF4-FFF2-40B4-BE49-F238E27FC236}">
                      <a16:creationId xmlns:a16="http://schemas.microsoft.com/office/drawing/2014/main" id="{76AB8B5D-5C34-8972-397A-435EE0C0A421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024" y="1680"/>
                  <a:ext cx="129" cy="272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>
                  <a:spAutoFit/>
                </a:bodyPr>
                <a:lstStyle/>
                <a:p>
                  <a:pPr>
                    <a:spcBef>
                      <a:spcPct val="50000"/>
                    </a:spcBef>
                  </a:pPr>
                  <a:endParaRPr lang="en-US" sz="1350"/>
                </a:p>
              </p:txBody>
            </p:sp>
            <p:sp>
              <p:nvSpPr>
                <p:cNvPr id="15" name="Text Box 57">
                  <a:extLst>
                    <a:ext uri="{FF2B5EF4-FFF2-40B4-BE49-F238E27FC236}">
                      <a16:creationId xmlns:a16="http://schemas.microsoft.com/office/drawing/2014/main" id="{813BE0EC-B04F-6C04-7AE0-7EAB6442B8FD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216" y="1401"/>
                  <a:ext cx="129" cy="272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>
                  <a:spAutoFit/>
                </a:bodyPr>
                <a:lstStyle/>
                <a:p>
                  <a:pPr>
                    <a:spcBef>
                      <a:spcPct val="50000"/>
                    </a:spcBef>
                  </a:pPr>
                  <a:endParaRPr lang="en-US" sz="1350">
                    <a:solidFill>
                      <a:srgbClr val="CC0000"/>
                    </a:solidFill>
                  </a:endParaRPr>
                </a:p>
              </p:txBody>
            </p:sp>
            <p:sp>
              <p:nvSpPr>
                <p:cNvPr id="16" name="Text Box 58">
                  <a:extLst>
                    <a:ext uri="{FF2B5EF4-FFF2-40B4-BE49-F238E27FC236}">
                      <a16:creationId xmlns:a16="http://schemas.microsoft.com/office/drawing/2014/main" id="{BBC59155-FC24-F689-A58D-68F201CEFE4E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76" y="1920"/>
                  <a:ext cx="559" cy="272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>
                  <a:spAutoFit/>
                </a:bodyPr>
                <a:lstStyle/>
                <a:p>
                  <a:pPr>
                    <a:spcBef>
                      <a:spcPct val="50000"/>
                    </a:spcBef>
                  </a:pPr>
                  <a:endParaRPr lang="en-US" sz="1350">
                    <a:solidFill>
                      <a:srgbClr val="3333FF"/>
                    </a:solidFill>
                  </a:endParaRPr>
                </a:p>
              </p:txBody>
            </p:sp>
            <p:sp>
              <p:nvSpPr>
                <p:cNvPr id="17" name="Text Box 59">
                  <a:extLst>
                    <a:ext uri="{FF2B5EF4-FFF2-40B4-BE49-F238E27FC236}">
                      <a16:creationId xmlns:a16="http://schemas.microsoft.com/office/drawing/2014/main" id="{5D2A9DAB-73B8-E49A-7A9F-632A5D53B183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616" y="2261"/>
                  <a:ext cx="504" cy="272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>
                  <a:spAutoFit/>
                </a:bodyPr>
                <a:lstStyle/>
                <a:p>
                  <a:pPr>
                    <a:spcBef>
                      <a:spcPct val="50000"/>
                    </a:spcBef>
                  </a:pPr>
                  <a:endParaRPr lang="en-US" sz="1350"/>
                </a:p>
              </p:txBody>
            </p:sp>
            <p:sp>
              <p:nvSpPr>
                <p:cNvPr id="18" name="AutoShape 60">
                  <a:extLst>
                    <a:ext uri="{FF2B5EF4-FFF2-40B4-BE49-F238E27FC236}">
                      <a16:creationId xmlns:a16="http://schemas.microsoft.com/office/drawing/2014/main" id="{B7FD09E7-4E9C-289F-DF6C-0C95BC0761C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019" y="2499"/>
                  <a:ext cx="154" cy="123"/>
                </a:xfrm>
                <a:prstGeom prst="triangle">
                  <a:avLst>
                    <a:gd name="adj" fmla="val 50000"/>
                  </a:avLst>
                </a:prstGeom>
                <a:solidFill>
                  <a:srgbClr val="0000FF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algn="r" rtl="1"/>
                  <a:endParaRPr lang="en-US" sz="1350"/>
                </a:p>
              </p:txBody>
            </p:sp>
            <p:sp>
              <p:nvSpPr>
                <p:cNvPr id="19" name="Text Box 61">
                  <a:extLst>
                    <a:ext uri="{FF2B5EF4-FFF2-40B4-BE49-F238E27FC236}">
                      <a16:creationId xmlns:a16="http://schemas.microsoft.com/office/drawing/2014/main" id="{00AD615C-E1BC-A5DF-42CB-847BB6018EDD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173" y="2448"/>
                  <a:ext cx="235" cy="272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>
                  <a:spAutoFit/>
                </a:bodyPr>
                <a:lstStyle/>
                <a:p>
                  <a:pPr algn="r" rtl="1">
                    <a:spcBef>
                      <a:spcPct val="50000"/>
                    </a:spcBef>
                  </a:pPr>
                  <a:endParaRPr lang="en-US" sz="1350">
                    <a:solidFill>
                      <a:srgbClr val="CC0000"/>
                    </a:solidFill>
                  </a:endParaRPr>
                </a:p>
              </p:txBody>
            </p:sp>
          </p:grpSp>
        </p:grpSp>
        <p:sp>
          <p:nvSpPr>
            <p:cNvPr id="64" name="AutoShape 62">
              <a:extLst>
                <a:ext uri="{FF2B5EF4-FFF2-40B4-BE49-F238E27FC236}">
                  <a16:creationId xmlns:a16="http://schemas.microsoft.com/office/drawing/2014/main" id="{16FB3BE8-5CE9-7071-0DBD-E33B55012C27}"/>
                </a:ext>
              </a:extLst>
            </p:cNvPr>
            <p:cNvSpPr>
              <a:spLocks/>
            </p:cNvSpPr>
            <p:nvPr/>
          </p:nvSpPr>
          <p:spPr bwMode="auto">
            <a:xfrm>
              <a:off x="5829300" y="3486150"/>
              <a:ext cx="228600" cy="857250"/>
            </a:xfrm>
            <a:prstGeom prst="leftBrace">
              <a:avLst>
                <a:gd name="adj1" fmla="val 31250"/>
                <a:gd name="adj2" fmla="val 50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sz="1350"/>
            </a:p>
          </p:txBody>
        </p:sp>
        <p:sp>
          <p:nvSpPr>
            <p:cNvPr id="65" name="AutoShape 63">
              <a:extLst>
                <a:ext uri="{FF2B5EF4-FFF2-40B4-BE49-F238E27FC236}">
                  <a16:creationId xmlns:a16="http://schemas.microsoft.com/office/drawing/2014/main" id="{23D65354-6CA2-B706-DCED-465057BE5A1C}"/>
                </a:ext>
              </a:extLst>
            </p:cNvPr>
            <p:cNvSpPr>
              <a:spLocks/>
            </p:cNvSpPr>
            <p:nvPr/>
          </p:nvSpPr>
          <p:spPr bwMode="auto">
            <a:xfrm>
              <a:off x="5829300" y="2343150"/>
              <a:ext cx="228600" cy="857250"/>
            </a:xfrm>
            <a:prstGeom prst="leftBrace">
              <a:avLst>
                <a:gd name="adj1" fmla="val 31250"/>
                <a:gd name="adj2" fmla="val 50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sz="1350"/>
            </a:p>
          </p:txBody>
        </p:sp>
        <p:sp>
          <p:nvSpPr>
            <p:cNvPr id="66" name="AutoShape 64">
              <a:extLst>
                <a:ext uri="{FF2B5EF4-FFF2-40B4-BE49-F238E27FC236}">
                  <a16:creationId xmlns:a16="http://schemas.microsoft.com/office/drawing/2014/main" id="{E6B95042-33DD-897F-20F5-4653E9E0E4AC}"/>
                </a:ext>
              </a:extLst>
            </p:cNvPr>
            <p:cNvSpPr>
              <a:spLocks/>
            </p:cNvSpPr>
            <p:nvPr/>
          </p:nvSpPr>
          <p:spPr bwMode="auto">
            <a:xfrm>
              <a:off x="5829300" y="4629150"/>
              <a:ext cx="228600" cy="857250"/>
            </a:xfrm>
            <a:prstGeom prst="leftBrace">
              <a:avLst>
                <a:gd name="adj1" fmla="val 31250"/>
                <a:gd name="adj2" fmla="val 50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sz="1350"/>
            </a:p>
          </p:txBody>
        </p:sp>
        <p:pic>
          <p:nvPicPr>
            <p:cNvPr id="67" name="Picture 66" descr="txp_fig">
              <a:extLst>
                <a:ext uri="{FF2B5EF4-FFF2-40B4-BE49-F238E27FC236}">
                  <a16:creationId xmlns:a16="http://schemas.microsoft.com/office/drawing/2014/main" id="{79D0477C-D398-AE0F-58EA-A372F7205068}"/>
                </a:ext>
              </a:extLst>
            </p:cNvPr>
            <p:cNvPicPr>
              <a:picLocks noChangeAspect="1"/>
            </p:cNvPicPr>
            <p:nvPr>
              <p:custDataLst>
                <p:tags r:id="rId1"/>
              </p:custDataLst>
            </p:nvPr>
          </p:nvPicPr>
          <p:blipFill>
            <a:blip r:embed="rId6" cstate="print"/>
            <a:stretch>
              <a:fillRect/>
            </a:stretch>
          </p:blipFill>
          <p:spPr bwMode="auto">
            <a:xfrm>
              <a:off x="5372100" y="2591768"/>
              <a:ext cx="158354" cy="263923"/>
            </a:xfrm>
            <a:prstGeom prst="rect">
              <a:avLst/>
            </a:prstGeom>
            <a:noFill/>
            <a:ln/>
            <a:effectLst/>
          </p:spPr>
        </p:pic>
        <p:pic>
          <p:nvPicPr>
            <p:cNvPr id="68" name="Picture 67" descr="txp_fig">
              <a:extLst>
                <a:ext uri="{FF2B5EF4-FFF2-40B4-BE49-F238E27FC236}">
                  <a16:creationId xmlns:a16="http://schemas.microsoft.com/office/drawing/2014/main" id="{77CD78A6-5BBC-1772-74D6-36371D942D15}"/>
                </a:ext>
              </a:extLst>
            </p:cNvPr>
            <p:cNvPicPr>
              <a:picLocks noChangeAspect="1"/>
            </p:cNvPicPr>
            <p:nvPr>
              <p:custDataLst>
                <p:tags r:id="rId2"/>
              </p:custDataLst>
            </p:nvPr>
          </p:nvPicPr>
          <p:blipFill>
            <a:blip r:embed="rId7" cstate="print"/>
            <a:stretch>
              <a:fillRect/>
            </a:stretch>
          </p:blipFill>
          <p:spPr bwMode="auto">
            <a:xfrm>
              <a:off x="5353274" y="3749824"/>
              <a:ext cx="210516" cy="245252"/>
            </a:xfrm>
            <a:prstGeom prst="rect">
              <a:avLst/>
            </a:prstGeom>
            <a:noFill/>
            <a:ln/>
            <a:effectLst/>
          </p:spPr>
        </p:pic>
        <p:pic>
          <p:nvPicPr>
            <p:cNvPr id="69" name="Picture 68" descr="txp_fig">
              <a:extLst>
                <a:ext uri="{FF2B5EF4-FFF2-40B4-BE49-F238E27FC236}">
                  <a16:creationId xmlns:a16="http://schemas.microsoft.com/office/drawing/2014/main" id="{D102F3E3-3A44-042E-164E-FF1B95982ABE}"/>
                </a:ext>
              </a:extLst>
            </p:cNvPr>
            <p:cNvPicPr>
              <a:picLocks noChangeAspect="1"/>
            </p:cNvPicPr>
            <p:nvPr>
              <p:custDataLst>
                <p:tags r:id="rId3"/>
              </p:custDataLst>
            </p:nvPr>
          </p:nvPicPr>
          <p:blipFill>
            <a:blip r:embed="rId8" cstate="print"/>
            <a:stretch>
              <a:fillRect/>
            </a:stretch>
          </p:blipFill>
          <p:spPr bwMode="auto">
            <a:xfrm>
              <a:off x="5292280" y="4776046"/>
              <a:ext cx="385988" cy="420695"/>
            </a:xfrm>
            <a:prstGeom prst="rect">
              <a:avLst/>
            </a:prstGeom>
            <a:noFill/>
            <a:ln/>
            <a:effectLst/>
          </p:spPr>
        </p:pic>
        <p:pic>
          <p:nvPicPr>
            <p:cNvPr id="70" name="Picture 3" descr="C:\Users\Dan\Dropbox\Office\CS 188\Ketrina Art\MDPs\Discounting.png">
              <a:extLst>
                <a:ext uri="{FF2B5EF4-FFF2-40B4-BE49-F238E27FC236}">
                  <a16:creationId xmlns:a16="http://schemas.microsoft.com/office/drawing/2014/main" id="{85082E9E-EB94-46F9-A11D-F62C99F787B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 cstate="print"/>
            <a:srcRect l="73764" t="76543" r="1569"/>
            <a:stretch>
              <a:fillRect/>
            </a:stretch>
          </p:blipFill>
          <p:spPr bwMode="auto">
            <a:xfrm>
              <a:off x="4114800" y="4743450"/>
              <a:ext cx="1171905" cy="742950"/>
            </a:xfrm>
            <a:prstGeom prst="rect">
              <a:avLst/>
            </a:prstGeom>
            <a:noFill/>
          </p:spPr>
        </p:pic>
        <p:pic>
          <p:nvPicPr>
            <p:cNvPr id="71" name="Picture 3">
              <a:extLst>
                <a:ext uri="{FF2B5EF4-FFF2-40B4-BE49-F238E27FC236}">
                  <a16:creationId xmlns:a16="http://schemas.microsoft.com/office/drawing/2014/main" id="{6458FE0D-3AA8-7636-CF46-699A4D75579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auto">
            <a:xfrm>
              <a:off x="4171950" y="2114550"/>
              <a:ext cx="1321188" cy="1143000"/>
            </a:xfrm>
            <a:prstGeom prst="rect">
              <a:avLst/>
            </a:prstGeom>
            <a:noFill/>
          </p:spPr>
        </p:pic>
        <p:pic>
          <p:nvPicPr>
            <p:cNvPr id="72" name="Picture 3" descr="C:\Users\Dan\Dropbox\Office\CS 188\Ketrina Art\MDPs\Discounting.png">
              <a:extLst>
                <a:ext uri="{FF2B5EF4-FFF2-40B4-BE49-F238E27FC236}">
                  <a16:creationId xmlns:a16="http://schemas.microsoft.com/office/drawing/2014/main" id="{94EBCB08-39AC-DB80-98CB-E7E44B0574B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 cstate="print"/>
            <a:srcRect l="73764" t="38272" r="1569" b="35802"/>
            <a:stretch>
              <a:fillRect/>
            </a:stretch>
          </p:blipFill>
          <p:spPr bwMode="auto">
            <a:xfrm>
              <a:off x="4171950" y="3429001"/>
              <a:ext cx="1174596" cy="823040"/>
            </a:xfrm>
            <a:prstGeom prst="rect">
              <a:avLst/>
            </a:prstGeom>
            <a:noFill/>
          </p:spPr>
        </p:pic>
      </p:grp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A3C323E-67FE-5833-9CA4-CB926A1370F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KR"/>
              <a:t>691</a:t>
            </a:r>
            <a:endParaRPr lang="en-KR" sz="4000" dirty="0"/>
          </a:p>
        </p:txBody>
      </p:sp>
    </p:spTree>
    <p:extLst>
      <p:ext uri="{BB962C8B-B14F-4D97-AF65-F5344CB8AC3E}">
        <p14:creationId xmlns:p14="http://schemas.microsoft.com/office/powerpoint/2010/main" val="130433069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8C25E4-5E25-0148-8A0E-CE712077A4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B3CBD8-5C38-E1DF-370A-0441A42347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ＭＳ Ｐゴシック" pitchFamily="34" charset="-128"/>
              </a:rPr>
              <a:t>Stationary Preferences</a:t>
            </a:r>
            <a:endParaRPr lang="en-KR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0197C9C-B01A-6414-0E68-2F2C67C37CCF}"/>
              </a:ext>
            </a:extLst>
          </p:cNvPr>
          <p:cNvSpPr/>
          <p:nvPr/>
        </p:nvSpPr>
        <p:spPr>
          <a:xfrm>
            <a:off x="7067791" y="4928056"/>
            <a:ext cx="2076209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800" dirty="0">
                <a:solidFill>
                  <a:schemeClr val="bg1">
                    <a:lumMod val="65000"/>
                  </a:schemeClr>
                </a:solidFill>
                <a:cs typeface="Calibri"/>
              </a:rPr>
              <a:t>Adapted from CS188 of Klein and </a:t>
            </a:r>
            <a:r>
              <a:rPr lang="en-US" sz="800" dirty="0" err="1">
                <a:solidFill>
                  <a:schemeClr val="bg1">
                    <a:lumMod val="65000"/>
                  </a:schemeClr>
                </a:solidFill>
                <a:cs typeface="Calibri"/>
              </a:rPr>
              <a:t>Abbeel</a:t>
            </a:r>
            <a:endParaRPr lang="en-KR" sz="800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BE69FF8-F30E-FDA5-B089-7344A11900C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dirty="0">
                <a:solidFill>
                  <a:schemeClr val="tx1"/>
                </a:solidFill>
                <a:ea typeface="ＭＳ Ｐゴシック" pitchFamily="34" charset="-128"/>
              </a:rPr>
              <a:t>Theorem: if we assume </a:t>
            </a:r>
            <a:r>
              <a:rPr lang="en-US" dirty="0">
                <a:solidFill>
                  <a:srgbClr val="C00000"/>
                </a:solidFill>
                <a:ea typeface="ＭＳ Ｐゴシック" pitchFamily="34" charset="-128"/>
              </a:rPr>
              <a:t>stationary preferences</a:t>
            </a:r>
            <a:r>
              <a:rPr lang="en-US" dirty="0">
                <a:solidFill>
                  <a:schemeClr val="tx1"/>
                </a:solidFill>
                <a:ea typeface="ＭＳ Ｐゴシック" pitchFamily="34" charset="-128"/>
              </a:rPr>
              <a:t>:</a:t>
            </a:r>
          </a:p>
          <a:p>
            <a:pPr>
              <a:lnSpc>
                <a:spcPct val="90000"/>
              </a:lnSpc>
            </a:pPr>
            <a:endParaRPr lang="en-US" sz="2100" dirty="0">
              <a:solidFill>
                <a:schemeClr val="tx1"/>
              </a:solidFill>
              <a:ea typeface="ＭＳ Ｐゴシック" pitchFamily="34" charset="-128"/>
            </a:endParaRPr>
          </a:p>
          <a:p>
            <a:pPr>
              <a:lnSpc>
                <a:spcPct val="90000"/>
              </a:lnSpc>
            </a:pPr>
            <a:endParaRPr lang="en-US" sz="2100" dirty="0">
              <a:solidFill>
                <a:schemeClr val="tx1"/>
              </a:solidFill>
              <a:ea typeface="ＭＳ Ｐゴシック" pitchFamily="34" charset="-128"/>
            </a:endParaRPr>
          </a:p>
          <a:p>
            <a:pPr>
              <a:lnSpc>
                <a:spcPct val="90000"/>
              </a:lnSpc>
            </a:pPr>
            <a:endParaRPr lang="en-US" dirty="0">
              <a:solidFill>
                <a:schemeClr val="tx1"/>
              </a:solidFill>
              <a:ea typeface="ＭＳ Ｐゴシック" pitchFamily="34" charset="-128"/>
            </a:endParaRPr>
          </a:p>
          <a:p>
            <a:pPr>
              <a:lnSpc>
                <a:spcPct val="90000"/>
              </a:lnSpc>
            </a:pPr>
            <a:endParaRPr lang="en-US" dirty="0">
              <a:solidFill>
                <a:schemeClr val="tx1"/>
              </a:solidFill>
              <a:ea typeface="ＭＳ Ｐゴシック" pitchFamily="34" charset="-128"/>
            </a:endParaRPr>
          </a:p>
          <a:p>
            <a:pPr marL="114300" indent="0">
              <a:lnSpc>
                <a:spcPct val="90000"/>
              </a:lnSpc>
              <a:buNone/>
            </a:pPr>
            <a:endParaRPr lang="en-US" dirty="0">
              <a:solidFill>
                <a:schemeClr val="tx1"/>
              </a:solidFill>
              <a:ea typeface="ＭＳ Ｐゴシック" pitchFamily="34" charset="-128"/>
            </a:endParaRPr>
          </a:p>
          <a:p>
            <a:pPr>
              <a:lnSpc>
                <a:spcPct val="90000"/>
              </a:lnSpc>
            </a:pPr>
            <a:endParaRPr lang="en-US" sz="2100" dirty="0">
              <a:solidFill>
                <a:schemeClr val="tx1"/>
              </a:solidFill>
              <a:ea typeface="ＭＳ Ｐゴシック" pitchFamily="34" charset="-128"/>
            </a:endParaRPr>
          </a:p>
          <a:p>
            <a:pPr>
              <a:lnSpc>
                <a:spcPct val="90000"/>
              </a:lnSpc>
            </a:pPr>
            <a:r>
              <a:rPr lang="en-US" dirty="0">
                <a:solidFill>
                  <a:schemeClr val="tx1"/>
                </a:solidFill>
                <a:ea typeface="ＭＳ Ｐゴシック" pitchFamily="34" charset="-128"/>
              </a:rPr>
              <a:t>Then: there are only two ways to define utilities</a:t>
            </a:r>
          </a:p>
          <a:p>
            <a:pPr lvl="1">
              <a:lnSpc>
                <a:spcPct val="90000"/>
              </a:lnSpc>
            </a:pPr>
            <a:endParaRPr lang="en-US" sz="500" dirty="0">
              <a:solidFill>
                <a:schemeClr val="tx1"/>
              </a:solidFill>
              <a:ea typeface="ＭＳ Ｐゴシック" pitchFamily="34" charset="-128"/>
            </a:endParaRPr>
          </a:p>
          <a:p>
            <a:pPr lvl="1">
              <a:lnSpc>
                <a:spcPct val="90000"/>
              </a:lnSpc>
            </a:pPr>
            <a:r>
              <a:rPr lang="en-US" sz="1800" dirty="0">
                <a:solidFill>
                  <a:schemeClr val="tx1"/>
                </a:solidFill>
                <a:ea typeface="ＭＳ Ｐゴシック" pitchFamily="34" charset="-128"/>
              </a:rPr>
              <a:t>Additive utility:</a:t>
            </a:r>
            <a:endParaRPr lang="en-US" sz="900" dirty="0">
              <a:solidFill>
                <a:schemeClr val="tx1"/>
              </a:solidFill>
              <a:ea typeface="ＭＳ Ｐゴシック" pitchFamily="34" charset="-128"/>
            </a:endParaRPr>
          </a:p>
          <a:p>
            <a:pPr lvl="1">
              <a:lnSpc>
                <a:spcPct val="90000"/>
              </a:lnSpc>
            </a:pPr>
            <a:r>
              <a:rPr lang="en-US" sz="1800" dirty="0">
                <a:solidFill>
                  <a:schemeClr val="tx1"/>
                </a:solidFill>
                <a:ea typeface="ＭＳ Ｐゴシック" pitchFamily="34" charset="-128"/>
              </a:rPr>
              <a:t>Discounted utility:</a:t>
            </a:r>
          </a:p>
          <a:p>
            <a:endParaRPr lang="en-KR" dirty="0">
              <a:solidFill>
                <a:schemeClr val="tx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CFEDC6C-12D9-F3AF-F381-D998561EF4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110729" y="1152475"/>
            <a:ext cx="2945292" cy="2457450"/>
          </a:xfrm>
          <a:prstGeom prst="rect">
            <a:avLst/>
          </a:prstGeom>
          <a:noFill/>
        </p:spPr>
      </p:pic>
      <p:pic>
        <p:nvPicPr>
          <p:cNvPr id="5" name="Picture 4" descr="TP_tmp.png">
            <a:extLst>
              <a:ext uri="{FF2B5EF4-FFF2-40B4-BE49-F238E27FC236}">
                <a16:creationId xmlns:a16="http://schemas.microsoft.com/office/drawing/2014/main" id="{B8B01247-040E-2CFC-EFA4-BF7E94BA24AE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8" cstate="print"/>
          <a:stretch>
            <a:fillRect/>
          </a:stretch>
        </p:blipFill>
        <p:spPr>
          <a:xfrm>
            <a:off x="1811040" y="1787934"/>
            <a:ext cx="2800350" cy="304494"/>
          </a:xfrm>
          <a:prstGeom prst="rect">
            <a:avLst/>
          </a:prstGeom>
        </p:spPr>
      </p:pic>
      <p:pic>
        <p:nvPicPr>
          <p:cNvPr id="7" name="Picture 6" descr="TP_tmp.png">
            <a:extLst>
              <a:ext uri="{FF2B5EF4-FFF2-40B4-BE49-F238E27FC236}">
                <a16:creationId xmlns:a16="http://schemas.microsoft.com/office/drawing/2014/main" id="{31DB327D-FE23-4B33-41B7-C5734777E3FB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9" cstate="print"/>
          <a:stretch>
            <a:fillRect/>
          </a:stretch>
        </p:blipFill>
        <p:spPr bwMode="auto">
          <a:xfrm>
            <a:off x="1561778" y="2538793"/>
            <a:ext cx="3298874" cy="304434"/>
          </a:xfrm>
          <a:prstGeom prst="rect">
            <a:avLst/>
          </a:prstGeom>
          <a:noFill/>
          <a:ln/>
          <a:effectLst/>
        </p:spPr>
      </p:pic>
      <p:pic>
        <p:nvPicPr>
          <p:cNvPr id="8" name="Picture 4" descr="txp_fig">
            <a:extLst>
              <a:ext uri="{FF2B5EF4-FFF2-40B4-BE49-F238E27FC236}">
                <a16:creationId xmlns:a16="http://schemas.microsoft.com/office/drawing/2014/main" id="{A3294E06-B0BC-0236-78B6-D9E3F164E48D}"/>
              </a:ext>
            </a:extLst>
          </p:cNvPr>
          <p:cNvPicPr>
            <a:picLocks noChangeAspect="1" noChangeArrowheads="1"/>
          </p:cNvPicPr>
          <p:nvPr>
            <p:custDataLst>
              <p:tags r:id="rId3"/>
            </p:custDataLst>
          </p:nvPr>
        </p:nvPicPr>
        <p:blipFill>
          <a:blip r:embed="rId10" cstate="print"/>
          <a:srcRect l="45437" t="34977" r="45475" b="36323"/>
          <a:stretch>
            <a:fillRect/>
          </a:stretch>
        </p:blipFill>
        <p:spPr bwMode="auto">
          <a:xfrm rot="5400000">
            <a:off x="3020715" y="2159976"/>
            <a:ext cx="381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" name="Picture 9" descr="txp_fig">
            <a:extLst>
              <a:ext uri="{FF2B5EF4-FFF2-40B4-BE49-F238E27FC236}">
                <a16:creationId xmlns:a16="http://schemas.microsoft.com/office/drawing/2014/main" id="{C1567D61-2C69-A897-DE1E-300FC93441EC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1" cstate="print"/>
          <a:srcRect/>
          <a:stretch>
            <a:fillRect/>
          </a:stretch>
        </p:blipFill>
        <p:spPr bwMode="auto">
          <a:xfrm>
            <a:off x="3236441" y="3830839"/>
            <a:ext cx="4346934" cy="2394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1" name="Picture 10" descr="txp_fig">
            <a:extLst>
              <a:ext uri="{FF2B5EF4-FFF2-40B4-BE49-F238E27FC236}">
                <a16:creationId xmlns:a16="http://schemas.microsoft.com/office/drawing/2014/main" id="{69490145-9C80-3272-67B1-57990EDA65A6}"/>
              </a:ext>
            </a:extLst>
          </p:cNvPr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2" cstate="print"/>
          <a:srcRect/>
          <a:stretch>
            <a:fillRect/>
          </a:stretch>
        </p:blipFill>
        <p:spPr bwMode="auto">
          <a:xfrm>
            <a:off x="3236441" y="4219327"/>
            <a:ext cx="4466643" cy="2730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4E46A6D-DEBE-15C6-E6E1-5F8E7426752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KR"/>
              <a:t>691</a:t>
            </a:r>
            <a:endParaRPr lang="en-KR" sz="4000" dirty="0"/>
          </a:p>
        </p:txBody>
      </p:sp>
    </p:spTree>
    <p:extLst>
      <p:ext uri="{BB962C8B-B14F-4D97-AF65-F5344CB8AC3E}">
        <p14:creationId xmlns:p14="http://schemas.microsoft.com/office/powerpoint/2010/main" val="26697518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5CFD6C-DC24-E5C4-784D-2EABB78620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16D916-1813-62E2-D52F-F00A65F30B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Quiz: Discounting</a:t>
            </a:r>
            <a:endParaRPr lang="en-KR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DD05C90-3553-F3E2-FE66-0AC9E29B66CE}"/>
              </a:ext>
            </a:extLst>
          </p:cNvPr>
          <p:cNvSpPr/>
          <p:nvPr/>
        </p:nvSpPr>
        <p:spPr>
          <a:xfrm>
            <a:off x="7067791" y="4928056"/>
            <a:ext cx="2076209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800" dirty="0">
                <a:solidFill>
                  <a:schemeClr val="bg1">
                    <a:lumMod val="65000"/>
                  </a:schemeClr>
                </a:solidFill>
                <a:cs typeface="Calibri"/>
              </a:rPr>
              <a:t>Adapted from CS188 of Klein and </a:t>
            </a:r>
            <a:r>
              <a:rPr lang="en-US" sz="800" dirty="0" err="1">
                <a:solidFill>
                  <a:schemeClr val="bg1">
                    <a:lumMod val="65000"/>
                  </a:schemeClr>
                </a:solidFill>
                <a:cs typeface="Calibri"/>
              </a:rPr>
              <a:t>Abbeel</a:t>
            </a:r>
            <a:endParaRPr lang="en-KR" sz="800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5399CB1-0C07-3FA9-7EC5-0690B5F74C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  <a:ea typeface="ＭＳ Ｐゴシック" pitchFamily="34" charset="-128"/>
              </a:rPr>
              <a:t>Given:</a:t>
            </a:r>
          </a:p>
          <a:p>
            <a:endParaRPr lang="en-US" dirty="0">
              <a:solidFill>
                <a:schemeClr val="tx1"/>
              </a:solidFill>
              <a:ea typeface="ＭＳ Ｐゴシック" pitchFamily="34" charset="-128"/>
            </a:endParaRPr>
          </a:p>
          <a:p>
            <a:pPr lvl="1">
              <a:spcBef>
                <a:spcPts val="600"/>
              </a:spcBef>
            </a:pPr>
            <a:r>
              <a:rPr lang="en-US" sz="1600" dirty="0">
                <a:solidFill>
                  <a:schemeClr val="tx1"/>
                </a:solidFill>
                <a:ea typeface="ＭＳ Ｐゴシック" pitchFamily="34" charset="-128"/>
              </a:rPr>
              <a:t>Actions: East, West, and Exit (only available in exit states a, e)</a:t>
            </a:r>
          </a:p>
          <a:p>
            <a:pPr lvl="1">
              <a:spcBef>
                <a:spcPts val="600"/>
              </a:spcBef>
            </a:pPr>
            <a:r>
              <a:rPr lang="en-US" sz="1600" dirty="0">
                <a:solidFill>
                  <a:schemeClr val="tx1"/>
                </a:solidFill>
                <a:ea typeface="ＭＳ Ｐゴシック" pitchFamily="34" charset="-128"/>
              </a:rPr>
              <a:t>Transitions: deterministic</a:t>
            </a:r>
          </a:p>
          <a:p>
            <a:pPr lvl="1">
              <a:spcBef>
                <a:spcPts val="600"/>
              </a:spcBef>
            </a:pPr>
            <a:endParaRPr lang="en-US" dirty="0">
              <a:solidFill>
                <a:schemeClr val="tx1"/>
              </a:solidFill>
              <a:ea typeface="ＭＳ Ｐゴシック" pitchFamily="34" charset="-128"/>
            </a:endParaRPr>
          </a:p>
          <a:p>
            <a:endParaRPr lang="en-US" sz="500" dirty="0">
              <a:solidFill>
                <a:schemeClr val="tx1"/>
              </a:solidFill>
              <a:ea typeface="ＭＳ Ｐゴシック" pitchFamily="34" charset="-128"/>
            </a:endParaRPr>
          </a:p>
          <a:p>
            <a:r>
              <a:rPr lang="en-US" dirty="0">
                <a:solidFill>
                  <a:schemeClr val="tx1"/>
                </a:solidFill>
                <a:ea typeface="ＭＳ Ｐゴシック" pitchFamily="34" charset="-128"/>
              </a:rPr>
              <a:t>Quiz 1: For </a:t>
            </a:r>
            <a:r>
              <a:rPr lang="en-US" dirty="0">
                <a:solidFill>
                  <a:schemeClr val="tx1"/>
                </a:solidFill>
                <a:ea typeface="ＭＳ Ｐゴシック" pitchFamily="34" charset="-128"/>
                <a:sym typeface="Symbol" charset="0"/>
              </a:rPr>
              <a:t></a:t>
            </a:r>
            <a:r>
              <a:rPr lang="en-US" dirty="0">
                <a:solidFill>
                  <a:schemeClr val="tx1"/>
                </a:solidFill>
                <a:ea typeface="ＭＳ Ｐゴシック" pitchFamily="34" charset="-128"/>
              </a:rPr>
              <a:t> = 1, what is the optimal policy?</a:t>
            </a:r>
          </a:p>
          <a:p>
            <a:pPr marL="1054100" lvl="2" indent="0">
              <a:buNone/>
            </a:pPr>
            <a:endParaRPr lang="en-US" sz="500" dirty="0">
              <a:solidFill>
                <a:schemeClr val="tx1"/>
              </a:solidFill>
              <a:ea typeface="ＭＳ Ｐゴシック" pitchFamily="34" charset="-128"/>
            </a:endParaRPr>
          </a:p>
          <a:p>
            <a:r>
              <a:rPr lang="en-US" dirty="0">
                <a:solidFill>
                  <a:schemeClr val="tx1"/>
                </a:solidFill>
                <a:ea typeface="ＭＳ Ｐゴシック" pitchFamily="34" charset="-128"/>
              </a:rPr>
              <a:t>Quiz 2: For </a:t>
            </a:r>
            <a:r>
              <a:rPr lang="en-US" dirty="0">
                <a:solidFill>
                  <a:schemeClr val="tx1"/>
                </a:solidFill>
                <a:ea typeface="ＭＳ Ｐゴシック" pitchFamily="34" charset="-128"/>
                <a:sym typeface="Symbol" charset="0"/>
              </a:rPr>
              <a:t></a:t>
            </a:r>
            <a:r>
              <a:rPr lang="en-US" dirty="0">
                <a:solidFill>
                  <a:schemeClr val="tx1"/>
                </a:solidFill>
                <a:ea typeface="ＭＳ Ｐゴシック" pitchFamily="34" charset="-128"/>
              </a:rPr>
              <a:t> = 0.1, what is the optimal policy?</a:t>
            </a:r>
            <a:endParaRPr lang="en-US" sz="1400" dirty="0">
              <a:solidFill>
                <a:schemeClr val="tx1"/>
              </a:solidFill>
              <a:ea typeface="ＭＳ Ｐゴシック" pitchFamily="34" charset="-128"/>
            </a:endParaRPr>
          </a:p>
          <a:p>
            <a:pPr lvl="1"/>
            <a:endParaRPr lang="en-US" sz="500" dirty="0">
              <a:solidFill>
                <a:schemeClr val="tx1"/>
              </a:solidFill>
              <a:ea typeface="ＭＳ Ｐゴシック" pitchFamily="34" charset="-128"/>
            </a:endParaRPr>
          </a:p>
          <a:p>
            <a:r>
              <a:rPr lang="en-US" dirty="0">
                <a:solidFill>
                  <a:schemeClr val="tx1"/>
                </a:solidFill>
                <a:ea typeface="ＭＳ Ｐゴシック" pitchFamily="34" charset="-128"/>
              </a:rPr>
              <a:t>Quiz 3: For which </a:t>
            </a:r>
            <a:r>
              <a:rPr lang="en-US" dirty="0">
                <a:solidFill>
                  <a:schemeClr val="tx1"/>
                </a:solidFill>
                <a:ea typeface="ＭＳ Ｐゴシック" pitchFamily="34" charset="-128"/>
                <a:sym typeface="Symbol" charset="0"/>
              </a:rPr>
              <a:t></a:t>
            </a:r>
            <a:r>
              <a:rPr lang="en-US" dirty="0">
                <a:solidFill>
                  <a:schemeClr val="tx1"/>
                </a:solidFill>
                <a:ea typeface="ＭＳ Ｐゴシック" pitchFamily="34" charset="-128"/>
              </a:rPr>
              <a:t> are West and East equally good when in state d?</a:t>
            </a:r>
          </a:p>
          <a:p>
            <a:endParaRPr lang="en-KR" dirty="0">
              <a:solidFill>
                <a:schemeClr val="tx1"/>
              </a:solidFill>
              <a:ea typeface="ＭＳ Ｐゴシック" pitchFamily="34" charset="-128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B3E79759-7062-FD8C-6F72-EF589019E47A}"/>
              </a:ext>
            </a:extLst>
          </p:cNvPr>
          <p:cNvGrpSpPr/>
          <p:nvPr/>
        </p:nvGrpSpPr>
        <p:grpSpPr>
          <a:xfrm>
            <a:off x="1728940" y="1142643"/>
            <a:ext cx="1954841" cy="635496"/>
            <a:chOff x="3352800" y="3505200"/>
            <a:chExt cx="3594100" cy="1168400"/>
          </a:xfrm>
        </p:grpSpPr>
        <p:pic>
          <p:nvPicPr>
            <p:cNvPr id="5" name="Picture 4" descr="discounting.png">
              <a:extLst>
                <a:ext uri="{FF2B5EF4-FFF2-40B4-BE49-F238E27FC236}">
                  <a16:creationId xmlns:a16="http://schemas.microsoft.com/office/drawing/2014/main" id="{4A7617E9-05B9-0DA8-7674-FB2667181F9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352800" y="3505200"/>
              <a:ext cx="3594100" cy="1168400"/>
            </a:xfrm>
            <a:prstGeom prst="rect">
              <a:avLst/>
            </a:prstGeom>
          </p:spPr>
        </p:pic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6DEB842D-AED7-4878-CB38-3E479C8CD709}"/>
                </a:ext>
              </a:extLst>
            </p:cNvPr>
            <p:cNvSpPr/>
            <p:nvPr/>
          </p:nvSpPr>
          <p:spPr>
            <a:xfrm>
              <a:off x="5486400" y="3733800"/>
              <a:ext cx="533400" cy="4572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61B46934-287F-CC2C-F20E-3EFDACE70D7B}"/>
              </a:ext>
            </a:extLst>
          </p:cNvPr>
          <p:cNvGrpSpPr/>
          <p:nvPr/>
        </p:nvGrpSpPr>
        <p:grpSpPr>
          <a:xfrm>
            <a:off x="5749413" y="2931856"/>
            <a:ext cx="2466975" cy="514350"/>
            <a:chOff x="7870815" y="3645405"/>
            <a:chExt cx="3289300" cy="685800"/>
          </a:xfrm>
        </p:grpSpPr>
        <p:pic>
          <p:nvPicPr>
            <p:cNvPr id="10" name="Picture 9" descr="discounting.png">
              <a:extLst>
                <a:ext uri="{FF2B5EF4-FFF2-40B4-BE49-F238E27FC236}">
                  <a16:creationId xmlns:a16="http://schemas.microsoft.com/office/drawing/2014/main" id="{2E28C209-B968-E254-32F6-7F2F44B3731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870815" y="3645405"/>
              <a:ext cx="3289300" cy="685800"/>
            </a:xfrm>
            <a:prstGeom prst="rect">
              <a:avLst/>
            </a:prstGeom>
          </p:spPr>
        </p:pic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E17BA969-285B-25AF-CC61-FB752622B136}"/>
                </a:ext>
              </a:extLst>
            </p:cNvPr>
            <p:cNvSpPr/>
            <p:nvPr/>
          </p:nvSpPr>
          <p:spPr>
            <a:xfrm>
              <a:off x="9886156" y="3760395"/>
              <a:ext cx="533400" cy="4572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8245D0BF-2D67-6ED6-3799-FD5337BDDA63}"/>
              </a:ext>
            </a:extLst>
          </p:cNvPr>
          <p:cNvGrpSpPr/>
          <p:nvPr/>
        </p:nvGrpSpPr>
        <p:grpSpPr>
          <a:xfrm>
            <a:off x="5749413" y="3580956"/>
            <a:ext cx="2466975" cy="514350"/>
            <a:chOff x="7870815" y="3645405"/>
            <a:chExt cx="3289300" cy="685800"/>
          </a:xfrm>
        </p:grpSpPr>
        <p:pic>
          <p:nvPicPr>
            <p:cNvPr id="13" name="Picture 12" descr="discounting.png">
              <a:extLst>
                <a:ext uri="{FF2B5EF4-FFF2-40B4-BE49-F238E27FC236}">
                  <a16:creationId xmlns:a16="http://schemas.microsoft.com/office/drawing/2014/main" id="{7CEAF4CF-AFA9-A123-94DD-4689DD62F2B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870815" y="3645405"/>
              <a:ext cx="3289300" cy="685800"/>
            </a:xfrm>
            <a:prstGeom prst="rect">
              <a:avLst/>
            </a:prstGeom>
          </p:spPr>
        </p:pic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D7D5D420-24D1-B19F-1C94-94F0020B8C75}"/>
                </a:ext>
              </a:extLst>
            </p:cNvPr>
            <p:cNvSpPr/>
            <p:nvPr/>
          </p:nvSpPr>
          <p:spPr>
            <a:xfrm>
              <a:off x="9886156" y="3760395"/>
              <a:ext cx="533400" cy="4572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</p:grp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558ACD0-9CFA-5136-9C5E-7B0917DA392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KR"/>
              <a:t>691</a:t>
            </a:r>
            <a:endParaRPr lang="en-KR" sz="4000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D956BC2C-7389-5241-A3B2-1A75E6533D58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1256017" y="2641613"/>
            <a:ext cx="3349356" cy="2902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55636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6DB774-8846-3CF5-DB23-DE8244E057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7C93AC9-D886-4DA8-9403-DA9D2915A06D}"/>
              </a:ext>
            </a:extLst>
          </p:cNvPr>
          <p:cNvSpPr/>
          <p:nvPr/>
        </p:nvSpPr>
        <p:spPr>
          <a:xfrm>
            <a:off x="7067791" y="4928056"/>
            <a:ext cx="2076209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800" dirty="0">
                <a:solidFill>
                  <a:schemeClr val="bg1">
                    <a:lumMod val="65000"/>
                  </a:schemeClr>
                </a:solidFill>
                <a:cs typeface="Calibri"/>
              </a:rPr>
              <a:t>Adapted from CS188 of Klein and </a:t>
            </a:r>
            <a:r>
              <a:rPr lang="en-US" sz="800" dirty="0" err="1">
                <a:solidFill>
                  <a:schemeClr val="bg1">
                    <a:lumMod val="65000"/>
                  </a:schemeClr>
                </a:solidFill>
                <a:cs typeface="Calibri"/>
              </a:rPr>
              <a:t>Abbeel</a:t>
            </a:r>
            <a:endParaRPr lang="en-KR" sz="800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3737DAD-2F13-FFB6-B077-3B6F44C59B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98519" y="219200"/>
            <a:ext cx="5715731" cy="4708855"/>
          </a:xfrm>
        </p:spPr>
        <p:txBody>
          <a:bodyPr/>
          <a:lstStyle/>
          <a:p>
            <a:pPr marL="114300" indent="0">
              <a:buNone/>
            </a:pPr>
            <a:endParaRPr lang="en-US" sz="500" dirty="0">
              <a:solidFill>
                <a:schemeClr val="tx1"/>
              </a:solidFill>
              <a:ea typeface="ＭＳ Ｐゴシック" pitchFamily="34" charset="-128"/>
            </a:endParaRPr>
          </a:p>
          <a:p>
            <a:r>
              <a:rPr lang="en-US" dirty="0">
                <a:solidFill>
                  <a:schemeClr val="tx1"/>
                </a:solidFill>
                <a:ea typeface="ＭＳ Ｐゴシック" pitchFamily="34" charset="-128"/>
              </a:rPr>
              <a:t>Quiz 1: For </a:t>
            </a:r>
            <a:r>
              <a:rPr lang="en-US" dirty="0">
                <a:solidFill>
                  <a:schemeClr val="tx1"/>
                </a:solidFill>
                <a:ea typeface="ＭＳ Ｐゴシック" pitchFamily="34" charset="-128"/>
                <a:sym typeface="Symbol" charset="0"/>
              </a:rPr>
              <a:t></a:t>
            </a:r>
            <a:r>
              <a:rPr lang="en-US" dirty="0">
                <a:solidFill>
                  <a:schemeClr val="tx1"/>
                </a:solidFill>
                <a:ea typeface="ＭＳ Ｐゴシック" pitchFamily="34" charset="-128"/>
              </a:rPr>
              <a:t> = 1, what is the optimal policy?</a:t>
            </a:r>
          </a:p>
          <a:p>
            <a:pPr marL="1054100" lvl="2" indent="0">
              <a:buNone/>
            </a:pPr>
            <a:endParaRPr lang="en-US" sz="500" dirty="0">
              <a:solidFill>
                <a:schemeClr val="tx1"/>
              </a:solidFill>
              <a:ea typeface="ＭＳ Ｐゴシック" pitchFamily="34" charset="-128"/>
            </a:endParaRPr>
          </a:p>
          <a:p>
            <a:pPr marL="1054100" lvl="2" indent="0">
              <a:buNone/>
            </a:pPr>
            <a:endParaRPr lang="en-US" sz="500" dirty="0">
              <a:solidFill>
                <a:schemeClr val="tx1"/>
              </a:solidFill>
              <a:ea typeface="ＭＳ Ｐゴシック" pitchFamily="34" charset="-128"/>
            </a:endParaRPr>
          </a:p>
          <a:p>
            <a:pPr marL="1054100" lvl="2" indent="0">
              <a:buNone/>
            </a:pPr>
            <a:endParaRPr lang="en-US" sz="500" dirty="0">
              <a:solidFill>
                <a:schemeClr val="tx1"/>
              </a:solidFill>
              <a:ea typeface="ＭＳ Ｐゴシック" pitchFamily="34" charset="-128"/>
            </a:endParaRPr>
          </a:p>
          <a:p>
            <a:pPr marL="1054100" lvl="2" indent="0">
              <a:buNone/>
            </a:pPr>
            <a:endParaRPr lang="en-US" sz="500" dirty="0">
              <a:solidFill>
                <a:schemeClr val="tx1"/>
              </a:solidFill>
              <a:ea typeface="ＭＳ Ｐゴシック" pitchFamily="34" charset="-128"/>
            </a:endParaRPr>
          </a:p>
          <a:p>
            <a:r>
              <a:rPr lang="en-US" dirty="0">
                <a:solidFill>
                  <a:schemeClr val="tx1"/>
                </a:solidFill>
                <a:ea typeface="ＭＳ Ｐゴシック" pitchFamily="34" charset="-128"/>
              </a:rPr>
              <a:t>Quiz 2: For </a:t>
            </a:r>
            <a:r>
              <a:rPr lang="en-US" dirty="0">
                <a:solidFill>
                  <a:schemeClr val="tx1"/>
                </a:solidFill>
                <a:ea typeface="ＭＳ Ｐゴシック" pitchFamily="34" charset="-128"/>
                <a:sym typeface="Symbol" charset="0"/>
              </a:rPr>
              <a:t></a:t>
            </a:r>
            <a:r>
              <a:rPr lang="en-US" dirty="0">
                <a:solidFill>
                  <a:schemeClr val="tx1"/>
                </a:solidFill>
                <a:ea typeface="ＭＳ Ｐゴシック" pitchFamily="34" charset="-128"/>
              </a:rPr>
              <a:t> = 0.1, what is the optimal policy?</a:t>
            </a:r>
            <a:endParaRPr lang="en-US" sz="1400" dirty="0">
              <a:solidFill>
                <a:schemeClr val="tx1"/>
              </a:solidFill>
              <a:ea typeface="ＭＳ Ｐゴシック" pitchFamily="34" charset="-128"/>
            </a:endParaRPr>
          </a:p>
          <a:p>
            <a:pPr lvl="1"/>
            <a:endParaRPr lang="en-US" sz="500" dirty="0">
              <a:solidFill>
                <a:schemeClr val="tx1"/>
              </a:solidFill>
              <a:ea typeface="ＭＳ Ｐゴシック" pitchFamily="34" charset="-128"/>
            </a:endParaRPr>
          </a:p>
          <a:p>
            <a:pPr lvl="1"/>
            <a:endParaRPr lang="en-US" sz="500" dirty="0">
              <a:solidFill>
                <a:schemeClr val="tx1"/>
              </a:solidFill>
              <a:ea typeface="ＭＳ Ｐゴシック" pitchFamily="34" charset="-128"/>
            </a:endParaRPr>
          </a:p>
          <a:p>
            <a:pPr lvl="1"/>
            <a:endParaRPr lang="en-US" sz="500" dirty="0">
              <a:solidFill>
                <a:schemeClr val="tx1"/>
              </a:solidFill>
              <a:ea typeface="ＭＳ Ｐゴシック" pitchFamily="34" charset="-128"/>
            </a:endParaRPr>
          </a:p>
          <a:p>
            <a:pPr lvl="1"/>
            <a:endParaRPr lang="en-US" sz="500" dirty="0">
              <a:solidFill>
                <a:schemeClr val="tx1"/>
              </a:solidFill>
              <a:ea typeface="ＭＳ Ｐゴシック" pitchFamily="34" charset="-128"/>
            </a:endParaRPr>
          </a:p>
          <a:p>
            <a:r>
              <a:rPr lang="en-US" dirty="0">
                <a:solidFill>
                  <a:schemeClr val="tx1"/>
                </a:solidFill>
                <a:ea typeface="ＭＳ Ｐゴシック" pitchFamily="34" charset="-128"/>
              </a:rPr>
              <a:t>Quiz 3: For which </a:t>
            </a:r>
            <a:r>
              <a:rPr lang="en-US" dirty="0">
                <a:solidFill>
                  <a:schemeClr val="tx1"/>
                </a:solidFill>
                <a:ea typeface="ＭＳ Ｐゴシック" pitchFamily="34" charset="-128"/>
                <a:sym typeface="Symbol" charset="0"/>
              </a:rPr>
              <a:t></a:t>
            </a:r>
            <a:r>
              <a:rPr lang="en-US" dirty="0">
                <a:solidFill>
                  <a:schemeClr val="tx1"/>
                </a:solidFill>
                <a:ea typeface="ＭＳ Ｐゴシック" pitchFamily="34" charset="-128"/>
              </a:rPr>
              <a:t> are West and East equally good when in state d?</a:t>
            </a:r>
          </a:p>
          <a:p>
            <a:endParaRPr lang="en-KR" dirty="0">
              <a:solidFill>
                <a:schemeClr val="tx1"/>
              </a:solidFill>
              <a:ea typeface="ＭＳ Ｐゴシック" pitchFamily="34" charset="-128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E7B4E594-52EF-6D5B-329C-F912B86280EC}"/>
              </a:ext>
            </a:extLst>
          </p:cNvPr>
          <p:cNvGrpSpPr/>
          <p:nvPr/>
        </p:nvGrpSpPr>
        <p:grpSpPr>
          <a:xfrm>
            <a:off x="4855659" y="262412"/>
            <a:ext cx="2466975" cy="514350"/>
            <a:chOff x="7870815" y="3645405"/>
            <a:chExt cx="3289300" cy="685800"/>
          </a:xfrm>
        </p:grpSpPr>
        <p:pic>
          <p:nvPicPr>
            <p:cNvPr id="10" name="Picture 9" descr="discounting.png">
              <a:extLst>
                <a:ext uri="{FF2B5EF4-FFF2-40B4-BE49-F238E27FC236}">
                  <a16:creationId xmlns:a16="http://schemas.microsoft.com/office/drawing/2014/main" id="{F6F1D2F6-30E1-FA49-A6E2-1C2735DAA4E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870815" y="3645405"/>
              <a:ext cx="3289300" cy="685800"/>
            </a:xfrm>
            <a:prstGeom prst="rect">
              <a:avLst/>
            </a:prstGeom>
          </p:spPr>
        </p:pic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7344586-BFF7-2527-E859-CF697F33D0F8}"/>
                </a:ext>
              </a:extLst>
            </p:cNvPr>
            <p:cNvSpPr/>
            <p:nvPr/>
          </p:nvSpPr>
          <p:spPr>
            <a:xfrm>
              <a:off x="9886156" y="3760395"/>
              <a:ext cx="533400" cy="4572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0433DF63-0E93-A3ED-2F35-4DEF5DC80789}"/>
              </a:ext>
            </a:extLst>
          </p:cNvPr>
          <p:cNvGrpSpPr/>
          <p:nvPr/>
        </p:nvGrpSpPr>
        <p:grpSpPr>
          <a:xfrm>
            <a:off x="5384955" y="1796085"/>
            <a:ext cx="2466975" cy="514350"/>
            <a:chOff x="7870815" y="3645405"/>
            <a:chExt cx="3289300" cy="685800"/>
          </a:xfrm>
        </p:grpSpPr>
        <p:pic>
          <p:nvPicPr>
            <p:cNvPr id="13" name="Picture 12" descr="discounting.png">
              <a:extLst>
                <a:ext uri="{FF2B5EF4-FFF2-40B4-BE49-F238E27FC236}">
                  <a16:creationId xmlns:a16="http://schemas.microsoft.com/office/drawing/2014/main" id="{7FAA7991-03FE-8349-4F7F-02E42A99E07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870815" y="3645405"/>
              <a:ext cx="3289300" cy="685800"/>
            </a:xfrm>
            <a:prstGeom prst="rect">
              <a:avLst/>
            </a:prstGeom>
          </p:spPr>
        </p:pic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84AF2A5A-A951-8157-1373-08454AA67821}"/>
                </a:ext>
              </a:extLst>
            </p:cNvPr>
            <p:cNvSpPr/>
            <p:nvPr/>
          </p:nvSpPr>
          <p:spPr>
            <a:xfrm>
              <a:off x="9886156" y="3760395"/>
              <a:ext cx="533400" cy="4572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</p:grp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46AE25E-31FC-7BBD-A355-413FA5F6293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KR"/>
              <a:t>691</a:t>
            </a:r>
            <a:endParaRPr lang="en-KR" sz="40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C64EE0B-5BB4-48BE-96D0-D7373FF8C9CD}"/>
              </a:ext>
            </a:extLst>
          </p:cNvPr>
          <p:cNvSpPr txBox="1"/>
          <p:nvPr/>
        </p:nvSpPr>
        <p:spPr>
          <a:xfrm>
            <a:off x="466149" y="776762"/>
            <a:ext cx="410585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ko-KR" altLang="en-US" sz="1100" dirty="0">
                <a:solidFill>
                  <a:srgbClr val="018000"/>
                </a:solidFill>
                <a:latin typeface="+mn-ea"/>
                <a:ea typeface="+mn-ea"/>
              </a:rPr>
              <a:t>각각의 타일 </a:t>
            </a:r>
            <a:r>
              <a:rPr kumimoji="1" lang="en-US" altLang="ko-KR" sz="1100" dirty="0">
                <a:solidFill>
                  <a:srgbClr val="018000"/>
                </a:solidFill>
                <a:latin typeface="+mn-ea"/>
                <a:ea typeface="+mn-ea"/>
              </a:rPr>
              <a:t>-&gt;</a:t>
            </a:r>
            <a:r>
              <a:rPr kumimoji="1" lang="ko-KR" altLang="en-US" sz="1100" dirty="0">
                <a:solidFill>
                  <a:srgbClr val="018000"/>
                </a:solidFill>
                <a:latin typeface="+mn-ea"/>
                <a:ea typeface="+mn-ea"/>
              </a:rPr>
              <a:t> </a:t>
            </a:r>
            <a:r>
              <a:rPr kumimoji="1" lang="en-US" altLang="ko-KR" sz="1100" dirty="0">
                <a:solidFill>
                  <a:srgbClr val="018000"/>
                </a:solidFill>
                <a:latin typeface="+mn-ea"/>
                <a:ea typeface="+mn-ea"/>
              </a:rPr>
              <a:t>2</a:t>
            </a:r>
            <a:r>
              <a:rPr kumimoji="1" lang="ko-KR" altLang="en-US" sz="1100" dirty="0">
                <a:solidFill>
                  <a:srgbClr val="018000"/>
                </a:solidFill>
                <a:latin typeface="+mn-ea"/>
                <a:ea typeface="+mn-ea"/>
              </a:rPr>
              <a:t>개의 </a:t>
            </a:r>
            <a:r>
              <a:rPr kumimoji="1" lang="en-US" altLang="ko-KR" sz="1100" dirty="0">
                <a:solidFill>
                  <a:srgbClr val="018000"/>
                </a:solidFill>
                <a:latin typeface="+mn-ea"/>
                <a:ea typeface="+mn-ea"/>
              </a:rPr>
              <a:t>action </a:t>
            </a:r>
            <a:r>
              <a:rPr kumimoji="1" lang="ko-KR" altLang="en-US" sz="1100" dirty="0">
                <a:solidFill>
                  <a:srgbClr val="018000"/>
                </a:solidFill>
                <a:latin typeface="+mn-ea"/>
                <a:ea typeface="+mn-ea"/>
              </a:rPr>
              <a:t>가능 </a:t>
            </a:r>
            <a:r>
              <a:rPr kumimoji="1" lang="en-US" altLang="ko-KR" sz="1100" dirty="0">
                <a:solidFill>
                  <a:srgbClr val="018000"/>
                </a:solidFill>
                <a:latin typeface="+mn-ea"/>
                <a:ea typeface="+mn-ea"/>
              </a:rPr>
              <a:t>(West , East)</a:t>
            </a:r>
          </a:p>
          <a:p>
            <a:endParaRPr kumimoji="1" lang="ko-KR" altLang="en-US" sz="1100" dirty="0">
              <a:solidFill>
                <a:srgbClr val="018000"/>
              </a:solidFill>
              <a:latin typeface="+mn-ea"/>
              <a:ea typeface="+mn-ea"/>
            </a:endParaRPr>
          </a:p>
        </p:txBody>
      </p:sp>
      <p:graphicFrame>
        <p:nvGraphicFramePr>
          <p:cNvPr id="15" name="표 14">
            <a:extLst>
              <a:ext uri="{FF2B5EF4-FFF2-40B4-BE49-F238E27FC236}">
                <a16:creationId xmlns:a16="http://schemas.microsoft.com/office/drawing/2014/main" id="{F6189EB9-2D2F-36D6-B8A2-2A8613B4CF4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38314448"/>
              </p:ext>
            </p:extLst>
          </p:nvPr>
        </p:nvGraphicFramePr>
        <p:xfrm>
          <a:off x="4907220" y="838564"/>
          <a:ext cx="2466975" cy="609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93395">
                  <a:extLst>
                    <a:ext uri="{9D8B030D-6E8A-4147-A177-3AD203B41FA5}">
                      <a16:colId xmlns:a16="http://schemas.microsoft.com/office/drawing/2014/main" val="3668609947"/>
                    </a:ext>
                  </a:extLst>
                </a:gridCol>
                <a:gridCol w="493395">
                  <a:extLst>
                    <a:ext uri="{9D8B030D-6E8A-4147-A177-3AD203B41FA5}">
                      <a16:colId xmlns:a16="http://schemas.microsoft.com/office/drawing/2014/main" val="2859277606"/>
                    </a:ext>
                  </a:extLst>
                </a:gridCol>
                <a:gridCol w="493395">
                  <a:extLst>
                    <a:ext uri="{9D8B030D-6E8A-4147-A177-3AD203B41FA5}">
                      <a16:colId xmlns:a16="http://schemas.microsoft.com/office/drawing/2014/main" val="210997040"/>
                    </a:ext>
                  </a:extLst>
                </a:gridCol>
                <a:gridCol w="493395">
                  <a:extLst>
                    <a:ext uri="{9D8B030D-6E8A-4147-A177-3AD203B41FA5}">
                      <a16:colId xmlns:a16="http://schemas.microsoft.com/office/drawing/2014/main" val="1391538201"/>
                    </a:ext>
                  </a:extLst>
                </a:gridCol>
                <a:gridCol w="493395">
                  <a:extLst>
                    <a:ext uri="{9D8B030D-6E8A-4147-A177-3AD203B41FA5}">
                      <a16:colId xmlns:a16="http://schemas.microsoft.com/office/drawing/2014/main" val="1538825340"/>
                    </a:ext>
                  </a:extLst>
                </a:gridCol>
              </a:tblGrid>
              <a:tr h="184658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7315645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90708542"/>
                  </a:ext>
                </a:extLst>
              </a:tr>
            </a:tbl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F003EFE5-EA22-6CE2-846E-8D21A2875A89}"/>
              </a:ext>
            </a:extLst>
          </p:cNvPr>
          <p:cNvSpPr txBox="1"/>
          <p:nvPr/>
        </p:nvSpPr>
        <p:spPr>
          <a:xfrm>
            <a:off x="4572000" y="905256"/>
            <a:ext cx="28365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dirty="0"/>
              <a:t>W</a:t>
            </a:r>
          </a:p>
          <a:p>
            <a:r>
              <a:rPr kumimoji="1" lang="en-US" altLang="ko-KR" dirty="0"/>
              <a:t>E</a:t>
            </a:r>
            <a:endParaRPr kumimoji="1" lang="ko-KR" altLang="en-US" dirty="0"/>
          </a:p>
        </p:txBody>
      </p:sp>
      <p:graphicFrame>
        <p:nvGraphicFramePr>
          <p:cNvPr id="17" name="표 16">
            <a:extLst>
              <a:ext uri="{FF2B5EF4-FFF2-40B4-BE49-F238E27FC236}">
                <a16:creationId xmlns:a16="http://schemas.microsoft.com/office/drawing/2014/main" id="{77869BDF-592D-DD0F-EE2A-AB729F5CF8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51619149"/>
              </p:ext>
            </p:extLst>
          </p:nvPr>
        </p:nvGraphicFramePr>
        <p:xfrm>
          <a:off x="5410735" y="2310435"/>
          <a:ext cx="2466975" cy="4267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93395">
                  <a:extLst>
                    <a:ext uri="{9D8B030D-6E8A-4147-A177-3AD203B41FA5}">
                      <a16:colId xmlns:a16="http://schemas.microsoft.com/office/drawing/2014/main" val="3668609947"/>
                    </a:ext>
                  </a:extLst>
                </a:gridCol>
                <a:gridCol w="493395">
                  <a:extLst>
                    <a:ext uri="{9D8B030D-6E8A-4147-A177-3AD203B41FA5}">
                      <a16:colId xmlns:a16="http://schemas.microsoft.com/office/drawing/2014/main" val="2859277606"/>
                    </a:ext>
                  </a:extLst>
                </a:gridCol>
                <a:gridCol w="493395">
                  <a:extLst>
                    <a:ext uri="{9D8B030D-6E8A-4147-A177-3AD203B41FA5}">
                      <a16:colId xmlns:a16="http://schemas.microsoft.com/office/drawing/2014/main" val="210997040"/>
                    </a:ext>
                  </a:extLst>
                </a:gridCol>
                <a:gridCol w="493395">
                  <a:extLst>
                    <a:ext uri="{9D8B030D-6E8A-4147-A177-3AD203B41FA5}">
                      <a16:colId xmlns:a16="http://schemas.microsoft.com/office/drawing/2014/main" val="1391538201"/>
                    </a:ext>
                  </a:extLst>
                </a:gridCol>
                <a:gridCol w="493395">
                  <a:extLst>
                    <a:ext uri="{9D8B030D-6E8A-4147-A177-3AD203B41FA5}">
                      <a16:colId xmlns:a16="http://schemas.microsoft.com/office/drawing/2014/main" val="1538825340"/>
                    </a:ext>
                  </a:extLst>
                </a:gridCol>
              </a:tblGrid>
              <a:tr h="184658"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10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1/10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1/100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7315645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 dirty="0"/>
                        <a:t>1/1000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1/100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1/10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90708542"/>
                  </a:ext>
                </a:extLst>
              </a:tr>
            </a:tbl>
          </a:graphicData>
        </a:graphic>
      </p:graphicFrame>
      <p:sp>
        <p:nvSpPr>
          <p:cNvPr id="18" name="TextBox 17">
            <a:extLst>
              <a:ext uri="{FF2B5EF4-FFF2-40B4-BE49-F238E27FC236}">
                <a16:creationId xmlns:a16="http://schemas.microsoft.com/office/drawing/2014/main" id="{6668C7DD-13EA-CEE3-C34E-3A31D01286C4}"/>
              </a:ext>
            </a:extLst>
          </p:cNvPr>
          <p:cNvSpPr txBox="1"/>
          <p:nvPr/>
        </p:nvSpPr>
        <p:spPr>
          <a:xfrm>
            <a:off x="5101296" y="2396746"/>
            <a:ext cx="28365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1000" dirty="0"/>
              <a:t>W</a:t>
            </a:r>
          </a:p>
          <a:p>
            <a:r>
              <a:rPr kumimoji="1" lang="en-US" altLang="ko-KR" sz="1000" dirty="0"/>
              <a:t>E</a:t>
            </a:r>
            <a:endParaRPr kumimoji="1" lang="ko-KR" altLang="en-US" sz="10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EDC0592-B52A-CDA9-1C2A-0135F544EA8F}"/>
              </a:ext>
            </a:extLst>
          </p:cNvPr>
          <p:cNvSpPr txBox="1"/>
          <p:nvPr/>
        </p:nvSpPr>
        <p:spPr>
          <a:xfrm>
            <a:off x="5500830" y="365698"/>
            <a:ext cx="13822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dirty="0"/>
              <a:t>W    W.     W</a:t>
            </a:r>
            <a:endParaRPr kumimoji="1" lang="ko-KR" altLang="en-US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44638ED-18C7-883C-B67F-24A0B1B9E1B5}"/>
              </a:ext>
            </a:extLst>
          </p:cNvPr>
          <p:cNvSpPr txBox="1"/>
          <p:nvPr/>
        </p:nvSpPr>
        <p:spPr>
          <a:xfrm>
            <a:off x="6008611" y="1931683"/>
            <a:ext cx="13822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dirty="0"/>
              <a:t>W    W.     E</a:t>
            </a:r>
            <a:endParaRPr kumimoji="1" lang="ko-KR" alt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FFA445E-EDF7-0391-8923-CF840F5B3864}"/>
              </a:ext>
            </a:extLst>
          </p:cNvPr>
          <p:cNvSpPr txBox="1"/>
          <p:nvPr/>
        </p:nvSpPr>
        <p:spPr>
          <a:xfrm>
            <a:off x="2450592" y="3666744"/>
            <a:ext cx="32461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dirty="0"/>
              <a:t>r^3*10 = r*1</a:t>
            </a:r>
          </a:p>
          <a:p>
            <a:r>
              <a:rPr kumimoji="1" lang="en-US" altLang="ko-KR" dirty="0"/>
              <a:t>r = /sqrt{1/10}</a:t>
            </a:r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5367267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589117-C7B2-ED04-73B4-6D1A520218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A01AC3-3047-FB98-C507-898BA376CD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ＭＳ Ｐゴシック" pitchFamily="34" charset="-128"/>
              </a:rPr>
              <a:t>Infinite Utilities?!</a:t>
            </a:r>
            <a:endParaRPr lang="en-KR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79AAE0E-5954-D464-62E1-FB394E9D0DA7}"/>
              </a:ext>
            </a:extLst>
          </p:cNvPr>
          <p:cNvSpPr/>
          <p:nvPr/>
        </p:nvSpPr>
        <p:spPr>
          <a:xfrm>
            <a:off x="7067791" y="4928056"/>
            <a:ext cx="2076209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800" dirty="0">
                <a:solidFill>
                  <a:schemeClr val="bg1">
                    <a:lumMod val="65000"/>
                  </a:schemeClr>
                </a:solidFill>
                <a:cs typeface="Calibri"/>
              </a:rPr>
              <a:t>Adapted from CS188 of Klein and </a:t>
            </a:r>
            <a:r>
              <a:rPr lang="en-US" sz="800" dirty="0" err="1">
                <a:solidFill>
                  <a:schemeClr val="bg1">
                    <a:lumMod val="65000"/>
                  </a:schemeClr>
                </a:solidFill>
                <a:cs typeface="Calibri"/>
              </a:rPr>
              <a:t>Abbeel</a:t>
            </a:r>
            <a:endParaRPr lang="en-KR" sz="800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908B6C5-8630-F0DA-DF95-F81DCF73D6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1152475"/>
            <a:ext cx="8075216" cy="3416400"/>
          </a:xfrm>
        </p:spPr>
        <p:txBody>
          <a:bodyPr/>
          <a:lstStyle/>
          <a:p>
            <a:pPr>
              <a:lnSpc>
                <a:spcPct val="100000"/>
              </a:lnSpc>
              <a:buFont typeface="Wingdings" charset="0"/>
              <a:buChar char="§"/>
              <a:defRPr/>
            </a:pPr>
            <a:r>
              <a:rPr lang="en-US" dirty="0">
                <a:solidFill>
                  <a:schemeClr val="tx1"/>
                </a:solidFill>
              </a:rPr>
              <a:t>Problem: What if the game lasts forever?  Do we get infinite rewards?</a:t>
            </a:r>
          </a:p>
          <a:p>
            <a:pPr lvl="1">
              <a:lnSpc>
                <a:spcPct val="100000"/>
              </a:lnSpc>
              <a:buFont typeface="Wingdings" charset="0"/>
              <a:buChar char="§"/>
              <a:defRPr/>
            </a:pPr>
            <a:endParaRPr lang="en-US" sz="300" dirty="0">
              <a:solidFill>
                <a:schemeClr val="tx1"/>
              </a:solidFill>
            </a:endParaRPr>
          </a:p>
          <a:p>
            <a:pPr>
              <a:lnSpc>
                <a:spcPct val="100000"/>
              </a:lnSpc>
              <a:buFont typeface="Wingdings" charset="0"/>
              <a:buChar char="§"/>
              <a:defRPr/>
            </a:pPr>
            <a:r>
              <a:rPr lang="en-US" dirty="0">
                <a:solidFill>
                  <a:schemeClr val="tx1"/>
                </a:solidFill>
              </a:rPr>
              <a:t>Solutions:</a:t>
            </a:r>
          </a:p>
          <a:p>
            <a:pPr lvl="1">
              <a:lnSpc>
                <a:spcPct val="100000"/>
              </a:lnSpc>
              <a:spcBef>
                <a:spcPts val="600"/>
              </a:spcBef>
              <a:buFont typeface="Wingdings" charset="0"/>
              <a:buChar char="§"/>
              <a:defRPr/>
            </a:pPr>
            <a:r>
              <a:rPr lang="en-US" dirty="0">
                <a:solidFill>
                  <a:schemeClr val="tx1"/>
                </a:solidFill>
              </a:rPr>
              <a:t>Finite horizon: (similar to depth-limited search)</a:t>
            </a:r>
          </a:p>
          <a:p>
            <a:pPr lvl="2">
              <a:lnSpc>
                <a:spcPct val="100000"/>
              </a:lnSpc>
              <a:spcBef>
                <a:spcPts val="600"/>
              </a:spcBef>
              <a:buFont typeface="Wingdings" charset="0"/>
              <a:buChar char="§"/>
              <a:defRPr/>
            </a:pPr>
            <a:r>
              <a:rPr lang="en-US" sz="1200" dirty="0">
                <a:solidFill>
                  <a:schemeClr val="tx1"/>
                </a:solidFill>
              </a:rPr>
              <a:t>Terminate episodes after a fixed T steps (e.g. life)</a:t>
            </a:r>
          </a:p>
          <a:p>
            <a:pPr lvl="2">
              <a:lnSpc>
                <a:spcPct val="100000"/>
              </a:lnSpc>
              <a:spcBef>
                <a:spcPts val="600"/>
              </a:spcBef>
              <a:buFont typeface="Wingdings" charset="0"/>
              <a:buChar char="§"/>
              <a:defRPr/>
            </a:pPr>
            <a:r>
              <a:rPr lang="en-US" sz="1200" dirty="0">
                <a:solidFill>
                  <a:schemeClr val="tx1"/>
                </a:solidFill>
              </a:rPr>
              <a:t>Gives nonstationary policies (</a:t>
            </a:r>
            <a:r>
              <a:rPr lang="en-US" sz="1200" dirty="0">
                <a:solidFill>
                  <a:schemeClr val="tx1"/>
                </a:solidFill>
                <a:sym typeface="Symbol" charset="0"/>
              </a:rPr>
              <a:t> depends on time left)</a:t>
            </a:r>
            <a:endParaRPr lang="en-US" sz="100" dirty="0">
              <a:solidFill>
                <a:schemeClr val="tx1"/>
              </a:solidFill>
              <a:sym typeface="Symbol" charset="0"/>
            </a:endParaRPr>
          </a:p>
          <a:p>
            <a:pPr lvl="1">
              <a:lnSpc>
                <a:spcPct val="100000"/>
              </a:lnSpc>
              <a:buFont typeface="Wingdings" charset="0"/>
              <a:buChar char="§"/>
              <a:defRPr/>
            </a:pPr>
            <a:r>
              <a:rPr lang="en-US" dirty="0">
                <a:solidFill>
                  <a:schemeClr val="tx1"/>
                </a:solidFill>
                <a:sym typeface="Symbol" charset="0"/>
              </a:rPr>
              <a:t>Discounting: use 0 &lt;  &lt; 1</a:t>
            </a:r>
            <a:r>
              <a:rPr lang="en-US" altLang="ko-KR" dirty="0">
                <a:solidFill>
                  <a:schemeClr val="tx1"/>
                </a:solidFill>
                <a:sym typeface="Symbol" charset="0"/>
              </a:rPr>
              <a:t>.</a:t>
            </a:r>
            <a:r>
              <a:rPr lang="ko-KR" altLang="en-US" dirty="0">
                <a:solidFill>
                  <a:schemeClr val="tx1"/>
                </a:solidFill>
                <a:sym typeface="Symbol" charset="0"/>
              </a:rPr>
              <a:t> </a:t>
            </a:r>
            <a:r>
              <a:rPr lang="en-US" altLang="ko-KR" dirty="0">
                <a:solidFill>
                  <a:schemeClr val="tx1"/>
                </a:solidFill>
                <a:sym typeface="Symbol" charset="0"/>
              </a:rPr>
              <a:t>(Infinite geometric series)</a:t>
            </a:r>
            <a:endParaRPr lang="en-US" dirty="0">
              <a:solidFill>
                <a:schemeClr val="tx1"/>
              </a:solidFill>
              <a:sym typeface="Symbol" charset="0"/>
            </a:endParaRPr>
          </a:p>
          <a:p>
            <a:pPr lvl="1">
              <a:lnSpc>
                <a:spcPct val="100000"/>
              </a:lnSpc>
              <a:buFont typeface="Wingdings" charset="0"/>
              <a:buChar char="§"/>
              <a:defRPr/>
            </a:pPr>
            <a:endParaRPr lang="en-US" dirty="0">
              <a:solidFill>
                <a:schemeClr val="tx1"/>
              </a:solidFill>
              <a:sym typeface="Symbol" charset="0"/>
            </a:endParaRPr>
          </a:p>
          <a:p>
            <a:pPr lvl="2">
              <a:lnSpc>
                <a:spcPct val="100000"/>
              </a:lnSpc>
              <a:buFont typeface="Wingdings" charset="0"/>
              <a:buChar char="§"/>
              <a:defRPr/>
            </a:pPr>
            <a:r>
              <a:rPr lang="en-US" sz="1200" dirty="0">
                <a:solidFill>
                  <a:schemeClr val="tx1"/>
                </a:solidFill>
                <a:sym typeface="Symbol" charset="0"/>
              </a:rPr>
              <a:t>Smaller  means smaller </a:t>
            </a:r>
            <a:r>
              <a:rPr lang="ja-JP" altLang="en-US" sz="1200">
                <a:solidFill>
                  <a:schemeClr val="tx1"/>
                </a:solidFill>
                <a:sym typeface="Symbol" charset="0"/>
              </a:rPr>
              <a:t>“</a:t>
            </a:r>
            <a:r>
              <a:rPr lang="en-US" altLang="ja-JP" sz="1200" dirty="0">
                <a:solidFill>
                  <a:schemeClr val="tx1"/>
                </a:solidFill>
                <a:sym typeface="Symbol" charset="0"/>
              </a:rPr>
              <a:t>horizon</a:t>
            </a:r>
            <a:r>
              <a:rPr lang="ja-JP" altLang="en-US" sz="1200">
                <a:solidFill>
                  <a:schemeClr val="tx1"/>
                </a:solidFill>
                <a:sym typeface="Symbol" charset="0"/>
              </a:rPr>
              <a:t>”</a:t>
            </a:r>
            <a:r>
              <a:rPr lang="en-US" altLang="ja-JP" sz="1200" dirty="0">
                <a:solidFill>
                  <a:schemeClr val="tx1"/>
                </a:solidFill>
                <a:sym typeface="Symbol" charset="0"/>
              </a:rPr>
              <a:t> – shorter term focus</a:t>
            </a:r>
            <a:endParaRPr lang="en-US" sz="400" dirty="0">
              <a:solidFill>
                <a:schemeClr val="tx1"/>
              </a:solidFill>
              <a:sym typeface="Symbol" charset="0"/>
            </a:endParaRPr>
          </a:p>
          <a:p>
            <a:pPr lvl="1">
              <a:lnSpc>
                <a:spcPct val="100000"/>
              </a:lnSpc>
              <a:buClr>
                <a:srgbClr val="000000"/>
              </a:buClr>
              <a:buFont typeface="Wingdings" charset="0"/>
              <a:buChar char="§"/>
              <a:defRPr/>
            </a:pPr>
            <a:r>
              <a:rPr lang="en-US" dirty="0">
                <a:solidFill>
                  <a:schemeClr val="tx1"/>
                </a:solidFill>
                <a:sym typeface="Symbol" charset="0"/>
              </a:rPr>
              <a:t>Absorbing state: guarantee that for every policy, a terminal state will eventually be reached (like </a:t>
            </a:r>
            <a:r>
              <a:rPr lang="ja-JP" altLang="en-US">
                <a:solidFill>
                  <a:schemeClr val="tx1"/>
                </a:solidFill>
                <a:sym typeface="Symbol" charset="0"/>
              </a:rPr>
              <a:t>“</a:t>
            </a:r>
            <a:r>
              <a:rPr lang="en-US" altLang="ja-JP" dirty="0">
                <a:solidFill>
                  <a:schemeClr val="tx1"/>
                </a:solidFill>
                <a:sym typeface="Symbol" charset="0"/>
              </a:rPr>
              <a:t>overheated</a:t>
            </a:r>
            <a:r>
              <a:rPr lang="ja-JP" altLang="en-US">
                <a:solidFill>
                  <a:schemeClr val="tx1"/>
                </a:solidFill>
                <a:sym typeface="Symbol" charset="0"/>
              </a:rPr>
              <a:t>”</a:t>
            </a:r>
            <a:r>
              <a:rPr lang="en-US" altLang="ja-JP" dirty="0">
                <a:solidFill>
                  <a:schemeClr val="tx1"/>
                </a:solidFill>
                <a:sym typeface="Symbol" charset="0"/>
              </a:rPr>
              <a:t> for racing)</a:t>
            </a:r>
          </a:p>
        </p:txBody>
      </p:sp>
      <p:pic>
        <p:nvPicPr>
          <p:cNvPr id="7" name="Picture 6" descr="txp_fig">
            <a:extLst>
              <a:ext uri="{FF2B5EF4-FFF2-40B4-BE49-F238E27FC236}">
                <a16:creationId xmlns:a16="http://schemas.microsoft.com/office/drawing/2014/main" id="{C996C2A8-0DD6-9B7A-BD08-085295C91EF3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 cstate="print"/>
          <a:stretch>
            <a:fillRect/>
          </a:stretch>
        </p:blipFill>
        <p:spPr bwMode="auto">
          <a:xfrm>
            <a:off x="1432707" y="3343442"/>
            <a:ext cx="3571912" cy="488337"/>
          </a:xfrm>
          <a:prstGeom prst="rect">
            <a:avLst/>
          </a:prstGeom>
          <a:noFill/>
          <a:ln/>
          <a:effectLst/>
        </p:spPr>
      </p:pic>
      <p:pic>
        <p:nvPicPr>
          <p:cNvPr id="8" name="Picture 3">
            <a:extLst>
              <a:ext uri="{FF2B5EF4-FFF2-40B4-BE49-F238E27FC236}">
                <a16:creationId xmlns:a16="http://schemas.microsoft.com/office/drawing/2014/main" id="{FFC578C5-FB63-41BF-852F-003A51D80D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912789" y="2195324"/>
            <a:ext cx="2819689" cy="1314170"/>
          </a:xfrm>
          <a:prstGeom prst="rect">
            <a:avLst/>
          </a:prstGeom>
          <a:noFill/>
        </p:spPr>
      </p:pic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767B2D9-6314-82A2-08EB-009B363C345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KR"/>
              <a:t>691</a:t>
            </a:r>
            <a:endParaRPr lang="en-KR" sz="4000" dirty="0"/>
          </a:p>
        </p:txBody>
      </p:sp>
    </p:spTree>
    <p:extLst>
      <p:ext uri="{BB962C8B-B14F-4D97-AF65-F5344CB8AC3E}">
        <p14:creationId xmlns:p14="http://schemas.microsoft.com/office/powerpoint/2010/main" val="29251882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B02CD1-BE6A-F6DF-C976-8295DBD1CD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DFC5CC-8F2C-1216-ABED-00F8B6D8AC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ＭＳ Ｐゴシック" pitchFamily="34" charset="-128"/>
              </a:rPr>
              <a:t>Recap: Defining MDPs</a:t>
            </a:r>
            <a:endParaRPr lang="en-KR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83C19FB-521A-2FD1-0D02-37EA1866E4D1}"/>
              </a:ext>
            </a:extLst>
          </p:cNvPr>
          <p:cNvSpPr/>
          <p:nvPr/>
        </p:nvSpPr>
        <p:spPr>
          <a:xfrm>
            <a:off x="7067791" y="4928056"/>
            <a:ext cx="2076209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800" dirty="0">
                <a:solidFill>
                  <a:schemeClr val="bg1">
                    <a:lumMod val="65000"/>
                  </a:schemeClr>
                </a:solidFill>
                <a:cs typeface="Calibri"/>
              </a:rPr>
              <a:t>Adapted from CS188 of Klein and </a:t>
            </a:r>
            <a:r>
              <a:rPr lang="en-US" sz="800" dirty="0" err="1">
                <a:solidFill>
                  <a:schemeClr val="bg1">
                    <a:lumMod val="65000"/>
                  </a:schemeClr>
                </a:solidFill>
                <a:cs typeface="Calibri"/>
              </a:rPr>
              <a:t>Abbeel</a:t>
            </a:r>
            <a:endParaRPr lang="en-KR" sz="800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7E728EE-98FF-5583-DF6E-76F629421B4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80000"/>
              </a:lnSpc>
            </a:pPr>
            <a:r>
              <a:rPr lang="en-US" dirty="0">
                <a:solidFill>
                  <a:schemeClr val="tx1"/>
                </a:solidFill>
                <a:ea typeface="ＭＳ Ｐゴシック" pitchFamily="34" charset="-128"/>
              </a:rPr>
              <a:t>Markov decision processes:</a:t>
            </a:r>
          </a:p>
          <a:p>
            <a:pPr lvl="1">
              <a:lnSpc>
                <a:spcPct val="80000"/>
              </a:lnSpc>
            </a:pPr>
            <a:r>
              <a:rPr lang="en-US" dirty="0">
                <a:solidFill>
                  <a:schemeClr val="tx1"/>
                </a:solidFill>
                <a:ea typeface="ＭＳ Ｐゴシック" pitchFamily="34" charset="-128"/>
              </a:rPr>
              <a:t>Set of states S</a:t>
            </a:r>
          </a:p>
          <a:p>
            <a:pPr lvl="1">
              <a:lnSpc>
                <a:spcPct val="80000"/>
              </a:lnSpc>
            </a:pPr>
            <a:r>
              <a:rPr lang="en-US" dirty="0">
                <a:solidFill>
                  <a:schemeClr val="tx1"/>
                </a:solidFill>
                <a:ea typeface="ＭＳ Ｐゴシック" pitchFamily="34" charset="-128"/>
              </a:rPr>
              <a:t>Start state s</a:t>
            </a:r>
            <a:r>
              <a:rPr lang="en-US" baseline="-25000" dirty="0">
                <a:solidFill>
                  <a:schemeClr val="tx1"/>
                </a:solidFill>
                <a:ea typeface="ＭＳ Ｐゴシック" pitchFamily="34" charset="-128"/>
              </a:rPr>
              <a:t>0</a:t>
            </a:r>
          </a:p>
          <a:p>
            <a:pPr lvl="1">
              <a:lnSpc>
                <a:spcPct val="80000"/>
              </a:lnSpc>
            </a:pPr>
            <a:r>
              <a:rPr lang="en-US" dirty="0">
                <a:solidFill>
                  <a:schemeClr val="tx1"/>
                </a:solidFill>
                <a:ea typeface="ＭＳ Ｐゴシック" pitchFamily="34" charset="-128"/>
              </a:rPr>
              <a:t>Set of actions A</a:t>
            </a:r>
          </a:p>
          <a:p>
            <a:pPr lvl="1">
              <a:lnSpc>
                <a:spcPct val="80000"/>
              </a:lnSpc>
            </a:pPr>
            <a:r>
              <a:rPr lang="en-US" dirty="0">
                <a:solidFill>
                  <a:schemeClr val="tx1"/>
                </a:solidFill>
                <a:ea typeface="ＭＳ Ｐゴシック" pitchFamily="34" charset="-128"/>
              </a:rPr>
              <a:t>Transitions P ( s’ </a:t>
            </a:r>
            <a:r>
              <a:rPr lang="en-US" altLang="ja-JP" dirty="0">
                <a:solidFill>
                  <a:schemeClr val="tx1"/>
                </a:solidFill>
                <a:ea typeface="ＭＳ Ｐゴシック" pitchFamily="34" charset="-128"/>
              </a:rPr>
              <a:t>| s, a ) (or T ( s, a, s’ ) )</a:t>
            </a:r>
          </a:p>
          <a:p>
            <a:pPr lvl="1">
              <a:lnSpc>
                <a:spcPct val="80000"/>
              </a:lnSpc>
            </a:pPr>
            <a:r>
              <a:rPr lang="en-US" dirty="0">
                <a:solidFill>
                  <a:schemeClr val="tx1"/>
                </a:solidFill>
                <a:ea typeface="ＭＳ Ｐゴシック" pitchFamily="34" charset="-128"/>
              </a:rPr>
              <a:t>Rewards R ( s, a, s’ </a:t>
            </a:r>
            <a:r>
              <a:rPr lang="en-US" altLang="ja-JP" dirty="0">
                <a:solidFill>
                  <a:schemeClr val="tx1"/>
                </a:solidFill>
                <a:ea typeface="ＭＳ Ｐゴシック" pitchFamily="34" charset="-128"/>
              </a:rPr>
              <a:t>)  (and discount </a:t>
            </a:r>
            <a:r>
              <a:rPr lang="en-US" altLang="ja-JP" dirty="0">
                <a:solidFill>
                  <a:schemeClr val="tx1"/>
                </a:solidFill>
                <a:ea typeface="ＭＳ Ｐゴシック" pitchFamily="34" charset="-128"/>
                <a:sym typeface="Symbol" pitchFamily="18" charset="2"/>
              </a:rPr>
              <a:t></a:t>
            </a:r>
            <a:r>
              <a:rPr lang="en-US" altLang="ja-JP" dirty="0">
                <a:solidFill>
                  <a:schemeClr val="tx1"/>
                </a:solidFill>
                <a:ea typeface="ＭＳ Ｐゴシック" pitchFamily="34" charset="-128"/>
              </a:rPr>
              <a:t>)</a:t>
            </a:r>
          </a:p>
          <a:p>
            <a:pPr marL="596900" lvl="1" indent="0">
              <a:lnSpc>
                <a:spcPct val="80000"/>
              </a:lnSpc>
              <a:buNone/>
            </a:pPr>
            <a:endParaRPr lang="en-US" baseline="-25000" dirty="0">
              <a:solidFill>
                <a:schemeClr val="tx1"/>
              </a:solidFill>
              <a:ea typeface="ＭＳ Ｐゴシック" pitchFamily="34" charset="-128"/>
            </a:endParaRPr>
          </a:p>
          <a:p>
            <a:pPr>
              <a:lnSpc>
                <a:spcPct val="80000"/>
              </a:lnSpc>
            </a:pPr>
            <a:r>
              <a:rPr lang="en-US" dirty="0">
                <a:solidFill>
                  <a:schemeClr val="tx1"/>
                </a:solidFill>
                <a:ea typeface="ＭＳ Ｐゴシック" pitchFamily="34" charset="-128"/>
              </a:rPr>
              <a:t>MDP quantities so far:</a:t>
            </a:r>
          </a:p>
          <a:p>
            <a:pPr lvl="1">
              <a:lnSpc>
                <a:spcPct val="80000"/>
              </a:lnSpc>
            </a:pPr>
            <a:r>
              <a:rPr lang="en-US" dirty="0">
                <a:solidFill>
                  <a:schemeClr val="tx1"/>
                </a:solidFill>
                <a:ea typeface="ＭＳ Ｐゴシック" pitchFamily="34" charset="-128"/>
              </a:rPr>
              <a:t>Policy = Choice of action for each state</a:t>
            </a:r>
          </a:p>
          <a:p>
            <a:pPr lvl="1">
              <a:lnSpc>
                <a:spcPct val="80000"/>
              </a:lnSpc>
            </a:pPr>
            <a:r>
              <a:rPr lang="en-US" dirty="0">
                <a:solidFill>
                  <a:schemeClr val="tx1"/>
                </a:solidFill>
                <a:ea typeface="ＭＳ Ｐゴシック" pitchFamily="34" charset="-128"/>
              </a:rPr>
              <a:t>Utility = sum of (discounted) rewards</a:t>
            </a:r>
          </a:p>
        </p:txBody>
      </p:sp>
      <p:grpSp>
        <p:nvGrpSpPr>
          <p:cNvPr id="3" name="Group 4">
            <a:extLst>
              <a:ext uri="{FF2B5EF4-FFF2-40B4-BE49-F238E27FC236}">
                <a16:creationId xmlns:a16="http://schemas.microsoft.com/office/drawing/2014/main" id="{3A4687B8-A679-A644-9331-4F37A7E4E24E}"/>
              </a:ext>
            </a:extLst>
          </p:cNvPr>
          <p:cNvGrpSpPr>
            <a:grpSpLocks/>
          </p:cNvGrpSpPr>
          <p:nvPr/>
        </p:nvGrpSpPr>
        <p:grpSpPr bwMode="auto">
          <a:xfrm>
            <a:off x="5361654" y="1621273"/>
            <a:ext cx="3119924" cy="2620108"/>
            <a:chOff x="2400" y="1453"/>
            <a:chExt cx="1392" cy="1169"/>
          </a:xfrm>
        </p:grpSpPr>
        <p:sp>
          <p:nvSpPr>
            <p:cNvPr id="5" name="AutoShape 5">
              <a:extLst>
                <a:ext uri="{FF2B5EF4-FFF2-40B4-BE49-F238E27FC236}">
                  <a16:creationId xmlns:a16="http://schemas.microsoft.com/office/drawing/2014/main" id="{AC3BF5E5-7587-8CD8-B202-C5DC6DEB51B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70" y="1488"/>
              <a:ext cx="155" cy="124"/>
            </a:xfrm>
            <a:prstGeom prst="triangle">
              <a:avLst>
                <a:gd name="adj" fmla="val 50000"/>
              </a:avLst>
            </a:prstGeom>
            <a:solidFill>
              <a:srgbClr val="0000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US" sz="1800">
                <a:latin typeface="Calibri"/>
                <a:cs typeface="Calibri"/>
              </a:endParaRPr>
            </a:p>
          </p:txBody>
        </p: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57766468-9831-FE28-5BD4-7C68ABEADC2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529" y="1617"/>
              <a:ext cx="1263" cy="361"/>
              <a:chOff x="1584" y="1680"/>
              <a:chExt cx="2352" cy="336"/>
            </a:xfrm>
          </p:grpSpPr>
          <p:sp>
            <p:nvSpPr>
              <p:cNvPr id="21" name="Line 7">
                <a:extLst>
                  <a:ext uri="{FF2B5EF4-FFF2-40B4-BE49-F238E27FC236}">
                    <a16:creationId xmlns:a16="http://schemas.microsoft.com/office/drawing/2014/main" id="{79D27ED0-69C7-5898-0D45-07CC7746F61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584" y="1680"/>
                <a:ext cx="1152" cy="33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dash"/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en-US" sz="1800">
                  <a:latin typeface="Calibri"/>
                  <a:cs typeface="Calibri"/>
                </a:endParaRPr>
              </a:p>
            </p:txBody>
          </p:sp>
          <p:sp>
            <p:nvSpPr>
              <p:cNvPr id="22" name="Line 8">
                <a:extLst>
                  <a:ext uri="{FF2B5EF4-FFF2-40B4-BE49-F238E27FC236}">
                    <a16:creationId xmlns:a16="http://schemas.microsoft.com/office/drawing/2014/main" id="{ABFDCF6F-6F61-8650-A979-BC98A9D064E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736" y="1680"/>
                <a:ext cx="1200" cy="28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dash"/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en-US" sz="1800">
                  <a:latin typeface="Calibri"/>
                  <a:cs typeface="Calibri"/>
                </a:endParaRPr>
              </a:p>
            </p:txBody>
          </p:sp>
          <p:sp>
            <p:nvSpPr>
              <p:cNvPr id="23" name="Line 9">
                <a:extLst>
                  <a:ext uri="{FF2B5EF4-FFF2-40B4-BE49-F238E27FC236}">
                    <a16:creationId xmlns:a16="http://schemas.microsoft.com/office/drawing/2014/main" id="{98EA7728-CDA1-798B-CD55-00A11CDB80A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304" y="1680"/>
                <a:ext cx="432" cy="33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en-US" sz="1800">
                  <a:latin typeface="Calibri"/>
                  <a:cs typeface="Calibri"/>
                </a:endParaRPr>
              </a:p>
            </p:txBody>
          </p:sp>
          <p:sp>
            <p:nvSpPr>
              <p:cNvPr id="24" name="Line 10">
                <a:extLst>
                  <a:ext uri="{FF2B5EF4-FFF2-40B4-BE49-F238E27FC236}">
                    <a16:creationId xmlns:a16="http://schemas.microsoft.com/office/drawing/2014/main" id="{7770DD9A-21E7-7A22-0E68-5CAC818232C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736" y="1680"/>
                <a:ext cx="432" cy="28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dash"/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en-US" sz="1800">
                  <a:latin typeface="Calibri"/>
                  <a:cs typeface="Calibri"/>
                </a:endParaRPr>
              </a:p>
            </p:txBody>
          </p:sp>
        </p:grpSp>
        <p:sp>
          <p:nvSpPr>
            <p:cNvPr id="8" name="Oval 11">
              <a:extLst>
                <a:ext uri="{FF2B5EF4-FFF2-40B4-BE49-F238E27FC236}">
                  <a16:creationId xmlns:a16="http://schemas.microsoft.com/office/drawing/2014/main" id="{907082B6-13AF-EF60-F409-B84642A3F2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64" y="1978"/>
              <a:ext cx="129" cy="129"/>
            </a:xfrm>
            <a:prstGeom prst="ellipse">
              <a:avLst/>
            </a:prstGeom>
            <a:solidFill>
              <a:srgbClr val="008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sz="1800">
                <a:latin typeface="Calibri"/>
                <a:cs typeface="Calibri"/>
              </a:endParaRPr>
            </a:p>
          </p:txBody>
        </p:sp>
        <p:grpSp>
          <p:nvGrpSpPr>
            <p:cNvPr id="10" name="Group 12">
              <a:extLst>
                <a:ext uri="{FF2B5EF4-FFF2-40B4-BE49-F238E27FC236}">
                  <a16:creationId xmlns:a16="http://schemas.microsoft.com/office/drawing/2014/main" id="{7904F3C4-0D0D-48CB-C23E-D9B37170036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00" y="2107"/>
              <a:ext cx="1057" cy="386"/>
              <a:chOff x="1536" y="2400"/>
              <a:chExt cx="1584" cy="624"/>
            </a:xfrm>
          </p:grpSpPr>
          <p:sp>
            <p:nvSpPr>
              <p:cNvPr id="17" name="Line 13">
                <a:extLst>
                  <a:ext uri="{FF2B5EF4-FFF2-40B4-BE49-F238E27FC236}">
                    <a16:creationId xmlns:a16="http://schemas.microsoft.com/office/drawing/2014/main" id="{A983D089-0C6D-1B4B-0FED-48794FD7069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536" y="2400"/>
                <a:ext cx="776" cy="62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dash"/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en-US" sz="1800">
                  <a:latin typeface="Calibri"/>
                  <a:cs typeface="Calibri"/>
                </a:endParaRPr>
              </a:p>
            </p:txBody>
          </p:sp>
          <p:sp>
            <p:nvSpPr>
              <p:cNvPr id="18" name="Line 14">
                <a:extLst>
                  <a:ext uri="{FF2B5EF4-FFF2-40B4-BE49-F238E27FC236}">
                    <a16:creationId xmlns:a16="http://schemas.microsoft.com/office/drawing/2014/main" id="{02253CB5-9476-F142-792A-A65D98B3909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12" y="2400"/>
                <a:ext cx="808" cy="62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dash"/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en-US" sz="1800">
                  <a:latin typeface="Calibri"/>
                  <a:cs typeface="Calibri"/>
                </a:endParaRPr>
              </a:p>
            </p:txBody>
          </p:sp>
          <p:sp>
            <p:nvSpPr>
              <p:cNvPr id="19" name="Line 15">
                <a:extLst>
                  <a:ext uri="{FF2B5EF4-FFF2-40B4-BE49-F238E27FC236}">
                    <a16:creationId xmlns:a16="http://schemas.microsoft.com/office/drawing/2014/main" id="{605E5011-36A0-44B1-A7FF-4AA4052A217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021" y="2400"/>
                <a:ext cx="291" cy="624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prstDash val="dash"/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en-US" sz="1800">
                  <a:latin typeface="Calibri"/>
                  <a:cs typeface="Calibri"/>
                </a:endParaRPr>
              </a:p>
            </p:txBody>
          </p:sp>
          <p:sp>
            <p:nvSpPr>
              <p:cNvPr id="20" name="Line 16">
                <a:extLst>
                  <a:ext uri="{FF2B5EF4-FFF2-40B4-BE49-F238E27FC236}">
                    <a16:creationId xmlns:a16="http://schemas.microsoft.com/office/drawing/2014/main" id="{FF673A67-D535-EB47-8ABF-2F0927ADBCC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12" y="2400"/>
                <a:ext cx="280" cy="624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en-US" sz="1800">
                  <a:latin typeface="Calibri"/>
                  <a:cs typeface="Calibri"/>
                </a:endParaRPr>
              </a:p>
            </p:txBody>
          </p:sp>
        </p:grpSp>
        <p:sp>
          <p:nvSpPr>
            <p:cNvPr id="11" name="Text Box 17">
              <a:extLst>
                <a:ext uri="{FF2B5EF4-FFF2-40B4-BE49-F238E27FC236}">
                  <a16:creationId xmlns:a16="http://schemas.microsoft.com/office/drawing/2014/main" id="{F15B0982-3CF8-D34B-6497-2DD07AE1724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71" y="1680"/>
              <a:ext cx="129" cy="1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1800" dirty="0">
                  <a:latin typeface="Calibri"/>
                  <a:cs typeface="Calibri"/>
                </a:rPr>
                <a:t>a</a:t>
              </a:r>
            </a:p>
          </p:txBody>
        </p:sp>
        <p:sp>
          <p:nvSpPr>
            <p:cNvPr id="12" name="Text Box 18">
              <a:extLst>
                <a:ext uri="{FF2B5EF4-FFF2-40B4-BE49-F238E27FC236}">
                  <a16:creationId xmlns:a16="http://schemas.microsoft.com/office/drawing/2014/main" id="{ED4738DF-1F46-5850-2466-30136558608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86" y="1453"/>
              <a:ext cx="129" cy="1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1800" dirty="0">
                  <a:solidFill>
                    <a:srgbClr val="0000FF"/>
                  </a:solidFill>
                  <a:latin typeface="Calibri"/>
                  <a:cs typeface="Calibri"/>
                </a:rPr>
                <a:t>s</a:t>
              </a:r>
            </a:p>
          </p:txBody>
        </p:sp>
        <p:sp>
          <p:nvSpPr>
            <p:cNvPr id="13" name="Text Box 19">
              <a:extLst>
                <a:ext uri="{FF2B5EF4-FFF2-40B4-BE49-F238E27FC236}">
                  <a16:creationId xmlns:a16="http://schemas.microsoft.com/office/drawing/2014/main" id="{C1004FF8-9137-8272-633A-FA6B051D528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93" y="1977"/>
              <a:ext cx="559" cy="1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1800" dirty="0">
                  <a:solidFill>
                    <a:srgbClr val="008000"/>
                  </a:solidFill>
                  <a:latin typeface="Calibri"/>
                  <a:cs typeface="Calibri"/>
                </a:rPr>
                <a:t>s, a</a:t>
              </a:r>
            </a:p>
          </p:txBody>
        </p:sp>
        <p:sp>
          <p:nvSpPr>
            <p:cNvPr id="14" name="Text Box 20">
              <a:extLst>
                <a:ext uri="{FF2B5EF4-FFF2-40B4-BE49-F238E27FC236}">
                  <a16:creationId xmlns:a16="http://schemas.microsoft.com/office/drawing/2014/main" id="{8F9CF236-A941-3298-B1CB-D65A3FA5398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31" y="2281"/>
              <a:ext cx="504" cy="1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1800" dirty="0" err="1">
                  <a:latin typeface="Calibri"/>
                  <a:cs typeface="Calibri"/>
                </a:rPr>
                <a:t>s,a,s</a:t>
              </a:r>
              <a:r>
                <a:rPr lang="ja-JP" altLang="en-US" sz="1800" dirty="0">
                  <a:latin typeface="Calibri"/>
                  <a:cs typeface="Calibri"/>
                </a:rPr>
                <a:t>’</a:t>
              </a:r>
              <a:endParaRPr lang="en-US" sz="1800" dirty="0">
                <a:latin typeface="Calibri"/>
                <a:cs typeface="Calibri"/>
              </a:endParaRPr>
            </a:p>
          </p:txBody>
        </p:sp>
        <p:sp>
          <p:nvSpPr>
            <p:cNvPr id="15" name="AutoShape 21">
              <a:extLst>
                <a:ext uri="{FF2B5EF4-FFF2-40B4-BE49-F238E27FC236}">
                  <a16:creationId xmlns:a16="http://schemas.microsoft.com/office/drawing/2014/main" id="{C916341B-5BC3-6544-9F2C-4640F678C96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19" y="2499"/>
              <a:ext cx="154" cy="123"/>
            </a:xfrm>
            <a:prstGeom prst="triangle">
              <a:avLst>
                <a:gd name="adj" fmla="val 50000"/>
              </a:avLst>
            </a:prstGeom>
            <a:solidFill>
              <a:srgbClr val="0000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r" rtl="1"/>
              <a:endParaRPr lang="en-US" sz="1800">
                <a:latin typeface="Calibri"/>
                <a:cs typeface="Calibri"/>
              </a:endParaRPr>
            </a:p>
          </p:txBody>
        </p:sp>
        <p:sp>
          <p:nvSpPr>
            <p:cNvPr id="16" name="Text Box 22">
              <a:extLst>
                <a:ext uri="{FF2B5EF4-FFF2-40B4-BE49-F238E27FC236}">
                  <a16:creationId xmlns:a16="http://schemas.microsoft.com/office/drawing/2014/main" id="{786A3685-F796-A703-89DF-931787FAD80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96" y="2448"/>
              <a:ext cx="331" cy="1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r" rtl="1">
                <a:spcBef>
                  <a:spcPct val="50000"/>
                </a:spcBef>
              </a:pPr>
              <a:r>
                <a:rPr lang="en-US" sz="1800" dirty="0">
                  <a:solidFill>
                    <a:srgbClr val="0000FF"/>
                  </a:solidFill>
                  <a:latin typeface="Calibri"/>
                  <a:cs typeface="Calibri"/>
                </a:rPr>
                <a:t>s</a:t>
              </a:r>
              <a:r>
                <a:rPr lang="ja-JP" altLang="en-US" sz="1800">
                  <a:solidFill>
                    <a:srgbClr val="0000FF"/>
                  </a:solidFill>
                  <a:latin typeface="Calibri"/>
                  <a:cs typeface="Calibri"/>
                </a:rPr>
                <a:t>’</a:t>
              </a:r>
              <a:endParaRPr lang="en-US" sz="1800" dirty="0">
                <a:solidFill>
                  <a:srgbClr val="0000FF"/>
                </a:solidFill>
                <a:latin typeface="Calibri"/>
                <a:cs typeface="Calibri"/>
              </a:endParaRPr>
            </a:p>
          </p:txBody>
        </p:sp>
      </p:grp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F5470D-7E36-4048-F7F9-10CAE9D862D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KR"/>
              <a:t>691</a:t>
            </a:r>
            <a:endParaRPr lang="en-KR" sz="4000" dirty="0"/>
          </a:p>
        </p:txBody>
      </p:sp>
    </p:spTree>
    <p:extLst>
      <p:ext uri="{BB962C8B-B14F-4D97-AF65-F5344CB8AC3E}">
        <p14:creationId xmlns:p14="http://schemas.microsoft.com/office/powerpoint/2010/main" val="16781635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A985C5-AABB-BDAB-E5CA-86ED9E8D1E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E0028A-A6E5-DB6A-00B7-5242175207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Solving MDPs</a:t>
            </a:r>
            <a:endParaRPr lang="en-KR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FDCE792-3141-518F-F542-DB10E6A6EBC2}"/>
              </a:ext>
            </a:extLst>
          </p:cNvPr>
          <p:cNvSpPr/>
          <p:nvPr/>
        </p:nvSpPr>
        <p:spPr>
          <a:xfrm>
            <a:off x="7067791" y="4928056"/>
            <a:ext cx="2076209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800" dirty="0">
                <a:solidFill>
                  <a:schemeClr val="bg1">
                    <a:lumMod val="65000"/>
                  </a:schemeClr>
                </a:solidFill>
                <a:cs typeface="Calibri"/>
              </a:rPr>
              <a:t>Adapted from CS188 of Klein and </a:t>
            </a:r>
            <a:r>
              <a:rPr lang="en-US" sz="800" dirty="0" err="1">
                <a:solidFill>
                  <a:schemeClr val="bg1">
                    <a:lumMod val="65000"/>
                  </a:schemeClr>
                </a:solidFill>
                <a:cs typeface="Calibri"/>
              </a:rPr>
              <a:t>Abbeel</a:t>
            </a:r>
            <a:endParaRPr lang="en-KR" sz="8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766D897-C322-7766-2A62-B3FAEF638A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829395" y="1434527"/>
            <a:ext cx="5485210" cy="3206848"/>
          </a:xfrm>
          <a:prstGeom prst="rect">
            <a:avLst/>
          </a:prstGeom>
          <a:noFill/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DC5589B-E5DB-CA22-7B68-8D3C157077B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KR"/>
              <a:t>691</a:t>
            </a:r>
            <a:endParaRPr lang="en-KR" sz="4000" dirty="0"/>
          </a:p>
        </p:txBody>
      </p:sp>
    </p:spTree>
    <p:extLst>
      <p:ext uri="{BB962C8B-B14F-4D97-AF65-F5344CB8AC3E}">
        <p14:creationId xmlns:p14="http://schemas.microsoft.com/office/powerpoint/2010/main" val="97128353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727B1F-0C27-E8D5-A0DA-2BB8522A4C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00FE73-40AB-D259-1BE6-61F1BE8FFA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Optimal Quantities</a:t>
            </a:r>
            <a:endParaRPr lang="en-KR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A282546-8093-F70A-8D96-8EEEC6599CD5}"/>
              </a:ext>
            </a:extLst>
          </p:cNvPr>
          <p:cNvSpPr/>
          <p:nvPr/>
        </p:nvSpPr>
        <p:spPr>
          <a:xfrm>
            <a:off x="7067791" y="4928056"/>
            <a:ext cx="2076209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800" dirty="0">
                <a:solidFill>
                  <a:schemeClr val="bg1">
                    <a:lumMod val="65000"/>
                  </a:schemeClr>
                </a:solidFill>
                <a:cs typeface="Calibri"/>
              </a:rPr>
              <a:t>Adapted from CS188 of Klein and </a:t>
            </a:r>
            <a:r>
              <a:rPr lang="en-US" sz="800" dirty="0" err="1">
                <a:solidFill>
                  <a:schemeClr val="bg1">
                    <a:lumMod val="65000"/>
                  </a:schemeClr>
                </a:solidFill>
                <a:cs typeface="Calibri"/>
              </a:rPr>
              <a:t>Abbeel</a:t>
            </a:r>
            <a:endParaRPr lang="en-KR" sz="800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A78FE9D-F087-5499-8AB1-ED6D0D5B49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1" y="1152475"/>
            <a:ext cx="5446186" cy="3416400"/>
          </a:xfrm>
        </p:spPr>
        <p:txBody>
          <a:bodyPr/>
          <a:lstStyle/>
          <a:p>
            <a:pPr marL="285750" indent="-285750" defTabSz="685800" fontAlgn="base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defRPr/>
            </a:pPr>
            <a:r>
              <a:rPr lang="en-US" dirty="0">
                <a:solidFill>
                  <a:srgbClr val="C00000"/>
                </a:solidFill>
                <a:ea typeface="ＭＳ Ｐゴシック" pitchFamily="34" charset="-128"/>
              </a:rPr>
              <a:t>The value (utility) of a state </a:t>
            </a:r>
            <a:r>
              <a:rPr lang="en-US" b="1" i="1" dirty="0">
                <a:solidFill>
                  <a:srgbClr val="C00000"/>
                </a:solidFill>
                <a:ea typeface="ＭＳ Ｐゴシック" pitchFamily="34" charset="-128"/>
              </a:rPr>
              <a:t>s </a:t>
            </a:r>
            <a:r>
              <a:rPr lang="en-US" dirty="0">
                <a:solidFill>
                  <a:srgbClr val="C00000"/>
                </a:solidFill>
                <a:ea typeface="ＭＳ Ｐゴシック" pitchFamily="34" charset="-128"/>
              </a:rPr>
              <a:t>:</a:t>
            </a:r>
          </a:p>
          <a:p>
            <a:pPr marL="685782" lvl="1" indent="-342900" defTabSz="685800" fontAlgn="base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chemeClr val="tx1"/>
              </a:buClr>
              <a:defRPr/>
            </a:pPr>
            <a:r>
              <a:rPr lang="en-US" sz="1800" dirty="0">
                <a:solidFill>
                  <a:schemeClr val="tx1"/>
                </a:solidFill>
                <a:ea typeface="ＭＳ Ｐゴシック" pitchFamily="34" charset="-128"/>
              </a:rPr>
              <a:t>V</a:t>
            </a:r>
            <a:r>
              <a:rPr lang="en-US" sz="1800" dirty="0">
                <a:solidFill>
                  <a:schemeClr val="tx1"/>
                </a:solidFill>
                <a:ea typeface="ＭＳ Ｐゴシック" pitchFamily="34" charset="-128"/>
                <a:sym typeface="Symbol" pitchFamily="18" charset="2"/>
              </a:rPr>
              <a:t>* </a:t>
            </a:r>
            <a:r>
              <a:rPr lang="en-US" sz="1800" dirty="0">
                <a:solidFill>
                  <a:schemeClr val="tx1"/>
                </a:solidFill>
                <a:ea typeface="ＭＳ Ｐゴシック" pitchFamily="34" charset="-128"/>
              </a:rPr>
              <a:t>(</a:t>
            </a:r>
            <a:r>
              <a:rPr lang="en-US" sz="1800" b="1" i="1" dirty="0">
                <a:solidFill>
                  <a:schemeClr val="tx1"/>
                </a:solidFill>
                <a:ea typeface="ＭＳ Ｐゴシック" pitchFamily="34" charset="-128"/>
              </a:rPr>
              <a:t>s </a:t>
            </a:r>
            <a:r>
              <a:rPr lang="en-US" sz="1800" dirty="0">
                <a:solidFill>
                  <a:schemeClr val="tx1"/>
                </a:solidFill>
                <a:ea typeface="ＭＳ Ｐゴシック" pitchFamily="34" charset="-128"/>
              </a:rPr>
              <a:t>) = expected utility starting in </a:t>
            </a:r>
            <a:r>
              <a:rPr lang="en-US" sz="1800" b="1" i="1" dirty="0">
                <a:solidFill>
                  <a:schemeClr val="tx1"/>
                </a:solidFill>
                <a:ea typeface="ＭＳ Ｐゴシック" pitchFamily="34" charset="-128"/>
              </a:rPr>
              <a:t>s</a:t>
            </a:r>
            <a:r>
              <a:rPr lang="en-US" sz="1800" dirty="0">
                <a:solidFill>
                  <a:schemeClr val="tx1"/>
                </a:solidFill>
                <a:ea typeface="ＭＳ Ｐゴシック" pitchFamily="34" charset="-128"/>
              </a:rPr>
              <a:t> and </a:t>
            </a:r>
            <a:br>
              <a:rPr lang="en-US" sz="1800" dirty="0">
                <a:solidFill>
                  <a:schemeClr val="tx1"/>
                </a:solidFill>
                <a:ea typeface="ＭＳ Ｐゴシック" pitchFamily="34" charset="-128"/>
              </a:rPr>
            </a:br>
            <a:r>
              <a:rPr lang="en-US" sz="1800" b="1" i="1" dirty="0">
                <a:solidFill>
                  <a:schemeClr val="tx1"/>
                </a:solidFill>
                <a:ea typeface="ＭＳ Ｐゴシック" pitchFamily="34" charset="-128"/>
              </a:rPr>
              <a:t>acting optimally</a:t>
            </a:r>
          </a:p>
          <a:p>
            <a:pPr marL="171450" indent="-171450" defTabSz="685800" fontAlgn="base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defRPr/>
            </a:pPr>
            <a:endParaRPr lang="en-US" dirty="0">
              <a:solidFill>
                <a:schemeClr val="tx1"/>
              </a:solidFill>
              <a:ea typeface="ＭＳ Ｐゴシック" pitchFamily="34" charset="-128"/>
            </a:endParaRPr>
          </a:p>
          <a:p>
            <a:pPr marL="342900" defTabSz="685800" fontAlgn="base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defRPr/>
            </a:pPr>
            <a:r>
              <a:rPr lang="en-US" dirty="0">
                <a:solidFill>
                  <a:srgbClr val="018000"/>
                </a:solidFill>
                <a:ea typeface="ＭＳ Ｐゴシック" pitchFamily="34" charset="-128"/>
              </a:rPr>
              <a:t>The value (utility) of a q-state </a:t>
            </a:r>
            <a:r>
              <a:rPr lang="en-US" i="1" dirty="0">
                <a:solidFill>
                  <a:srgbClr val="018000"/>
                </a:solidFill>
                <a:ea typeface="ＭＳ Ｐゴシック" pitchFamily="34" charset="-128"/>
              </a:rPr>
              <a:t>(</a:t>
            </a:r>
            <a:r>
              <a:rPr lang="en-US" b="1" i="1" dirty="0" err="1">
                <a:solidFill>
                  <a:srgbClr val="018000"/>
                </a:solidFill>
                <a:ea typeface="ＭＳ Ｐゴシック" pitchFamily="34" charset="-128"/>
              </a:rPr>
              <a:t>s,a</a:t>
            </a:r>
            <a:r>
              <a:rPr lang="en-US" i="1" dirty="0">
                <a:solidFill>
                  <a:srgbClr val="018000"/>
                </a:solidFill>
                <a:ea typeface="ＭＳ Ｐゴシック" pitchFamily="34" charset="-128"/>
              </a:rPr>
              <a:t>) </a:t>
            </a:r>
            <a:r>
              <a:rPr lang="en-US" dirty="0">
                <a:solidFill>
                  <a:srgbClr val="018000"/>
                </a:solidFill>
                <a:ea typeface="ＭＳ Ｐゴシック" pitchFamily="34" charset="-128"/>
              </a:rPr>
              <a:t>:</a:t>
            </a:r>
          </a:p>
          <a:p>
            <a:pPr marL="685782" lvl="1" indent="-342900" defTabSz="685800" fontAlgn="base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chemeClr val="tx1"/>
              </a:buClr>
              <a:defRPr/>
            </a:pPr>
            <a:r>
              <a:rPr lang="en-US" sz="1800" dirty="0">
                <a:solidFill>
                  <a:schemeClr val="tx1"/>
                </a:solidFill>
                <a:ea typeface="ＭＳ Ｐゴシック" pitchFamily="34" charset="-128"/>
              </a:rPr>
              <a:t>Q</a:t>
            </a:r>
            <a:r>
              <a:rPr lang="en-US" sz="1800" dirty="0">
                <a:solidFill>
                  <a:schemeClr val="tx1"/>
                </a:solidFill>
                <a:ea typeface="ＭＳ Ｐゴシック" pitchFamily="34" charset="-128"/>
                <a:sym typeface="Symbol" pitchFamily="18" charset="2"/>
              </a:rPr>
              <a:t>* </a:t>
            </a:r>
            <a:r>
              <a:rPr lang="en-US" sz="1800" dirty="0">
                <a:solidFill>
                  <a:schemeClr val="tx1"/>
                </a:solidFill>
                <a:ea typeface="ＭＳ Ｐゴシック" pitchFamily="34" charset="-128"/>
              </a:rPr>
              <a:t>(</a:t>
            </a:r>
            <a:r>
              <a:rPr lang="en-US" sz="1800" b="1" i="1" dirty="0" err="1">
                <a:solidFill>
                  <a:schemeClr val="tx1"/>
                </a:solidFill>
                <a:ea typeface="ＭＳ Ｐゴシック" pitchFamily="34" charset="-128"/>
              </a:rPr>
              <a:t>s,a</a:t>
            </a:r>
            <a:r>
              <a:rPr lang="en-US" sz="1800" b="1" i="1" dirty="0">
                <a:solidFill>
                  <a:schemeClr val="tx1"/>
                </a:solidFill>
                <a:ea typeface="ＭＳ Ｐゴシック" pitchFamily="34" charset="-128"/>
              </a:rPr>
              <a:t> </a:t>
            </a:r>
            <a:r>
              <a:rPr lang="en-US" sz="1800" dirty="0">
                <a:solidFill>
                  <a:schemeClr val="tx1"/>
                </a:solidFill>
                <a:ea typeface="ＭＳ Ｐゴシック" pitchFamily="34" charset="-128"/>
              </a:rPr>
              <a:t>) = expected utility starting out having taken action </a:t>
            </a:r>
            <a:r>
              <a:rPr lang="en-US" sz="1800" b="1" i="1" dirty="0">
                <a:solidFill>
                  <a:schemeClr val="tx1"/>
                </a:solidFill>
                <a:ea typeface="ＭＳ Ｐゴシック" pitchFamily="34" charset="-128"/>
              </a:rPr>
              <a:t>a</a:t>
            </a:r>
            <a:r>
              <a:rPr lang="en-US" sz="1800" dirty="0">
                <a:solidFill>
                  <a:schemeClr val="tx1"/>
                </a:solidFill>
                <a:ea typeface="ＭＳ Ｐゴシック" pitchFamily="34" charset="-128"/>
              </a:rPr>
              <a:t> from state </a:t>
            </a:r>
            <a:r>
              <a:rPr lang="en-US" sz="1800" b="1" i="1" dirty="0">
                <a:solidFill>
                  <a:schemeClr val="tx1"/>
                </a:solidFill>
                <a:ea typeface="ＭＳ Ｐゴシック" pitchFamily="34" charset="-128"/>
              </a:rPr>
              <a:t>s</a:t>
            </a:r>
            <a:r>
              <a:rPr lang="en-US" sz="1800" dirty="0">
                <a:solidFill>
                  <a:schemeClr val="tx1"/>
                </a:solidFill>
                <a:ea typeface="ＭＳ Ｐゴシック" pitchFamily="34" charset="-128"/>
              </a:rPr>
              <a:t> and (thereafter) </a:t>
            </a:r>
            <a:r>
              <a:rPr lang="en-US" sz="1800" b="1" i="1" dirty="0">
                <a:solidFill>
                  <a:schemeClr val="tx1"/>
                </a:solidFill>
                <a:ea typeface="ＭＳ Ｐゴシック" pitchFamily="34" charset="-128"/>
              </a:rPr>
              <a:t>acting optimally</a:t>
            </a:r>
          </a:p>
          <a:p>
            <a:pPr marL="514332" lvl="1" indent="-171450" defTabSz="685800" fontAlgn="base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defRPr/>
            </a:pPr>
            <a:endParaRPr lang="en-US" sz="1800" dirty="0">
              <a:solidFill>
                <a:schemeClr val="tx1"/>
              </a:solidFill>
              <a:ea typeface="ＭＳ Ｐゴシック" pitchFamily="34" charset="-128"/>
            </a:endParaRPr>
          </a:p>
          <a:p>
            <a:pPr marL="342900" defTabSz="685800" fontAlgn="base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defRPr/>
            </a:pPr>
            <a:r>
              <a:rPr lang="en-US" dirty="0">
                <a:solidFill>
                  <a:srgbClr val="C00000"/>
                </a:solidFill>
                <a:ea typeface="ＭＳ Ｐゴシック" pitchFamily="34" charset="-128"/>
              </a:rPr>
              <a:t>The optimal policy:</a:t>
            </a:r>
          </a:p>
          <a:p>
            <a:pPr marL="685782" lvl="1" indent="-342900" defTabSz="685800" fontAlgn="base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defRPr/>
            </a:pPr>
            <a:r>
              <a:rPr lang="en-US" sz="1800" dirty="0">
                <a:solidFill>
                  <a:schemeClr val="tx1"/>
                </a:solidFill>
                <a:ea typeface="ＭＳ Ｐゴシック" pitchFamily="34" charset="-128"/>
                <a:sym typeface="Symbol" pitchFamily="18" charset="2"/>
              </a:rPr>
              <a:t>* </a:t>
            </a:r>
            <a:r>
              <a:rPr lang="en-US" sz="1800" dirty="0">
                <a:solidFill>
                  <a:schemeClr val="tx1"/>
                </a:solidFill>
                <a:ea typeface="ＭＳ Ｐゴシック" pitchFamily="34" charset="-128"/>
              </a:rPr>
              <a:t>(</a:t>
            </a:r>
            <a:r>
              <a:rPr lang="en-US" sz="1800" b="1" i="1" dirty="0">
                <a:solidFill>
                  <a:schemeClr val="tx1"/>
                </a:solidFill>
                <a:ea typeface="ＭＳ Ｐゴシック" pitchFamily="34" charset="-128"/>
              </a:rPr>
              <a:t>s </a:t>
            </a:r>
            <a:r>
              <a:rPr lang="en-US" sz="1800" dirty="0">
                <a:solidFill>
                  <a:schemeClr val="tx1"/>
                </a:solidFill>
                <a:ea typeface="ＭＳ Ｐゴシック" pitchFamily="34" charset="-128"/>
              </a:rPr>
              <a:t>) = optimal action from state </a:t>
            </a:r>
            <a:r>
              <a:rPr lang="en-US" sz="1800" b="1" i="1" dirty="0">
                <a:solidFill>
                  <a:schemeClr val="tx1"/>
                </a:solidFill>
                <a:ea typeface="ＭＳ Ｐゴシック" pitchFamily="34" charset="-128"/>
              </a:rPr>
              <a:t>s</a:t>
            </a:r>
          </a:p>
          <a:p>
            <a:endParaRPr lang="en-KR" dirty="0">
              <a:solidFill>
                <a:schemeClr val="tx1"/>
              </a:solidFill>
              <a:ea typeface="ＭＳ Ｐゴシック" pitchFamily="34" charset="-128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80FEC27D-AEAD-7B15-9E72-6401E28ADED7}"/>
              </a:ext>
            </a:extLst>
          </p:cNvPr>
          <p:cNvGrpSpPr/>
          <p:nvPr/>
        </p:nvGrpSpPr>
        <p:grpSpPr>
          <a:xfrm>
            <a:off x="5605112" y="1616620"/>
            <a:ext cx="3323300" cy="2579432"/>
            <a:chOff x="5541169" y="2514055"/>
            <a:chExt cx="2897256" cy="2248752"/>
          </a:xfrm>
        </p:grpSpPr>
        <p:sp>
          <p:nvSpPr>
            <p:cNvPr id="5" name="AutoShape 4">
              <a:extLst>
                <a:ext uri="{FF2B5EF4-FFF2-40B4-BE49-F238E27FC236}">
                  <a16:creationId xmlns:a16="http://schemas.microsoft.com/office/drawing/2014/main" id="{3F0AF614-4299-8ED1-6C88-2F911D2A8BA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49629" y="2514600"/>
              <a:ext cx="263128" cy="207169"/>
            </a:xfrm>
            <a:prstGeom prst="triangle">
              <a:avLst>
                <a:gd name="adj" fmla="val 50000"/>
              </a:avLst>
            </a:prstGeom>
            <a:solidFill>
              <a:srgbClr val="0000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US" sz="1800">
                <a:latin typeface="Calibri"/>
                <a:cs typeface="Calibri"/>
              </a:endParaRPr>
            </a:p>
          </p:txBody>
        </p:sp>
        <p:sp>
          <p:nvSpPr>
            <p:cNvPr id="7" name="AutoShape 5">
              <a:extLst>
                <a:ext uri="{FF2B5EF4-FFF2-40B4-BE49-F238E27FC236}">
                  <a16:creationId xmlns:a16="http://schemas.microsoft.com/office/drawing/2014/main" id="{094CDCF6-4DB3-1318-CB61-F32CDAAD08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61523" y="4208860"/>
              <a:ext cx="263128" cy="207169"/>
            </a:xfrm>
            <a:prstGeom prst="triangle">
              <a:avLst>
                <a:gd name="adj" fmla="val 50000"/>
              </a:avLst>
            </a:prstGeom>
            <a:solidFill>
              <a:srgbClr val="0000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r" rtl="1"/>
              <a:endParaRPr lang="en-US" sz="1800">
                <a:latin typeface="Calibri"/>
                <a:cs typeface="Calibri"/>
              </a:endParaRPr>
            </a:p>
          </p:txBody>
        </p:sp>
        <p:sp>
          <p:nvSpPr>
            <p:cNvPr id="8" name="Line 7">
              <a:extLst>
                <a:ext uri="{FF2B5EF4-FFF2-40B4-BE49-F238E27FC236}">
                  <a16:creationId xmlns:a16="http://schemas.microsoft.com/office/drawing/2014/main" id="{A798826D-5BA9-BFCC-B527-98A40BDA494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628085" y="2731294"/>
              <a:ext cx="1052513" cy="60483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 sz="1800">
                <a:latin typeface="Calibri"/>
                <a:cs typeface="Calibri"/>
              </a:endParaRPr>
            </a:p>
          </p:txBody>
        </p:sp>
        <p:sp>
          <p:nvSpPr>
            <p:cNvPr id="10" name="Line 9">
              <a:extLst>
                <a:ext uri="{FF2B5EF4-FFF2-40B4-BE49-F238E27FC236}">
                  <a16:creationId xmlns:a16="http://schemas.microsoft.com/office/drawing/2014/main" id="{DAB14D3F-71ED-C474-B45E-A1DE9597CA9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286501" y="2731294"/>
              <a:ext cx="394097" cy="60483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 sz="1800">
                <a:latin typeface="Calibri"/>
                <a:cs typeface="Calibri"/>
              </a:endParaRPr>
            </a:p>
          </p:txBody>
        </p:sp>
        <p:sp>
          <p:nvSpPr>
            <p:cNvPr id="11" name="Line 10">
              <a:extLst>
                <a:ext uri="{FF2B5EF4-FFF2-40B4-BE49-F238E27FC236}">
                  <a16:creationId xmlns:a16="http://schemas.microsoft.com/office/drawing/2014/main" id="{8D2F514A-2BFD-06D4-7229-81B151B7A04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680597" y="2731294"/>
              <a:ext cx="394097" cy="51792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 sz="1800">
                <a:latin typeface="Calibri"/>
                <a:cs typeface="Calibri"/>
              </a:endParaRPr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F79712EF-71CF-8F50-820B-C5F5DDF174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98394" y="3336131"/>
              <a:ext cx="219075" cy="215504"/>
            </a:xfrm>
            <a:prstGeom prst="ellipse">
              <a:avLst/>
            </a:prstGeom>
            <a:solidFill>
              <a:srgbClr val="008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sz="1800">
                <a:latin typeface="Calibri"/>
                <a:cs typeface="Calibri"/>
              </a:endParaRPr>
            </a:p>
          </p:txBody>
        </p:sp>
        <p:sp>
          <p:nvSpPr>
            <p:cNvPr id="13" name="Line 13">
              <a:extLst>
                <a:ext uri="{FF2B5EF4-FFF2-40B4-BE49-F238E27FC236}">
                  <a16:creationId xmlns:a16="http://schemas.microsoft.com/office/drawing/2014/main" id="{BD3F3825-4A5C-EBA5-5616-49BA286DF6B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772151" y="3551635"/>
              <a:ext cx="517922" cy="34885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 sz="1800">
                <a:latin typeface="Calibri"/>
                <a:cs typeface="Calibri"/>
              </a:endParaRPr>
            </a:p>
          </p:txBody>
        </p:sp>
        <p:sp>
          <p:nvSpPr>
            <p:cNvPr id="14" name="Line 14">
              <a:extLst>
                <a:ext uri="{FF2B5EF4-FFF2-40B4-BE49-F238E27FC236}">
                  <a16:creationId xmlns:a16="http://schemas.microsoft.com/office/drawing/2014/main" id="{0707361E-6C15-4D01-F410-39EFF2DC80D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290073" y="3551635"/>
              <a:ext cx="567928" cy="29170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 sz="1800">
                <a:latin typeface="Calibri"/>
                <a:cs typeface="Calibri"/>
              </a:endParaRPr>
            </a:p>
          </p:txBody>
        </p:sp>
        <p:sp>
          <p:nvSpPr>
            <p:cNvPr id="15" name="Line 15">
              <a:extLst>
                <a:ext uri="{FF2B5EF4-FFF2-40B4-BE49-F238E27FC236}">
                  <a16:creationId xmlns:a16="http://schemas.microsoft.com/office/drawing/2014/main" id="{37640223-9EE0-AF33-9D4F-DC05BFCBAA7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959079" y="3551635"/>
              <a:ext cx="330994" cy="647700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prstDash val="dash"/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 sz="1800">
                <a:latin typeface="Calibri"/>
                <a:cs typeface="Calibri"/>
              </a:endParaRPr>
            </a:p>
          </p:txBody>
        </p:sp>
        <p:sp>
          <p:nvSpPr>
            <p:cNvPr id="16" name="Line 16">
              <a:extLst>
                <a:ext uri="{FF2B5EF4-FFF2-40B4-BE49-F238E27FC236}">
                  <a16:creationId xmlns:a16="http://schemas.microsoft.com/office/drawing/2014/main" id="{F11C81F5-00B2-6478-072F-0BBF5FFDDD6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290072" y="3551635"/>
              <a:ext cx="317897" cy="647700"/>
            </a:xfrm>
            <a:prstGeom prst="line">
              <a:avLst/>
            </a:prstGeom>
            <a:noFill/>
            <a:ln w="28575">
              <a:solidFill>
                <a:srgbClr val="C0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 sz="1800">
                <a:latin typeface="Calibri"/>
                <a:cs typeface="Calibri"/>
              </a:endParaRPr>
            </a:p>
          </p:txBody>
        </p:sp>
        <p:sp>
          <p:nvSpPr>
            <p:cNvPr id="17" name="Text Box 17">
              <a:extLst>
                <a:ext uri="{FF2B5EF4-FFF2-40B4-BE49-F238E27FC236}">
                  <a16:creationId xmlns:a16="http://schemas.microsoft.com/office/drawing/2014/main" id="{CEB4AC1C-E874-EABC-E05B-310FA21BBC3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505575" y="2912269"/>
              <a:ext cx="219075" cy="32198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1800">
                  <a:latin typeface="Calibri"/>
                  <a:cs typeface="Calibri"/>
                </a:rPr>
                <a:t>a</a:t>
              </a:r>
            </a:p>
          </p:txBody>
        </p:sp>
        <p:sp>
          <p:nvSpPr>
            <p:cNvPr id="18" name="Text Box 18">
              <a:extLst>
                <a:ext uri="{FF2B5EF4-FFF2-40B4-BE49-F238E27FC236}">
                  <a16:creationId xmlns:a16="http://schemas.microsoft.com/office/drawing/2014/main" id="{00CE3960-126B-123F-9FB4-6BE5EBE0145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812756" y="2514600"/>
              <a:ext cx="219075" cy="32198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1800" dirty="0">
                  <a:solidFill>
                    <a:srgbClr val="0000FF"/>
                  </a:solidFill>
                  <a:latin typeface="Calibri"/>
                  <a:cs typeface="Calibri"/>
                </a:rPr>
                <a:t>s</a:t>
              </a:r>
            </a:p>
          </p:txBody>
        </p:sp>
        <p:sp>
          <p:nvSpPr>
            <p:cNvPr id="19" name="Text Box 19">
              <a:extLst>
                <a:ext uri="{FF2B5EF4-FFF2-40B4-BE49-F238E27FC236}">
                  <a16:creationId xmlns:a16="http://schemas.microsoft.com/office/drawing/2014/main" id="{F7F818A2-60CE-D947-339C-BA1A1A06C4E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43700" y="4199335"/>
              <a:ext cx="285750" cy="56347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r" rtl="1">
                <a:spcBef>
                  <a:spcPct val="50000"/>
                </a:spcBef>
              </a:pPr>
              <a:r>
                <a:rPr lang="en-US" sz="1800">
                  <a:solidFill>
                    <a:srgbClr val="0000FF"/>
                  </a:solidFill>
                  <a:latin typeface="Calibri"/>
                  <a:cs typeface="Calibri"/>
                </a:rPr>
                <a:t>s’</a:t>
              </a:r>
            </a:p>
          </p:txBody>
        </p:sp>
        <p:sp>
          <p:nvSpPr>
            <p:cNvPr id="20" name="Text Box 20">
              <a:extLst>
                <a:ext uri="{FF2B5EF4-FFF2-40B4-BE49-F238E27FC236}">
                  <a16:creationId xmlns:a16="http://schemas.microsoft.com/office/drawing/2014/main" id="{15D916D9-8E33-F813-8C7E-D350E3E5DC0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417469" y="3336131"/>
              <a:ext cx="438150" cy="32198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1800" dirty="0">
                  <a:solidFill>
                    <a:srgbClr val="008000"/>
                  </a:solidFill>
                  <a:latin typeface="Calibri"/>
                  <a:cs typeface="Calibri"/>
                </a:rPr>
                <a:t>s, a</a:t>
              </a:r>
            </a:p>
          </p:txBody>
        </p:sp>
        <p:sp>
          <p:nvSpPr>
            <p:cNvPr id="21" name="Line 22">
              <a:extLst>
                <a:ext uri="{FF2B5EF4-FFF2-40B4-BE49-F238E27FC236}">
                  <a16:creationId xmlns:a16="http://schemas.microsoft.com/office/drawing/2014/main" id="{45804F81-4FFA-8899-A698-48423436DCE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541169" y="4416029"/>
              <a:ext cx="1051322" cy="30241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 sz="1800">
                <a:latin typeface="Calibri"/>
                <a:cs typeface="Calibri"/>
              </a:endParaRPr>
            </a:p>
          </p:txBody>
        </p:sp>
        <p:sp>
          <p:nvSpPr>
            <p:cNvPr id="22" name="Line 24">
              <a:extLst>
                <a:ext uri="{FF2B5EF4-FFF2-40B4-BE49-F238E27FC236}">
                  <a16:creationId xmlns:a16="http://schemas.microsoft.com/office/drawing/2014/main" id="{06854E8F-6797-1964-569A-5F4705B8A7E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198394" y="4416029"/>
              <a:ext cx="394097" cy="302419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 sz="1800">
                <a:latin typeface="Calibri"/>
                <a:cs typeface="Calibri"/>
              </a:endParaRPr>
            </a:p>
          </p:txBody>
        </p:sp>
        <p:sp>
          <p:nvSpPr>
            <p:cNvPr id="23" name="Line 25">
              <a:extLst>
                <a:ext uri="{FF2B5EF4-FFF2-40B4-BE49-F238E27FC236}">
                  <a16:creationId xmlns:a16="http://schemas.microsoft.com/office/drawing/2014/main" id="{E00384A5-5839-241F-CC7F-AC757454715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592491" y="4416029"/>
              <a:ext cx="395288" cy="25836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 sz="1800">
                <a:latin typeface="Calibri"/>
                <a:cs typeface="Calibri"/>
              </a:endParaRPr>
            </a:p>
          </p:txBody>
        </p:sp>
        <p:sp>
          <p:nvSpPr>
            <p:cNvPr id="24" name="Text Box 27">
              <a:extLst>
                <a:ext uri="{FF2B5EF4-FFF2-40B4-BE49-F238E27FC236}">
                  <a16:creationId xmlns:a16="http://schemas.microsoft.com/office/drawing/2014/main" id="{BC3E0537-940F-CFA9-398E-980E65990B8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615112" y="3856566"/>
              <a:ext cx="1823313" cy="32198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1800" dirty="0">
                  <a:solidFill>
                    <a:srgbClr val="C00000"/>
                  </a:solidFill>
                  <a:latin typeface="Calibri"/>
                  <a:cs typeface="Calibri"/>
                </a:rPr>
                <a:t>(</a:t>
              </a:r>
              <a:r>
                <a:rPr lang="en-US" sz="1800" dirty="0" err="1">
                  <a:solidFill>
                    <a:srgbClr val="C00000"/>
                  </a:solidFill>
                  <a:latin typeface="Calibri"/>
                  <a:cs typeface="Calibri"/>
                </a:rPr>
                <a:t>s,a,s</a:t>
              </a:r>
              <a:r>
                <a:rPr lang="en-US" sz="1800" dirty="0">
                  <a:solidFill>
                    <a:srgbClr val="C00000"/>
                  </a:solidFill>
                  <a:latin typeface="Calibri"/>
                  <a:cs typeface="Calibri"/>
                </a:rPr>
                <a:t>’) is a </a:t>
              </a:r>
              <a:r>
                <a:rPr lang="en-US" sz="1800" i="1" dirty="0">
                  <a:solidFill>
                    <a:srgbClr val="C00000"/>
                  </a:solidFill>
                  <a:latin typeface="Calibri"/>
                  <a:cs typeface="Calibri"/>
                </a:rPr>
                <a:t>transition</a:t>
              </a:r>
            </a:p>
          </p:txBody>
        </p:sp>
        <p:sp>
          <p:nvSpPr>
            <p:cNvPr id="25" name="Text Box 28">
              <a:extLst>
                <a:ext uri="{FF2B5EF4-FFF2-40B4-BE49-F238E27FC236}">
                  <a16:creationId xmlns:a16="http://schemas.microsoft.com/office/drawing/2014/main" id="{C128B2FC-9423-2F54-6194-EEADA42E0F5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943600" y="3863578"/>
              <a:ext cx="614363" cy="32198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1800">
                  <a:latin typeface="Calibri"/>
                  <a:cs typeface="Calibri"/>
                </a:rPr>
                <a:t>s,a,s’</a:t>
              </a:r>
            </a:p>
          </p:txBody>
        </p:sp>
        <p:sp>
          <p:nvSpPr>
            <p:cNvPr id="26" name="Text Box 30">
              <a:extLst>
                <a:ext uri="{FF2B5EF4-FFF2-40B4-BE49-F238E27FC236}">
                  <a16:creationId xmlns:a16="http://schemas.microsoft.com/office/drawing/2014/main" id="{628400DD-12BF-D934-916E-C475D9B622F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115104" y="2514055"/>
              <a:ext cx="1145846" cy="32198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1800" dirty="0">
                  <a:solidFill>
                    <a:srgbClr val="0000FF"/>
                  </a:solidFill>
                  <a:latin typeface="Calibri"/>
                  <a:cs typeface="Calibri"/>
                </a:rPr>
                <a:t>s is a </a:t>
              </a:r>
              <a:r>
                <a:rPr lang="en-US" sz="1800" i="1" dirty="0">
                  <a:solidFill>
                    <a:srgbClr val="0000FF"/>
                  </a:solidFill>
                  <a:latin typeface="Calibri"/>
                  <a:cs typeface="Calibri"/>
                </a:rPr>
                <a:t>state</a:t>
              </a:r>
            </a:p>
          </p:txBody>
        </p:sp>
        <p:sp>
          <p:nvSpPr>
            <p:cNvPr id="27" name="Text Box 32">
              <a:extLst>
                <a:ext uri="{FF2B5EF4-FFF2-40B4-BE49-F238E27FC236}">
                  <a16:creationId xmlns:a16="http://schemas.microsoft.com/office/drawing/2014/main" id="{09239468-43E8-24AC-7604-46C47F670DC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847099" y="3358158"/>
              <a:ext cx="1519535" cy="32198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1800" dirty="0">
                  <a:solidFill>
                    <a:srgbClr val="008000"/>
                  </a:solidFill>
                  <a:latin typeface="Calibri"/>
                  <a:cs typeface="Calibri"/>
                </a:rPr>
                <a:t>(s, a) is a </a:t>
              </a:r>
              <a:r>
                <a:rPr lang="en-US" sz="1800" i="1" dirty="0">
                  <a:solidFill>
                    <a:srgbClr val="008000"/>
                  </a:solidFill>
                  <a:latin typeface="Calibri"/>
                  <a:cs typeface="Calibri"/>
                </a:rPr>
                <a:t>q-state</a:t>
              </a:r>
            </a:p>
          </p:txBody>
        </p:sp>
      </p:grpSp>
      <p:sp>
        <p:nvSpPr>
          <p:cNvPr id="28" name="Text Box 28">
            <a:extLst>
              <a:ext uri="{FF2B5EF4-FFF2-40B4-BE49-F238E27FC236}">
                <a16:creationId xmlns:a16="http://schemas.microsoft.com/office/drawing/2014/main" id="{445E58FF-4C04-1639-E130-1D28D50A53E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00550" y="4629973"/>
            <a:ext cx="4743450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sz="1200" dirty="0">
                <a:solidFill>
                  <a:srgbClr val="C00000"/>
                </a:solidFill>
                <a:latin typeface="Pontano Sans"/>
                <a:ea typeface="ＭＳ Ｐゴシック" pitchFamily="34" charset="-128"/>
                <a:sym typeface="Pontano Sans"/>
              </a:rPr>
              <a:t>[Demo – </a:t>
            </a:r>
            <a:r>
              <a:rPr lang="en-US" sz="1200" dirty="0" err="1">
                <a:solidFill>
                  <a:srgbClr val="C00000"/>
                </a:solidFill>
                <a:latin typeface="Pontano Sans"/>
                <a:ea typeface="ＭＳ Ｐゴシック" pitchFamily="34" charset="-128"/>
                <a:sym typeface="Pontano Sans"/>
              </a:rPr>
              <a:t>gridworld</a:t>
            </a:r>
            <a:r>
              <a:rPr lang="en-US" sz="1200" dirty="0">
                <a:solidFill>
                  <a:srgbClr val="C00000"/>
                </a:solidFill>
                <a:latin typeface="Pontano Sans"/>
                <a:ea typeface="ＭＳ Ｐゴシック" pitchFamily="34" charset="-128"/>
                <a:sym typeface="Pontano Sans"/>
              </a:rPr>
              <a:t> values (L8D4)]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3D8C0ED-6D1A-9282-D390-D564B7BBEF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KR"/>
              <a:t>691</a:t>
            </a:r>
            <a:endParaRPr lang="en-KR" sz="4000" dirty="0"/>
          </a:p>
        </p:txBody>
      </p:sp>
    </p:spTree>
    <p:extLst>
      <p:ext uri="{BB962C8B-B14F-4D97-AF65-F5344CB8AC3E}">
        <p14:creationId xmlns:p14="http://schemas.microsoft.com/office/powerpoint/2010/main" val="391288193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976EE4-2952-E568-AA02-7C363DC671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8FE329-4506-9F0B-8238-15610C45B7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Snapshot of Demo – </a:t>
            </a:r>
            <a:r>
              <a:rPr lang="en-US" dirty="0" err="1"/>
              <a:t>Gridworld</a:t>
            </a:r>
            <a:r>
              <a:rPr lang="en-US" dirty="0"/>
              <a:t> V Values</a:t>
            </a:r>
            <a:endParaRPr lang="en-KR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E6709C4-5E80-2BDF-DF36-4332DA89AF27}"/>
              </a:ext>
            </a:extLst>
          </p:cNvPr>
          <p:cNvSpPr/>
          <p:nvPr/>
        </p:nvSpPr>
        <p:spPr>
          <a:xfrm>
            <a:off x="7067791" y="4928056"/>
            <a:ext cx="2076209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800" dirty="0">
                <a:solidFill>
                  <a:schemeClr val="bg1">
                    <a:lumMod val="65000"/>
                  </a:schemeClr>
                </a:solidFill>
                <a:cs typeface="Calibri"/>
              </a:rPr>
              <a:t>Adapted from CS188 of Klein and </a:t>
            </a:r>
            <a:r>
              <a:rPr lang="en-US" sz="800" dirty="0" err="1">
                <a:solidFill>
                  <a:schemeClr val="bg1">
                    <a:lumMod val="65000"/>
                  </a:schemeClr>
                </a:solidFill>
                <a:cs typeface="Calibri"/>
              </a:rPr>
              <a:t>Abbeel</a:t>
            </a:r>
            <a:endParaRPr lang="en-KR" sz="800" dirty="0"/>
          </a:p>
        </p:txBody>
      </p:sp>
      <p:pic>
        <p:nvPicPr>
          <p:cNvPr id="3" name="Picture 2" descr="Screen Shot 2014-08-10 at 7.40.54 PM.png">
            <a:extLst>
              <a:ext uri="{FF2B5EF4-FFF2-40B4-BE49-F238E27FC236}">
                <a16:creationId xmlns:a16="http://schemas.microsoft.com/office/drawing/2014/main" id="{AFA222DE-16BE-5F63-769B-7A8683081B2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17223" y="1153519"/>
            <a:ext cx="3909555" cy="3600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8932E69-FDC6-38AC-2C0E-1BAD56CC8887}"/>
              </a:ext>
            </a:extLst>
          </p:cNvPr>
          <p:cNvSpPr txBox="1"/>
          <p:nvPr/>
        </p:nvSpPr>
        <p:spPr>
          <a:xfrm>
            <a:off x="7248645" y="4212475"/>
            <a:ext cx="1714500" cy="6924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00" dirty="0">
                <a:solidFill>
                  <a:schemeClr val="dk1"/>
                </a:solidFill>
                <a:latin typeface="Pontano Sans"/>
                <a:sym typeface="Pontano Sans"/>
              </a:rPr>
              <a:t>Noise = 0.2</a:t>
            </a:r>
          </a:p>
          <a:p>
            <a:r>
              <a:rPr lang="en-US" sz="1300" dirty="0">
                <a:solidFill>
                  <a:schemeClr val="dk1"/>
                </a:solidFill>
                <a:latin typeface="Pontano Sans"/>
                <a:sym typeface="Pontano Sans"/>
              </a:rPr>
              <a:t>Discount = 0.9</a:t>
            </a:r>
          </a:p>
          <a:p>
            <a:r>
              <a:rPr lang="en-US" sz="1300" dirty="0">
                <a:solidFill>
                  <a:schemeClr val="dk1"/>
                </a:solidFill>
                <a:latin typeface="Pontano Sans"/>
                <a:sym typeface="Pontano Sans"/>
              </a:rPr>
              <a:t>Living reward = 0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1360433-717C-8CA4-537E-EF488CE76A4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KR"/>
              <a:t>691</a:t>
            </a:r>
            <a:endParaRPr lang="en-KR" sz="4000" dirty="0"/>
          </a:p>
        </p:txBody>
      </p:sp>
    </p:spTree>
    <p:extLst>
      <p:ext uri="{BB962C8B-B14F-4D97-AF65-F5344CB8AC3E}">
        <p14:creationId xmlns:p14="http://schemas.microsoft.com/office/powerpoint/2010/main" val="72872544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BDBC4C-8D5D-618C-3A86-5186979FC6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843B8B-D3F1-4D1C-CA8B-EE15E22F2D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Snapshot of Demo – </a:t>
            </a:r>
            <a:r>
              <a:rPr lang="en-US" dirty="0" err="1"/>
              <a:t>Gridworld</a:t>
            </a:r>
            <a:r>
              <a:rPr lang="en-US" dirty="0"/>
              <a:t> Q Values</a:t>
            </a:r>
            <a:endParaRPr lang="en-KR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2644E4D-54CA-4535-6478-6D074B931C4D}"/>
              </a:ext>
            </a:extLst>
          </p:cNvPr>
          <p:cNvSpPr/>
          <p:nvPr/>
        </p:nvSpPr>
        <p:spPr>
          <a:xfrm>
            <a:off x="7067791" y="4928056"/>
            <a:ext cx="2076209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800" dirty="0">
                <a:solidFill>
                  <a:schemeClr val="bg1">
                    <a:lumMod val="65000"/>
                  </a:schemeClr>
                </a:solidFill>
                <a:cs typeface="Calibri"/>
              </a:rPr>
              <a:t>Adapted from CS188 of Klein and </a:t>
            </a:r>
            <a:r>
              <a:rPr lang="en-US" sz="800" dirty="0" err="1">
                <a:solidFill>
                  <a:schemeClr val="bg1">
                    <a:lumMod val="65000"/>
                  </a:schemeClr>
                </a:solidFill>
                <a:cs typeface="Calibri"/>
              </a:rPr>
              <a:t>Abbeel</a:t>
            </a:r>
            <a:endParaRPr lang="en-KR" sz="800" dirty="0"/>
          </a:p>
        </p:txBody>
      </p:sp>
      <p:pic>
        <p:nvPicPr>
          <p:cNvPr id="3" name="Picture 2" descr="Screen Shot 2014-08-10 at 7.40.58 PM.png">
            <a:extLst>
              <a:ext uri="{FF2B5EF4-FFF2-40B4-BE49-F238E27FC236}">
                <a16:creationId xmlns:a16="http://schemas.microsoft.com/office/drawing/2014/main" id="{98CF73F9-1C1B-C5EF-D8B6-EA71B8E07DA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14357" y="1152475"/>
            <a:ext cx="3915287" cy="3600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B043858-0FF5-115F-FCA1-8822BF2E4305}"/>
              </a:ext>
            </a:extLst>
          </p:cNvPr>
          <p:cNvSpPr txBox="1"/>
          <p:nvPr/>
        </p:nvSpPr>
        <p:spPr>
          <a:xfrm>
            <a:off x="7248645" y="4212475"/>
            <a:ext cx="1714500" cy="6924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00" dirty="0">
                <a:solidFill>
                  <a:schemeClr val="dk1"/>
                </a:solidFill>
                <a:latin typeface="Pontano Sans"/>
                <a:sym typeface="Pontano Sans"/>
              </a:rPr>
              <a:t>Noise = 0.2</a:t>
            </a:r>
          </a:p>
          <a:p>
            <a:r>
              <a:rPr lang="en-US" sz="1300" dirty="0">
                <a:solidFill>
                  <a:schemeClr val="dk1"/>
                </a:solidFill>
                <a:latin typeface="Pontano Sans"/>
                <a:sym typeface="Pontano Sans"/>
              </a:rPr>
              <a:t>Discount = 0.9</a:t>
            </a:r>
          </a:p>
          <a:p>
            <a:r>
              <a:rPr lang="en-US" sz="1300" dirty="0">
                <a:solidFill>
                  <a:schemeClr val="dk1"/>
                </a:solidFill>
                <a:latin typeface="Pontano Sans"/>
                <a:sym typeface="Pontano Sans"/>
              </a:rPr>
              <a:t>Living reward = 0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733C784-C29D-8ED0-B67D-3F55D0AF072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KR"/>
              <a:t>691</a:t>
            </a:r>
            <a:endParaRPr lang="en-KR" sz="4000" dirty="0"/>
          </a:p>
        </p:txBody>
      </p:sp>
    </p:spTree>
    <p:extLst>
      <p:ext uri="{BB962C8B-B14F-4D97-AF65-F5344CB8AC3E}">
        <p14:creationId xmlns:p14="http://schemas.microsoft.com/office/powerpoint/2010/main" val="47840625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A697BF-7BD3-9881-7314-A6E80ED045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0C16FD-9A41-9EFD-61CD-A6326C6F52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Values of States</a:t>
            </a:r>
            <a:endParaRPr lang="en-KR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A080AA4-4BEF-3226-AE32-6D5F38C5279E}"/>
              </a:ext>
            </a:extLst>
          </p:cNvPr>
          <p:cNvSpPr/>
          <p:nvPr/>
        </p:nvSpPr>
        <p:spPr>
          <a:xfrm>
            <a:off x="7067791" y="4928056"/>
            <a:ext cx="2076209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800" dirty="0">
                <a:solidFill>
                  <a:schemeClr val="bg1">
                    <a:lumMod val="65000"/>
                  </a:schemeClr>
                </a:solidFill>
                <a:cs typeface="Calibri"/>
              </a:rPr>
              <a:t>Adapted from CS188 of Klein and </a:t>
            </a:r>
            <a:r>
              <a:rPr lang="en-US" sz="800" dirty="0" err="1">
                <a:solidFill>
                  <a:schemeClr val="bg1">
                    <a:lumMod val="65000"/>
                  </a:schemeClr>
                </a:solidFill>
                <a:cs typeface="Calibri"/>
              </a:rPr>
              <a:t>Abbeel</a:t>
            </a:r>
            <a:endParaRPr lang="en-KR" sz="800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3E9BC66-2540-DD79-B4D8-8BEF1FA347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Fundamental operation: compute the (</a:t>
            </a:r>
            <a:r>
              <a:rPr lang="en-US" dirty="0" err="1">
                <a:solidFill>
                  <a:schemeClr val="tx1"/>
                </a:solidFill>
              </a:rPr>
              <a:t>expectimax</a:t>
            </a:r>
            <a:r>
              <a:rPr lang="en-US" dirty="0">
                <a:solidFill>
                  <a:schemeClr val="tx1"/>
                </a:solidFill>
              </a:rPr>
              <a:t>) value of a state</a:t>
            </a:r>
          </a:p>
          <a:p>
            <a:pPr lvl="1">
              <a:lnSpc>
                <a:spcPct val="100000"/>
              </a:lnSpc>
            </a:pPr>
            <a:r>
              <a:rPr lang="en-US" sz="1600" dirty="0">
                <a:solidFill>
                  <a:schemeClr val="tx1"/>
                </a:solidFill>
              </a:rPr>
              <a:t>Expected utility under optimal action</a:t>
            </a:r>
          </a:p>
          <a:p>
            <a:pPr lvl="1">
              <a:lnSpc>
                <a:spcPct val="100000"/>
              </a:lnSpc>
            </a:pPr>
            <a:r>
              <a:rPr lang="en-US" sz="1600" dirty="0">
                <a:solidFill>
                  <a:schemeClr val="tx1"/>
                </a:solidFill>
              </a:rPr>
              <a:t>Average sum of (discounted) rewards</a:t>
            </a:r>
          </a:p>
          <a:p>
            <a:pPr lvl="1">
              <a:lnSpc>
                <a:spcPct val="100000"/>
              </a:lnSpc>
            </a:pPr>
            <a:r>
              <a:rPr lang="en-US" sz="1600" dirty="0">
                <a:solidFill>
                  <a:schemeClr val="tx1"/>
                </a:solidFill>
              </a:rPr>
              <a:t>This is just what </a:t>
            </a:r>
            <a:r>
              <a:rPr lang="en-US" sz="1600" dirty="0" err="1">
                <a:solidFill>
                  <a:schemeClr val="tx1"/>
                </a:solidFill>
              </a:rPr>
              <a:t>expectimax</a:t>
            </a:r>
            <a:r>
              <a:rPr lang="en-US" sz="1600" dirty="0">
                <a:solidFill>
                  <a:schemeClr val="tx1"/>
                </a:solidFill>
              </a:rPr>
              <a:t> computed!</a:t>
            </a:r>
          </a:p>
          <a:p>
            <a:pPr lvl="1"/>
            <a:endParaRPr lang="en-US" sz="500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  <a:highlight>
                  <a:srgbClr val="FFFF00"/>
                </a:highlight>
              </a:rPr>
              <a:t>Recursive definition of value:</a:t>
            </a:r>
          </a:p>
          <a:p>
            <a:endParaRPr lang="en-KR" dirty="0">
              <a:solidFill>
                <a:schemeClr val="tx1"/>
              </a:solidFill>
            </a:endParaRPr>
          </a:p>
        </p:txBody>
      </p:sp>
      <p:grpSp>
        <p:nvGrpSpPr>
          <p:cNvPr id="3" name="Group 4">
            <a:extLst>
              <a:ext uri="{FF2B5EF4-FFF2-40B4-BE49-F238E27FC236}">
                <a16:creationId xmlns:a16="http://schemas.microsoft.com/office/drawing/2014/main" id="{80285FCE-5F5F-0442-6E72-E47481B39405}"/>
              </a:ext>
            </a:extLst>
          </p:cNvPr>
          <p:cNvGrpSpPr>
            <a:grpSpLocks/>
          </p:cNvGrpSpPr>
          <p:nvPr/>
        </p:nvGrpSpPr>
        <p:grpSpPr bwMode="auto">
          <a:xfrm>
            <a:off x="6270522" y="1928425"/>
            <a:ext cx="2286000" cy="2088931"/>
            <a:chOff x="2400" y="1401"/>
            <a:chExt cx="1392" cy="1272"/>
          </a:xfrm>
        </p:grpSpPr>
        <p:sp>
          <p:nvSpPr>
            <p:cNvPr id="5" name="AutoShape 5">
              <a:extLst>
                <a:ext uri="{FF2B5EF4-FFF2-40B4-BE49-F238E27FC236}">
                  <a16:creationId xmlns:a16="http://schemas.microsoft.com/office/drawing/2014/main" id="{666CBD20-5588-D41A-21C5-73638A4D6E4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70" y="1488"/>
              <a:ext cx="155" cy="124"/>
            </a:xfrm>
            <a:prstGeom prst="triangle">
              <a:avLst>
                <a:gd name="adj" fmla="val 50000"/>
              </a:avLst>
            </a:prstGeom>
            <a:solidFill>
              <a:srgbClr val="0000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US"/>
            </a:p>
          </p:txBody>
        </p: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BC7E9393-A759-690C-DA5F-4BB11499F3E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529" y="1617"/>
              <a:ext cx="1263" cy="361"/>
              <a:chOff x="1584" y="1680"/>
              <a:chExt cx="2352" cy="336"/>
            </a:xfrm>
          </p:grpSpPr>
          <p:sp>
            <p:nvSpPr>
              <p:cNvPr id="21" name="Line 7">
                <a:extLst>
                  <a:ext uri="{FF2B5EF4-FFF2-40B4-BE49-F238E27FC236}">
                    <a16:creationId xmlns:a16="http://schemas.microsoft.com/office/drawing/2014/main" id="{6AE338C7-6E64-E29C-2B20-CF7892F47DD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584" y="1680"/>
                <a:ext cx="1152" cy="33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dash"/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" name="Line 8">
                <a:extLst>
                  <a:ext uri="{FF2B5EF4-FFF2-40B4-BE49-F238E27FC236}">
                    <a16:creationId xmlns:a16="http://schemas.microsoft.com/office/drawing/2014/main" id="{FE652596-7F8D-0E88-2551-620052958F4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736" y="1680"/>
                <a:ext cx="1200" cy="28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dash"/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" name="Line 9">
                <a:extLst>
                  <a:ext uri="{FF2B5EF4-FFF2-40B4-BE49-F238E27FC236}">
                    <a16:creationId xmlns:a16="http://schemas.microsoft.com/office/drawing/2014/main" id="{C5B29042-24F0-6170-95D6-9E0F4F8ABB2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304" y="1680"/>
                <a:ext cx="432" cy="33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" name="Line 10">
                <a:extLst>
                  <a:ext uri="{FF2B5EF4-FFF2-40B4-BE49-F238E27FC236}">
                    <a16:creationId xmlns:a16="http://schemas.microsoft.com/office/drawing/2014/main" id="{1EB38C3C-ACE9-CD03-A456-237C49B9A15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736" y="1680"/>
                <a:ext cx="432" cy="28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dash"/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8" name="Oval 11">
              <a:extLst>
                <a:ext uri="{FF2B5EF4-FFF2-40B4-BE49-F238E27FC236}">
                  <a16:creationId xmlns:a16="http://schemas.microsoft.com/office/drawing/2014/main" id="{ACF34230-0403-9FC8-A4D4-BEF8847770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64" y="1978"/>
              <a:ext cx="129" cy="129"/>
            </a:xfrm>
            <a:prstGeom prst="ellipse">
              <a:avLst/>
            </a:prstGeom>
            <a:solidFill>
              <a:srgbClr val="008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10" name="Group 12">
              <a:extLst>
                <a:ext uri="{FF2B5EF4-FFF2-40B4-BE49-F238E27FC236}">
                  <a16:creationId xmlns:a16="http://schemas.microsoft.com/office/drawing/2014/main" id="{0764EFD3-4992-B050-880B-98B1F0CFE6D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00" y="2107"/>
              <a:ext cx="1057" cy="386"/>
              <a:chOff x="1536" y="2400"/>
              <a:chExt cx="1584" cy="624"/>
            </a:xfrm>
          </p:grpSpPr>
          <p:sp>
            <p:nvSpPr>
              <p:cNvPr id="17" name="Line 13">
                <a:extLst>
                  <a:ext uri="{FF2B5EF4-FFF2-40B4-BE49-F238E27FC236}">
                    <a16:creationId xmlns:a16="http://schemas.microsoft.com/office/drawing/2014/main" id="{3AF59D73-4721-046F-B2AA-185FFF926FA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536" y="2400"/>
                <a:ext cx="776" cy="62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dash"/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" name="Line 14">
                <a:extLst>
                  <a:ext uri="{FF2B5EF4-FFF2-40B4-BE49-F238E27FC236}">
                    <a16:creationId xmlns:a16="http://schemas.microsoft.com/office/drawing/2014/main" id="{6A0EEF3A-0C94-7AD7-AD9C-E5A6365D685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12" y="2400"/>
                <a:ext cx="808" cy="62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dash"/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" name="Line 15">
                <a:extLst>
                  <a:ext uri="{FF2B5EF4-FFF2-40B4-BE49-F238E27FC236}">
                    <a16:creationId xmlns:a16="http://schemas.microsoft.com/office/drawing/2014/main" id="{0A00D44B-1C5D-68DF-A112-C99EBF028B4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021" y="2400"/>
                <a:ext cx="291" cy="624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prstDash val="dash"/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" name="Line 16">
                <a:extLst>
                  <a:ext uri="{FF2B5EF4-FFF2-40B4-BE49-F238E27FC236}">
                    <a16:creationId xmlns:a16="http://schemas.microsoft.com/office/drawing/2014/main" id="{8DD4AA61-BC76-F1F5-4FC0-0BBB23348AC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12" y="2400"/>
                <a:ext cx="280" cy="624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11" name="Text Box 17">
              <a:extLst>
                <a:ext uri="{FF2B5EF4-FFF2-40B4-BE49-F238E27FC236}">
                  <a16:creationId xmlns:a16="http://schemas.microsoft.com/office/drawing/2014/main" id="{CC5466E7-BF1B-5981-4810-F10DD3CFB78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71" y="1680"/>
              <a:ext cx="129" cy="2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dirty="0"/>
                <a:t>a</a:t>
              </a:r>
            </a:p>
          </p:txBody>
        </p:sp>
        <p:sp>
          <p:nvSpPr>
            <p:cNvPr id="12" name="Text Box 18">
              <a:extLst>
                <a:ext uri="{FF2B5EF4-FFF2-40B4-BE49-F238E27FC236}">
                  <a16:creationId xmlns:a16="http://schemas.microsoft.com/office/drawing/2014/main" id="{7EF94FA5-481C-15A6-3C85-26A0CD74766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16" y="1401"/>
              <a:ext cx="129" cy="2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dirty="0">
                  <a:solidFill>
                    <a:srgbClr val="0000FF"/>
                  </a:solidFill>
                </a:rPr>
                <a:t>s</a:t>
              </a:r>
            </a:p>
          </p:txBody>
        </p:sp>
        <p:sp>
          <p:nvSpPr>
            <p:cNvPr id="13" name="Text Box 19">
              <a:extLst>
                <a:ext uri="{FF2B5EF4-FFF2-40B4-BE49-F238E27FC236}">
                  <a16:creationId xmlns:a16="http://schemas.microsoft.com/office/drawing/2014/main" id="{F01CBAA2-0CD6-846D-B0CC-3A1773A914C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24" y="1920"/>
              <a:ext cx="559" cy="2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dirty="0">
                  <a:solidFill>
                    <a:srgbClr val="008000"/>
                  </a:solidFill>
                </a:rPr>
                <a:t>s, a</a:t>
              </a:r>
            </a:p>
          </p:txBody>
        </p:sp>
        <p:sp>
          <p:nvSpPr>
            <p:cNvPr id="14" name="Text Box 20">
              <a:extLst>
                <a:ext uri="{FF2B5EF4-FFF2-40B4-BE49-F238E27FC236}">
                  <a16:creationId xmlns:a16="http://schemas.microsoft.com/office/drawing/2014/main" id="{56FBBBCC-3906-68D3-9B51-ABE68BA5E7D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09" y="2261"/>
              <a:ext cx="504" cy="2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dirty="0" err="1"/>
                <a:t>s,a,s</a:t>
              </a:r>
              <a:r>
                <a:rPr lang="ja-JP" altLang="en-US"/>
                <a:t>’</a:t>
              </a:r>
              <a:endParaRPr lang="en-US" dirty="0"/>
            </a:p>
          </p:txBody>
        </p:sp>
        <p:sp>
          <p:nvSpPr>
            <p:cNvPr id="15" name="AutoShape 21">
              <a:extLst>
                <a:ext uri="{FF2B5EF4-FFF2-40B4-BE49-F238E27FC236}">
                  <a16:creationId xmlns:a16="http://schemas.microsoft.com/office/drawing/2014/main" id="{93BAFC6B-1B40-091F-647C-EF31E231A8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19" y="2499"/>
              <a:ext cx="154" cy="123"/>
            </a:xfrm>
            <a:prstGeom prst="triangle">
              <a:avLst>
                <a:gd name="adj" fmla="val 50000"/>
              </a:avLst>
            </a:prstGeom>
            <a:solidFill>
              <a:srgbClr val="0000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r" rtl="1"/>
              <a:endParaRPr lang="en-US"/>
            </a:p>
          </p:txBody>
        </p:sp>
        <p:sp>
          <p:nvSpPr>
            <p:cNvPr id="16" name="Text Box 22">
              <a:extLst>
                <a:ext uri="{FF2B5EF4-FFF2-40B4-BE49-F238E27FC236}">
                  <a16:creationId xmlns:a16="http://schemas.microsoft.com/office/drawing/2014/main" id="{D9DA696A-9EDB-22CA-6414-24E7A0BA07D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96" y="2448"/>
              <a:ext cx="331" cy="2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r" rtl="1">
                <a:spcBef>
                  <a:spcPct val="50000"/>
                </a:spcBef>
              </a:pPr>
              <a:r>
                <a:rPr lang="en-US" dirty="0">
                  <a:solidFill>
                    <a:srgbClr val="0000FF"/>
                  </a:solidFill>
                </a:rPr>
                <a:t>s</a:t>
              </a:r>
              <a:r>
                <a:rPr lang="ja-JP" altLang="en-US">
                  <a:solidFill>
                    <a:srgbClr val="0000FF"/>
                  </a:solidFill>
                </a:rPr>
                <a:t>’</a:t>
              </a:r>
              <a:endParaRPr lang="en-US" dirty="0">
                <a:solidFill>
                  <a:srgbClr val="0000FF"/>
                </a:solidFill>
              </a:endParaRPr>
            </a:p>
          </p:txBody>
        </p:sp>
      </p:grpSp>
      <p:pic>
        <p:nvPicPr>
          <p:cNvPr id="25" name="Picture 24" descr="txp_fig">
            <a:extLst>
              <a:ext uri="{FF2B5EF4-FFF2-40B4-BE49-F238E27FC236}">
                <a16:creationId xmlns:a16="http://schemas.microsoft.com/office/drawing/2014/main" id="{143C6226-34D7-13A2-BF2F-2F30432DCDA9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6" cstate="print"/>
          <a:stretch>
            <a:fillRect/>
          </a:stretch>
        </p:blipFill>
        <p:spPr bwMode="auto">
          <a:xfrm>
            <a:off x="1186896" y="3616704"/>
            <a:ext cx="2308579" cy="304028"/>
          </a:xfrm>
          <a:prstGeom prst="rect">
            <a:avLst/>
          </a:prstGeom>
          <a:noFill/>
          <a:ln/>
          <a:effectLst/>
        </p:spPr>
      </p:pic>
      <p:pic>
        <p:nvPicPr>
          <p:cNvPr id="26" name="Picture 25" descr="txp_fig">
            <a:extLst>
              <a:ext uri="{FF2B5EF4-FFF2-40B4-BE49-F238E27FC236}">
                <a16:creationId xmlns:a16="http://schemas.microsoft.com/office/drawing/2014/main" id="{9598045E-FCA7-AEE4-774E-B3E04286D7A7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7" cstate="print"/>
          <a:stretch>
            <a:fillRect/>
          </a:stretch>
        </p:blipFill>
        <p:spPr bwMode="auto">
          <a:xfrm>
            <a:off x="1186896" y="4541336"/>
            <a:ext cx="5212791" cy="518104"/>
          </a:xfrm>
          <a:prstGeom prst="rect">
            <a:avLst/>
          </a:prstGeom>
          <a:noFill/>
          <a:ln/>
          <a:effectLst/>
        </p:spPr>
      </p:pic>
      <p:pic>
        <p:nvPicPr>
          <p:cNvPr id="27" name="Picture 26" descr="txp_fig">
            <a:extLst>
              <a:ext uri="{FF2B5EF4-FFF2-40B4-BE49-F238E27FC236}">
                <a16:creationId xmlns:a16="http://schemas.microsoft.com/office/drawing/2014/main" id="{7CDCF647-A054-02BC-9B82-5045BF0D84AE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8" cstate="print"/>
          <a:stretch>
            <a:fillRect/>
          </a:stretch>
        </p:blipFill>
        <p:spPr bwMode="auto">
          <a:xfrm>
            <a:off x="1186896" y="4028222"/>
            <a:ext cx="4167002" cy="444952"/>
          </a:xfrm>
          <a:prstGeom prst="rect">
            <a:avLst/>
          </a:prstGeom>
          <a:noFill/>
          <a:ln/>
          <a:effectLst/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0216505-556F-4208-C60C-9BB2A9F09F7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KR"/>
              <a:t>691</a:t>
            </a:r>
            <a:endParaRPr lang="en-KR" sz="400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371C068-39FE-072D-7DFE-68B8BB1068AD}"/>
              </a:ext>
            </a:extLst>
          </p:cNvPr>
          <p:cNvSpPr txBox="1"/>
          <p:nvPr/>
        </p:nvSpPr>
        <p:spPr>
          <a:xfrm>
            <a:off x="3515485" y="3217728"/>
            <a:ext cx="177393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ko-KR" altLang="en-US" dirty="0">
                <a:solidFill>
                  <a:srgbClr val="FF0000"/>
                </a:solidFill>
              </a:rPr>
              <a:t>제일 중요한 식</a:t>
            </a:r>
            <a:r>
              <a:rPr kumimoji="1" lang="en-US" altLang="ko-KR" dirty="0">
                <a:solidFill>
                  <a:srgbClr val="FF0000"/>
                </a:solidFill>
              </a:rPr>
              <a:t>!</a:t>
            </a:r>
            <a:endParaRPr kumimoji="1" lang="ko-KR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358104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CD1153-6AF1-6D67-A9F1-6E9B2C48F5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219201"/>
            <a:ext cx="8520600" cy="4349674"/>
          </a:xfrm>
        </p:spPr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Recursive definition of value:</a:t>
            </a:r>
          </a:p>
          <a:p>
            <a:endParaRPr lang="en-KR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987F1FD-C6B9-673C-C775-61E98F6F8C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KR"/>
              <a:t>691</a:t>
            </a:r>
            <a:endParaRPr lang="en-KR" sz="4000" dirty="0"/>
          </a:p>
        </p:txBody>
      </p:sp>
      <p:pic>
        <p:nvPicPr>
          <p:cNvPr id="5" name="Picture 4" descr="txp_fig">
            <a:extLst>
              <a:ext uri="{FF2B5EF4-FFF2-40B4-BE49-F238E27FC236}">
                <a16:creationId xmlns:a16="http://schemas.microsoft.com/office/drawing/2014/main" id="{7EC87FFF-EEB1-B16C-5E7A-4D3AABFCD509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5" cstate="print"/>
          <a:stretch>
            <a:fillRect/>
          </a:stretch>
        </p:blipFill>
        <p:spPr bwMode="auto">
          <a:xfrm>
            <a:off x="1518366" y="1335622"/>
            <a:ext cx="2308579" cy="304028"/>
          </a:xfrm>
          <a:prstGeom prst="rect">
            <a:avLst/>
          </a:prstGeom>
          <a:noFill/>
          <a:ln/>
          <a:effectLst/>
        </p:spPr>
      </p:pic>
      <p:pic>
        <p:nvPicPr>
          <p:cNvPr id="6" name="Picture 5" descr="txp_fig">
            <a:extLst>
              <a:ext uri="{FF2B5EF4-FFF2-40B4-BE49-F238E27FC236}">
                <a16:creationId xmlns:a16="http://schemas.microsoft.com/office/drawing/2014/main" id="{41298AA3-B6EE-19EC-0F3C-6FA2F1F16D34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6" cstate="print"/>
          <a:stretch>
            <a:fillRect/>
          </a:stretch>
        </p:blipFill>
        <p:spPr bwMode="auto">
          <a:xfrm>
            <a:off x="1518366" y="3239729"/>
            <a:ext cx="5212791" cy="518104"/>
          </a:xfrm>
          <a:prstGeom prst="rect">
            <a:avLst/>
          </a:prstGeom>
          <a:noFill/>
          <a:ln/>
          <a:effectLst/>
        </p:spPr>
      </p:pic>
      <p:pic>
        <p:nvPicPr>
          <p:cNvPr id="7" name="Picture 6" descr="txp_fig">
            <a:extLst>
              <a:ext uri="{FF2B5EF4-FFF2-40B4-BE49-F238E27FC236}">
                <a16:creationId xmlns:a16="http://schemas.microsoft.com/office/drawing/2014/main" id="{B1ABF2DD-1120-B407-8A4B-D7DB02377265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7" cstate="print"/>
          <a:stretch>
            <a:fillRect/>
          </a:stretch>
        </p:blipFill>
        <p:spPr bwMode="auto">
          <a:xfrm>
            <a:off x="1518366" y="2217214"/>
            <a:ext cx="4167002" cy="444952"/>
          </a:xfrm>
          <a:prstGeom prst="rect">
            <a:avLst/>
          </a:prstGeom>
          <a:noFill/>
          <a:ln/>
          <a:effectLst/>
        </p:spPr>
      </p:pic>
    </p:spTree>
    <p:extLst>
      <p:ext uri="{BB962C8B-B14F-4D97-AF65-F5344CB8AC3E}">
        <p14:creationId xmlns:p14="http://schemas.microsoft.com/office/powerpoint/2010/main" val="8158479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8CA720-A76E-62ED-EA9F-7090F4A450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CFBB70-CB0E-F2D1-AC74-4FDD34A689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Racing Search Tree</a:t>
            </a:r>
            <a:endParaRPr lang="en-KR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19998F0-0DF1-440D-87F6-B6E7C077DE67}"/>
              </a:ext>
            </a:extLst>
          </p:cNvPr>
          <p:cNvSpPr/>
          <p:nvPr/>
        </p:nvSpPr>
        <p:spPr>
          <a:xfrm>
            <a:off x="7067791" y="4928056"/>
            <a:ext cx="2076209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800" dirty="0">
                <a:solidFill>
                  <a:schemeClr val="bg1">
                    <a:lumMod val="65000"/>
                  </a:schemeClr>
                </a:solidFill>
                <a:cs typeface="Calibri"/>
              </a:rPr>
              <a:t>Adapted from CS188 of Klein and </a:t>
            </a:r>
            <a:r>
              <a:rPr lang="en-US" sz="800" dirty="0" err="1">
                <a:solidFill>
                  <a:schemeClr val="bg1">
                    <a:lumMod val="65000"/>
                  </a:schemeClr>
                </a:solidFill>
                <a:cs typeface="Calibri"/>
              </a:rPr>
              <a:t>Abbeel</a:t>
            </a:r>
            <a:endParaRPr lang="en-KR" sz="800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B618B8BC-5309-78C8-071A-7E285F2B8FBA}"/>
              </a:ext>
            </a:extLst>
          </p:cNvPr>
          <p:cNvGrpSpPr/>
          <p:nvPr/>
        </p:nvGrpSpPr>
        <p:grpSpPr>
          <a:xfrm>
            <a:off x="311700" y="1332960"/>
            <a:ext cx="8511566" cy="3279860"/>
            <a:chOff x="345453" y="1828800"/>
            <a:chExt cx="8511566" cy="3279860"/>
          </a:xfrm>
        </p:grpSpPr>
        <p:pic>
          <p:nvPicPr>
            <p:cNvPr id="5" name="Picture 2">
              <a:extLst>
                <a:ext uri="{FF2B5EF4-FFF2-40B4-BE49-F238E27FC236}">
                  <a16:creationId xmlns:a16="http://schemas.microsoft.com/office/drawing/2014/main" id="{4E778D8C-A614-E5D5-DDD1-1882B5F600C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auto">
            <a:xfrm>
              <a:off x="3557521" y="1828800"/>
              <a:ext cx="696143" cy="457714"/>
            </a:xfrm>
            <a:prstGeom prst="rect">
              <a:avLst/>
            </a:prstGeom>
            <a:noFill/>
          </p:spPr>
        </p:pic>
        <p:pic>
          <p:nvPicPr>
            <p:cNvPr id="7" name="Picture 2">
              <a:extLst>
                <a:ext uri="{FF2B5EF4-FFF2-40B4-BE49-F238E27FC236}">
                  <a16:creationId xmlns:a16="http://schemas.microsoft.com/office/drawing/2014/main" id="{EC8A2705-F501-8587-E3E2-19A3C7246F5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auto">
            <a:xfrm>
              <a:off x="7240981" y="3200400"/>
              <a:ext cx="760961" cy="479510"/>
            </a:xfrm>
            <a:prstGeom prst="rect">
              <a:avLst/>
            </a:prstGeom>
            <a:noFill/>
          </p:spPr>
        </p:pic>
        <p:pic>
          <p:nvPicPr>
            <p:cNvPr id="8" name="Picture 2">
              <a:extLst>
                <a:ext uri="{FF2B5EF4-FFF2-40B4-BE49-F238E27FC236}">
                  <a16:creationId xmlns:a16="http://schemas.microsoft.com/office/drawing/2014/main" id="{9CDEAAB6-E4CF-B19F-1C19-F456AAE1983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auto">
            <a:xfrm>
              <a:off x="8118421" y="4563249"/>
              <a:ext cx="738598" cy="523101"/>
            </a:xfrm>
            <a:prstGeom prst="rect">
              <a:avLst/>
            </a:prstGeom>
            <a:noFill/>
          </p:spPr>
        </p:pic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E779B7E4-17DB-2C1E-0AD6-3CB02828CB98}"/>
                </a:ext>
              </a:extLst>
            </p:cNvPr>
            <p:cNvSpPr/>
            <p:nvPr/>
          </p:nvSpPr>
          <p:spPr>
            <a:xfrm>
              <a:off x="1328009" y="2514600"/>
              <a:ext cx="228600" cy="228600"/>
            </a:xfrm>
            <a:prstGeom prst="ellipse">
              <a:avLst/>
            </a:prstGeom>
            <a:solidFill>
              <a:srgbClr val="B8EAC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EE352945-B276-C2EB-5795-A2688777F531}"/>
                </a:ext>
              </a:extLst>
            </p:cNvPr>
            <p:cNvSpPr/>
            <p:nvPr/>
          </p:nvSpPr>
          <p:spPr>
            <a:xfrm>
              <a:off x="5842859" y="2514600"/>
              <a:ext cx="228600" cy="228600"/>
            </a:xfrm>
            <a:prstGeom prst="ellipse">
              <a:avLst/>
            </a:prstGeom>
            <a:solidFill>
              <a:srgbClr val="B8EAC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2582B043-EF06-4385-1CA5-41AC7F365802}"/>
                </a:ext>
              </a:extLst>
            </p:cNvPr>
            <p:cNvCxnSpPr>
              <a:stCxn id="5" idx="2"/>
              <a:endCxn id="11" idx="1"/>
            </p:cNvCxnSpPr>
            <p:nvPr/>
          </p:nvCxnSpPr>
          <p:spPr>
            <a:xfrm>
              <a:off x="3905593" y="2286514"/>
              <a:ext cx="1970744" cy="261564"/>
            </a:xfrm>
            <a:prstGeom prst="straightConnector1">
              <a:avLst/>
            </a:prstGeom>
            <a:ln w="12700">
              <a:solidFill>
                <a:srgbClr val="C00000"/>
              </a:solidFill>
              <a:headEnd type="none" w="med" len="med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53443B07-1EA7-6C1D-3C07-76A8B8E75B0C}"/>
                </a:ext>
              </a:extLst>
            </p:cNvPr>
            <p:cNvCxnSpPr>
              <a:stCxn id="5" idx="2"/>
              <a:endCxn id="10" idx="7"/>
            </p:cNvCxnSpPr>
            <p:nvPr/>
          </p:nvCxnSpPr>
          <p:spPr>
            <a:xfrm flipH="1">
              <a:off x="1523131" y="2286514"/>
              <a:ext cx="2382462" cy="261564"/>
            </a:xfrm>
            <a:prstGeom prst="straightConnector1">
              <a:avLst/>
            </a:prstGeom>
            <a:ln w="12700">
              <a:solidFill>
                <a:schemeClr val="accent2"/>
              </a:solidFill>
              <a:headEnd type="none" w="med" len="med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4" name="Picture 2">
              <a:extLst>
                <a:ext uri="{FF2B5EF4-FFF2-40B4-BE49-F238E27FC236}">
                  <a16:creationId xmlns:a16="http://schemas.microsoft.com/office/drawing/2014/main" id="{D123D1D8-D4EB-7AD7-5EF3-CA6C5EC8F2F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auto">
            <a:xfrm>
              <a:off x="4174503" y="3200400"/>
              <a:ext cx="696143" cy="457714"/>
            </a:xfrm>
            <a:prstGeom prst="rect">
              <a:avLst/>
            </a:prstGeom>
            <a:noFill/>
          </p:spPr>
        </p:pic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EFAE610A-584D-4DA4-FD7E-4127C285D04D}"/>
                </a:ext>
              </a:extLst>
            </p:cNvPr>
            <p:cNvCxnSpPr>
              <a:stCxn id="11" idx="4"/>
              <a:endCxn id="14" idx="0"/>
            </p:cNvCxnSpPr>
            <p:nvPr/>
          </p:nvCxnSpPr>
          <p:spPr>
            <a:xfrm flipH="1">
              <a:off x="4522575" y="2743200"/>
              <a:ext cx="1434584" cy="457200"/>
            </a:xfrm>
            <a:prstGeom prst="straightConnector1">
              <a:avLst/>
            </a:prstGeom>
            <a:ln w="12700">
              <a:solidFill>
                <a:srgbClr val="C00000"/>
              </a:solidFill>
              <a:headEnd type="none" w="med" len="med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0A1F2799-D3D4-E368-6360-18F354F00526}"/>
                </a:ext>
              </a:extLst>
            </p:cNvPr>
            <p:cNvCxnSpPr>
              <a:stCxn id="11" idx="4"/>
              <a:endCxn id="7" idx="0"/>
            </p:cNvCxnSpPr>
            <p:nvPr/>
          </p:nvCxnSpPr>
          <p:spPr>
            <a:xfrm>
              <a:off x="5957159" y="2743200"/>
              <a:ext cx="1664304" cy="457200"/>
            </a:xfrm>
            <a:prstGeom prst="straightConnector1">
              <a:avLst/>
            </a:prstGeom>
            <a:ln w="12700">
              <a:solidFill>
                <a:srgbClr val="C00000"/>
              </a:solidFill>
              <a:headEnd type="none" w="med" len="med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7" name="Picture 2">
              <a:extLst>
                <a:ext uri="{FF2B5EF4-FFF2-40B4-BE49-F238E27FC236}">
                  <a16:creationId xmlns:a16="http://schemas.microsoft.com/office/drawing/2014/main" id="{1DA2EB67-17DF-1843-AD96-538DC5DC8F9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auto">
            <a:xfrm>
              <a:off x="1088403" y="3199887"/>
              <a:ext cx="696143" cy="457714"/>
            </a:xfrm>
            <a:prstGeom prst="rect">
              <a:avLst/>
            </a:prstGeom>
            <a:noFill/>
          </p:spPr>
        </p:pic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F014F395-707C-FE15-1F4C-132A95394ABD}"/>
                </a:ext>
              </a:extLst>
            </p:cNvPr>
            <p:cNvCxnSpPr>
              <a:stCxn id="10" idx="4"/>
              <a:endCxn id="17" idx="0"/>
            </p:cNvCxnSpPr>
            <p:nvPr/>
          </p:nvCxnSpPr>
          <p:spPr>
            <a:xfrm flipH="1">
              <a:off x="1436475" y="2743201"/>
              <a:ext cx="5834" cy="456686"/>
            </a:xfrm>
            <a:prstGeom prst="straightConnector1">
              <a:avLst/>
            </a:prstGeom>
            <a:ln w="12700">
              <a:solidFill>
                <a:schemeClr val="accent2"/>
              </a:solidFill>
              <a:headEnd type="none" w="med" len="med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9" name="Picture 2">
              <a:extLst>
                <a:ext uri="{FF2B5EF4-FFF2-40B4-BE49-F238E27FC236}">
                  <a16:creationId xmlns:a16="http://schemas.microsoft.com/office/drawing/2014/main" id="{93FE6023-72AA-5D9B-246E-2F08E391C6C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auto">
            <a:xfrm>
              <a:off x="2154631" y="4629150"/>
              <a:ext cx="760961" cy="479510"/>
            </a:xfrm>
            <a:prstGeom prst="rect">
              <a:avLst/>
            </a:prstGeom>
            <a:noFill/>
          </p:spPr>
        </p:pic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79480089-387A-08E4-6D05-2A24E6D99D7F}"/>
                </a:ext>
              </a:extLst>
            </p:cNvPr>
            <p:cNvSpPr/>
            <p:nvPr/>
          </p:nvSpPr>
          <p:spPr>
            <a:xfrm>
              <a:off x="573390" y="3942836"/>
              <a:ext cx="228600" cy="228600"/>
            </a:xfrm>
            <a:prstGeom prst="ellipse">
              <a:avLst/>
            </a:prstGeom>
            <a:solidFill>
              <a:srgbClr val="B8EAC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E4547B81-61C0-542A-4311-BD181A02BAA1}"/>
                </a:ext>
              </a:extLst>
            </p:cNvPr>
            <p:cNvSpPr/>
            <p:nvPr/>
          </p:nvSpPr>
          <p:spPr>
            <a:xfrm>
              <a:off x="2085030" y="3942836"/>
              <a:ext cx="228600" cy="228600"/>
            </a:xfrm>
            <a:prstGeom prst="ellipse">
              <a:avLst/>
            </a:prstGeom>
            <a:solidFill>
              <a:srgbClr val="B8EAC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B791AC28-E99D-8BAD-B0CC-B40C5711327D}"/>
                </a:ext>
              </a:extLst>
            </p:cNvPr>
            <p:cNvCxnSpPr>
              <a:stCxn id="17" idx="2"/>
              <a:endCxn id="21" idx="1"/>
            </p:cNvCxnSpPr>
            <p:nvPr/>
          </p:nvCxnSpPr>
          <p:spPr>
            <a:xfrm>
              <a:off x="1436474" y="3657600"/>
              <a:ext cx="682034" cy="318714"/>
            </a:xfrm>
            <a:prstGeom prst="straightConnector1">
              <a:avLst/>
            </a:prstGeom>
            <a:ln w="12700">
              <a:solidFill>
                <a:srgbClr val="C00000"/>
              </a:solidFill>
              <a:headEnd type="none" w="med" len="med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5D38C62A-F5C7-542C-914B-EBFCD2C973F8}"/>
                </a:ext>
              </a:extLst>
            </p:cNvPr>
            <p:cNvCxnSpPr>
              <a:stCxn id="17" idx="2"/>
              <a:endCxn id="20" idx="7"/>
            </p:cNvCxnSpPr>
            <p:nvPr/>
          </p:nvCxnSpPr>
          <p:spPr>
            <a:xfrm flipH="1">
              <a:off x="768512" y="3657600"/>
              <a:ext cx="667962" cy="318714"/>
            </a:xfrm>
            <a:prstGeom prst="straightConnector1">
              <a:avLst/>
            </a:prstGeom>
            <a:ln w="12700">
              <a:solidFill>
                <a:schemeClr val="accent2"/>
              </a:solidFill>
              <a:headEnd type="none" w="med" len="med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24" name="Picture 2">
              <a:extLst>
                <a:ext uri="{FF2B5EF4-FFF2-40B4-BE49-F238E27FC236}">
                  <a16:creationId xmlns:a16="http://schemas.microsoft.com/office/drawing/2014/main" id="{0AD9EEF3-CFB3-78F5-1E5A-5727EAE5F6C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auto">
            <a:xfrm>
              <a:off x="1545603" y="4629150"/>
              <a:ext cx="696143" cy="457714"/>
            </a:xfrm>
            <a:prstGeom prst="rect">
              <a:avLst/>
            </a:prstGeom>
            <a:noFill/>
          </p:spPr>
        </p:pic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4805CB3B-0B33-A1CA-0D1A-0B42D8C84DC6}"/>
                </a:ext>
              </a:extLst>
            </p:cNvPr>
            <p:cNvCxnSpPr>
              <a:stCxn id="21" idx="4"/>
              <a:endCxn id="24" idx="0"/>
            </p:cNvCxnSpPr>
            <p:nvPr/>
          </p:nvCxnSpPr>
          <p:spPr>
            <a:xfrm flipH="1">
              <a:off x="1893675" y="4171437"/>
              <a:ext cx="305656" cy="457714"/>
            </a:xfrm>
            <a:prstGeom prst="straightConnector1">
              <a:avLst/>
            </a:prstGeom>
            <a:ln w="12700">
              <a:solidFill>
                <a:srgbClr val="C00000"/>
              </a:solidFill>
              <a:headEnd type="none" w="med" len="med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BCB09294-2B98-6ACC-270C-6E1D6108F36D}"/>
                </a:ext>
              </a:extLst>
            </p:cNvPr>
            <p:cNvCxnSpPr>
              <a:stCxn id="21" idx="4"/>
              <a:endCxn id="19" idx="0"/>
            </p:cNvCxnSpPr>
            <p:nvPr/>
          </p:nvCxnSpPr>
          <p:spPr>
            <a:xfrm>
              <a:off x="2199330" y="4171437"/>
              <a:ext cx="335783" cy="457714"/>
            </a:xfrm>
            <a:prstGeom prst="straightConnector1">
              <a:avLst/>
            </a:prstGeom>
            <a:ln w="12700">
              <a:solidFill>
                <a:srgbClr val="C00000"/>
              </a:solidFill>
              <a:headEnd type="none" w="med" len="med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27" name="Picture 2">
              <a:extLst>
                <a:ext uri="{FF2B5EF4-FFF2-40B4-BE49-F238E27FC236}">
                  <a16:creationId xmlns:a16="http://schemas.microsoft.com/office/drawing/2014/main" id="{3D3F9E2C-53C7-99E1-98C3-7C48B30F1FA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auto">
            <a:xfrm>
              <a:off x="345453" y="4628123"/>
              <a:ext cx="696143" cy="457714"/>
            </a:xfrm>
            <a:prstGeom prst="rect">
              <a:avLst/>
            </a:prstGeom>
            <a:noFill/>
          </p:spPr>
        </p:pic>
        <p:cxnSp>
          <p:nvCxnSpPr>
            <p:cNvPr id="28" name="Straight Arrow Connector 27">
              <a:extLst>
                <a:ext uri="{FF2B5EF4-FFF2-40B4-BE49-F238E27FC236}">
                  <a16:creationId xmlns:a16="http://schemas.microsoft.com/office/drawing/2014/main" id="{58912A0C-0603-E976-B624-18C5B52832E9}"/>
                </a:ext>
              </a:extLst>
            </p:cNvPr>
            <p:cNvCxnSpPr>
              <a:stCxn id="20" idx="4"/>
              <a:endCxn id="27" idx="0"/>
            </p:cNvCxnSpPr>
            <p:nvPr/>
          </p:nvCxnSpPr>
          <p:spPr>
            <a:xfrm>
              <a:off x="687691" y="4171437"/>
              <a:ext cx="5834" cy="456686"/>
            </a:xfrm>
            <a:prstGeom prst="straightConnector1">
              <a:avLst/>
            </a:prstGeom>
            <a:ln w="12700">
              <a:solidFill>
                <a:schemeClr val="accent2"/>
              </a:solidFill>
              <a:headEnd type="none" w="med" len="med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97928B81-026C-9531-5333-BCC9258684D4}"/>
                </a:ext>
              </a:extLst>
            </p:cNvPr>
            <p:cNvSpPr/>
            <p:nvPr/>
          </p:nvSpPr>
          <p:spPr>
            <a:xfrm>
              <a:off x="3647822" y="3942836"/>
              <a:ext cx="228600" cy="228600"/>
            </a:xfrm>
            <a:prstGeom prst="ellipse">
              <a:avLst/>
            </a:prstGeom>
            <a:solidFill>
              <a:srgbClr val="B8EAC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cxnSp>
          <p:nvCxnSpPr>
            <p:cNvPr id="30" name="Straight Arrow Connector 29">
              <a:extLst>
                <a:ext uri="{FF2B5EF4-FFF2-40B4-BE49-F238E27FC236}">
                  <a16:creationId xmlns:a16="http://schemas.microsoft.com/office/drawing/2014/main" id="{C9EAC562-2416-8AE0-C362-E64A26B0733F}"/>
                </a:ext>
              </a:extLst>
            </p:cNvPr>
            <p:cNvCxnSpPr>
              <a:endCxn id="29" idx="7"/>
            </p:cNvCxnSpPr>
            <p:nvPr/>
          </p:nvCxnSpPr>
          <p:spPr>
            <a:xfrm flipH="1">
              <a:off x="3842944" y="3657600"/>
              <a:ext cx="667962" cy="318714"/>
            </a:xfrm>
            <a:prstGeom prst="straightConnector1">
              <a:avLst/>
            </a:prstGeom>
            <a:ln w="12700">
              <a:solidFill>
                <a:schemeClr val="accent2"/>
              </a:solidFill>
              <a:headEnd type="none" w="med" len="med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31" name="Picture 2">
              <a:extLst>
                <a:ext uri="{FF2B5EF4-FFF2-40B4-BE49-F238E27FC236}">
                  <a16:creationId xmlns:a16="http://schemas.microsoft.com/office/drawing/2014/main" id="{58C40976-AB15-487D-F0E6-7990ED49114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auto">
            <a:xfrm>
              <a:off x="3419884" y="4628123"/>
              <a:ext cx="696143" cy="457714"/>
            </a:xfrm>
            <a:prstGeom prst="rect">
              <a:avLst/>
            </a:prstGeom>
            <a:noFill/>
          </p:spPr>
        </p:pic>
        <p:cxnSp>
          <p:nvCxnSpPr>
            <p:cNvPr id="32" name="Straight Arrow Connector 31">
              <a:extLst>
                <a:ext uri="{FF2B5EF4-FFF2-40B4-BE49-F238E27FC236}">
                  <a16:creationId xmlns:a16="http://schemas.microsoft.com/office/drawing/2014/main" id="{481A9FAB-0133-3FA7-22D6-2D063874808C}"/>
                </a:ext>
              </a:extLst>
            </p:cNvPr>
            <p:cNvCxnSpPr>
              <a:stCxn id="29" idx="4"/>
              <a:endCxn id="31" idx="0"/>
            </p:cNvCxnSpPr>
            <p:nvPr/>
          </p:nvCxnSpPr>
          <p:spPr>
            <a:xfrm>
              <a:off x="3762122" y="4171437"/>
              <a:ext cx="5834" cy="456686"/>
            </a:xfrm>
            <a:prstGeom prst="straightConnector1">
              <a:avLst/>
            </a:prstGeom>
            <a:ln w="12700">
              <a:solidFill>
                <a:schemeClr val="accent2"/>
              </a:solidFill>
              <a:headEnd type="none" w="med" len="med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33" name="Picture 2">
              <a:extLst>
                <a:ext uri="{FF2B5EF4-FFF2-40B4-BE49-F238E27FC236}">
                  <a16:creationId xmlns:a16="http://schemas.microsoft.com/office/drawing/2014/main" id="{1421160D-35AF-5960-BCCF-C9639E983F0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auto">
            <a:xfrm>
              <a:off x="5240731" y="4629150"/>
              <a:ext cx="760961" cy="479510"/>
            </a:xfrm>
            <a:prstGeom prst="rect">
              <a:avLst/>
            </a:prstGeom>
            <a:noFill/>
          </p:spPr>
        </p:pic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CB5B1489-E8A0-54B3-C063-DE688AA5063A}"/>
                </a:ext>
              </a:extLst>
            </p:cNvPr>
            <p:cNvSpPr/>
            <p:nvPr/>
          </p:nvSpPr>
          <p:spPr>
            <a:xfrm>
              <a:off x="5171130" y="3942836"/>
              <a:ext cx="228600" cy="228600"/>
            </a:xfrm>
            <a:prstGeom prst="ellipse">
              <a:avLst/>
            </a:prstGeom>
            <a:solidFill>
              <a:srgbClr val="B8EAC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cxnSp>
          <p:nvCxnSpPr>
            <p:cNvPr id="35" name="Straight Arrow Connector 34">
              <a:extLst>
                <a:ext uri="{FF2B5EF4-FFF2-40B4-BE49-F238E27FC236}">
                  <a16:creationId xmlns:a16="http://schemas.microsoft.com/office/drawing/2014/main" id="{351A819C-B0AE-537D-F9F9-6A8C260D82D0}"/>
                </a:ext>
              </a:extLst>
            </p:cNvPr>
            <p:cNvCxnSpPr>
              <a:stCxn id="14" idx="2"/>
              <a:endCxn id="34" idx="1"/>
            </p:cNvCxnSpPr>
            <p:nvPr/>
          </p:nvCxnSpPr>
          <p:spPr>
            <a:xfrm>
              <a:off x="4522574" y="3658114"/>
              <a:ext cx="682034" cy="318200"/>
            </a:xfrm>
            <a:prstGeom prst="straightConnector1">
              <a:avLst/>
            </a:prstGeom>
            <a:ln w="12700">
              <a:solidFill>
                <a:srgbClr val="C00000"/>
              </a:solidFill>
              <a:headEnd type="none" w="med" len="med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36" name="Picture 2">
              <a:extLst>
                <a:ext uri="{FF2B5EF4-FFF2-40B4-BE49-F238E27FC236}">
                  <a16:creationId xmlns:a16="http://schemas.microsoft.com/office/drawing/2014/main" id="{EA36EF2D-40BE-BF8A-F472-86419E2364D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auto">
            <a:xfrm>
              <a:off x="4631703" y="4629150"/>
              <a:ext cx="696143" cy="457714"/>
            </a:xfrm>
            <a:prstGeom prst="rect">
              <a:avLst/>
            </a:prstGeom>
            <a:noFill/>
          </p:spPr>
        </p:pic>
        <p:cxnSp>
          <p:nvCxnSpPr>
            <p:cNvPr id="37" name="Straight Arrow Connector 36">
              <a:extLst>
                <a:ext uri="{FF2B5EF4-FFF2-40B4-BE49-F238E27FC236}">
                  <a16:creationId xmlns:a16="http://schemas.microsoft.com/office/drawing/2014/main" id="{043E2086-3CA1-2EB2-0B81-704D7859E7E7}"/>
                </a:ext>
              </a:extLst>
            </p:cNvPr>
            <p:cNvCxnSpPr>
              <a:stCxn id="34" idx="4"/>
              <a:endCxn id="36" idx="0"/>
            </p:cNvCxnSpPr>
            <p:nvPr/>
          </p:nvCxnSpPr>
          <p:spPr>
            <a:xfrm flipH="1">
              <a:off x="4979775" y="4171437"/>
              <a:ext cx="305656" cy="457714"/>
            </a:xfrm>
            <a:prstGeom prst="straightConnector1">
              <a:avLst/>
            </a:prstGeom>
            <a:ln w="12700">
              <a:solidFill>
                <a:srgbClr val="C00000"/>
              </a:solidFill>
              <a:headEnd type="none" w="med" len="med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Arrow Connector 37">
              <a:extLst>
                <a:ext uri="{FF2B5EF4-FFF2-40B4-BE49-F238E27FC236}">
                  <a16:creationId xmlns:a16="http://schemas.microsoft.com/office/drawing/2014/main" id="{7886D732-1908-6BE1-5782-8D25AFCEAE42}"/>
                </a:ext>
              </a:extLst>
            </p:cNvPr>
            <p:cNvCxnSpPr>
              <a:stCxn id="34" idx="4"/>
              <a:endCxn id="33" idx="0"/>
            </p:cNvCxnSpPr>
            <p:nvPr/>
          </p:nvCxnSpPr>
          <p:spPr>
            <a:xfrm>
              <a:off x="5285430" y="4171437"/>
              <a:ext cx="335783" cy="457714"/>
            </a:xfrm>
            <a:prstGeom prst="straightConnector1">
              <a:avLst/>
            </a:prstGeom>
            <a:ln w="12700">
              <a:solidFill>
                <a:srgbClr val="C00000"/>
              </a:solidFill>
              <a:headEnd type="none" w="med" len="med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39" name="Picture 2">
              <a:extLst>
                <a:ext uri="{FF2B5EF4-FFF2-40B4-BE49-F238E27FC236}">
                  <a16:creationId xmlns:a16="http://schemas.microsoft.com/office/drawing/2014/main" id="{ADF54E16-D8DD-4935-A989-99037CE8AE9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auto">
            <a:xfrm>
              <a:off x="6783781" y="4628636"/>
              <a:ext cx="760961" cy="479510"/>
            </a:xfrm>
            <a:prstGeom prst="rect">
              <a:avLst/>
            </a:prstGeom>
            <a:noFill/>
          </p:spPr>
        </p:pic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0D664454-24AE-F56A-9925-DBDA796E5EBB}"/>
                </a:ext>
              </a:extLst>
            </p:cNvPr>
            <p:cNvSpPr/>
            <p:nvPr/>
          </p:nvSpPr>
          <p:spPr>
            <a:xfrm>
              <a:off x="6714180" y="3942323"/>
              <a:ext cx="228600" cy="228600"/>
            </a:xfrm>
            <a:prstGeom prst="ellipse">
              <a:avLst/>
            </a:prstGeom>
            <a:solidFill>
              <a:srgbClr val="B8EAC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cxnSp>
          <p:nvCxnSpPr>
            <p:cNvPr id="41" name="Straight Arrow Connector 40">
              <a:extLst>
                <a:ext uri="{FF2B5EF4-FFF2-40B4-BE49-F238E27FC236}">
                  <a16:creationId xmlns:a16="http://schemas.microsoft.com/office/drawing/2014/main" id="{A4C0C213-7443-E71B-947F-2C207B2522D3}"/>
                </a:ext>
              </a:extLst>
            </p:cNvPr>
            <p:cNvCxnSpPr>
              <a:stCxn id="7" idx="2"/>
              <a:endCxn id="40" idx="7"/>
            </p:cNvCxnSpPr>
            <p:nvPr/>
          </p:nvCxnSpPr>
          <p:spPr>
            <a:xfrm flipH="1">
              <a:off x="6909303" y="3679910"/>
              <a:ext cx="712160" cy="295891"/>
            </a:xfrm>
            <a:prstGeom prst="straightConnector1">
              <a:avLst/>
            </a:prstGeom>
            <a:ln w="12700">
              <a:solidFill>
                <a:schemeClr val="accent2"/>
              </a:solidFill>
              <a:headEnd type="none" w="med" len="med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42" name="Picture 2">
              <a:extLst>
                <a:ext uri="{FF2B5EF4-FFF2-40B4-BE49-F238E27FC236}">
                  <a16:creationId xmlns:a16="http://schemas.microsoft.com/office/drawing/2014/main" id="{3CB01CED-BDDF-1CBC-375B-2CED39894D4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auto">
            <a:xfrm>
              <a:off x="6174753" y="4628637"/>
              <a:ext cx="696143" cy="457714"/>
            </a:xfrm>
            <a:prstGeom prst="rect">
              <a:avLst/>
            </a:prstGeom>
            <a:noFill/>
          </p:spPr>
        </p:pic>
        <p:cxnSp>
          <p:nvCxnSpPr>
            <p:cNvPr id="43" name="Straight Arrow Connector 42">
              <a:extLst>
                <a:ext uri="{FF2B5EF4-FFF2-40B4-BE49-F238E27FC236}">
                  <a16:creationId xmlns:a16="http://schemas.microsoft.com/office/drawing/2014/main" id="{851BC63E-6C73-1CE1-65B5-328BB7305454}"/>
                </a:ext>
              </a:extLst>
            </p:cNvPr>
            <p:cNvCxnSpPr>
              <a:stCxn id="40" idx="4"/>
              <a:endCxn id="42" idx="0"/>
            </p:cNvCxnSpPr>
            <p:nvPr/>
          </p:nvCxnSpPr>
          <p:spPr>
            <a:xfrm flipH="1">
              <a:off x="6522825" y="4170923"/>
              <a:ext cx="305656" cy="457714"/>
            </a:xfrm>
            <a:prstGeom prst="straightConnector1">
              <a:avLst/>
            </a:prstGeom>
            <a:ln w="12700">
              <a:solidFill>
                <a:schemeClr val="accent2"/>
              </a:solidFill>
              <a:headEnd type="none" w="med" len="med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Arrow Connector 43">
              <a:extLst>
                <a:ext uri="{FF2B5EF4-FFF2-40B4-BE49-F238E27FC236}">
                  <a16:creationId xmlns:a16="http://schemas.microsoft.com/office/drawing/2014/main" id="{085FA31D-84DD-CD67-7713-B5AAFC962751}"/>
                </a:ext>
              </a:extLst>
            </p:cNvPr>
            <p:cNvCxnSpPr>
              <a:stCxn id="40" idx="4"/>
              <a:endCxn id="39" idx="0"/>
            </p:cNvCxnSpPr>
            <p:nvPr/>
          </p:nvCxnSpPr>
          <p:spPr>
            <a:xfrm>
              <a:off x="6828480" y="4170923"/>
              <a:ext cx="335783" cy="457714"/>
            </a:xfrm>
            <a:prstGeom prst="straightConnector1">
              <a:avLst/>
            </a:prstGeom>
            <a:ln w="12700">
              <a:solidFill>
                <a:schemeClr val="accent2"/>
              </a:solidFill>
              <a:headEnd type="none" w="med" len="med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Oval 44">
              <a:extLst>
                <a:ext uri="{FF2B5EF4-FFF2-40B4-BE49-F238E27FC236}">
                  <a16:creationId xmlns:a16="http://schemas.microsoft.com/office/drawing/2014/main" id="{644569FF-AEBB-A941-4F1D-619553984086}"/>
                </a:ext>
              </a:extLst>
            </p:cNvPr>
            <p:cNvSpPr/>
            <p:nvPr/>
          </p:nvSpPr>
          <p:spPr>
            <a:xfrm>
              <a:off x="8339956" y="3942836"/>
              <a:ext cx="228600" cy="228600"/>
            </a:xfrm>
            <a:prstGeom prst="ellipse">
              <a:avLst/>
            </a:prstGeom>
            <a:solidFill>
              <a:srgbClr val="B8EAC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cxnSp>
          <p:nvCxnSpPr>
            <p:cNvPr id="46" name="Straight Arrow Connector 45">
              <a:extLst>
                <a:ext uri="{FF2B5EF4-FFF2-40B4-BE49-F238E27FC236}">
                  <a16:creationId xmlns:a16="http://schemas.microsoft.com/office/drawing/2014/main" id="{E2EDDE0D-12DA-373F-1FF0-8539E55450F9}"/>
                </a:ext>
              </a:extLst>
            </p:cNvPr>
            <p:cNvCxnSpPr>
              <a:stCxn id="7" idx="2"/>
              <a:endCxn id="45" idx="1"/>
            </p:cNvCxnSpPr>
            <p:nvPr/>
          </p:nvCxnSpPr>
          <p:spPr>
            <a:xfrm>
              <a:off x="7621463" y="3679909"/>
              <a:ext cx="751971" cy="296405"/>
            </a:xfrm>
            <a:prstGeom prst="straightConnector1">
              <a:avLst/>
            </a:prstGeom>
            <a:ln w="12700">
              <a:solidFill>
                <a:srgbClr val="C00000"/>
              </a:solidFill>
              <a:headEnd type="none" w="med" len="med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Arrow Connector 46">
              <a:extLst>
                <a:ext uri="{FF2B5EF4-FFF2-40B4-BE49-F238E27FC236}">
                  <a16:creationId xmlns:a16="http://schemas.microsoft.com/office/drawing/2014/main" id="{E568FDE8-F2A7-6E5B-983D-0B6C46C67D30}"/>
                </a:ext>
              </a:extLst>
            </p:cNvPr>
            <p:cNvCxnSpPr>
              <a:stCxn id="45" idx="4"/>
            </p:cNvCxnSpPr>
            <p:nvPr/>
          </p:nvCxnSpPr>
          <p:spPr>
            <a:xfrm>
              <a:off x="8454256" y="4171437"/>
              <a:ext cx="5834" cy="456686"/>
            </a:xfrm>
            <a:prstGeom prst="straightConnector1">
              <a:avLst/>
            </a:prstGeom>
            <a:ln w="12700">
              <a:solidFill>
                <a:srgbClr val="C00000"/>
              </a:solidFill>
              <a:headEnd type="none" w="med" len="med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4345AE6-BB61-E661-CED3-120A98EB02F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KR"/>
              <a:t>691</a:t>
            </a:r>
            <a:endParaRPr lang="en-KR" sz="4000" dirty="0"/>
          </a:p>
        </p:txBody>
      </p:sp>
    </p:spTree>
    <p:extLst>
      <p:ext uri="{BB962C8B-B14F-4D97-AF65-F5344CB8AC3E}">
        <p14:creationId xmlns:p14="http://schemas.microsoft.com/office/powerpoint/2010/main" val="87735413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7024A8-D1D0-A251-980E-19DCF2870F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88A326-A7A6-6DC3-A99E-0117D09616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Racing Search Tree</a:t>
            </a:r>
            <a:endParaRPr lang="en-KR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3270AC4-02AE-B9D8-B87F-984DE58663F2}"/>
              </a:ext>
            </a:extLst>
          </p:cNvPr>
          <p:cNvSpPr/>
          <p:nvPr/>
        </p:nvSpPr>
        <p:spPr>
          <a:xfrm>
            <a:off x="7067791" y="4928056"/>
            <a:ext cx="2076209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800" dirty="0">
                <a:solidFill>
                  <a:schemeClr val="bg1">
                    <a:lumMod val="65000"/>
                  </a:schemeClr>
                </a:solidFill>
                <a:cs typeface="Calibri"/>
              </a:rPr>
              <a:t>Adapted from CS188 of Klein and </a:t>
            </a:r>
            <a:r>
              <a:rPr lang="en-US" sz="800" dirty="0" err="1">
                <a:solidFill>
                  <a:schemeClr val="bg1">
                    <a:lumMod val="65000"/>
                  </a:schemeClr>
                </a:solidFill>
                <a:cs typeface="Calibri"/>
              </a:rPr>
              <a:t>Abbeel</a:t>
            </a:r>
            <a:endParaRPr lang="en-KR" sz="800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62180F25-984E-8CBA-279D-D8AB65A18F6B}"/>
              </a:ext>
            </a:extLst>
          </p:cNvPr>
          <p:cNvGrpSpPr/>
          <p:nvPr/>
        </p:nvGrpSpPr>
        <p:grpSpPr>
          <a:xfrm>
            <a:off x="2143447" y="1294121"/>
            <a:ext cx="4857106" cy="3545445"/>
            <a:chOff x="2057400" y="1943100"/>
            <a:chExt cx="4857106" cy="3545445"/>
          </a:xfrm>
        </p:grpSpPr>
        <p:pic>
          <p:nvPicPr>
            <p:cNvPr id="5" name="Picture 4" descr="RacingSubTree.png">
              <a:extLst>
                <a:ext uri="{FF2B5EF4-FFF2-40B4-BE49-F238E27FC236}">
                  <a16:creationId xmlns:a16="http://schemas.microsoft.com/office/drawing/2014/main" id="{A5F4E94B-151F-8531-5494-6A277D41C64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057400" y="3371850"/>
              <a:ext cx="4352254" cy="2116695"/>
            </a:xfrm>
            <a:prstGeom prst="rect">
              <a:avLst/>
            </a:prstGeom>
          </p:spPr>
        </p:pic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9583C6D7-484A-E34C-DA87-C1A305C592EF}"/>
                </a:ext>
              </a:extLst>
            </p:cNvPr>
            <p:cNvGrpSpPr/>
            <p:nvPr/>
          </p:nvGrpSpPr>
          <p:grpSpPr>
            <a:xfrm>
              <a:off x="2236606" y="1943100"/>
              <a:ext cx="4677900" cy="1714500"/>
              <a:chOff x="460604" y="1295400"/>
              <a:chExt cx="11931837" cy="4373146"/>
            </a:xfrm>
          </p:grpSpPr>
          <p:pic>
            <p:nvPicPr>
              <p:cNvPr id="8" name="Picture 2">
                <a:extLst>
                  <a:ext uri="{FF2B5EF4-FFF2-40B4-BE49-F238E27FC236}">
                    <a16:creationId xmlns:a16="http://schemas.microsoft.com/office/drawing/2014/main" id="{B40B005C-1994-5660-8C5F-6F349381460F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 bwMode="auto">
              <a:xfrm>
                <a:off x="4743363" y="1295400"/>
                <a:ext cx="928189" cy="610285"/>
              </a:xfrm>
              <a:prstGeom prst="rect">
                <a:avLst/>
              </a:prstGeom>
              <a:noFill/>
            </p:spPr>
          </p:pic>
          <p:pic>
            <p:nvPicPr>
              <p:cNvPr id="10" name="Picture 2">
                <a:extLst>
                  <a:ext uri="{FF2B5EF4-FFF2-40B4-BE49-F238E27FC236}">
                    <a16:creationId xmlns:a16="http://schemas.microsoft.com/office/drawing/2014/main" id="{794B70CB-EDDE-BC79-56BE-C72A921320E5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 bwMode="auto">
              <a:xfrm>
                <a:off x="10212034" y="3124200"/>
                <a:ext cx="1014614" cy="639346"/>
              </a:xfrm>
              <a:prstGeom prst="rect">
                <a:avLst/>
              </a:prstGeom>
              <a:noFill/>
            </p:spPr>
          </p:pic>
          <p:pic>
            <p:nvPicPr>
              <p:cNvPr id="11" name="Picture 2">
                <a:extLst>
                  <a:ext uri="{FF2B5EF4-FFF2-40B4-BE49-F238E27FC236}">
                    <a16:creationId xmlns:a16="http://schemas.microsoft.com/office/drawing/2014/main" id="{084B5BB3-6A04-D666-2D40-BD08B39859DE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 bwMode="auto">
              <a:xfrm>
                <a:off x="11407647" y="4941332"/>
                <a:ext cx="984794" cy="697467"/>
              </a:xfrm>
              <a:prstGeom prst="rect">
                <a:avLst/>
              </a:prstGeom>
              <a:noFill/>
            </p:spPr>
          </p:pic>
          <p:sp>
            <p:nvSpPr>
              <p:cNvPr id="12" name="Oval 11">
                <a:extLst>
                  <a:ext uri="{FF2B5EF4-FFF2-40B4-BE49-F238E27FC236}">
                    <a16:creationId xmlns:a16="http://schemas.microsoft.com/office/drawing/2014/main" id="{C46D19B6-EAC9-B084-8268-E693343D8654}"/>
                  </a:ext>
                </a:extLst>
              </p:cNvPr>
              <p:cNvSpPr/>
              <p:nvPr/>
            </p:nvSpPr>
            <p:spPr>
              <a:xfrm>
                <a:off x="1770678" y="2209800"/>
                <a:ext cx="304800" cy="304800"/>
              </a:xfrm>
              <a:prstGeom prst="ellipse">
                <a:avLst/>
              </a:prstGeom>
              <a:solidFill>
                <a:srgbClr val="B8EAC0"/>
              </a:solidFill>
              <a:ln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0"/>
              </a:p>
            </p:txBody>
          </p:sp>
          <p:sp>
            <p:nvSpPr>
              <p:cNvPr id="13" name="Oval 12">
                <a:extLst>
                  <a:ext uri="{FF2B5EF4-FFF2-40B4-BE49-F238E27FC236}">
                    <a16:creationId xmlns:a16="http://schemas.microsoft.com/office/drawing/2014/main" id="{A78D8515-156D-E824-5F64-C18E55AC980A}"/>
                  </a:ext>
                </a:extLst>
              </p:cNvPr>
              <p:cNvSpPr/>
              <p:nvPr/>
            </p:nvSpPr>
            <p:spPr>
              <a:xfrm>
                <a:off x="8153453" y="2209801"/>
                <a:ext cx="304800" cy="304800"/>
              </a:xfrm>
              <a:prstGeom prst="ellipse">
                <a:avLst/>
              </a:prstGeom>
              <a:solidFill>
                <a:srgbClr val="B8EAC0"/>
              </a:solidFill>
              <a:ln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0"/>
              </a:p>
            </p:txBody>
          </p:sp>
          <p:cxnSp>
            <p:nvCxnSpPr>
              <p:cNvPr id="14" name="Straight Arrow Connector 13">
                <a:extLst>
                  <a:ext uri="{FF2B5EF4-FFF2-40B4-BE49-F238E27FC236}">
                    <a16:creationId xmlns:a16="http://schemas.microsoft.com/office/drawing/2014/main" id="{8A440549-271F-26D8-D14E-D91105E20B9B}"/>
                  </a:ext>
                </a:extLst>
              </p:cNvPr>
              <p:cNvCxnSpPr>
                <a:stCxn id="8" idx="2"/>
                <a:endCxn id="13" idx="1"/>
              </p:cNvCxnSpPr>
              <p:nvPr/>
            </p:nvCxnSpPr>
            <p:spPr>
              <a:xfrm>
                <a:off x="5207456" y="1905685"/>
                <a:ext cx="2990634" cy="348752"/>
              </a:xfrm>
              <a:prstGeom prst="straightConnector1">
                <a:avLst/>
              </a:prstGeom>
              <a:ln w="12700">
                <a:solidFill>
                  <a:srgbClr val="C00000"/>
                </a:solidFill>
                <a:headEnd type="none" w="med" len="med"/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Straight Arrow Connector 14">
                <a:extLst>
                  <a:ext uri="{FF2B5EF4-FFF2-40B4-BE49-F238E27FC236}">
                    <a16:creationId xmlns:a16="http://schemas.microsoft.com/office/drawing/2014/main" id="{4965A118-C8FF-F602-4D82-9BE1BDE37E96}"/>
                  </a:ext>
                </a:extLst>
              </p:cNvPr>
              <p:cNvCxnSpPr>
                <a:stCxn id="8" idx="2"/>
                <a:endCxn id="12" idx="7"/>
              </p:cNvCxnSpPr>
              <p:nvPr/>
            </p:nvCxnSpPr>
            <p:spPr>
              <a:xfrm flipH="1">
                <a:off x="2030841" y="1905685"/>
                <a:ext cx="3176616" cy="348752"/>
              </a:xfrm>
              <a:prstGeom prst="straightConnector1">
                <a:avLst/>
              </a:prstGeom>
              <a:ln w="12700">
                <a:solidFill>
                  <a:schemeClr val="accent2"/>
                </a:solidFill>
                <a:headEnd type="none" w="med" len="med"/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16" name="Picture 2">
                <a:extLst>
                  <a:ext uri="{FF2B5EF4-FFF2-40B4-BE49-F238E27FC236}">
                    <a16:creationId xmlns:a16="http://schemas.microsoft.com/office/drawing/2014/main" id="{B93BFC92-F565-B783-BA95-8355B9D5AB7A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 bwMode="auto">
              <a:xfrm>
                <a:off x="5566004" y="3124200"/>
                <a:ext cx="928189" cy="610285"/>
              </a:xfrm>
              <a:prstGeom prst="rect">
                <a:avLst/>
              </a:prstGeom>
              <a:noFill/>
            </p:spPr>
          </p:pic>
          <p:cxnSp>
            <p:nvCxnSpPr>
              <p:cNvPr id="17" name="Straight Arrow Connector 16">
                <a:extLst>
                  <a:ext uri="{FF2B5EF4-FFF2-40B4-BE49-F238E27FC236}">
                    <a16:creationId xmlns:a16="http://schemas.microsoft.com/office/drawing/2014/main" id="{5BDE047C-E213-D03E-2D79-CFE225DC18DE}"/>
                  </a:ext>
                </a:extLst>
              </p:cNvPr>
              <p:cNvCxnSpPr>
                <a:stCxn id="13" idx="4"/>
                <a:endCxn id="16" idx="0"/>
              </p:cNvCxnSpPr>
              <p:nvPr/>
            </p:nvCxnSpPr>
            <p:spPr>
              <a:xfrm flipH="1">
                <a:off x="6030098" y="2514601"/>
                <a:ext cx="2275755" cy="609599"/>
              </a:xfrm>
              <a:prstGeom prst="straightConnector1">
                <a:avLst/>
              </a:prstGeom>
              <a:ln w="12700">
                <a:solidFill>
                  <a:srgbClr val="C00000"/>
                </a:solidFill>
                <a:headEnd type="none" w="med" len="med"/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Straight Arrow Connector 17">
                <a:extLst>
                  <a:ext uri="{FF2B5EF4-FFF2-40B4-BE49-F238E27FC236}">
                    <a16:creationId xmlns:a16="http://schemas.microsoft.com/office/drawing/2014/main" id="{A86F6A12-578B-D1DC-22BD-5C4827BBDC47}"/>
                  </a:ext>
                </a:extLst>
              </p:cNvPr>
              <p:cNvCxnSpPr>
                <a:stCxn id="13" idx="4"/>
                <a:endCxn id="10" idx="0"/>
              </p:cNvCxnSpPr>
              <p:nvPr/>
            </p:nvCxnSpPr>
            <p:spPr>
              <a:xfrm>
                <a:off x="8305854" y="2514601"/>
                <a:ext cx="2413488" cy="609599"/>
              </a:xfrm>
              <a:prstGeom prst="straightConnector1">
                <a:avLst/>
              </a:prstGeom>
              <a:ln w="12700">
                <a:solidFill>
                  <a:srgbClr val="C00000"/>
                </a:solidFill>
                <a:headEnd type="none" w="med" len="med"/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19" name="Picture 2">
                <a:extLst>
                  <a:ext uri="{FF2B5EF4-FFF2-40B4-BE49-F238E27FC236}">
                    <a16:creationId xmlns:a16="http://schemas.microsoft.com/office/drawing/2014/main" id="{8642E6CD-6302-9E0D-2E44-C658AB28D9D4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 bwMode="auto">
              <a:xfrm>
                <a:off x="1451204" y="3123515"/>
                <a:ext cx="928189" cy="610285"/>
              </a:xfrm>
              <a:prstGeom prst="rect">
                <a:avLst/>
              </a:prstGeom>
              <a:noFill/>
            </p:spPr>
          </p:pic>
          <p:cxnSp>
            <p:nvCxnSpPr>
              <p:cNvPr id="20" name="Straight Arrow Connector 19">
                <a:extLst>
                  <a:ext uri="{FF2B5EF4-FFF2-40B4-BE49-F238E27FC236}">
                    <a16:creationId xmlns:a16="http://schemas.microsoft.com/office/drawing/2014/main" id="{5B59F941-9425-644A-C91B-B6CC0E7FC819}"/>
                  </a:ext>
                </a:extLst>
              </p:cNvPr>
              <p:cNvCxnSpPr>
                <a:stCxn id="12" idx="4"/>
                <a:endCxn id="19" idx="0"/>
              </p:cNvCxnSpPr>
              <p:nvPr/>
            </p:nvCxnSpPr>
            <p:spPr>
              <a:xfrm flipH="1">
                <a:off x="1915299" y="2514600"/>
                <a:ext cx="7779" cy="608915"/>
              </a:xfrm>
              <a:prstGeom prst="straightConnector1">
                <a:avLst/>
              </a:prstGeom>
              <a:ln w="12700">
                <a:solidFill>
                  <a:schemeClr val="accent2"/>
                </a:solidFill>
                <a:headEnd type="none" w="med" len="med"/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21" name="Picture 2">
                <a:extLst>
                  <a:ext uri="{FF2B5EF4-FFF2-40B4-BE49-F238E27FC236}">
                    <a16:creationId xmlns:a16="http://schemas.microsoft.com/office/drawing/2014/main" id="{FC711EA1-5D39-0D2C-F0ED-D03F330E20D0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 bwMode="auto">
              <a:xfrm>
                <a:off x="3088129" y="5029200"/>
                <a:ext cx="1014614" cy="639346"/>
              </a:xfrm>
              <a:prstGeom prst="rect">
                <a:avLst/>
              </a:prstGeom>
              <a:noFill/>
            </p:spPr>
          </p:pic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BC8E39E9-603C-FAAE-2CB3-323AC8A4CB19}"/>
                  </a:ext>
                </a:extLst>
              </p:cNvPr>
              <p:cNvSpPr/>
              <p:nvPr/>
            </p:nvSpPr>
            <p:spPr>
              <a:xfrm>
                <a:off x="764520" y="4114115"/>
                <a:ext cx="304800" cy="304800"/>
              </a:xfrm>
              <a:prstGeom prst="ellipse">
                <a:avLst/>
              </a:prstGeom>
              <a:solidFill>
                <a:srgbClr val="B8EAC0"/>
              </a:solidFill>
              <a:ln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0"/>
              </a:p>
            </p:txBody>
          </p:sp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02BE9C14-F672-31D3-2F84-39D4D046E406}"/>
                  </a:ext>
                </a:extLst>
              </p:cNvPr>
              <p:cNvSpPr/>
              <p:nvPr/>
            </p:nvSpPr>
            <p:spPr>
              <a:xfrm>
                <a:off x="2778807" y="4114115"/>
                <a:ext cx="304800" cy="304800"/>
              </a:xfrm>
              <a:prstGeom prst="ellipse">
                <a:avLst/>
              </a:prstGeom>
              <a:solidFill>
                <a:srgbClr val="B8EAC0"/>
              </a:solidFill>
              <a:ln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0"/>
              </a:p>
            </p:txBody>
          </p:sp>
          <p:cxnSp>
            <p:nvCxnSpPr>
              <p:cNvPr id="24" name="Straight Arrow Connector 23">
                <a:extLst>
                  <a:ext uri="{FF2B5EF4-FFF2-40B4-BE49-F238E27FC236}">
                    <a16:creationId xmlns:a16="http://schemas.microsoft.com/office/drawing/2014/main" id="{56477732-1CCF-FF67-243C-69518283F0B0}"/>
                  </a:ext>
                </a:extLst>
              </p:cNvPr>
              <p:cNvCxnSpPr>
                <a:stCxn id="19" idx="2"/>
                <a:endCxn id="23" idx="1"/>
              </p:cNvCxnSpPr>
              <p:nvPr/>
            </p:nvCxnSpPr>
            <p:spPr>
              <a:xfrm>
                <a:off x="1915298" y="3733800"/>
                <a:ext cx="908145" cy="424951"/>
              </a:xfrm>
              <a:prstGeom prst="straightConnector1">
                <a:avLst/>
              </a:prstGeom>
              <a:ln w="12700">
                <a:solidFill>
                  <a:srgbClr val="C00000"/>
                </a:solidFill>
                <a:headEnd type="none" w="med" len="med"/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Straight Arrow Connector 24">
                <a:extLst>
                  <a:ext uri="{FF2B5EF4-FFF2-40B4-BE49-F238E27FC236}">
                    <a16:creationId xmlns:a16="http://schemas.microsoft.com/office/drawing/2014/main" id="{DD870829-2CBA-9C5B-3D63-346DFB654F25}"/>
                  </a:ext>
                </a:extLst>
              </p:cNvPr>
              <p:cNvCxnSpPr>
                <a:stCxn id="19" idx="2"/>
                <a:endCxn id="22" idx="7"/>
              </p:cNvCxnSpPr>
              <p:nvPr/>
            </p:nvCxnSpPr>
            <p:spPr>
              <a:xfrm flipH="1">
                <a:off x="1024683" y="3733800"/>
                <a:ext cx="890616" cy="424952"/>
              </a:xfrm>
              <a:prstGeom prst="straightConnector1">
                <a:avLst/>
              </a:prstGeom>
              <a:ln w="12700">
                <a:solidFill>
                  <a:schemeClr val="accent2"/>
                </a:solidFill>
                <a:headEnd type="none" w="med" len="med"/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26" name="Picture 2">
                <a:extLst>
                  <a:ext uri="{FF2B5EF4-FFF2-40B4-BE49-F238E27FC236}">
                    <a16:creationId xmlns:a16="http://schemas.microsoft.com/office/drawing/2014/main" id="{8419853E-ABAC-815D-F820-8C2810B1C6A5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 bwMode="auto">
              <a:xfrm>
                <a:off x="1772547" y="5029200"/>
                <a:ext cx="928189" cy="610285"/>
              </a:xfrm>
              <a:prstGeom prst="rect">
                <a:avLst/>
              </a:prstGeom>
              <a:noFill/>
            </p:spPr>
          </p:pic>
          <p:cxnSp>
            <p:nvCxnSpPr>
              <p:cNvPr id="27" name="Straight Arrow Connector 26">
                <a:extLst>
                  <a:ext uri="{FF2B5EF4-FFF2-40B4-BE49-F238E27FC236}">
                    <a16:creationId xmlns:a16="http://schemas.microsoft.com/office/drawing/2014/main" id="{7D279739-3852-DB22-9316-DB4C5C1FC0BC}"/>
                  </a:ext>
                </a:extLst>
              </p:cNvPr>
              <p:cNvCxnSpPr>
                <a:stCxn id="23" idx="4"/>
                <a:endCxn id="26" idx="0"/>
              </p:cNvCxnSpPr>
              <p:nvPr/>
            </p:nvCxnSpPr>
            <p:spPr>
              <a:xfrm flipH="1">
                <a:off x="2236642" y="4418915"/>
                <a:ext cx="694565" cy="610285"/>
              </a:xfrm>
              <a:prstGeom prst="straightConnector1">
                <a:avLst/>
              </a:prstGeom>
              <a:ln w="12700">
                <a:solidFill>
                  <a:srgbClr val="C00000"/>
                </a:solidFill>
                <a:headEnd type="none" w="med" len="med"/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Straight Arrow Connector 27">
                <a:extLst>
                  <a:ext uri="{FF2B5EF4-FFF2-40B4-BE49-F238E27FC236}">
                    <a16:creationId xmlns:a16="http://schemas.microsoft.com/office/drawing/2014/main" id="{DB5C8956-B97B-1F6A-551B-F1A6611249E9}"/>
                  </a:ext>
                </a:extLst>
              </p:cNvPr>
              <p:cNvCxnSpPr>
                <a:stCxn id="23" idx="4"/>
                <a:endCxn id="21" idx="0"/>
              </p:cNvCxnSpPr>
              <p:nvPr/>
            </p:nvCxnSpPr>
            <p:spPr>
              <a:xfrm>
                <a:off x="2931207" y="4418915"/>
                <a:ext cx="664230" cy="610285"/>
              </a:xfrm>
              <a:prstGeom prst="straightConnector1">
                <a:avLst/>
              </a:prstGeom>
              <a:ln w="12700">
                <a:solidFill>
                  <a:srgbClr val="C00000"/>
                </a:solidFill>
                <a:headEnd type="none" w="med" len="med"/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29" name="Picture 2">
                <a:extLst>
                  <a:ext uri="{FF2B5EF4-FFF2-40B4-BE49-F238E27FC236}">
                    <a16:creationId xmlns:a16="http://schemas.microsoft.com/office/drawing/2014/main" id="{86A955BB-5862-9EA0-1065-345FE77FB93C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 bwMode="auto">
              <a:xfrm>
                <a:off x="460604" y="5027830"/>
                <a:ext cx="928189" cy="610285"/>
              </a:xfrm>
              <a:prstGeom prst="rect">
                <a:avLst/>
              </a:prstGeom>
              <a:noFill/>
            </p:spPr>
          </p:pic>
          <p:cxnSp>
            <p:nvCxnSpPr>
              <p:cNvPr id="30" name="Straight Arrow Connector 29">
                <a:extLst>
                  <a:ext uri="{FF2B5EF4-FFF2-40B4-BE49-F238E27FC236}">
                    <a16:creationId xmlns:a16="http://schemas.microsoft.com/office/drawing/2014/main" id="{B6F814DA-53E9-C703-1994-ACBFD1198E9D}"/>
                  </a:ext>
                </a:extLst>
              </p:cNvPr>
              <p:cNvCxnSpPr>
                <a:stCxn id="22" idx="4"/>
                <a:endCxn id="29" idx="0"/>
              </p:cNvCxnSpPr>
              <p:nvPr/>
            </p:nvCxnSpPr>
            <p:spPr>
              <a:xfrm>
                <a:off x="916920" y="4418915"/>
                <a:ext cx="7779" cy="608915"/>
              </a:xfrm>
              <a:prstGeom prst="straightConnector1">
                <a:avLst/>
              </a:prstGeom>
              <a:ln w="12700">
                <a:solidFill>
                  <a:schemeClr val="accent2"/>
                </a:solidFill>
                <a:headEnd type="none" w="med" len="med"/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1" name="Oval 30">
                <a:extLst>
                  <a:ext uri="{FF2B5EF4-FFF2-40B4-BE49-F238E27FC236}">
                    <a16:creationId xmlns:a16="http://schemas.microsoft.com/office/drawing/2014/main" id="{F7B3B24C-F44A-641A-0912-2B50D8B7C1B5}"/>
                  </a:ext>
                </a:extLst>
              </p:cNvPr>
              <p:cNvSpPr/>
              <p:nvPr/>
            </p:nvSpPr>
            <p:spPr>
              <a:xfrm>
                <a:off x="4863762" y="4114115"/>
                <a:ext cx="304800" cy="304800"/>
              </a:xfrm>
              <a:prstGeom prst="ellipse">
                <a:avLst/>
              </a:prstGeom>
              <a:solidFill>
                <a:srgbClr val="B8EAC0"/>
              </a:solidFill>
              <a:ln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0"/>
              </a:p>
            </p:txBody>
          </p:sp>
          <p:cxnSp>
            <p:nvCxnSpPr>
              <p:cNvPr id="32" name="Straight Arrow Connector 31">
                <a:extLst>
                  <a:ext uri="{FF2B5EF4-FFF2-40B4-BE49-F238E27FC236}">
                    <a16:creationId xmlns:a16="http://schemas.microsoft.com/office/drawing/2014/main" id="{132BDF08-C8CC-F7B9-2E5D-B091AF51C021}"/>
                  </a:ext>
                </a:extLst>
              </p:cNvPr>
              <p:cNvCxnSpPr>
                <a:endCxn id="31" idx="7"/>
              </p:cNvCxnSpPr>
              <p:nvPr/>
            </p:nvCxnSpPr>
            <p:spPr>
              <a:xfrm flipH="1">
                <a:off x="5123925" y="3733800"/>
                <a:ext cx="890616" cy="424952"/>
              </a:xfrm>
              <a:prstGeom prst="straightConnector1">
                <a:avLst/>
              </a:prstGeom>
              <a:ln w="12700">
                <a:solidFill>
                  <a:schemeClr val="accent2"/>
                </a:solidFill>
                <a:headEnd type="none" w="med" len="med"/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33" name="Picture 2">
                <a:extLst>
                  <a:ext uri="{FF2B5EF4-FFF2-40B4-BE49-F238E27FC236}">
                    <a16:creationId xmlns:a16="http://schemas.microsoft.com/office/drawing/2014/main" id="{38C0D9BF-1C3C-22BC-858E-6F0559896F70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 bwMode="auto">
              <a:xfrm>
                <a:off x="4559846" y="5027830"/>
                <a:ext cx="928189" cy="610285"/>
              </a:xfrm>
              <a:prstGeom prst="rect">
                <a:avLst/>
              </a:prstGeom>
              <a:noFill/>
            </p:spPr>
          </p:pic>
          <p:cxnSp>
            <p:nvCxnSpPr>
              <p:cNvPr id="34" name="Straight Arrow Connector 33">
                <a:extLst>
                  <a:ext uri="{FF2B5EF4-FFF2-40B4-BE49-F238E27FC236}">
                    <a16:creationId xmlns:a16="http://schemas.microsoft.com/office/drawing/2014/main" id="{38FA9E5E-8B27-688C-AF46-271B13DCAC5D}"/>
                  </a:ext>
                </a:extLst>
              </p:cNvPr>
              <p:cNvCxnSpPr>
                <a:stCxn id="31" idx="4"/>
                <a:endCxn id="33" idx="0"/>
              </p:cNvCxnSpPr>
              <p:nvPr/>
            </p:nvCxnSpPr>
            <p:spPr>
              <a:xfrm>
                <a:off x="5016162" y="4418915"/>
                <a:ext cx="7779" cy="608915"/>
              </a:xfrm>
              <a:prstGeom prst="straightConnector1">
                <a:avLst/>
              </a:prstGeom>
              <a:ln w="12700">
                <a:solidFill>
                  <a:schemeClr val="accent2"/>
                </a:solidFill>
                <a:headEnd type="none" w="med" len="med"/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35" name="Picture 2">
                <a:extLst>
                  <a:ext uri="{FF2B5EF4-FFF2-40B4-BE49-F238E27FC236}">
                    <a16:creationId xmlns:a16="http://schemas.microsoft.com/office/drawing/2014/main" id="{F665B689-CA58-1D9D-5D52-6AA8D65441CC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 bwMode="auto">
              <a:xfrm>
                <a:off x="7169733" y="5029200"/>
                <a:ext cx="1014614" cy="639346"/>
              </a:xfrm>
              <a:prstGeom prst="rect">
                <a:avLst/>
              </a:prstGeom>
              <a:noFill/>
            </p:spPr>
          </p:pic>
          <p:sp>
            <p:nvSpPr>
              <p:cNvPr id="36" name="Oval 35">
                <a:extLst>
                  <a:ext uri="{FF2B5EF4-FFF2-40B4-BE49-F238E27FC236}">
                    <a16:creationId xmlns:a16="http://schemas.microsoft.com/office/drawing/2014/main" id="{9C1B83B0-3D6E-9CC4-640F-5F4A6FFC87F7}"/>
                  </a:ext>
                </a:extLst>
              </p:cNvPr>
              <p:cNvSpPr/>
              <p:nvPr/>
            </p:nvSpPr>
            <p:spPr>
              <a:xfrm>
                <a:off x="6894840" y="4114115"/>
                <a:ext cx="304800" cy="304800"/>
              </a:xfrm>
              <a:prstGeom prst="ellipse">
                <a:avLst/>
              </a:prstGeom>
              <a:solidFill>
                <a:srgbClr val="B8EAC0"/>
              </a:solidFill>
              <a:ln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0"/>
              </a:p>
            </p:txBody>
          </p:sp>
          <p:cxnSp>
            <p:nvCxnSpPr>
              <p:cNvPr id="37" name="Straight Arrow Connector 36">
                <a:extLst>
                  <a:ext uri="{FF2B5EF4-FFF2-40B4-BE49-F238E27FC236}">
                    <a16:creationId xmlns:a16="http://schemas.microsoft.com/office/drawing/2014/main" id="{3E57E6FC-7EF9-61F8-1609-AA4036970047}"/>
                  </a:ext>
                </a:extLst>
              </p:cNvPr>
              <p:cNvCxnSpPr>
                <a:stCxn id="16" idx="2"/>
                <a:endCxn id="36" idx="1"/>
              </p:cNvCxnSpPr>
              <p:nvPr/>
            </p:nvCxnSpPr>
            <p:spPr>
              <a:xfrm>
                <a:off x="6030099" y="3734485"/>
                <a:ext cx="909378" cy="424267"/>
              </a:xfrm>
              <a:prstGeom prst="straightConnector1">
                <a:avLst/>
              </a:prstGeom>
              <a:ln w="12700">
                <a:solidFill>
                  <a:srgbClr val="C00000"/>
                </a:solidFill>
                <a:headEnd type="none" w="med" len="med"/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38" name="Picture 2">
                <a:extLst>
                  <a:ext uri="{FF2B5EF4-FFF2-40B4-BE49-F238E27FC236}">
                    <a16:creationId xmlns:a16="http://schemas.microsoft.com/office/drawing/2014/main" id="{6023F000-C7E7-8159-E858-9528A0AD2E3B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 bwMode="auto">
              <a:xfrm>
                <a:off x="5999923" y="5029200"/>
                <a:ext cx="928189" cy="610285"/>
              </a:xfrm>
              <a:prstGeom prst="rect">
                <a:avLst/>
              </a:prstGeom>
              <a:noFill/>
            </p:spPr>
          </p:pic>
          <p:cxnSp>
            <p:nvCxnSpPr>
              <p:cNvPr id="39" name="Straight Arrow Connector 38">
                <a:extLst>
                  <a:ext uri="{FF2B5EF4-FFF2-40B4-BE49-F238E27FC236}">
                    <a16:creationId xmlns:a16="http://schemas.microsoft.com/office/drawing/2014/main" id="{7E003D6B-65F3-5214-F5DE-6674F32F74E9}"/>
                  </a:ext>
                </a:extLst>
              </p:cNvPr>
              <p:cNvCxnSpPr>
                <a:stCxn id="36" idx="4"/>
                <a:endCxn id="38" idx="0"/>
              </p:cNvCxnSpPr>
              <p:nvPr/>
            </p:nvCxnSpPr>
            <p:spPr>
              <a:xfrm flipH="1">
                <a:off x="6464016" y="4418915"/>
                <a:ext cx="583224" cy="610285"/>
              </a:xfrm>
              <a:prstGeom prst="straightConnector1">
                <a:avLst/>
              </a:prstGeom>
              <a:ln w="12700">
                <a:solidFill>
                  <a:srgbClr val="C00000"/>
                </a:solidFill>
                <a:headEnd type="none" w="med" len="med"/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Straight Arrow Connector 39">
                <a:extLst>
                  <a:ext uri="{FF2B5EF4-FFF2-40B4-BE49-F238E27FC236}">
                    <a16:creationId xmlns:a16="http://schemas.microsoft.com/office/drawing/2014/main" id="{44A652C5-EA2D-61F9-561B-42035403B9AC}"/>
                  </a:ext>
                </a:extLst>
              </p:cNvPr>
              <p:cNvCxnSpPr>
                <a:stCxn id="36" idx="4"/>
                <a:endCxn id="35" idx="0"/>
              </p:cNvCxnSpPr>
              <p:nvPr/>
            </p:nvCxnSpPr>
            <p:spPr>
              <a:xfrm>
                <a:off x="7047240" y="4418915"/>
                <a:ext cx="629800" cy="610285"/>
              </a:xfrm>
              <a:prstGeom prst="straightConnector1">
                <a:avLst/>
              </a:prstGeom>
              <a:ln w="12700">
                <a:solidFill>
                  <a:srgbClr val="C00000"/>
                </a:solidFill>
                <a:headEnd type="none" w="med" len="med"/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41" name="Picture 2">
                <a:extLst>
                  <a:ext uri="{FF2B5EF4-FFF2-40B4-BE49-F238E27FC236}">
                    <a16:creationId xmlns:a16="http://schemas.microsoft.com/office/drawing/2014/main" id="{5A86D4DE-1ADD-44A5-1087-3330B1EEB246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 bwMode="auto">
              <a:xfrm>
                <a:off x="9920493" y="5028515"/>
                <a:ext cx="1014614" cy="639346"/>
              </a:xfrm>
              <a:prstGeom prst="rect">
                <a:avLst/>
              </a:prstGeom>
              <a:noFill/>
            </p:spPr>
          </p:pic>
          <p:sp>
            <p:nvSpPr>
              <p:cNvPr id="42" name="Oval 41">
                <a:extLst>
                  <a:ext uri="{FF2B5EF4-FFF2-40B4-BE49-F238E27FC236}">
                    <a16:creationId xmlns:a16="http://schemas.microsoft.com/office/drawing/2014/main" id="{689215DB-6897-DA79-6702-480E94BFEE03}"/>
                  </a:ext>
                </a:extLst>
              </p:cNvPr>
              <p:cNvSpPr/>
              <p:nvPr/>
            </p:nvSpPr>
            <p:spPr>
              <a:xfrm>
                <a:off x="9478656" y="4113430"/>
                <a:ext cx="304800" cy="304800"/>
              </a:xfrm>
              <a:prstGeom prst="ellipse">
                <a:avLst/>
              </a:prstGeom>
              <a:solidFill>
                <a:srgbClr val="B8EAC0"/>
              </a:solidFill>
              <a:ln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0"/>
              </a:p>
            </p:txBody>
          </p:sp>
          <p:cxnSp>
            <p:nvCxnSpPr>
              <p:cNvPr id="43" name="Straight Arrow Connector 42">
                <a:extLst>
                  <a:ext uri="{FF2B5EF4-FFF2-40B4-BE49-F238E27FC236}">
                    <a16:creationId xmlns:a16="http://schemas.microsoft.com/office/drawing/2014/main" id="{EF5908B8-8C3A-96FA-438E-5BBC3B1129B2}"/>
                  </a:ext>
                </a:extLst>
              </p:cNvPr>
              <p:cNvCxnSpPr>
                <a:stCxn id="10" idx="2"/>
                <a:endCxn id="42" idx="7"/>
              </p:cNvCxnSpPr>
              <p:nvPr/>
            </p:nvCxnSpPr>
            <p:spPr>
              <a:xfrm flipH="1">
                <a:off x="9738818" y="3763545"/>
                <a:ext cx="980524" cy="394521"/>
              </a:xfrm>
              <a:prstGeom prst="straightConnector1">
                <a:avLst/>
              </a:prstGeom>
              <a:ln w="12700">
                <a:solidFill>
                  <a:schemeClr val="accent2"/>
                </a:solidFill>
                <a:headEnd type="none" w="med" len="med"/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44" name="Picture 2">
                <a:extLst>
                  <a:ext uri="{FF2B5EF4-FFF2-40B4-BE49-F238E27FC236}">
                    <a16:creationId xmlns:a16="http://schemas.microsoft.com/office/drawing/2014/main" id="{B94C0476-CC03-E797-DE3C-C6B29CA705DE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 bwMode="auto">
              <a:xfrm>
                <a:off x="8549581" y="5028515"/>
                <a:ext cx="928189" cy="610285"/>
              </a:xfrm>
              <a:prstGeom prst="rect">
                <a:avLst/>
              </a:prstGeom>
              <a:noFill/>
            </p:spPr>
          </p:pic>
          <p:cxnSp>
            <p:nvCxnSpPr>
              <p:cNvPr id="45" name="Straight Arrow Connector 44">
                <a:extLst>
                  <a:ext uri="{FF2B5EF4-FFF2-40B4-BE49-F238E27FC236}">
                    <a16:creationId xmlns:a16="http://schemas.microsoft.com/office/drawing/2014/main" id="{B41B4CBF-7D54-9FC7-8731-CF78D7BE58EF}"/>
                  </a:ext>
                </a:extLst>
              </p:cNvPr>
              <p:cNvCxnSpPr>
                <a:stCxn id="42" idx="4"/>
                <a:endCxn id="44" idx="0"/>
              </p:cNvCxnSpPr>
              <p:nvPr/>
            </p:nvCxnSpPr>
            <p:spPr>
              <a:xfrm flipH="1">
                <a:off x="9013677" y="4418230"/>
                <a:ext cx="617379" cy="610285"/>
              </a:xfrm>
              <a:prstGeom prst="straightConnector1">
                <a:avLst/>
              </a:prstGeom>
              <a:ln w="12700">
                <a:solidFill>
                  <a:schemeClr val="accent2"/>
                </a:solidFill>
                <a:headEnd type="none" w="med" len="med"/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Straight Arrow Connector 45">
                <a:extLst>
                  <a:ext uri="{FF2B5EF4-FFF2-40B4-BE49-F238E27FC236}">
                    <a16:creationId xmlns:a16="http://schemas.microsoft.com/office/drawing/2014/main" id="{5A1658ED-54AF-226B-808F-B955E910BC79}"/>
                  </a:ext>
                </a:extLst>
              </p:cNvPr>
              <p:cNvCxnSpPr>
                <a:stCxn id="42" idx="4"/>
                <a:endCxn id="41" idx="0"/>
              </p:cNvCxnSpPr>
              <p:nvPr/>
            </p:nvCxnSpPr>
            <p:spPr>
              <a:xfrm>
                <a:off x="9631056" y="4418230"/>
                <a:ext cx="796745" cy="610285"/>
              </a:xfrm>
              <a:prstGeom prst="straightConnector1">
                <a:avLst/>
              </a:prstGeom>
              <a:ln w="12700">
                <a:solidFill>
                  <a:schemeClr val="accent2"/>
                </a:solidFill>
                <a:headEnd type="none" w="med" len="med"/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7" name="Oval 46">
                <a:extLst>
                  <a:ext uri="{FF2B5EF4-FFF2-40B4-BE49-F238E27FC236}">
                    <a16:creationId xmlns:a16="http://schemas.microsoft.com/office/drawing/2014/main" id="{E173EC9F-D8D7-AD1C-3F49-3A470299DEAC}"/>
                  </a:ext>
                </a:extLst>
              </p:cNvPr>
              <p:cNvSpPr/>
              <p:nvPr/>
            </p:nvSpPr>
            <p:spPr>
              <a:xfrm>
                <a:off x="11651969" y="4114115"/>
                <a:ext cx="304800" cy="304800"/>
              </a:xfrm>
              <a:prstGeom prst="ellipse">
                <a:avLst/>
              </a:prstGeom>
              <a:solidFill>
                <a:srgbClr val="B8EAC0"/>
              </a:solidFill>
              <a:ln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0"/>
              </a:p>
            </p:txBody>
          </p:sp>
          <p:cxnSp>
            <p:nvCxnSpPr>
              <p:cNvPr id="48" name="Straight Arrow Connector 47">
                <a:extLst>
                  <a:ext uri="{FF2B5EF4-FFF2-40B4-BE49-F238E27FC236}">
                    <a16:creationId xmlns:a16="http://schemas.microsoft.com/office/drawing/2014/main" id="{E32D1C85-71B3-9464-65B9-BA0E95045C09}"/>
                  </a:ext>
                </a:extLst>
              </p:cNvPr>
              <p:cNvCxnSpPr>
                <a:stCxn id="10" idx="2"/>
                <a:endCxn id="47" idx="1"/>
              </p:cNvCxnSpPr>
              <p:nvPr/>
            </p:nvCxnSpPr>
            <p:spPr>
              <a:xfrm>
                <a:off x="10719342" y="3763545"/>
                <a:ext cx="977264" cy="395205"/>
              </a:xfrm>
              <a:prstGeom prst="straightConnector1">
                <a:avLst/>
              </a:prstGeom>
              <a:ln w="12700">
                <a:solidFill>
                  <a:srgbClr val="C00000"/>
                </a:solidFill>
                <a:headEnd type="none" w="med" len="med"/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Straight Arrow Connector 48">
                <a:extLst>
                  <a:ext uri="{FF2B5EF4-FFF2-40B4-BE49-F238E27FC236}">
                    <a16:creationId xmlns:a16="http://schemas.microsoft.com/office/drawing/2014/main" id="{857F4F2A-A98A-B530-5E2F-DE124AE29CF9}"/>
                  </a:ext>
                </a:extLst>
              </p:cNvPr>
              <p:cNvCxnSpPr>
                <a:stCxn id="47" idx="4"/>
              </p:cNvCxnSpPr>
              <p:nvPr/>
            </p:nvCxnSpPr>
            <p:spPr>
              <a:xfrm>
                <a:off x="11804369" y="4418915"/>
                <a:ext cx="7778" cy="608916"/>
              </a:xfrm>
              <a:prstGeom prst="straightConnector1">
                <a:avLst/>
              </a:prstGeom>
              <a:ln w="12700">
                <a:solidFill>
                  <a:srgbClr val="C00000"/>
                </a:solidFill>
                <a:headEnd type="none" w="med" len="med"/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3D53782-6CA1-81AF-BC60-1DADA9D8441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KR"/>
              <a:t>691</a:t>
            </a:r>
            <a:endParaRPr lang="en-KR" sz="4000" dirty="0"/>
          </a:p>
        </p:txBody>
      </p:sp>
    </p:spTree>
    <p:extLst>
      <p:ext uri="{BB962C8B-B14F-4D97-AF65-F5344CB8AC3E}">
        <p14:creationId xmlns:p14="http://schemas.microsoft.com/office/powerpoint/2010/main" val="137500607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3E15F1-06C3-DA8C-491D-1D297FB47F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88B4EF-01C6-3393-2DBF-0F93527D71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Racing Search Tree</a:t>
            </a:r>
            <a:endParaRPr lang="en-KR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8ABC619-25FB-D474-8711-44C723833823}"/>
              </a:ext>
            </a:extLst>
          </p:cNvPr>
          <p:cNvSpPr/>
          <p:nvPr/>
        </p:nvSpPr>
        <p:spPr>
          <a:xfrm>
            <a:off x="7067791" y="4928056"/>
            <a:ext cx="2076209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800" dirty="0">
                <a:solidFill>
                  <a:schemeClr val="bg1">
                    <a:lumMod val="65000"/>
                  </a:schemeClr>
                </a:solidFill>
                <a:cs typeface="Calibri"/>
              </a:rPr>
              <a:t>Adapted from CS188 of Klein and </a:t>
            </a:r>
            <a:r>
              <a:rPr lang="en-US" sz="800" dirty="0" err="1">
                <a:solidFill>
                  <a:schemeClr val="bg1">
                    <a:lumMod val="65000"/>
                  </a:schemeClr>
                </a:solidFill>
                <a:cs typeface="Calibri"/>
              </a:rPr>
              <a:t>Abbeel</a:t>
            </a:r>
            <a:endParaRPr lang="en-KR" sz="800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DC35C26-A8A6-548B-F1AD-88E367A30F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1152475"/>
            <a:ext cx="4217567" cy="34164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dirty="0">
                <a:solidFill>
                  <a:schemeClr val="tx1"/>
                </a:solidFill>
              </a:rPr>
              <a:t>We’re doing way too much work with </a:t>
            </a:r>
            <a:r>
              <a:rPr lang="en-US" dirty="0" err="1">
                <a:solidFill>
                  <a:schemeClr val="tx1"/>
                </a:solidFill>
              </a:rPr>
              <a:t>expectimax</a:t>
            </a:r>
            <a:r>
              <a:rPr lang="en-US" dirty="0">
                <a:solidFill>
                  <a:schemeClr val="tx1"/>
                </a:solidFill>
              </a:rPr>
              <a:t>!</a:t>
            </a:r>
          </a:p>
          <a:p>
            <a:pPr lvl="1">
              <a:lnSpc>
                <a:spcPct val="100000"/>
              </a:lnSpc>
            </a:pPr>
            <a:endParaRPr lang="en-US" sz="500" dirty="0">
              <a:solidFill>
                <a:schemeClr val="tx1"/>
              </a:solidFill>
            </a:endParaRPr>
          </a:p>
          <a:p>
            <a:pPr>
              <a:lnSpc>
                <a:spcPct val="100000"/>
              </a:lnSpc>
            </a:pPr>
            <a:r>
              <a:rPr lang="en-US" dirty="0">
                <a:solidFill>
                  <a:schemeClr val="tx1"/>
                </a:solidFill>
              </a:rPr>
              <a:t>Problem: States are repeated </a:t>
            </a:r>
          </a:p>
          <a:p>
            <a:pPr lvl="1">
              <a:lnSpc>
                <a:spcPct val="100000"/>
              </a:lnSpc>
            </a:pPr>
            <a:r>
              <a:rPr lang="en-US" sz="1500" dirty="0">
                <a:solidFill>
                  <a:schemeClr val="tx1"/>
                </a:solidFill>
              </a:rPr>
              <a:t>Idea: Only compute needed quantities once</a:t>
            </a:r>
          </a:p>
          <a:p>
            <a:pPr marL="596900" lvl="1" indent="0">
              <a:lnSpc>
                <a:spcPct val="100000"/>
              </a:lnSpc>
              <a:buNone/>
            </a:pPr>
            <a:endParaRPr lang="en-US" sz="500" dirty="0">
              <a:solidFill>
                <a:schemeClr val="tx1"/>
              </a:solidFill>
            </a:endParaRPr>
          </a:p>
          <a:p>
            <a:pPr>
              <a:lnSpc>
                <a:spcPct val="100000"/>
              </a:lnSpc>
            </a:pPr>
            <a:r>
              <a:rPr lang="en-US" dirty="0">
                <a:solidFill>
                  <a:schemeClr val="tx1"/>
                </a:solidFill>
              </a:rPr>
              <a:t>Problem: Tree goes on forever</a:t>
            </a: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en-US" sz="1500" dirty="0">
                <a:solidFill>
                  <a:schemeClr val="tx1"/>
                </a:solidFill>
              </a:rPr>
              <a:t>Idea: Do a depth-limited computation, but with increasing depths until change is small</a:t>
            </a: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en-US" sz="1500" dirty="0">
                <a:solidFill>
                  <a:schemeClr val="tx1"/>
                </a:solidFill>
              </a:rPr>
              <a:t>Note: deep parts of the tree eventually don’t matter if </a:t>
            </a:r>
            <a:r>
              <a:rPr lang="el-GR" sz="15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γ</a:t>
            </a:r>
            <a:r>
              <a:rPr lang="en-US" sz="1500" dirty="0">
                <a:solidFill>
                  <a:schemeClr val="tx1"/>
                </a:solidFill>
              </a:rPr>
              <a:t> &lt; 1</a:t>
            </a:r>
          </a:p>
          <a:p>
            <a:pPr>
              <a:lnSpc>
                <a:spcPct val="100000"/>
              </a:lnSpc>
            </a:pPr>
            <a:endParaRPr lang="en-KR" dirty="0">
              <a:solidFill>
                <a:schemeClr val="tx1"/>
              </a:solidFill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7D864B1F-BDCF-808A-EFA5-D04C5B23645E}"/>
              </a:ext>
            </a:extLst>
          </p:cNvPr>
          <p:cNvGrpSpPr/>
          <p:nvPr/>
        </p:nvGrpSpPr>
        <p:grpSpPr>
          <a:xfrm>
            <a:off x="4640856" y="1310378"/>
            <a:ext cx="4382372" cy="3198913"/>
            <a:chOff x="3657600" y="1943100"/>
            <a:chExt cx="4857106" cy="3545445"/>
          </a:xfrm>
        </p:grpSpPr>
        <p:pic>
          <p:nvPicPr>
            <p:cNvPr id="5" name="Picture 4" descr="RacingSubTree.png">
              <a:extLst>
                <a:ext uri="{FF2B5EF4-FFF2-40B4-BE49-F238E27FC236}">
                  <a16:creationId xmlns:a16="http://schemas.microsoft.com/office/drawing/2014/main" id="{E918D70B-3544-3386-7240-1F8BBE81473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657600" y="3371850"/>
              <a:ext cx="4352254" cy="2116695"/>
            </a:xfrm>
            <a:prstGeom prst="rect">
              <a:avLst/>
            </a:prstGeom>
          </p:spPr>
        </p:pic>
        <p:grpSp>
          <p:nvGrpSpPr>
            <p:cNvPr id="7" name="Group 43">
              <a:extLst>
                <a:ext uri="{FF2B5EF4-FFF2-40B4-BE49-F238E27FC236}">
                  <a16:creationId xmlns:a16="http://schemas.microsoft.com/office/drawing/2014/main" id="{F41B2480-CC04-A791-8DFF-CB1D3306DFB7}"/>
                </a:ext>
              </a:extLst>
            </p:cNvPr>
            <p:cNvGrpSpPr/>
            <p:nvPr/>
          </p:nvGrpSpPr>
          <p:grpSpPr>
            <a:xfrm>
              <a:off x="3836806" y="1943100"/>
              <a:ext cx="4677900" cy="1714500"/>
              <a:chOff x="460604" y="1295400"/>
              <a:chExt cx="11931837" cy="4373146"/>
            </a:xfrm>
          </p:grpSpPr>
          <p:pic>
            <p:nvPicPr>
              <p:cNvPr id="8" name="Picture 2">
                <a:extLst>
                  <a:ext uri="{FF2B5EF4-FFF2-40B4-BE49-F238E27FC236}">
                    <a16:creationId xmlns:a16="http://schemas.microsoft.com/office/drawing/2014/main" id="{82A59A54-4071-CB9E-E3FE-2BAC0EBF461F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 bwMode="auto">
              <a:xfrm>
                <a:off x="4743363" y="1295400"/>
                <a:ext cx="928189" cy="610285"/>
              </a:xfrm>
              <a:prstGeom prst="rect">
                <a:avLst/>
              </a:prstGeom>
              <a:noFill/>
            </p:spPr>
          </p:pic>
          <p:pic>
            <p:nvPicPr>
              <p:cNvPr id="10" name="Picture 2">
                <a:extLst>
                  <a:ext uri="{FF2B5EF4-FFF2-40B4-BE49-F238E27FC236}">
                    <a16:creationId xmlns:a16="http://schemas.microsoft.com/office/drawing/2014/main" id="{5250E499-B38F-6F5D-4E57-CB50269EBA69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 bwMode="auto">
              <a:xfrm>
                <a:off x="10212034" y="3124200"/>
                <a:ext cx="1014614" cy="639346"/>
              </a:xfrm>
              <a:prstGeom prst="rect">
                <a:avLst/>
              </a:prstGeom>
              <a:noFill/>
            </p:spPr>
          </p:pic>
          <p:pic>
            <p:nvPicPr>
              <p:cNvPr id="11" name="Picture 2">
                <a:extLst>
                  <a:ext uri="{FF2B5EF4-FFF2-40B4-BE49-F238E27FC236}">
                    <a16:creationId xmlns:a16="http://schemas.microsoft.com/office/drawing/2014/main" id="{E887808A-8B04-0740-66C3-BFCF4CF79222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 bwMode="auto">
              <a:xfrm>
                <a:off x="11407647" y="4941332"/>
                <a:ext cx="984794" cy="697467"/>
              </a:xfrm>
              <a:prstGeom prst="rect">
                <a:avLst/>
              </a:prstGeom>
              <a:noFill/>
            </p:spPr>
          </p:pic>
          <p:sp>
            <p:nvSpPr>
              <p:cNvPr id="12" name="Oval 11">
                <a:extLst>
                  <a:ext uri="{FF2B5EF4-FFF2-40B4-BE49-F238E27FC236}">
                    <a16:creationId xmlns:a16="http://schemas.microsoft.com/office/drawing/2014/main" id="{48FA0428-536A-DB0C-34BC-9CBE6D36075D}"/>
                  </a:ext>
                </a:extLst>
              </p:cNvPr>
              <p:cNvSpPr/>
              <p:nvPr/>
            </p:nvSpPr>
            <p:spPr>
              <a:xfrm>
                <a:off x="1770678" y="2209800"/>
                <a:ext cx="304800" cy="304800"/>
              </a:xfrm>
              <a:prstGeom prst="ellipse">
                <a:avLst/>
              </a:prstGeom>
              <a:solidFill>
                <a:srgbClr val="B8EAC0"/>
              </a:solidFill>
              <a:ln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0"/>
              </a:p>
            </p:txBody>
          </p:sp>
          <p:sp>
            <p:nvSpPr>
              <p:cNvPr id="13" name="Oval 12">
                <a:extLst>
                  <a:ext uri="{FF2B5EF4-FFF2-40B4-BE49-F238E27FC236}">
                    <a16:creationId xmlns:a16="http://schemas.microsoft.com/office/drawing/2014/main" id="{9195C96A-97D7-D797-0087-C75A3D929190}"/>
                  </a:ext>
                </a:extLst>
              </p:cNvPr>
              <p:cNvSpPr/>
              <p:nvPr/>
            </p:nvSpPr>
            <p:spPr>
              <a:xfrm>
                <a:off x="8153453" y="2209801"/>
                <a:ext cx="304800" cy="304800"/>
              </a:xfrm>
              <a:prstGeom prst="ellipse">
                <a:avLst/>
              </a:prstGeom>
              <a:solidFill>
                <a:srgbClr val="B8EAC0"/>
              </a:solidFill>
              <a:ln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0"/>
              </a:p>
            </p:txBody>
          </p:sp>
          <p:cxnSp>
            <p:nvCxnSpPr>
              <p:cNvPr id="14" name="Straight Arrow Connector 13">
                <a:extLst>
                  <a:ext uri="{FF2B5EF4-FFF2-40B4-BE49-F238E27FC236}">
                    <a16:creationId xmlns:a16="http://schemas.microsoft.com/office/drawing/2014/main" id="{7D24BDA5-7332-0AC8-9760-CBE562DE9404}"/>
                  </a:ext>
                </a:extLst>
              </p:cNvPr>
              <p:cNvCxnSpPr>
                <a:stCxn id="8" idx="2"/>
                <a:endCxn id="13" idx="1"/>
              </p:cNvCxnSpPr>
              <p:nvPr/>
            </p:nvCxnSpPr>
            <p:spPr>
              <a:xfrm>
                <a:off x="5207456" y="1905685"/>
                <a:ext cx="2990634" cy="348752"/>
              </a:xfrm>
              <a:prstGeom prst="straightConnector1">
                <a:avLst/>
              </a:prstGeom>
              <a:ln w="12700">
                <a:solidFill>
                  <a:srgbClr val="C00000"/>
                </a:solidFill>
                <a:headEnd type="none" w="med" len="med"/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Straight Arrow Connector 14">
                <a:extLst>
                  <a:ext uri="{FF2B5EF4-FFF2-40B4-BE49-F238E27FC236}">
                    <a16:creationId xmlns:a16="http://schemas.microsoft.com/office/drawing/2014/main" id="{9DB65F7B-17CB-0864-6FA2-2678012799DF}"/>
                  </a:ext>
                </a:extLst>
              </p:cNvPr>
              <p:cNvCxnSpPr>
                <a:stCxn id="8" idx="2"/>
                <a:endCxn id="12" idx="7"/>
              </p:cNvCxnSpPr>
              <p:nvPr/>
            </p:nvCxnSpPr>
            <p:spPr>
              <a:xfrm flipH="1">
                <a:off x="2030841" y="1905685"/>
                <a:ext cx="3176616" cy="348752"/>
              </a:xfrm>
              <a:prstGeom prst="straightConnector1">
                <a:avLst/>
              </a:prstGeom>
              <a:ln w="12700">
                <a:solidFill>
                  <a:schemeClr val="accent2"/>
                </a:solidFill>
                <a:headEnd type="none" w="med" len="med"/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16" name="Picture 2">
                <a:extLst>
                  <a:ext uri="{FF2B5EF4-FFF2-40B4-BE49-F238E27FC236}">
                    <a16:creationId xmlns:a16="http://schemas.microsoft.com/office/drawing/2014/main" id="{A6E8C7DB-2214-DEFC-78F5-618ABA7D8E00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 bwMode="auto">
              <a:xfrm>
                <a:off x="5566004" y="3124200"/>
                <a:ext cx="928189" cy="610285"/>
              </a:xfrm>
              <a:prstGeom prst="rect">
                <a:avLst/>
              </a:prstGeom>
              <a:noFill/>
            </p:spPr>
          </p:pic>
          <p:cxnSp>
            <p:nvCxnSpPr>
              <p:cNvPr id="17" name="Straight Arrow Connector 16">
                <a:extLst>
                  <a:ext uri="{FF2B5EF4-FFF2-40B4-BE49-F238E27FC236}">
                    <a16:creationId xmlns:a16="http://schemas.microsoft.com/office/drawing/2014/main" id="{566A5FA7-0B68-5974-653B-0FB7388238B4}"/>
                  </a:ext>
                </a:extLst>
              </p:cNvPr>
              <p:cNvCxnSpPr>
                <a:stCxn id="13" idx="4"/>
                <a:endCxn id="16" idx="0"/>
              </p:cNvCxnSpPr>
              <p:nvPr/>
            </p:nvCxnSpPr>
            <p:spPr>
              <a:xfrm flipH="1">
                <a:off x="6030098" y="2514601"/>
                <a:ext cx="2275755" cy="609599"/>
              </a:xfrm>
              <a:prstGeom prst="straightConnector1">
                <a:avLst/>
              </a:prstGeom>
              <a:ln w="12700">
                <a:solidFill>
                  <a:srgbClr val="C00000"/>
                </a:solidFill>
                <a:headEnd type="none" w="med" len="med"/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Straight Arrow Connector 17">
                <a:extLst>
                  <a:ext uri="{FF2B5EF4-FFF2-40B4-BE49-F238E27FC236}">
                    <a16:creationId xmlns:a16="http://schemas.microsoft.com/office/drawing/2014/main" id="{6C9096E3-0349-CA84-7643-EAB85754BDCF}"/>
                  </a:ext>
                </a:extLst>
              </p:cNvPr>
              <p:cNvCxnSpPr>
                <a:stCxn id="13" idx="4"/>
                <a:endCxn id="10" idx="0"/>
              </p:cNvCxnSpPr>
              <p:nvPr/>
            </p:nvCxnSpPr>
            <p:spPr>
              <a:xfrm>
                <a:off x="8305854" y="2514601"/>
                <a:ext cx="2413488" cy="609599"/>
              </a:xfrm>
              <a:prstGeom prst="straightConnector1">
                <a:avLst/>
              </a:prstGeom>
              <a:ln w="12700">
                <a:solidFill>
                  <a:srgbClr val="C00000"/>
                </a:solidFill>
                <a:headEnd type="none" w="med" len="med"/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19" name="Picture 2">
                <a:extLst>
                  <a:ext uri="{FF2B5EF4-FFF2-40B4-BE49-F238E27FC236}">
                    <a16:creationId xmlns:a16="http://schemas.microsoft.com/office/drawing/2014/main" id="{D33BFFCC-CB7F-C54E-63CA-E641F0BEBA5F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 bwMode="auto">
              <a:xfrm>
                <a:off x="1451203" y="3123515"/>
                <a:ext cx="928189" cy="610285"/>
              </a:xfrm>
              <a:prstGeom prst="rect">
                <a:avLst/>
              </a:prstGeom>
              <a:noFill/>
            </p:spPr>
          </p:pic>
          <p:cxnSp>
            <p:nvCxnSpPr>
              <p:cNvPr id="20" name="Straight Arrow Connector 19">
                <a:extLst>
                  <a:ext uri="{FF2B5EF4-FFF2-40B4-BE49-F238E27FC236}">
                    <a16:creationId xmlns:a16="http://schemas.microsoft.com/office/drawing/2014/main" id="{C81ED062-08DE-D2E6-1DB5-1B783426C309}"/>
                  </a:ext>
                </a:extLst>
              </p:cNvPr>
              <p:cNvCxnSpPr>
                <a:stCxn id="12" idx="4"/>
                <a:endCxn id="19" idx="0"/>
              </p:cNvCxnSpPr>
              <p:nvPr/>
            </p:nvCxnSpPr>
            <p:spPr>
              <a:xfrm flipH="1">
                <a:off x="1915299" y="2514600"/>
                <a:ext cx="7779" cy="608915"/>
              </a:xfrm>
              <a:prstGeom prst="straightConnector1">
                <a:avLst/>
              </a:prstGeom>
              <a:ln w="12700">
                <a:solidFill>
                  <a:schemeClr val="accent2"/>
                </a:solidFill>
                <a:headEnd type="none" w="med" len="med"/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21" name="Picture 2">
                <a:extLst>
                  <a:ext uri="{FF2B5EF4-FFF2-40B4-BE49-F238E27FC236}">
                    <a16:creationId xmlns:a16="http://schemas.microsoft.com/office/drawing/2014/main" id="{20A74A0A-9A5C-19FA-2420-93F6771D9383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 bwMode="auto">
              <a:xfrm>
                <a:off x="3088129" y="5029200"/>
                <a:ext cx="1014614" cy="639346"/>
              </a:xfrm>
              <a:prstGeom prst="rect">
                <a:avLst/>
              </a:prstGeom>
              <a:noFill/>
            </p:spPr>
          </p:pic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A9F46D70-91B8-B246-46CE-D0345C3CED87}"/>
                  </a:ext>
                </a:extLst>
              </p:cNvPr>
              <p:cNvSpPr/>
              <p:nvPr/>
            </p:nvSpPr>
            <p:spPr>
              <a:xfrm>
                <a:off x="764520" y="4114115"/>
                <a:ext cx="304800" cy="304800"/>
              </a:xfrm>
              <a:prstGeom prst="ellipse">
                <a:avLst/>
              </a:prstGeom>
              <a:solidFill>
                <a:srgbClr val="B8EAC0"/>
              </a:solidFill>
              <a:ln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0"/>
              </a:p>
            </p:txBody>
          </p:sp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A4395878-4E01-C0DC-A9A3-E47D24B76B57}"/>
                  </a:ext>
                </a:extLst>
              </p:cNvPr>
              <p:cNvSpPr/>
              <p:nvPr/>
            </p:nvSpPr>
            <p:spPr>
              <a:xfrm>
                <a:off x="2778807" y="4114115"/>
                <a:ext cx="304800" cy="304800"/>
              </a:xfrm>
              <a:prstGeom prst="ellipse">
                <a:avLst/>
              </a:prstGeom>
              <a:solidFill>
                <a:srgbClr val="B8EAC0"/>
              </a:solidFill>
              <a:ln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0"/>
              </a:p>
            </p:txBody>
          </p:sp>
          <p:cxnSp>
            <p:nvCxnSpPr>
              <p:cNvPr id="24" name="Straight Arrow Connector 23">
                <a:extLst>
                  <a:ext uri="{FF2B5EF4-FFF2-40B4-BE49-F238E27FC236}">
                    <a16:creationId xmlns:a16="http://schemas.microsoft.com/office/drawing/2014/main" id="{420087B3-31C3-AA39-9893-763E2834D19C}"/>
                  </a:ext>
                </a:extLst>
              </p:cNvPr>
              <p:cNvCxnSpPr>
                <a:stCxn id="19" idx="2"/>
                <a:endCxn id="23" idx="1"/>
              </p:cNvCxnSpPr>
              <p:nvPr/>
            </p:nvCxnSpPr>
            <p:spPr>
              <a:xfrm>
                <a:off x="1915298" y="3733800"/>
                <a:ext cx="908145" cy="424951"/>
              </a:xfrm>
              <a:prstGeom prst="straightConnector1">
                <a:avLst/>
              </a:prstGeom>
              <a:ln w="12700">
                <a:solidFill>
                  <a:srgbClr val="C00000"/>
                </a:solidFill>
                <a:headEnd type="none" w="med" len="med"/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Straight Arrow Connector 24">
                <a:extLst>
                  <a:ext uri="{FF2B5EF4-FFF2-40B4-BE49-F238E27FC236}">
                    <a16:creationId xmlns:a16="http://schemas.microsoft.com/office/drawing/2014/main" id="{D5AED90D-6991-FE99-95BE-C57EA328C9B5}"/>
                  </a:ext>
                </a:extLst>
              </p:cNvPr>
              <p:cNvCxnSpPr>
                <a:stCxn id="19" idx="2"/>
                <a:endCxn id="22" idx="7"/>
              </p:cNvCxnSpPr>
              <p:nvPr/>
            </p:nvCxnSpPr>
            <p:spPr>
              <a:xfrm flipH="1">
                <a:off x="1024683" y="3733800"/>
                <a:ext cx="890616" cy="424952"/>
              </a:xfrm>
              <a:prstGeom prst="straightConnector1">
                <a:avLst/>
              </a:prstGeom>
              <a:ln w="12700">
                <a:solidFill>
                  <a:schemeClr val="accent2"/>
                </a:solidFill>
                <a:headEnd type="none" w="med" len="med"/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26" name="Picture 2">
                <a:extLst>
                  <a:ext uri="{FF2B5EF4-FFF2-40B4-BE49-F238E27FC236}">
                    <a16:creationId xmlns:a16="http://schemas.microsoft.com/office/drawing/2014/main" id="{93048675-2401-5243-73B2-1D25E8B1DBDD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 bwMode="auto">
              <a:xfrm>
                <a:off x="1772547" y="5029200"/>
                <a:ext cx="928189" cy="610285"/>
              </a:xfrm>
              <a:prstGeom prst="rect">
                <a:avLst/>
              </a:prstGeom>
              <a:noFill/>
            </p:spPr>
          </p:pic>
          <p:cxnSp>
            <p:nvCxnSpPr>
              <p:cNvPr id="27" name="Straight Arrow Connector 26">
                <a:extLst>
                  <a:ext uri="{FF2B5EF4-FFF2-40B4-BE49-F238E27FC236}">
                    <a16:creationId xmlns:a16="http://schemas.microsoft.com/office/drawing/2014/main" id="{06C76CDA-8183-64A8-D554-A7D7030C59CD}"/>
                  </a:ext>
                </a:extLst>
              </p:cNvPr>
              <p:cNvCxnSpPr>
                <a:stCxn id="23" idx="4"/>
                <a:endCxn id="26" idx="0"/>
              </p:cNvCxnSpPr>
              <p:nvPr/>
            </p:nvCxnSpPr>
            <p:spPr>
              <a:xfrm flipH="1">
                <a:off x="2236642" y="4418915"/>
                <a:ext cx="694565" cy="610285"/>
              </a:xfrm>
              <a:prstGeom prst="straightConnector1">
                <a:avLst/>
              </a:prstGeom>
              <a:ln w="12700">
                <a:solidFill>
                  <a:srgbClr val="C00000"/>
                </a:solidFill>
                <a:headEnd type="none" w="med" len="med"/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Straight Arrow Connector 27">
                <a:extLst>
                  <a:ext uri="{FF2B5EF4-FFF2-40B4-BE49-F238E27FC236}">
                    <a16:creationId xmlns:a16="http://schemas.microsoft.com/office/drawing/2014/main" id="{3FA706C6-CBC5-0BB6-41B6-2FE31D4A22B8}"/>
                  </a:ext>
                </a:extLst>
              </p:cNvPr>
              <p:cNvCxnSpPr>
                <a:stCxn id="23" idx="4"/>
                <a:endCxn id="21" idx="0"/>
              </p:cNvCxnSpPr>
              <p:nvPr/>
            </p:nvCxnSpPr>
            <p:spPr>
              <a:xfrm>
                <a:off x="2931207" y="4418915"/>
                <a:ext cx="664230" cy="610285"/>
              </a:xfrm>
              <a:prstGeom prst="straightConnector1">
                <a:avLst/>
              </a:prstGeom>
              <a:ln w="12700">
                <a:solidFill>
                  <a:srgbClr val="C00000"/>
                </a:solidFill>
                <a:headEnd type="none" w="med" len="med"/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29" name="Picture 2">
                <a:extLst>
                  <a:ext uri="{FF2B5EF4-FFF2-40B4-BE49-F238E27FC236}">
                    <a16:creationId xmlns:a16="http://schemas.microsoft.com/office/drawing/2014/main" id="{DFDD550F-04A6-9CAD-BBD6-3A351C7D041D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 bwMode="auto">
              <a:xfrm>
                <a:off x="460604" y="5027830"/>
                <a:ext cx="928189" cy="610285"/>
              </a:xfrm>
              <a:prstGeom prst="rect">
                <a:avLst/>
              </a:prstGeom>
              <a:noFill/>
            </p:spPr>
          </p:pic>
          <p:cxnSp>
            <p:nvCxnSpPr>
              <p:cNvPr id="30" name="Straight Arrow Connector 29">
                <a:extLst>
                  <a:ext uri="{FF2B5EF4-FFF2-40B4-BE49-F238E27FC236}">
                    <a16:creationId xmlns:a16="http://schemas.microsoft.com/office/drawing/2014/main" id="{D70FD99F-EBEF-57D0-C04E-16A3D340DC7D}"/>
                  </a:ext>
                </a:extLst>
              </p:cNvPr>
              <p:cNvCxnSpPr>
                <a:stCxn id="22" idx="4"/>
                <a:endCxn id="29" idx="0"/>
              </p:cNvCxnSpPr>
              <p:nvPr/>
            </p:nvCxnSpPr>
            <p:spPr>
              <a:xfrm>
                <a:off x="916920" y="4418915"/>
                <a:ext cx="7779" cy="608915"/>
              </a:xfrm>
              <a:prstGeom prst="straightConnector1">
                <a:avLst/>
              </a:prstGeom>
              <a:ln w="12700">
                <a:solidFill>
                  <a:schemeClr val="accent2"/>
                </a:solidFill>
                <a:headEnd type="none" w="med" len="med"/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1" name="Oval 30">
                <a:extLst>
                  <a:ext uri="{FF2B5EF4-FFF2-40B4-BE49-F238E27FC236}">
                    <a16:creationId xmlns:a16="http://schemas.microsoft.com/office/drawing/2014/main" id="{1478E84D-89E6-0145-EF6B-D85CFD58FD01}"/>
                  </a:ext>
                </a:extLst>
              </p:cNvPr>
              <p:cNvSpPr/>
              <p:nvPr/>
            </p:nvSpPr>
            <p:spPr>
              <a:xfrm>
                <a:off x="4863762" y="4114115"/>
                <a:ext cx="304800" cy="304800"/>
              </a:xfrm>
              <a:prstGeom prst="ellipse">
                <a:avLst/>
              </a:prstGeom>
              <a:solidFill>
                <a:srgbClr val="B8EAC0"/>
              </a:solidFill>
              <a:ln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0"/>
              </a:p>
            </p:txBody>
          </p:sp>
          <p:cxnSp>
            <p:nvCxnSpPr>
              <p:cNvPr id="32" name="Straight Arrow Connector 31">
                <a:extLst>
                  <a:ext uri="{FF2B5EF4-FFF2-40B4-BE49-F238E27FC236}">
                    <a16:creationId xmlns:a16="http://schemas.microsoft.com/office/drawing/2014/main" id="{E92067E4-149D-BFF0-F4E7-AA15214021AC}"/>
                  </a:ext>
                </a:extLst>
              </p:cNvPr>
              <p:cNvCxnSpPr>
                <a:endCxn id="31" idx="7"/>
              </p:cNvCxnSpPr>
              <p:nvPr/>
            </p:nvCxnSpPr>
            <p:spPr>
              <a:xfrm flipH="1">
                <a:off x="5123925" y="3733800"/>
                <a:ext cx="890616" cy="424952"/>
              </a:xfrm>
              <a:prstGeom prst="straightConnector1">
                <a:avLst/>
              </a:prstGeom>
              <a:ln w="12700">
                <a:solidFill>
                  <a:schemeClr val="accent2"/>
                </a:solidFill>
                <a:headEnd type="none" w="med" len="med"/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33" name="Picture 2">
                <a:extLst>
                  <a:ext uri="{FF2B5EF4-FFF2-40B4-BE49-F238E27FC236}">
                    <a16:creationId xmlns:a16="http://schemas.microsoft.com/office/drawing/2014/main" id="{6B7C7FAE-E7A2-9E72-BAB8-2CBB638AAB2B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 bwMode="auto">
              <a:xfrm>
                <a:off x="4559846" y="5027830"/>
                <a:ext cx="928189" cy="610285"/>
              </a:xfrm>
              <a:prstGeom prst="rect">
                <a:avLst/>
              </a:prstGeom>
              <a:noFill/>
            </p:spPr>
          </p:pic>
          <p:cxnSp>
            <p:nvCxnSpPr>
              <p:cNvPr id="34" name="Straight Arrow Connector 33">
                <a:extLst>
                  <a:ext uri="{FF2B5EF4-FFF2-40B4-BE49-F238E27FC236}">
                    <a16:creationId xmlns:a16="http://schemas.microsoft.com/office/drawing/2014/main" id="{C95A8B64-83E5-9506-2496-281E28D99C98}"/>
                  </a:ext>
                </a:extLst>
              </p:cNvPr>
              <p:cNvCxnSpPr>
                <a:stCxn id="31" idx="4"/>
                <a:endCxn id="33" idx="0"/>
              </p:cNvCxnSpPr>
              <p:nvPr/>
            </p:nvCxnSpPr>
            <p:spPr>
              <a:xfrm>
                <a:off x="5016162" y="4418915"/>
                <a:ext cx="7779" cy="608915"/>
              </a:xfrm>
              <a:prstGeom prst="straightConnector1">
                <a:avLst/>
              </a:prstGeom>
              <a:ln w="12700">
                <a:solidFill>
                  <a:schemeClr val="accent2"/>
                </a:solidFill>
                <a:headEnd type="none" w="med" len="med"/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35" name="Picture 2">
                <a:extLst>
                  <a:ext uri="{FF2B5EF4-FFF2-40B4-BE49-F238E27FC236}">
                    <a16:creationId xmlns:a16="http://schemas.microsoft.com/office/drawing/2014/main" id="{FEE8FBD7-5E80-5560-588F-7EF4E27A1BC3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 bwMode="auto">
              <a:xfrm>
                <a:off x="7169733" y="5029200"/>
                <a:ext cx="1014614" cy="639346"/>
              </a:xfrm>
              <a:prstGeom prst="rect">
                <a:avLst/>
              </a:prstGeom>
              <a:noFill/>
            </p:spPr>
          </p:pic>
          <p:sp>
            <p:nvSpPr>
              <p:cNvPr id="36" name="Oval 35">
                <a:extLst>
                  <a:ext uri="{FF2B5EF4-FFF2-40B4-BE49-F238E27FC236}">
                    <a16:creationId xmlns:a16="http://schemas.microsoft.com/office/drawing/2014/main" id="{51F54DD6-BAFC-C941-FB80-EBDD8B930902}"/>
                  </a:ext>
                </a:extLst>
              </p:cNvPr>
              <p:cNvSpPr/>
              <p:nvPr/>
            </p:nvSpPr>
            <p:spPr>
              <a:xfrm>
                <a:off x="6894840" y="4114115"/>
                <a:ext cx="304800" cy="304800"/>
              </a:xfrm>
              <a:prstGeom prst="ellipse">
                <a:avLst/>
              </a:prstGeom>
              <a:solidFill>
                <a:srgbClr val="B8EAC0"/>
              </a:solidFill>
              <a:ln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0"/>
              </a:p>
            </p:txBody>
          </p:sp>
          <p:cxnSp>
            <p:nvCxnSpPr>
              <p:cNvPr id="37" name="Straight Arrow Connector 36">
                <a:extLst>
                  <a:ext uri="{FF2B5EF4-FFF2-40B4-BE49-F238E27FC236}">
                    <a16:creationId xmlns:a16="http://schemas.microsoft.com/office/drawing/2014/main" id="{347D13F2-16D1-905A-5941-64B80495FED1}"/>
                  </a:ext>
                </a:extLst>
              </p:cNvPr>
              <p:cNvCxnSpPr>
                <a:stCxn id="16" idx="2"/>
                <a:endCxn id="36" idx="1"/>
              </p:cNvCxnSpPr>
              <p:nvPr/>
            </p:nvCxnSpPr>
            <p:spPr>
              <a:xfrm>
                <a:off x="6030099" y="3734485"/>
                <a:ext cx="909378" cy="424267"/>
              </a:xfrm>
              <a:prstGeom prst="straightConnector1">
                <a:avLst/>
              </a:prstGeom>
              <a:ln w="12700">
                <a:solidFill>
                  <a:srgbClr val="C00000"/>
                </a:solidFill>
                <a:headEnd type="none" w="med" len="med"/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38" name="Picture 2">
                <a:extLst>
                  <a:ext uri="{FF2B5EF4-FFF2-40B4-BE49-F238E27FC236}">
                    <a16:creationId xmlns:a16="http://schemas.microsoft.com/office/drawing/2014/main" id="{2A23604C-51F7-00B2-2E9D-798B95FB9245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 bwMode="auto">
              <a:xfrm>
                <a:off x="5999923" y="5029200"/>
                <a:ext cx="928189" cy="610285"/>
              </a:xfrm>
              <a:prstGeom prst="rect">
                <a:avLst/>
              </a:prstGeom>
              <a:noFill/>
            </p:spPr>
          </p:pic>
          <p:cxnSp>
            <p:nvCxnSpPr>
              <p:cNvPr id="39" name="Straight Arrow Connector 38">
                <a:extLst>
                  <a:ext uri="{FF2B5EF4-FFF2-40B4-BE49-F238E27FC236}">
                    <a16:creationId xmlns:a16="http://schemas.microsoft.com/office/drawing/2014/main" id="{75EF782A-B89B-A3AC-9BBD-5806533F74F9}"/>
                  </a:ext>
                </a:extLst>
              </p:cNvPr>
              <p:cNvCxnSpPr>
                <a:stCxn id="36" idx="4"/>
                <a:endCxn id="38" idx="0"/>
              </p:cNvCxnSpPr>
              <p:nvPr/>
            </p:nvCxnSpPr>
            <p:spPr>
              <a:xfrm flipH="1">
                <a:off x="6464016" y="4418915"/>
                <a:ext cx="583224" cy="610285"/>
              </a:xfrm>
              <a:prstGeom prst="straightConnector1">
                <a:avLst/>
              </a:prstGeom>
              <a:ln w="12700">
                <a:solidFill>
                  <a:srgbClr val="C00000"/>
                </a:solidFill>
                <a:headEnd type="none" w="med" len="med"/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Straight Arrow Connector 39">
                <a:extLst>
                  <a:ext uri="{FF2B5EF4-FFF2-40B4-BE49-F238E27FC236}">
                    <a16:creationId xmlns:a16="http://schemas.microsoft.com/office/drawing/2014/main" id="{0C680988-97D6-D567-CDBF-0587DA3A258B}"/>
                  </a:ext>
                </a:extLst>
              </p:cNvPr>
              <p:cNvCxnSpPr>
                <a:stCxn id="36" idx="4"/>
                <a:endCxn id="35" idx="0"/>
              </p:cNvCxnSpPr>
              <p:nvPr/>
            </p:nvCxnSpPr>
            <p:spPr>
              <a:xfrm>
                <a:off x="7047240" y="4418915"/>
                <a:ext cx="629800" cy="610285"/>
              </a:xfrm>
              <a:prstGeom prst="straightConnector1">
                <a:avLst/>
              </a:prstGeom>
              <a:ln w="12700">
                <a:solidFill>
                  <a:srgbClr val="C00000"/>
                </a:solidFill>
                <a:headEnd type="none" w="med" len="med"/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41" name="Picture 2">
                <a:extLst>
                  <a:ext uri="{FF2B5EF4-FFF2-40B4-BE49-F238E27FC236}">
                    <a16:creationId xmlns:a16="http://schemas.microsoft.com/office/drawing/2014/main" id="{732D679B-DE63-61B3-0526-AC1BC3111869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 bwMode="auto">
              <a:xfrm>
                <a:off x="9920493" y="5028515"/>
                <a:ext cx="1014614" cy="639346"/>
              </a:xfrm>
              <a:prstGeom prst="rect">
                <a:avLst/>
              </a:prstGeom>
              <a:noFill/>
            </p:spPr>
          </p:pic>
          <p:sp>
            <p:nvSpPr>
              <p:cNvPr id="42" name="Oval 41">
                <a:extLst>
                  <a:ext uri="{FF2B5EF4-FFF2-40B4-BE49-F238E27FC236}">
                    <a16:creationId xmlns:a16="http://schemas.microsoft.com/office/drawing/2014/main" id="{B743817F-0C82-BB1A-A1A8-82DA5A51025D}"/>
                  </a:ext>
                </a:extLst>
              </p:cNvPr>
              <p:cNvSpPr/>
              <p:nvPr/>
            </p:nvSpPr>
            <p:spPr>
              <a:xfrm>
                <a:off x="9478656" y="4113430"/>
                <a:ext cx="304800" cy="304800"/>
              </a:xfrm>
              <a:prstGeom prst="ellipse">
                <a:avLst/>
              </a:prstGeom>
              <a:solidFill>
                <a:srgbClr val="B8EAC0"/>
              </a:solidFill>
              <a:ln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0"/>
              </a:p>
            </p:txBody>
          </p:sp>
          <p:cxnSp>
            <p:nvCxnSpPr>
              <p:cNvPr id="43" name="Straight Arrow Connector 42">
                <a:extLst>
                  <a:ext uri="{FF2B5EF4-FFF2-40B4-BE49-F238E27FC236}">
                    <a16:creationId xmlns:a16="http://schemas.microsoft.com/office/drawing/2014/main" id="{3E2E0CB0-B13E-E726-CFA7-821931B316CD}"/>
                  </a:ext>
                </a:extLst>
              </p:cNvPr>
              <p:cNvCxnSpPr>
                <a:stCxn id="10" idx="2"/>
                <a:endCxn id="42" idx="7"/>
              </p:cNvCxnSpPr>
              <p:nvPr/>
            </p:nvCxnSpPr>
            <p:spPr>
              <a:xfrm flipH="1">
                <a:off x="9738818" y="3763545"/>
                <a:ext cx="980524" cy="394521"/>
              </a:xfrm>
              <a:prstGeom prst="straightConnector1">
                <a:avLst/>
              </a:prstGeom>
              <a:ln w="12700">
                <a:solidFill>
                  <a:schemeClr val="accent2"/>
                </a:solidFill>
                <a:headEnd type="none" w="med" len="med"/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44" name="Picture 2">
                <a:extLst>
                  <a:ext uri="{FF2B5EF4-FFF2-40B4-BE49-F238E27FC236}">
                    <a16:creationId xmlns:a16="http://schemas.microsoft.com/office/drawing/2014/main" id="{91743CE9-707C-CC1C-A347-2F73C2587CA2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 bwMode="auto">
              <a:xfrm>
                <a:off x="8549581" y="5028515"/>
                <a:ext cx="928189" cy="610285"/>
              </a:xfrm>
              <a:prstGeom prst="rect">
                <a:avLst/>
              </a:prstGeom>
              <a:noFill/>
            </p:spPr>
          </p:pic>
          <p:cxnSp>
            <p:nvCxnSpPr>
              <p:cNvPr id="45" name="Straight Arrow Connector 44">
                <a:extLst>
                  <a:ext uri="{FF2B5EF4-FFF2-40B4-BE49-F238E27FC236}">
                    <a16:creationId xmlns:a16="http://schemas.microsoft.com/office/drawing/2014/main" id="{8299E40C-6AA5-A9F4-0464-F60067467CA4}"/>
                  </a:ext>
                </a:extLst>
              </p:cNvPr>
              <p:cNvCxnSpPr>
                <a:stCxn id="42" idx="4"/>
                <a:endCxn id="44" idx="0"/>
              </p:cNvCxnSpPr>
              <p:nvPr/>
            </p:nvCxnSpPr>
            <p:spPr>
              <a:xfrm flipH="1">
                <a:off x="9013677" y="4418230"/>
                <a:ext cx="617379" cy="610285"/>
              </a:xfrm>
              <a:prstGeom prst="straightConnector1">
                <a:avLst/>
              </a:prstGeom>
              <a:ln w="12700">
                <a:solidFill>
                  <a:schemeClr val="accent2"/>
                </a:solidFill>
                <a:headEnd type="none" w="med" len="med"/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Straight Arrow Connector 45">
                <a:extLst>
                  <a:ext uri="{FF2B5EF4-FFF2-40B4-BE49-F238E27FC236}">
                    <a16:creationId xmlns:a16="http://schemas.microsoft.com/office/drawing/2014/main" id="{971886C7-08C2-1311-7C64-7AFD85FC7809}"/>
                  </a:ext>
                </a:extLst>
              </p:cNvPr>
              <p:cNvCxnSpPr>
                <a:stCxn id="42" idx="4"/>
                <a:endCxn id="41" idx="0"/>
              </p:cNvCxnSpPr>
              <p:nvPr/>
            </p:nvCxnSpPr>
            <p:spPr>
              <a:xfrm>
                <a:off x="9631056" y="4418230"/>
                <a:ext cx="796745" cy="610285"/>
              </a:xfrm>
              <a:prstGeom prst="straightConnector1">
                <a:avLst/>
              </a:prstGeom>
              <a:ln w="12700">
                <a:solidFill>
                  <a:schemeClr val="accent2"/>
                </a:solidFill>
                <a:headEnd type="none" w="med" len="med"/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7" name="Oval 46">
                <a:extLst>
                  <a:ext uri="{FF2B5EF4-FFF2-40B4-BE49-F238E27FC236}">
                    <a16:creationId xmlns:a16="http://schemas.microsoft.com/office/drawing/2014/main" id="{87F7C57F-DC55-5121-2E0B-03C1D15D09FD}"/>
                  </a:ext>
                </a:extLst>
              </p:cNvPr>
              <p:cNvSpPr/>
              <p:nvPr/>
            </p:nvSpPr>
            <p:spPr>
              <a:xfrm>
                <a:off x="11651969" y="4114115"/>
                <a:ext cx="304800" cy="304800"/>
              </a:xfrm>
              <a:prstGeom prst="ellipse">
                <a:avLst/>
              </a:prstGeom>
              <a:solidFill>
                <a:srgbClr val="B8EAC0"/>
              </a:solidFill>
              <a:ln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0"/>
              </a:p>
            </p:txBody>
          </p:sp>
          <p:cxnSp>
            <p:nvCxnSpPr>
              <p:cNvPr id="48" name="Straight Arrow Connector 47">
                <a:extLst>
                  <a:ext uri="{FF2B5EF4-FFF2-40B4-BE49-F238E27FC236}">
                    <a16:creationId xmlns:a16="http://schemas.microsoft.com/office/drawing/2014/main" id="{42CAECE0-B42E-31FD-5A00-426479A6BDB2}"/>
                  </a:ext>
                </a:extLst>
              </p:cNvPr>
              <p:cNvCxnSpPr>
                <a:stCxn id="10" idx="2"/>
                <a:endCxn id="47" idx="1"/>
              </p:cNvCxnSpPr>
              <p:nvPr/>
            </p:nvCxnSpPr>
            <p:spPr>
              <a:xfrm>
                <a:off x="10719342" y="3763545"/>
                <a:ext cx="977264" cy="395205"/>
              </a:xfrm>
              <a:prstGeom prst="straightConnector1">
                <a:avLst/>
              </a:prstGeom>
              <a:ln w="12700">
                <a:solidFill>
                  <a:srgbClr val="C00000"/>
                </a:solidFill>
                <a:headEnd type="none" w="med" len="med"/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Straight Arrow Connector 48">
                <a:extLst>
                  <a:ext uri="{FF2B5EF4-FFF2-40B4-BE49-F238E27FC236}">
                    <a16:creationId xmlns:a16="http://schemas.microsoft.com/office/drawing/2014/main" id="{684EE518-F4AB-07A3-895C-C2D99208478A}"/>
                  </a:ext>
                </a:extLst>
              </p:cNvPr>
              <p:cNvCxnSpPr>
                <a:stCxn id="47" idx="4"/>
              </p:cNvCxnSpPr>
              <p:nvPr/>
            </p:nvCxnSpPr>
            <p:spPr>
              <a:xfrm>
                <a:off x="11804369" y="4418915"/>
                <a:ext cx="7778" cy="608916"/>
              </a:xfrm>
              <a:prstGeom prst="straightConnector1">
                <a:avLst/>
              </a:prstGeom>
              <a:ln w="12700">
                <a:solidFill>
                  <a:srgbClr val="C00000"/>
                </a:solidFill>
                <a:headEnd type="none" w="med" len="med"/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671BE02-0C59-BAFE-BDA5-9E1EA3E8A02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KR"/>
              <a:t>691</a:t>
            </a:r>
            <a:endParaRPr lang="en-KR" sz="4000" dirty="0"/>
          </a:p>
        </p:txBody>
      </p:sp>
    </p:spTree>
    <p:extLst>
      <p:ext uri="{BB962C8B-B14F-4D97-AF65-F5344CB8AC3E}">
        <p14:creationId xmlns:p14="http://schemas.microsoft.com/office/powerpoint/2010/main" val="403541558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B17EFF-B418-AF97-94C0-99C624F455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923D12-4665-9921-7EEE-F2A346C0F7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Time-Limited Values</a:t>
            </a:r>
            <a:endParaRPr lang="en-KR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8129337-4725-ADC9-D9C5-FE1138FC0967}"/>
              </a:ext>
            </a:extLst>
          </p:cNvPr>
          <p:cNvSpPr/>
          <p:nvPr/>
        </p:nvSpPr>
        <p:spPr>
          <a:xfrm>
            <a:off x="7067791" y="4928056"/>
            <a:ext cx="2076209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800" dirty="0">
                <a:solidFill>
                  <a:schemeClr val="bg1">
                    <a:lumMod val="65000"/>
                  </a:schemeClr>
                </a:solidFill>
                <a:cs typeface="Calibri"/>
              </a:rPr>
              <a:t>Adapted from CS188 of Klein and </a:t>
            </a:r>
            <a:r>
              <a:rPr lang="en-US" sz="800" dirty="0" err="1">
                <a:solidFill>
                  <a:schemeClr val="bg1">
                    <a:lumMod val="65000"/>
                  </a:schemeClr>
                </a:solidFill>
                <a:cs typeface="Calibri"/>
              </a:rPr>
              <a:t>Abbeel</a:t>
            </a:r>
            <a:endParaRPr lang="en-KR" sz="800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3DE71D7-6135-AC9E-5A46-40842DFEE0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699" y="1152475"/>
            <a:ext cx="6344739" cy="3416400"/>
          </a:xfrm>
        </p:spPr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Key idea: time-limited values</a:t>
            </a:r>
          </a:p>
          <a:p>
            <a:pPr lvl="2"/>
            <a:endParaRPr lang="en-US" sz="500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Define </a:t>
            </a:r>
            <a:r>
              <a:rPr lang="en-US" dirty="0" err="1">
                <a:solidFill>
                  <a:schemeClr val="tx1"/>
                </a:solidFill>
              </a:rPr>
              <a:t>V</a:t>
            </a:r>
            <a:r>
              <a:rPr lang="en-US" baseline="-25000" dirty="0" err="1">
                <a:solidFill>
                  <a:schemeClr val="tx1"/>
                </a:solidFill>
              </a:rPr>
              <a:t>k</a:t>
            </a:r>
            <a:r>
              <a:rPr lang="en-US" dirty="0">
                <a:solidFill>
                  <a:schemeClr val="tx1"/>
                </a:solidFill>
              </a:rPr>
              <a:t>(s) to be the optimal value of s if the game ends in k more time steps</a:t>
            </a:r>
          </a:p>
          <a:p>
            <a:pPr lvl="1"/>
            <a:r>
              <a:rPr lang="en-US" sz="1500" dirty="0">
                <a:solidFill>
                  <a:schemeClr val="tx1"/>
                </a:solidFill>
              </a:rPr>
              <a:t>Equivalently, it’s what a depth-k </a:t>
            </a:r>
            <a:r>
              <a:rPr lang="en-US" sz="1500" dirty="0" err="1">
                <a:solidFill>
                  <a:schemeClr val="tx1"/>
                </a:solidFill>
              </a:rPr>
              <a:t>expectimax</a:t>
            </a:r>
            <a:r>
              <a:rPr lang="en-US" sz="1500" dirty="0">
                <a:solidFill>
                  <a:schemeClr val="tx1"/>
                </a:solidFill>
              </a:rPr>
              <a:t> would give from s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endParaRPr lang="en-KR" dirty="0">
              <a:solidFill>
                <a:schemeClr val="tx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BBD8BAE-E92C-EBEC-AC44-04E595EC9F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978243" y="1003591"/>
            <a:ext cx="1686434" cy="1623617"/>
          </a:xfrm>
          <a:prstGeom prst="rect">
            <a:avLst/>
          </a:prstGeom>
          <a:noFill/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186DA39A-A8DB-6EC0-4871-2E83FB93FFEC}"/>
              </a:ext>
            </a:extLst>
          </p:cNvPr>
          <p:cNvGrpSpPr/>
          <p:nvPr/>
        </p:nvGrpSpPr>
        <p:grpSpPr>
          <a:xfrm>
            <a:off x="1177781" y="3219500"/>
            <a:ext cx="3369210" cy="1298297"/>
            <a:chOff x="460604" y="1295400"/>
            <a:chExt cx="11348754" cy="4373146"/>
          </a:xfrm>
        </p:grpSpPr>
        <p:pic>
          <p:nvPicPr>
            <p:cNvPr id="7" name="Picture 2">
              <a:extLst>
                <a:ext uri="{FF2B5EF4-FFF2-40B4-BE49-F238E27FC236}">
                  <a16:creationId xmlns:a16="http://schemas.microsoft.com/office/drawing/2014/main" id="{502EE712-16AC-947D-8E10-88F18E88184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auto">
            <a:xfrm>
              <a:off x="4743362" y="1295400"/>
              <a:ext cx="928190" cy="610286"/>
            </a:xfrm>
            <a:prstGeom prst="rect">
              <a:avLst/>
            </a:prstGeom>
            <a:noFill/>
          </p:spPr>
        </p:pic>
        <p:pic>
          <p:nvPicPr>
            <p:cNvPr id="8" name="Picture 2">
              <a:extLst>
                <a:ext uri="{FF2B5EF4-FFF2-40B4-BE49-F238E27FC236}">
                  <a16:creationId xmlns:a16="http://schemas.microsoft.com/office/drawing/2014/main" id="{9FE5529C-2385-92FA-26F5-74AA20A07BF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auto">
            <a:xfrm>
              <a:off x="9654641" y="3124199"/>
              <a:ext cx="1014612" cy="639346"/>
            </a:xfrm>
            <a:prstGeom prst="rect">
              <a:avLst/>
            </a:prstGeom>
            <a:noFill/>
          </p:spPr>
        </p:pic>
        <p:pic>
          <p:nvPicPr>
            <p:cNvPr id="10" name="Picture 2">
              <a:extLst>
                <a:ext uri="{FF2B5EF4-FFF2-40B4-BE49-F238E27FC236}">
                  <a16:creationId xmlns:a16="http://schemas.microsoft.com/office/drawing/2014/main" id="{6A188610-842F-76B8-98C3-CF594D5A575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auto">
            <a:xfrm>
              <a:off x="10824561" y="4941331"/>
              <a:ext cx="984797" cy="697468"/>
            </a:xfrm>
            <a:prstGeom prst="rect">
              <a:avLst/>
            </a:prstGeom>
            <a:noFill/>
          </p:spPr>
        </p:pic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B7EDC5E3-816E-FBA0-9961-0D8806F097DB}"/>
                </a:ext>
              </a:extLst>
            </p:cNvPr>
            <p:cNvSpPr/>
            <p:nvPr/>
          </p:nvSpPr>
          <p:spPr>
            <a:xfrm>
              <a:off x="1770678" y="2209800"/>
              <a:ext cx="304800" cy="304800"/>
            </a:xfrm>
            <a:prstGeom prst="ellipse">
              <a:avLst/>
            </a:prstGeom>
            <a:solidFill>
              <a:srgbClr val="B8EAC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E0233D95-AB05-9C4B-5C2D-A740A2566BB1}"/>
                </a:ext>
              </a:extLst>
            </p:cNvPr>
            <p:cNvSpPr/>
            <p:nvPr/>
          </p:nvSpPr>
          <p:spPr>
            <a:xfrm>
              <a:off x="7790478" y="2209800"/>
              <a:ext cx="304800" cy="304800"/>
            </a:xfrm>
            <a:prstGeom prst="ellipse">
              <a:avLst/>
            </a:prstGeom>
            <a:solidFill>
              <a:srgbClr val="B8EAC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57C30C6C-11AC-9A70-3232-0287BC2F1FEE}"/>
                </a:ext>
              </a:extLst>
            </p:cNvPr>
            <p:cNvCxnSpPr>
              <a:stCxn id="7" idx="2"/>
              <a:endCxn id="12" idx="1"/>
            </p:cNvCxnSpPr>
            <p:nvPr/>
          </p:nvCxnSpPr>
          <p:spPr>
            <a:xfrm>
              <a:off x="5207457" y="1905685"/>
              <a:ext cx="2627658" cy="348752"/>
            </a:xfrm>
            <a:prstGeom prst="straightConnector1">
              <a:avLst/>
            </a:prstGeom>
            <a:ln w="12700">
              <a:solidFill>
                <a:srgbClr val="C00000"/>
              </a:solidFill>
              <a:headEnd type="none" w="med" len="med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8D396789-98AA-3101-C5DC-77898957B12E}"/>
                </a:ext>
              </a:extLst>
            </p:cNvPr>
            <p:cNvCxnSpPr>
              <a:stCxn id="7" idx="2"/>
              <a:endCxn id="11" idx="7"/>
            </p:cNvCxnSpPr>
            <p:nvPr/>
          </p:nvCxnSpPr>
          <p:spPr>
            <a:xfrm flipH="1">
              <a:off x="2030841" y="1905685"/>
              <a:ext cx="3176616" cy="348752"/>
            </a:xfrm>
            <a:prstGeom prst="straightConnector1">
              <a:avLst/>
            </a:prstGeom>
            <a:ln w="12700">
              <a:solidFill>
                <a:schemeClr val="accent2"/>
              </a:solidFill>
              <a:headEnd type="none" w="med" len="med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5" name="Picture 2">
              <a:extLst>
                <a:ext uri="{FF2B5EF4-FFF2-40B4-BE49-F238E27FC236}">
                  <a16:creationId xmlns:a16="http://schemas.microsoft.com/office/drawing/2014/main" id="{28774085-CCD8-2FEF-F17F-4C2D88A4521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auto">
            <a:xfrm>
              <a:off x="5566005" y="3124199"/>
              <a:ext cx="928190" cy="610286"/>
            </a:xfrm>
            <a:prstGeom prst="rect">
              <a:avLst/>
            </a:prstGeom>
            <a:noFill/>
          </p:spPr>
        </p:pic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0D229709-7FF5-1194-5FDE-DFF13DC5A439}"/>
                </a:ext>
              </a:extLst>
            </p:cNvPr>
            <p:cNvCxnSpPr>
              <a:stCxn id="12" idx="4"/>
              <a:endCxn id="15" idx="0"/>
            </p:cNvCxnSpPr>
            <p:nvPr/>
          </p:nvCxnSpPr>
          <p:spPr>
            <a:xfrm flipH="1">
              <a:off x="6030099" y="2514600"/>
              <a:ext cx="1912779" cy="609600"/>
            </a:xfrm>
            <a:prstGeom prst="straightConnector1">
              <a:avLst/>
            </a:prstGeom>
            <a:ln w="12700">
              <a:solidFill>
                <a:srgbClr val="C00000"/>
              </a:solidFill>
              <a:headEnd type="none" w="med" len="med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C10CE61D-425D-F89C-5BF4-A0CE982F5FA2}"/>
                </a:ext>
              </a:extLst>
            </p:cNvPr>
            <p:cNvCxnSpPr>
              <a:stCxn id="12" idx="4"/>
              <a:endCxn id="8" idx="0"/>
            </p:cNvCxnSpPr>
            <p:nvPr/>
          </p:nvCxnSpPr>
          <p:spPr>
            <a:xfrm>
              <a:off x="7942878" y="2514600"/>
              <a:ext cx="2219072" cy="609600"/>
            </a:xfrm>
            <a:prstGeom prst="straightConnector1">
              <a:avLst/>
            </a:prstGeom>
            <a:ln w="12700">
              <a:solidFill>
                <a:srgbClr val="C00000"/>
              </a:solidFill>
              <a:headEnd type="none" w="med" len="med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8" name="Picture 2">
              <a:extLst>
                <a:ext uri="{FF2B5EF4-FFF2-40B4-BE49-F238E27FC236}">
                  <a16:creationId xmlns:a16="http://schemas.microsoft.com/office/drawing/2014/main" id="{6A75A691-D9C7-789B-A41E-A62AB6946D0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auto">
            <a:xfrm>
              <a:off x="1451204" y="3123514"/>
              <a:ext cx="928190" cy="610286"/>
            </a:xfrm>
            <a:prstGeom prst="rect">
              <a:avLst/>
            </a:prstGeom>
            <a:noFill/>
          </p:spPr>
        </p:pic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0DA18666-BAC3-5022-0379-165787697D8D}"/>
                </a:ext>
              </a:extLst>
            </p:cNvPr>
            <p:cNvCxnSpPr>
              <a:stCxn id="11" idx="4"/>
              <a:endCxn id="18" idx="0"/>
            </p:cNvCxnSpPr>
            <p:nvPr/>
          </p:nvCxnSpPr>
          <p:spPr>
            <a:xfrm flipH="1">
              <a:off x="1915299" y="2514600"/>
              <a:ext cx="7779" cy="608915"/>
            </a:xfrm>
            <a:prstGeom prst="straightConnector1">
              <a:avLst/>
            </a:prstGeom>
            <a:ln w="12700">
              <a:solidFill>
                <a:schemeClr val="accent2"/>
              </a:solidFill>
              <a:headEnd type="none" w="med" len="med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20" name="Picture 2">
              <a:extLst>
                <a:ext uri="{FF2B5EF4-FFF2-40B4-BE49-F238E27FC236}">
                  <a16:creationId xmlns:a16="http://schemas.microsoft.com/office/drawing/2014/main" id="{8FE41A1D-1610-6E5A-043B-593DA7928DE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auto">
            <a:xfrm>
              <a:off x="2872842" y="5029200"/>
              <a:ext cx="1014612" cy="639346"/>
            </a:xfrm>
            <a:prstGeom prst="rect">
              <a:avLst/>
            </a:prstGeom>
            <a:noFill/>
          </p:spPr>
        </p:pic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34FCE343-CA13-3A54-314F-FE53202071DD}"/>
                </a:ext>
              </a:extLst>
            </p:cNvPr>
            <p:cNvSpPr/>
            <p:nvPr/>
          </p:nvSpPr>
          <p:spPr>
            <a:xfrm>
              <a:off x="764520" y="4114115"/>
              <a:ext cx="304800" cy="304800"/>
            </a:xfrm>
            <a:prstGeom prst="ellipse">
              <a:avLst/>
            </a:prstGeom>
            <a:solidFill>
              <a:srgbClr val="B8EAC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D9593B38-9D69-44DF-C1A9-B1EECB7D0F64}"/>
                </a:ext>
              </a:extLst>
            </p:cNvPr>
            <p:cNvSpPr/>
            <p:nvPr/>
          </p:nvSpPr>
          <p:spPr>
            <a:xfrm>
              <a:off x="2780040" y="4114115"/>
              <a:ext cx="304800" cy="304800"/>
            </a:xfrm>
            <a:prstGeom prst="ellipse">
              <a:avLst/>
            </a:prstGeom>
            <a:solidFill>
              <a:srgbClr val="B8EAC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42916E61-4222-00B0-C672-80CFF3AD6B31}"/>
                </a:ext>
              </a:extLst>
            </p:cNvPr>
            <p:cNvCxnSpPr>
              <a:stCxn id="18" idx="2"/>
              <a:endCxn id="22" idx="1"/>
            </p:cNvCxnSpPr>
            <p:nvPr/>
          </p:nvCxnSpPr>
          <p:spPr>
            <a:xfrm>
              <a:off x="1915299" y="3733800"/>
              <a:ext cx="909378" cy="424952"/>
            </a:xfrm>
            <a:prstGeom prst="straightConnector1">
              <a:avLst/>
            </a:prstGeom>
            <a:ln w="12700">
              <a:solidFill>
                <a:srgbClr val="C00000"/>
              </a:solidFill>
              <a:headEnd type="none" w="med" len="med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C28B9748-FB13-BBF3-C4A7-C609B9EB22CE}"/>
                </a:ext>
              </a:extLst>
            </p:cNvPr>
            <p:cNvCxnSpPr>
              <a:stCxn id="18" idx="2"/>
              <a:endCxn id="21" idx="7"/>
            </p:cNvCxnSpPr>
            <p:nvPr/>
          </p:nvCxnSpPr>
          <p:spPr>
            <a:xfrm flipH="1">
              <a:off x="1024683" y="3733800"/>
              <a:ext cx="890616" cy="424952"/>
            </a:xfrm>
            <a:prstGeom prst="straightConnector1">
              <a:avLst/>
            </a:prstGeom>
            <a:ln w="12700">
              <a:solidFill>
                <a:schemeClr val="accent2"/>
              </a:solidFill>
              <a:headEnd type="none" w="med" len="med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25" name="Picture 2">
              <a:extLst>
                <a:ext uri="{FF2B5EF4-FFF2-40B4-BE49-F238E27FC236}">
                  <a16:creationId xmlns:a16="http://schemas.microsoft.com/office/drawing/2014/main" id="{C104791A-1342-87CA-F700-F2C61B48182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auto">
            <a:xfrm>
              <a:off x="2060805" y="5029200"/>
              <a:ext cx="928190" cy="610286"/>
            </a:xfrm>
            <a:prstGeom prst="rect">
              <a:avLst/>
            </a:prstGeom>
            <a:noFill/>
          </p:spPr>
        </p:pic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51B1FE8A-02C5-EEED-88BA-CFB65EA34BB7}"/>
                </a:ext>
              </a:extLst>
            </p:cNvPr>
            <p:cNvCxnSpPr>
              <a:stCxn id="22" idx="4"/>
              <a:endCxn id="25" idx="0"/>
            </p:cNvCxnSpPr>
            <p:nvPr/>
          </p:nvCxnSpPr>
          <p:spPr>
            <a:xfrm flipH="1">
              <a:off x="2524899" y="4418915"/>
              <a:ext cx="407541" cy="610285"/>
            </a:xfrm>
            <a:prstGeom prst="straightConnector1">
              <a:avLst/>
            </a:prstGeom>
            <a:ln w="12700">
              <a:solidFill>
                <a:srgbClr val="C00000"/>
              </a:solidFill>
              <a:headEnd type="none" w="med" len="med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Arrow Connector 26">
              <a:extLst>
                <a:ext uri="{FF2B5EF4-FFF2-40B4-BE49-F238E27FC236}">
                  <a16:creationId xmlns:a16="http://schemas.microsoft.com/office/drawing/2014/main" id="{76A308A8-E384-110C-258C-030E2B95EC0C}"/>
                </a:ext>
              </a:extLst>
            </p:cNvPr>
            <p:cNvCxnSpPr>
              <a:stCxn id="22" idx="4"/>
              <a:endCxn id="20" idx="0"/>
            </p:cNvCxnSpPr>
            <p:nvPr/>
          </p:nvCxnSpPr>
          <p:spPr>
            <a:xfrm>
              <a:off x="2932440" y="4418915"/>
              <a:ext cx="447710" cy="610285"/>
            </a:xfrm>
            <a:prstGeom prst="straightConnector1">
              <a:avLst/>
            </a:prstGeom>
            <a:ln w="12700">
              <a:solidFill>
                <a:srgbClr val="C00000"/>
              </a:solidFill>
              <a:headEnd type="none" w="med" len="med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28" name="Picture 2">
              <a:extLst>
                <a:ext uri="{FF2B5EF4-FFF2-40B4-BE49-F238E27FC236}">
                  <a16:creationId xmlns:a16="http://schemas.microsoft.com/office/drawing/2014/main" id="{04566F8A-64BF-5190-03AE-8252AD1F92E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auto">
            <a:xfrm>
              <a:off x="460604" y="5027831"/>
              <a:ext cx="928190" cy="610286"/>
            </a:xfrm>
            <a:prstGeom prst="rect">
              <a:avLst/>
            </a:prstGeom>
            <a:noFill/>
          </p:spPr>
        </p:pic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51BAEAFC-A54D-B516-F029-9BDD92DB8513}"/>
                </a:ext>
              </a:extLst>
            </p:cNvPr>
            <p:cNvCxnSpPr>
              <a:stCxn id="21" idx="4"/>
              <a:endCxn id="28" idx="0"/>
            </p:cNvCxnSpPr>
            <p:nvPr/>
          </p:nvCxnSpPr>
          <p:spPr>
            <a:xfrm>
              <a:off x="916920" y="4418915"/>
              <a:ext cx="7779" cy="608915"/>
            </a:xfrm>
            <a:prstGeom prst="straightConnector1">
              <a:avLst/>
            </a:prstGeom>
            <a:ln w="12700">
              <a:solidFill>
                <a:schemeClr val="accent2"/>
              </a:solidFill>
              <a:headEnd type="none" w="med" len="med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46E681AD-07B6-F830-49AF-43F04BD9C6DC}"/>
                </a:ext>
              </a:extLst>
            </p:cNvPr>
            <p:cNvSpPr/>
            <p:nvPr/>
          </p:nvSpPr>
          <p:spPr>
            <a:xfrm>
              <a:off x="4863762" y="4114115"/>
              <a:ext cx="304800" cy="304800"/>
            </a:xfrm>
            <a:prstGeom prst="ellipse">
              <a:avLst/>
            </a:prstGeom>
            <a:solidFill>
              <a:srgbClr val="B8EAC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8E2B332B-9EAD-4261-DC35-5635742756B0}"/>
                </a:ext>
              </a:extLst>
            </p:cNvPr>
            <p:cNvCxnSpPr>
              <a:endCxn id="30" idx="7"/>
            </p:cNvCxnSpPr>
            <p:nvPr/>
          </p:nvCxnSpPr>
          <p:spPr>
            <a:xfrm flipH="1">
              <a:off x="5123925" y="3733800"/>
              <a:ext cx="890616" cy="424952"/>
            </a:xfrm>
            <a:prstGeom prst="straightConnector1">
              <a:avLst/>
            </a:prstGeom>
            <a:ln w="12700">
              <a:solidFill>
                <a:schemeClr val="accent2"/>
              </a:solidFill>
              <a:headEnd type="none" w="med" len="med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32" name="Picture 2">
              <a:extLst>
                <a:ext uri="{FF2B5EF4-FFF2-40B4-BE49-F238E27FC236}">
                  <a16:creationId xmlns:a16="http://schemas.microsoft.com/office/drawing/2014/main" id="{5AD5F828-7D37-AC25-AD62-397C2890B96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auto">
            <a:xfrm>
              <a:off x="4559846" y="5027831"/>
              <a:ext cx="928190" cy="610286"/>
            </a:xfrm>
            <a:prstGeom prst="rect">
              <a:avLst/>
            </a:prstGeom>
            <a:noFill/>
          </p:spPr>
        </p:pic>
        <p:cxnSp>
          <p:nvCxnSpPr>
            <p:cNvPr id="33" name="Straight Arrow Connector 32">
              <a:extLst>
                <a:ext uri="{FF2B5EF4-FFF2-40B4-BE49-F238E27FC236}">
                  <a16:creationId xmlns:a16="http://schemas.microsoft.com/office/drawing/2014/main" id="{DDFDEE52-7D02-916E-639B-AC56E212969D}"/>
                </a:ext>
              </a:extLst>
            </p:cNvPr>
            <p:cNvCxnSpPr>
              <a:stCxn id="30" idx="4"/>
              <a:endCxn id="32" idx="0"/>
            </p:cNvCxnSpPr>
            <p:nvPr/>
          </p:nvCxnSpPr>
          <p:spPr>
            <a:xfrm>
              <a:off x="5016162" y="4418915"/>
              <a:ext cx="7779" cy="608915"/>
            </a:xfrm>
            <a:prstGeom prst="straightConnector1">
              <a:avLst/>
            </a:prstGeom>
            <a:ln w="12700">
              <a:solidFill>
                <a:schemeClr val="accent2"/>
              </a:solidFill>
              <a:headEnd type="none" w="med" len="med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34" name="Picture 2">
              <a:extLst>
                <a:ext uri="{FF2B5EF4-FFF2-40B4-BE49-F238E27FC236}">
                  <a16:creationId xmlns:a16="http://schemas.microsoft.com/office/drawing/2014/main" id="{D8A18294-5869-271B-11F3-CA5BE0B69C6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auto">
            <a:xfrm>
              <a:off x="6987643" y="5029200"/>
              <a:ext cx="1014612" cy="639346"/>
            </a:xfrm>
            <a:prstGeom prst="rect">
              <a:avLst/>
            </a:prstGeom>
            <a:noFill/>
          </p:spPr>
        </p:pic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39F0289D-02AB-ABF1-8101-EEEB37E933C4}"/>
                </a:ext>
              </a:extLst>
            </p:cNvPr>
            <p:cNvSpPr/>
            <p:nvPr/>
          </p:nvSpPr>
          <p:spPr>
            <a:xfrm>
              <a:off x="6894840" y="4114115"/>
              <a:ext cx="304800" cy="304800"/>
            </a:xfrm>
            <a:prstGeom prst="ellipse">
              <a:avLst/>
            </a:prstGeom>
            <a:solidFill>
              <a:srgbClr val="B8EAC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cxnSp>
          <p:nvCxnSpPr>
            <p:cNvPr id="36" name="Straight Arrow Connector 35">
              <a:extLst>
                <a:ext uri="{FF2B5EF4-FFF2-40B4-BE49-F238E27FC236}">
                  <a16:creationId xmlns:a16="http://schemas.microsoft.com/office/drawing/2014/main" id="{598C3186-BF52-0F48-D495-F5107EB08930}"/>
                </a:ext>
              </a:extLst>
            </p:cNvPr>
            <p:cNvCxnSpPr>
              <a:stCxn id="15" idx="2"/>
              <a:endCxn id="35" idx="1"/>
            </p:cNvCxnSpPr>
            <p:nvPr/>
          </p:nvCxnSpPr>
          <p:spPr>
            <a:xfrm>
              <a:off x="6030099" y="3734485"/>
              <a:ext cx="909378" cy="424267"/>
            </a:xfrm>
            <a:prstGeom prst="straightConnector1">
              <a:avLst/>
            </a:prstGeom>
            <a:ln w="12700">
              <a:solidFill>
                <a:srgbClr val="C00000"/>
              </a:solidFill>
              <a:headEnd type="none" w="med" len="med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37" name="Picture 2">
              <a:extLst>
                <a:ext uri="{FF2B5EF4-FFF2-40B4-BE49-F238E27FC236}">
                  <a16:creationId xmlns:a16="http://schemas.microsoft.com/office/drawing/2014/main" id="{1E5FD602-B686-D728-7B2A-8109E83940D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auto">
            <a:xfrm>
              <a:off x="6175604" y="5029200"/>
              <a:ext cx="928190" cy="610286"/>
            </a:xfrm>
            <a:prstGeom prst="rect">
              <a:avLst/>
            </a:prstGeom>
            <a:noFill/>
          </p:spPr>
        </p:pic>
        <p:cxnSp>
          <p:nvCxnSpPr>
            <p:cNvPr id="38" name="Straight Arrow Connector 37">
              <a:extLst>
                <a:ext uri="{FF2B5EF4-FFF2-40B4-BE49-F238E27FC236}">
                  <a16:creationId xmlns:a16="http://schemas.microsoft.com/office/drawing/2014/main" id="{E5C5FA9E-C68B-3513-AF5E-3AD4A269A3B6}"/>
                </a:ext>
              </a:extLst>
            </p:cNvPr>
            <p:cNvCxnSpPr>
              <a:stCxn id="35" idx="4"/>
              <a:endCxn id="37" idx="0"/>
            </p:cNvCxnSpPr>
            <p:nvPr/>
          </p:nvCxnSpPr>
          <p:spPr>
            <a:xfrm flipH="1">
              <a:off x="6639699" y="4418915"/>
              <a:ext cx="407541" cy="610285"/>
            </a:xfrm>
            <a:prstGeom prst="straightConnector1">
              <a:avLst/>
            </a:prstGeom>
            <a:ln w="12700">
              <a:solidFill>
                <a:srgbClr val="C00000"/>
              </a:solidFill>
              <a:headEnd type="none" w="med" len="med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Arrow Connector 38">
              <a:extLst>
                <a:ext uri="{FF2B5EF4-FFF2-40B4-BE49-F238E27FC236}">
                  <a16:creationId xmlns:a16="http://schemas.microsoft.com/office/drawing/2014/main" id="{EA828617-24FE-F032-4CAD-3C81101DFF99}"/>
                </a:ext>
              </a:extLst>
            </p:cNvPr>
            <p:cNvCxnSpPr>
              <a:stCxn id="35" idx="4"/>
              <a:endCxn id="34" idx="0"/>
            </p:cNvCxnSpPr>
            <p:nvPr/>
          </p:nvCxnSpPr>
          <p:spPr>
            <a:xfrm>
              <a:off x="7047240" y="4418915"/>
              <a:ext cx="447710" cy="610285"/>
            </a:xfrm>
            <a:prstGeom prst="straightConnector1">
              <a:avLst/>
            </a:prstGeom>
            <a:ln w="12700">
              <a:solidFill>
                <a:srgbClr val="C00000"/>
              </a:solidFill>
              <a:headEnd type="none" w="med" len="med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40" name="Picture 2">
              <a:extLst>
                <a:ext uri="{FF2B5EF4-FFF2-40B4-BE49-F238E27FC236}">
                  <a16:creationId xmlns:a16="http://schemas.microsoft.com/office/drawing/2014/main" id="{8CD5D193-EF06-1C96-18C5-3B49009D8B7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auto">
            <a:xfrm>
              <a:off x="9045042" y="5028516"/>
              <a:ext cx="1014612" cy="639346"/>
            </a:xfrm>
            <a:prstGeom prst="rect">
              <a:avLst/>
            </a:prstGeom>
            <a:noFill/>
          </p:spPr>
        </p:pic>
        <p:sp>
          <p:nvSpPr>
            <p:cNvPr id="41" name="Oval 40">
              <a:extLst>
                <a:ext uri="{FF2B5EF4-FFF2-40B4-BE49-F238E27FC236}">
                  <a16:creationId xmlns:a16="http://schemas.microsoft.com/office/drawing/2014/main" id="{23126A12-C977-882A-D2D5-9B63464CEA7C}"/>
                </a:ext>
              </a:extLst>
            </p:cNvPr>
            <p:cNvSpPr/>
            <p:nvPr/>
          </p:nvSpPr>
          <p:spPr>
            <a:xfrm>
              <a:off x="8952240" y="4113430"/>
              <a:ext cx="304800" cy="304800"/>
            </a:xfrm>
            <a:prstGeom prst="ellipse">
              <a:avLst/>
            </a:prstGeom>
            <a:solidFill>
              <a:srgbClr val="B8EAC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cxnSp>
          <p:nvCxnSpPr>
            <p:cNvPr id="42" name="Straight Arrow Connector 41">
              <a:extLst>
                <a:ext uri="{FF2B5EF4-FFF2-40B4-BE49-F238E27FC236}">
                  <a16:creationId xmlns:a16="http://schemas.microsoft.com/office/drawing/2014/main" id="{331C5E19-DD7D-0E81-05C7-2803EBD1F564}"/>
                </a:ext>
              </a:extLst>
            </p:cNvPr>
            <p:cNvCxnSpPr>
              <a:stCxn id="8" idx="2"/>
              <a:endCxn id="41" idx="7"/>
            </p:cNvCxnSpPr>
            <p:nvPr/>
          </p:nvCxnSpPr>
          <p:spPr>
            <a:xfrm flipH="1">
              <a:off x="9212403" y="3763546"/>
              <a:ext cx="949547" cy="394521"/>
            </a:xfrm>
            <a:prstGeom prst="straightConnector1">
              <a:avLst/>
            </a:prstGeom>
            <a:ln w="12700">
              <a:solidFill>
                <a:schemeClr val="accent2"/>
              </a:solidFill>
              <a:headEnd type="none" w="med" len="med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43" name="Picture 2">
              <a:extLst>
                <a:ext uri="{FF2B5EF4-FFF2-40B4-BE49-F238E27FC236}">
                  <a16:creationId xmlns:a16="http://schemas.microsoft.com/office/drawing/2014/main" id="{F07EB308-B4A9-6B30-B25B-B0873C3832D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auto">
            <a:xfrm>
              <a:off x="8233005" y="5028516"/>
              <a:ext cx="928190" cy="610286"/>
            </a:xfrm>
            <a:prstGeom prst="rect">
              <a:avLst/>
            </a:prstGeom>
            <a:noFill/>
          </p:spPr>
        </p:pic>
        <p:cxnSp>
          <p:nvCxnSpPr>
            <p:cNvPr id="44" name="Straight Arrow Connector 43">
              <a:extLst>
                <a:ext uri="{FF2B5EF4-FFF2-40B4-BE49-F238E27FC236}">
                  <a16:creationId xmlns:a16="http://schemas.microsoft.com/office/drawing/2014/main" id="{91962465-302E-0F7F-5989-00495B72B4C7}"/>
                </a:ext>
              </a:extLst>
            </p:cNvPr>
            <p:cNvCxnSpPr>
              <a:stCxn id="41" idx="4"/>
              <a:endCxn id="43" idx="0"/>
            </p:cNvCxnSpPr>
            <p:nvPr/>
          </p:nvCxnSpPr>
          <p:spPr>
            <a:xfrm flipH="1">
              <a:off x="8697099" y="4418230"/>
              <a:ext cx="407541" cy="610285"/>
            </a:xfrm>
            <a:prstGeom prst="straightConnector1">
              <a:avLst/>
            </a:prstGeom>
            <a:ln w="12700">
              <a:solidFill>
                <a:schemeClr val="accent2"/>
              </a:solidFill>
              <a:headEnd type="none" w="med" len="med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Arrow Connector 44">
              <a:extLst>
                <a:ext uri="{FF2B5EF4-FFF2-40B4-BE49-F238E27FC236}">
                  <a16:creationId xmlns:a16="http://schemas.microsoft.com/office/drawing/2014/main" id="{129E0B91-D9B9-4AFB-B1F3-88B12E374F1E}"/>
                </a:ext>
              </a:extLst>
            </p:cNvPr>
            <p:cNvCxnSpPr>
              <a:stCxn id="41" idx="4"/>
              <a:endCxn id="40" idx="0"/>
            </p:cNvCxnSpPr>
            <p:nvPr/>
          </p:nvCxnSpPr>
          <p:spPr>
            <a:xfrm>
              <a:off x="9104640" y="4418230"/>
              <a:ext cx="447710" cy="610285"/>
            </a:xfrm>
            <a:prstGeom prst="straightConnector1">
              <a:avLst/>
            </a:prstGeom>
            <a:ln w="12700">
              <a:solidFill>
                <a:schemeClr val="accent2"/>
              </a:solidFill>
              <a:headEnd type="none" w="med" len="med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6" name="Oval 45">
              <a:extLst>
                <a:ext uri="{FF2B5EF4-FFF2-40B4-BE49-F238E27FC236}">
                  <a16:creationId xmlns:a16="http://schemas.microsoft.com/office/drawing/2014/main" id="{1B1B3D17-C834-5D0D-0D71-782AC7E334AF}"/>
                </a:ext>
              </a:extLst>
            </p:cNvPr>
            <p:cNvSpPr/>
            <p:nvPr/>
          </p:nvSpPr>
          <p:spPr>
            <a:xfrm>
              <a:off x="11119941" y="4114115"/>
              <a:ext cx="304800" cy="304800"/>
            </a:xfrm>
            <a:prstGeom prst="ellipse">
              <a:avLst/>
            </a:prstGeom>
            <a:solidFill>
              <a:srgbClr val="B8EAC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cxnSp>
          <p:nvCxnSpPr>
            <p:cNvPr id="47" name="Straight Arrow Connector 46">
              <a:extLst>
                <a:ext uri="{FF2B5EF4-FFF2-40B4-BE49-F238E27FC236}">
                  <a16:creationId xmlns:a16="http://schemas.microsoft.com/office/drawing/2014/main" id="{77223D6E-7FFA-1C3B-799A-78802566DE4F}"/>
                </a:ext>
              </a:extLst>
            </p:cNvPr>
            <p:cNvCxnSpPr>
              <a:stCxn id="8" idx="2"/>
              <a:endCxn id="46" idx="1"/>
            </p:cNvCxnSpPr>
            <p:nvPr/>
          </p:nvCxnSpPr>
          <p:spPr>
            <a:xfrm>
              <a:off x="10161950" y="3763546"/>
              <a:ext cx="1002628" cy="395206"/>
            </a:xfrm>
            <a:prstGeom prst="straightConnector1">
              <a:avLst/>
            </a:prstGeom>
            <a:ln w="12700">
              <a:solidFill>
                <a:srgbClr val="C00000"/>
              </a:solidFill>
              <a:headEnd type="none" w="med" len="med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Arrow Connector 47">
              <a:extLst>
                <a:ext uri="{FF2B5EF4-FFF2-40B4-BE49-F238E27FC236}">
                  <a16:creationId xmlns:a16="http://schemas.microsoft.com/office/drawing/2014/main" id="{C762D41D-84CB-9B99-9C36-65328158E605}"/>
                </a:ext>
              </a:extLst>
            </p:cNvPr>
            <p:cNvCxnSpPr>
              <a:stCxn id="46" idx="4"/>
            </p:cNvCxnSpPr>
            <p:nvPr/>
          </p:nvCxnSpPr>
          <p:spPr>
            <a:xfrm>
              <a:off x="11272341" y="4418915"/>
              <a:ext cx="7779" cy="608915"/>
            </a:xfrm>
            <a:prstGeom prst="straightConnector1">
              <a:avLst/>
            </a:prstGeom>
            <a:ln w="12700">
              <a:solidFill>
                <a:srgbClr val="C00000"/>
              </a:solidFill>
              <a:headEnd type="none" w="med" len="med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9" name="Right Arrow 48">
            <a:extLst>
              <a:ext uri="{FF2B5EF4-FFF2-40B4-BE49-F238E27FC236}">
                <a16:creationId xmlns:a16="http://schemas.microsoft.com/office/drawing/2014/main" id="{A9DBC496-7D68-5F5F-96A7-E814C2B617AA}"/>
              </a:ext>
            </a:extLst>
          </p:cNvPr>
          <p:cNvSpPr/>
          <p:nvPr/>
        </p:nvSpPr>
        <p:spPr>
          <a:xfrm>
            <a:off x="5006568" y="3505250"/>
            <a:ext cx="742950" cy="685800"/>
          </a:xfrm>
          <a:prstGeom prst="rightArrow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50" name="Isosceles Triangle 49">
            <a:extLst>
              <a:ext uri="{FF2B5EF4-FFF2-40B4-BE49-F238E27FC236}">
                <a16:creationId xmlns:a16="http://schemas.microsoft.com/office/drawing/2014/main" id="{2046BFC1-47AA-7213-AC27-679B7607483C}"/>
              </a:ext>
            </a:extLst>
          </p:cNvPr>
          <p:cNvSpPr/>
          <p:nvPr/>
        </p:nvSpPr>
        <p:spPr>
          <a:xfrm>
            <a:off x="6206718" y="3448100"/>
            <a:ext cx="1543050" cy="1085850"/>
          </a:xfrm>
          <a:prstGeom prst="triangle">
            <a:avLst/>
          </a:prstGeom>
          <a:solidFill>
            <a:srgbClr val="8FAAFF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pic>
        <p:nvPicPr>
          <p:cNvPr id="51" name="Picture 50" descr="TP_tmp.png">
            <a:extLst>
              <a:ext uri="{FF2B5EF4-FFF2-40B4-BE49-F238E27FC236}">
                <a16:creationId xmlns:a16="http://schemas.microsoft.com/office/drawing/2014/main" id="{C40007B0-CD3A-31CD-1566-8DAD18759750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8" cstate="print"/>
          <a:stretch>
            <a:fillRect/>
          </a:stretch>
        </p:blipFill>
        <p:spPr>
          <a:xfrm>
            <a:off x="6606768" y="3219500"/>
            <a:ext cx="648083" cy="209169"/>
          </a:xfrm>
          <a:prstGeom prst="rect">
            <a:avLst/>
          </a:prstGeom>
        </p:spPr>
      </p:pic>
      <p:pic>
        <p:nvPicPr>
          <p:cNvPr id="52" name="Picture 2">
            <a:extLst>
              <a:ext uri="{FF2B5EF4-FFF2-40B4-BE49-F238E27FC236}">
                <a16:creationId xmlns:a16="http://schemas.microsoft.com/office/drawing/2014/main" id="{CF16D535-8F1D-2753-9AEE-8E19FF86B1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892780" y="3219501"/>
            <a:ext cx="275561" cy="181181"/>
          </a:xfrm>
          <a:prstGeom prst="rect">
            <a:avLst/>
          </a:prstGeom>
          <a:noFill/>
        </p:spPr>
      </p:pic>
      <p:sp>
        <p:nvSpPr>
          <p:cNvPr id="54" name="Text Box 28">
            <a:extLst>
              <a:ext uri="{FF2B5EF4-FFF2-40B4-BE49-F238E27FC236}">
                <a16:creationId xmlns:a16="http://schemas.microsoft.com/office/drawing/2014/main" id="{3F7C990C-5FB7-D805-3442-36CFC3439A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00550" y="4629973"/>
            <a:ext cx="4743450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sz="1200" dirty="0">
                <a:solidFill>
                  <a:srgbClr val="C00000"/>
                </a:solidFill>
                <a:latin typeface="Pontano Sans"/>
                <a:ea typeface="ＭＳ Ｐゴシック" pitchFamily="34" charset="-128"/>
                <a:sym typeface="Pontano Sans"/>
              </a:rPr>
              <a:t>[Demo – time-limited values  (L8D6)]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A86A55F-B257-EC07-BE96-1112CDC349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KR"/>
              <a:t>691</a:t>
            </a:r>
            <a:endParaRPr lang="en-KR" sz="4000" dirty="0"/>
          </a:p>
        </p:txBody>
      </p:sp>
    </p:spTree>
    <p:extLst>
      <p:ext uri="{BB962C8B-B14F-4D97-AF65-F5344CB8AC3E}">
        <p14:creationId xmlns:p14="http://schemas.microsoft.com/office/powerpoint/2010/main" val="42123262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" grpId="0" animBg="1"/>
      <p:bldP spid="50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69B315-1707-AEA2-BA20-24839ED903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09F281-40B4-BBA7-8DE4-016C5824C4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k=0</a:t>
            </a:r>
            <a:endParaRPr lang="en-KR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7331022-1287-00B1-1FA4-AECF0E67E5AC}"/>
              </a:ext>
            </a:extLst>
          </p:cNvPr>
          <p:cNvSpPr/>
          <p:nvPr/>
        </p:nvSpPr>
        <p:spPr>
          <a:xfrm>
            <a:off x="7067791" y="4928056"/>
            <a:ext cx="2076209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800" dirty="0">
                <a:solidFill>
                  <a:schemeClr val="bg1">
                    <a:lumMod val="65000"/>
                  </a:schemeClr>
                </a:solidFill>
                <a:cs typeface="Calibri"/>
              </a:rPr>
              <a:t>Adapted from CS188 of Klein and </a:t>
            </a:r>
            <a:r>
              <a:rPr lang="en-US" sz="800" dirty="0" err="1">
                <a:solidFill>
                  <a:schemeClr val="bg1">
                    <a:lumMod val="65000"/>
                  </a:schemeClr>
                </a:solidFill>
                <a:cs typeface="Calibri"/>
              </a:rPr>
              <a:t>Abbeel</a:t>
            </a:r>
            <a:endParaRPr lang="en-KR" sz="800" dirty="0"/>
          </a:p>
        </p:txBody>
      </p:sp>
      <p:pic>
        <p:nvPicPr>
          <p:cNvPr id="7" name="Picture 6" descr="Screen Shot 2014-08-10 at 7.47.46 PM.png">
            <a:extLst>
              <a:ext uri="{FF2B5EF4-FFF2-40B4-BE49-F238E27FC236}">
                <a16:creationId xmlns:a16="http://schemas.microsoft.com/office/drawing/2014/main" id="{F8A398C9-55EB-64E6-9E2D-C45B9C67E5F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28000" y="1080000"/>
            <a:ext cx="3909555" cy="36000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92504AF-D329-D811-0B99-8D1B9A7580F2}"/>
              </a:ext>
            </a:extLst>
          </p:cNvPr>
          <p:cNvSpPr txBox="1"/>
          <p:nvPr/>
        </p:nvSpPr>
        <p:spPr>
          <a:xfrm>
            <a:off x="7248645" y="4212475"/>
            <a:ext cx="1714500" cy="6924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00" dirty="0">
                <a:solidFill>
                  <a:schemeClr val="dk1"/>
                </a:solidFill>
                <a:latin typeface="Pontano Sans"/>
                <a:sym typeface="Pontano Sans"/>
              </a:rPr>
              <a:t>Noise = 0.2</a:t>
            </a:r>
          </a:p>
          <a:p>
            <a:r>
              <a:rPr lang="en-US" sz="1300" dirty="0">
                <a:solidFill>
                  <a:schemeClr val="dk1"/>
                </a:solidFill>
                <a:latin typeface="Pontano Sans"/>
                <a:sym typeface="Pontano Sans"/>
              </a:rPr>
              <a:t>Discount = 0.9</a:t>
            </a:r>
          </a:p>
          <a:p>
            <a:r>
              <a:rPr lang="en-US" sz="1300" dirty="0">
                <a:solidFill>
                  <a:schemeClr val="dk1"/>
                </a:solidFill>
                <a:latin typeface="Pontano Sans"/>
                <a:sym typeface="Pontano Sans"/>
              </a:rPr>
              <a:t>Living reward = 0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B52972E-471F-3B36-40FE-62D4F187E97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KR"/>
              <a:t>691</a:t>
            </a:r>
            <a:endParaRPr lang="en-KR" sz="4000" dirty="0"/>
          </a:p>
        </p:txBody>
      </p:sp>
    </p:spTree>
    <p:extLst>
      <p:ext uri="{BB962C8B-B14F-4D97-AF65-F5344CB8AC3E}">
        <p14:creationId xmlns:p14="http://schemas.microsoft.com/office/powerpoint/2010/main" val="346182977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B297D0-49BD-CCBD-A766-49AB1B712F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A46632-E3DD-4C6A-8AEF-10F2E4AF0C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k=</a:t>
            </a:r>
            <a:r>
              <a:rPr lang="en-US" altLang="ko-KR" dirty="0"/>
              <a:t>1</a:t>
            </a:r>
            <a:endParaRPr lang="en-KR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6110F3F-230D-F700-1C1A-B43F9C1F70FA}"/>
              </a:ext>
            </a:extLst>
          </p:cNvPr>
          <p:cNvSpPr/>
          <p:nvPr/>
        </p:nvSpPr>
        <p:spPr>
          <a:xfrm>
            <a:off x="7067791" y="4928056"/>
            <a:ext cx="2076209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800" dirty="0">
                <a:solidFill>
                  <a:schemeClr val="bg1">
                    <a:lumMod val="65000"/>
                  </a:schemeClr>
                </a:solidFill>
                <a:cs typeface="Calibri"/>
              </a:rPr>
              <a:t>Adapted from CS188 of Klein and </a:t>
            </a:r>
            <a:r>
              <a:rPr lang="en-US" sz="800" dirty="0" err="1">
                <a:solidFill>
                  <a:schemeClr val="bg1">
                    <a:lumMod val="65000"/>
                  </a:schemeClr>
                </a:solidFill>
                <a:cs typeface="Calibri"/>
              </a:rPr>
              <a:t>Abbeel</a:t>
            </a:r>
            <a:endParaRPr lang="en-KR" sz="8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04F8FDB-1143-ECBC-BCA7-D4845BBB033F}"/>
              </a:ext>
            </a:extLst>
          </p:cNvPr>
          <p:cNvSpPr txBox="1"/>
          <p:nvPr/>
        </p:nvSpPr>
        <p:spPr>
          <a:xfrm>
            <a:off x="7248645" y="4212475"/>
            <a:ext cx="1714500" cy="6924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00" dirty="0">
                <a:solidFill>
                  <a:schemeClr val="dk1"/>
                </a:solidFill>
                <a:latin typeface="Pontano Sans"/>
                <a:sym typeface="Pontano Sans"/>
              </a:rPr>
              <a:t>Noise = 0.2</a:t>
            </a:r>
          </a:p>
          <a:p>
            <a:r>
              <a:rPr lang="en-US" sz="1300" dirty="0">
                <a:solidFill>
                  <a:schemeClr val="dk1"/>
                </a:solidFill>
                <a:latin typeface="Pontano Sans"/>
                <a:sym typeface="Pontano Sans"/>
              </a:rPr>
              <a:t>Discount = 0.9</a:t>
            </a:r>
          </a:p>
          <a:p>
            <a:r>
              <a:rPr lang="en-US" sz="1300" dirty="0">
                <a:solidFill>
                  <a:schemeClr val="dk1"/>
                </a:solidFill>
                <a:latin typeface="Pontano Sans"/>
                <a:sym typeface="Pontano Sans"/>
              </a:rPr>
              <a:t>Living reward = 0</a:t>
            </a:r>
          </a:p>
        </p:txBody>
      </p:sp>
      <p:pic>
        <p:nvPicPr>
          <p:cNvPr id="3" name="Picture 2" descr="Screen Shot 2014-08-10 at 7.47.51 PM.png">
            <a:extLst>
              <a:ext uri="{FF2B5EF4-FFF2-40B4-BE49-F238E27FC236}">
                <a16:creationId xmlns:a16="http://schemas.microsoft.com/office/drawing/2014/main" id="{26D28FB7-3678-29DA-C3A3-3AECCC312D6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26517" y="1080000"/>
            <a:ext cx="3890967" cy="3600000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7E98C22-7FD4-9327-F3E1-ECB30567007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KR"/>
              <a:t>691</a:t>
            </a:r>
            <a:endParaRPr lang="en-KR" sz="4000" dirty="0"/>
          </a:p>
        </p:txBody>
      </p:sp>
    </p:spTree>
    <p:extLst>
      <p:ext uri="{BB962C8B-B14F-4D97-AF65-F5344CB8AC3E}">
        <p14:creationId xmlns:p14="http://schemas.microsoft.com/office/powerpoint/2010/main" val="319103588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C3AA63-90EB-91E1-0A95-14AA322BC7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6163DB-E933-F4C2-5AC2-C2D37CEDE3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k=</a:t>
            </a:r>
            <a:r>
              <a:rPr lang="en-US" altLang="ko-KR" dirty="0"/>
              <a:t>2</a:t>
            </a:r>
            <a:endParaRPr lang="en-KR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65D3E3F-62EE-AAF0-11E5-A272D0B00CED}"/>
              </a:ext>
            </a:extLst>
          </p:cNvPr>
          <p:cNvSpPr/>
          <p:nvPr/>
        </p:nvSpPr>
        <p:spPr>
          <a:xfrm>
            <a:off x="7067791" y="4928056"/>
            <a:ext cx="2076209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800" dirty="0">
                <a:solidFill>
                  <a:schemeClr val="bg1">
                    <a:lumMod val="65000"/>
                  </a:schemeClr>
                </a:solidFill>
                <a:cs typeface="Calibri"/>
              </a:rPr>
              <a:t>Adapted from CS188 of Klein and </a:t>
            </a:r>
            <a:r>
              <a:rPr lang="en-US" sz="800" dirty="0" err="1">
                <a:solidFill>
                  <a:schemeClr val="bg1">
                    <a:lumMod val="65000"/>
                  </a:schemeClr>
                </a:solidFill>
                <a:cs typeface="Calibri"/>
              </a:rPr>
              <a:t>Abbeel</a:t>
            </a:r>
            <a:endParaRPr lang="en-KR" sz="8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640DC41-DC68-272E-E09F-A48D0E96561D}"/>
              </a:ext>
            </a:extLst>
          </p:cNvPr>
          <p:cNvSpPr txBox="1"/>
          <p:nvPr/>
        </p:nvSpPr>
        <p:spPr>
          <a:xfrm>
            <a:off x="7248645" y="4212475"/>
            <a:ext cx="1714500" cy="6924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00" dirty="0">
                <a:solidFill>
                  <a:schemeClr val="dk1"/>
                </a:solidFill>
                <a:latin typeface="Pontano Sans"/>
                <a:sym typeface="Pontano Sans"/>
              </a:rPr>
              <a:t>Noise = 0.2</a:t>
            </a:r>
          </a:p>
          <a:p>
            <a:r>
              <a:rPr lang="en-US" sz="1300" dirty="0">
                <a:solidFill>
                  <a:schemeClr val="dk1"/>
                </a:solidFill>
                <a:latin typeface="Pontano Sans"/>
                <a:sym typeface="Pontano Sans"/>
              </a:rPr>
              <a:t>Discount = 0.9</a:t>
            </a:r>
          </a:p>
          <a:p>
            <a:r>
              <a:rPr lang="en-US" sz="1300" dirty="0">
                <a:solidFill>
                  <a:schemeClr val="dk1"/>
                </a:solidFill>
                <a:latin typeface="Pontano Sans"/>
                <a:sym typeface="Pontano Sans"/>
              </a:rPr>
              <a:t>Living reward = 0</a:t>
            </a:r>
          </a:p>
        </p:txBody>
      </p:sp>
      <p:pic>
        <p:nvPicPr>
          <p:cNvPr id="3" name="Picture 2" descr="Screen Shot 2014-08-10 at 7.47.56 PM.png">
            <a:extLst>
              <a:ext uri="{FF2B5EF4-FFF2-40B4-BE49-F238E27FC236}">
                <a16:creationId xmlns:a16="http://schemas.microsoft.com/office/drawing/2014/main" id="{C2875BB6-6DCE-B2C4-B981-9C254D0955F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28000" y="1080000"/>
            <a:ext cx="3910048" cy="3600000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75DEBD7-79FB-35B6-0040-21E4E6FFFC4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KR"/>
              <a:t>691</a:t>
            </a:r>
            <a:endParaRPr lang="en-KR" sz="4000" dirty="0"/>
          </a:p>
        </p:txBody>
      </p:sp>
    </p:spTree>
    <p:extLst>
      <p:ext uri="{BB962C8B-B14F-4D97-AF65-F5344CB8AC3E}">
        <p14:creationId xmlns:p14="http://schemas.microsoft.com/office/powerpoint/2010/main" val="361793576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E6BC73-A5BA-5C6A-A1F8-1AFEC1751D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FFBA27-33AE-C109-C2F0-9FB923C08B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k=</a:t>
            </a:r>
            <a:r>
              <a:rPr lang="en-US" altLang="ko-KR" dirty="0"/>
              <a:t>3</a:t>
            </a:r>
            <a:endParaRPr lang="en-KR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0D8C4F5-3C84-124A-8189-4284EF382EB5}"/>
              </a:ext>
            </a:extLst>
          </p:cNvPr>
          <p:cNvSpPr/>
          <p:nvPr/>
        </p:nvSpPr>
        <p:spPr>
          <a:xfrm>
            <a:off x="7067791" y="4928056"/>
            <a:ext cx="2076209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800" dirty="0">
                <a:solidFill>
                  <a:schemeClr val="bg1">
                    <a:lumMod val="65000"/>
                  </a:schemeClr>
                </a:solidFill>
                <a:cs typeface="Calibri"/>
              </a:rPr>
              <a:t>Adapted from CS188 of Klein and </a:t>
            </a:r>
            <a:r>
              <a:rPr lang="en-US" sz="800" dirty="0" err="1">
                <a:solidFill>
                  <a:schemeClr val="bg1">
                    <a:lumMod val="65000"/>
                  </a:schemeClr>
                </a:solidFill>
                <a:cs typeface="Calibri"/>
              </a:rPr>
              <a:t>Abbeel</a:t>
            </a:r>
            <a:endParaRPr lang="en-KR" sz="8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6452564-90D2-1806-CC22-9508B295D21D}"/>
              </a:ext>
            </a:extLst>
          </p:cNvPr>
          <p:cNvSpPr txBox="1"/>
          <p:nvPr/>
        </p:nvSpPr>
        <p:spPr>
          <a:xfrm>
            <a:off x="7248645" y="4212475"/>
            <a:ext cx="1714500" cy="6924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00" dirty="0">
                <a:solidFill>
                  <a:schemeClr val="dk1"/>
                </a:solidFill>
                <a:latin typeface="Pontano Sans"/>
                <a:sym typeface="Pontano Sans"/>
              </a:rPr>
              <a:t>Noise = 0.2</a:t>
            </a:r>
          </a:p>
          <a:p>
            <a:r>
              <a:rPr lang="en-US" sz="1300" dirty="0">
                <a:solidFill>
                  <a:schemeClr val="dk1"/>
                </a:solidFill>
                <a:latin typeface="Pontano Sans"/>
                <a:sym typeface="Pontano Sans"/>
              </a:rPr>
              <a:t>Discount = 0.9</a:t>
            </a:r>
          </a:p>
          <a:p>
            <a:r>
              <a:rPr lang="en-US" sz="1300" dirty="0">
                <a:solidFill>
                  <a:schemeClr val="dk1"/>
                </a:solidFill>
                <a:latin typeface="Pontano Sans"/>
                <a:sym typeface="Pontano Sans"/>
              </a:rPr>
              <a:t>Living reward = 0</a:t>
            </a:r>
          </a:p>
        </p:txBody>
      </p:sp>
      <p:pic>
        <p:nvPicPr>
          <p:cNvPr id="3" name="Picture 2" descr="Screen Shot 2014-08-10 at 7.48.00 PM.png">
            <a:extLst>
              <a:ext uri="{FF2B5EF4-FFF2-40B4-BE49-F238E27FC236}">
                <a16:creationId xmlns:a16="http://schemas.microsoft.com/office/drawing/2014/main" id="{F1AED25A-413F-B0D7-FE6B-A3AC838AC00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28000" y="1080000"/>
            <a:ext cx="3891428" cy="3600000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1D1615B-1A66-B50C-691E-808DEB7CF6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KR"/>
              <a:t>691</a:t>
            </a:r>
            <a:endParaRPr lang="en-KR" sz="4000" dirty="0"/>
          </a:p>
        </p:txBody>
      </p:sp>
    </p:spTree>
    <p:extLst>
      <p:ext uri="{BB962C8B-B14F-4D97-AF65-F5344CB8AC3E}">
        <p14:creationId xmlns:p14="http://schemas.microsoft.com/office/powerpoint/2010/main" val="175376008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62BE81-D602-97B1-C465-898A559A61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D48577-EE75-5C95-8B89-2FEF0195B3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k=</a:t>
            </a:r>
            <a:r>
              <a:rPr lang="en-US" altLang="ko-KR" dirty="0"/>
              <a:t>4</a:t>
            </a:r>
            <a:endParaRPr lang="en-KR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5C7AAF3-FD6E-6740-19CA-C3523CA3EDDD}"/>
              </a:ext>
            </a:extLst>
          </p:cNvPr>
          <p:cNvSpPr/>
          <p:nvPr/>
        </p:nvSpPr>
        <p:spPr>
          <a:xfrm>
            <a:off x="7067791" y="4928056"/>
            <a:ext cx="2076209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800" dirty="0">
                <a:solidFill>
                  <a:schemeClr val="bg1">
                    <a:lumMod val="65000"/>
                  </a:schemeClr>
                </a:solidFill>
                <a:cs typeface="Calibri"/>
              </a:rPr>
              <a:t>Adapted from CS188 of Klein and </a:t>
            </a:r>
            <a:r>
              <a:rPr lang="en-US" sz="800" dirty="0" err="1">
                <a:solidFill>
                  <a:schemeClr val="bg1">
                    <a:lumMod val="65000"/>
                  </a:schemeClr>
                </a:solidFill>
                <a:cs typeface="Calibri"/>
              </a:rPr>
              <a:t>Abbeel</a:t>
            </a:r>
            <a:endParaRPr lang="en-KR" sz="8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F269759-503F-7A7A-0EFA-31E033D49C0A}"/>
              </a:ext>
            </a:extLst>
          </p:cNvPr>
          <p:cNvSpPr txBox="1"/>
          <p:nvPr/>
        </p:nvSpPr>
        <p:spPr>
          <a:xfrm>
            <a:off x="7248645" y="4212475"/>
            <a:ext cx="1714500" cy="6924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00" dirty="0">
                <a:solidFill>
                  <a:schemeClr val="dk1"/>
                </a:solidFill>
                <a:latin typeface="Pontano Sans"/>
                <a:sym typeface="Pontano Sans"/>
              </a:rPr>
              <a:t>Noise = 0.2</a:t>
            </a:r>
          </a:p>
          <a:p>
            <a:r>
              <a:rPr lang="en-US" sz="1300" dirty="0">
                <a:solidFill>
                  <a:schemeClr val="dk1"/>
                </a:solidFill>
                <a:latin typeface="Pontano Sans"/>
                <a:sym typeface="Pontano Sans"/>
              </a:rPr>
              <a:t>Discount = 0.9</a:t>
            </a:r>
          </a:p>
          <a:p>
            <a:r>
              <a:rPr lang="en-US" sz="1300" dirty="0">
                <a:solidFill>
                  <a:schemeClr val="dk1"/>
                </a:solidFill>
                <a:latin typeface="Pontano Sans"/>
                <a:sym typeface="Pontano Sans"/>
              </a:rPr>
              <a:t>Living reward = 0</a:t>
            </a:r>
          </a:p>
        </p:txBody>
      </p:sp>
      <p:pic>
        <p:nvPicPr>
          <p:cNvPr id="5" name="Picture 4" descr="Screen Shot 2014-08-10 at 7.48.04 PM.png">
            <a:extLst>
              <a:ext uri="{FF2B5EF4-FFF2-40B4-BE49-F238E27FC236}">
                <a16:creationId xmlns:a16="http://schemas.microsoft.com/office/drawing/2014/main" id="{B816585D-B03C-9C2E-E5EB-35CEEDE8ACB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28000" y="1080000"/>
            <a:ext cx="3897615" cy="3600000"/>
          </a:xfrm>
          <a:prstGeom prst="rect">
            <a:avLst/>
          </a:prstGeom>
        </p:spPr>
      </p:pic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B42C033-E87D-5146-E89B-2F2B731E9E0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KR"/>
              <a:t>691</a:t>
            </a:r>
            <a:endParaRPr lang="en-KR" sz="4000" dirty="0"/>
          </a:p>
        </p:txBody>
      </p:sp>
    </p:spTree>
    <p:extLst>
      <p:ext uri="{BB962C8B-B14F-4D97-AF65-F5344CB8AC3E}">
        <p14:creationId xmlns:p14="http://schemas.microsoft.com/office/powerpoint/2010/main" val="388986348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AD9417-7489-99AA-29C4-B729176720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DA17B3-3B4E-5711-7CB6-15D93BFEF9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k=</a:t>
            </a:r>
            <a:r>
              <a:rPr lang="en-US" altLang="ko-KR" dirty="0"/>
              <a:t>5</a:t>
            </a:r>
            <a:endParaRPr lang="en-KR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E607584-1181-E697-2E71-149D4D19E26B}"/>
              </a:ext>
            </a:extLst>
          </p:cNvPr>
          <p:cNvSpPr/>
          <p:nvPr/>
        </p:nvSpPr>
        <p:spPr>
          <a:xfrm>
            <a:off x="7067791" y="4928056"/>
            <a:ext cx="2076209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800" dirty="0">
                <a:solidFill>
                  <a:schemeClr val="bg1">
                    <a:lumMod val="65000"/>
                  </a:schemeClr>
                </a:solidFill>
                <a:cs typeface="Calibri"/>
              </a:rPr>
              <a:t>Adapted from CS188 of Klein and </a:t>
            </a:r>
            <a:r>
              <a:rPr lang="en-US" sz="800" dirty="0" err="1">
                <a:solidFill>
                  <a:schemeClr val="bg1">
                    <a:lumMod val="65000"/>
                  </a:schemeClr>
                </a:solidFill>
                <a:cs typeface="Calibri"/>
              </a:rPr>
              <a:t>Abbeel</a:t>
            </a:r>
            <a:endParaRPr lang="en-KR" sz="8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A7164F9-53B8-38C2-1BA1-DF71BEF79E7C}"/>
              </a:ext>
            </a:extLst>
          </p:cNvPr>
          <p:cNvSpPr txBox="1"/>
          <p:nvPr/>
        </p:nvSpPr>
        <p:spPr>
          <a:xfrm>
            <a:off x="7248645" y="4212475"/>
            <a:ext cx="1714500" cy="6924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00" dirty="0">
                <a:solidFill>
                  <a:schemeClr val="dk1"/>
                </a:solidFill>
                <a:latin typeface="Pontano Sans"/>
                <a:sym typeface="Pontano Sans"/>
              </a:rPr>
              <a:t>Noise = 0.2</a:t>
            </a:r>
          </a:p>
          <a:p>
            <a:r>
              <a:rPr lang="en-US" sz="1300" dirty="0">
                <a:solidFill>
                  <a:schemeClr val="dk1"/>
                </a:solidFill>
                <a:latin typeface="Pontano Sans"/>
                <a:sym typeface="Pontano Sans"/>
              </a:rPr>
              <a:t>Discount = 0.9</a:t>
            </a:r>
          </a:p>
          <a:p>
            <a:r>
              <a:rPr lang="en-US" sz="1300" dirty="0">
                <a:solidFill>
                  <a:schemeClr val="dk1"/>
                </a:solidFill>
                <a:latin typeface="Pontano Sans"/>
                <a:sym typeface="Pontano Sans"/>
              </a:rPr>
              <a:t>Living reward = 0</a:t>
            </a:r>
          </a:p>
        </p:txBody>
      </p:sp>
      <p:pic>
        <p:nvPicPr>
          <p:cNvPr id="5" name="Picture 4" descr="Screen Shot 2014-08-10 at 7.48.09 PM.png">
            <a:extLst>
              <a:ext uri="{FF2B5EF4-FFF2-40B4-BE49-F238E27FC236}">
                <a16:creationId xmlns:a16="http://schemas.microsoft.com/office/drawing/2014/main" id="{55D35E55-72DA-1125-8BED-9637F586F49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28000" y="1080000"/>
            <a:ext cx="3897143" cy="3600000"/>
          </a:xfrm>
          <a:prstGeom prst="rect">
            <a:avLst/>
          </a:prstGeom>
        </p:spPr>
      </p:pic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C952F59-813C-CC2A-B58C-D07B7B2698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KR"/>
              <a:t>691</a:t>
            </a:r>
            <a:endParaRPr lang="en-KR" sz="4000" dirty="0"/>
          </a:p>
        </p:txBody>
      </p:sp>
    </p:spTree>
    <p:extLst>
      <p:ext uri="{BB962C8B-B14F-4D97-AF65-F5344CB8AC3E}">
        <p14:creationId xmlns:p14="http://schemas.microsoft.com/office/powerpoint/2010/main" val="305844223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200188-F393-2E5F-EC97-C44F8E6052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6AA997-8ABE-9A7A-D2EE-0148E731A4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k=</a:t>
            </a:r>
            <a:r>
              <a:rPr lang="en-US" altLang="ko-KR" dirty="0"/>
              <a:t>6</a:t>
            </a:r>
            <a:endParaRPr lang="en-KR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E6F8813-DB69-6B45-F954-129031912A82}"/>
              </a:ext>
            </a:extLst>
          </p:cNvPr>
          <p:cNvSpPr/>
          <p:nvPr/>
        </p:nvSpPr>
        <p:spPr>
          <a:xfrm>
            <a:off x="7067791" y="4928056"/>
            <a:ext cx="2076209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800" dirty="0">
                <a:solidFill>
                  <a:schemeClr val="bg1">
                    <a:lumMod val="65000"/>
                  </a:schemeClr>
                </a:solidFill>
                <a:cs typeface="Calibri"/>
              </a:rPr>
              <a:t>Adapted from CS188 of Klein and </a:t>
            </a:r>
            <a:r>
              <a:rPr lang="en-US" sz="800" dirty="0" err="1">
                <a:solidFill>
                  <a:schemeClr val="bg1">
                    <a:lumMod val="65000"/>
                  </a:schemeClr>
                </a:solidFill>
                <a:cs typeface="Calibri"/>
              </a:rPr>
              <a:t>Abbeel</a:t>
            </a:r>
            <a:endParaRPr lang="en-KR" sz="8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9734CF4-655D-4B70-E864-E88E3DE595F5}"/>
              </a:ext>
            </a:extLst>
          </p:cNvPr>
          <p:cNvSpPr txBox="1"/>
          <p:nvPr/>
        </p:nvSpPr>
        <p:spPr>
          <a:xfrm>
            <a:off x="7248645" y="4212475"/>
            <a:ext cx="1714500" cy="6924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00" dirty="0">
                <a:solidFill>
                  <a:schemeClr val="dk1"/>
                </a:solidFill>
                <a:latin typeface="Pontano Sans"/>
                <a:sym typeface="Pontano Sans"/>
              </a:rPr>
              <a:t>Noise = 0.2</a:t>
            </a:r>
          </a:p>
          <a:p>
            <a:r>
              <a:rPr lang="en-US" sz="1300" dirty="0">
                <a:solidFill>
                  <a:schemeClr val="dk1"/>
                </a:solidFill>
                <a:latin typeface="Pontano Sans"/>
                <a:sym typeface="Pontano Sans"/>
              </a:rPr>
              <a:t>Discount = 0.9</a:t>
            </a:r>
          </a:p>
          <a:p>
            <a:r>
              <a:rPr lang="en-US" sz="1300" dirty="0">
                <a:solidFill>
                  <a:schemeClr val="dk1"/>
                </a:solidFill>
                <a:latin typeface="Pontano Sans"/>
                <a:sym typeface="Pontano Sans"/>
              </a:rPr>
              <a:t>Living reward = 0</a:t>
            </a:r>
          </a:p>
        </p:txBody>
      </p:sp>
      <p:pic>
        <p:nvPicPr>
          <p:cNvPr id="5" name="Picture 4" descr="Screen Shot 2014-08-10 at 7.48.13 PM.png">
            <a:extLst>
              <a:ext uri="{FF2B5EF4-FFF2-40B4-BE49-F238E27FC236}">
                <a16:creationId xmlns:a16="http://schemas.microsoft.com/office/drawing/2014/main" id="{193F10AD-2C7D-A494-DBA7-D772EE149EE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28000" y="1080000"/>
            <a:ext cx="3897143" cy="3600000"/>
          </a:xfrm>
          <a:prstGeom prst="rect">
            <a:avLst/>
          </a:prstGeom>
        </p:spPr>
      </p:pic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541541C-8713-5B48-5FCD-1CFD3000F29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KR"/>
              <a:t>691</a:t>
            </a:r>
            <a:endParaRPr lang="en-KR" sz="4000" dirty="0"/>
          </a:p>
        </p:txBody>
      </p:sp>
    </p:spTree>
    <p:extLst>
      <p:ext uri="{BB962C8B-B14F-4D97-AF65-F5344CB8AC3E}">
        <p14:creationId xmlns:p14="http://schemas.microsoft.com/office/powerpoint/2010/main" val="44074036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9FFC61-C7E1-E56A-9C6C-3784E01265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3CAD50-3629-7238-36EB-F7ABB6D3DD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k=</a:t>
            </a:r>
            <a:r>
              <a:rPr lang="en-US" altLang="ko-KR" dirty="0"/>
              <a:t>7</a:t>
            </a:r>
            <a:endParaRPr lang="en-KR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4545208-A92C-7416-06BE-E47D6460753E}"/>
              </a:ext>
            </a:extLst>
          </p:cNvPr>
          <p:cNvSpPr/>
          <p:nvPr/>
        </p:nvSpPr>
        <p:spPr>
          <a:xfrm>
            <a:off x="7067791" y="4928056"/>
            <a:ext cx="2076209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800" dirty="0">
                <a:solidFill>
                  <a:schemeClr val="bg1">
                    <a:lumMod val="65000"/>
                  </a:schemeClr>
                </a:solidFill>
                <a:cs typeface="Calibri"/>
              </a:rPr>
              <a:t>Adapted from CS188 of Klein and </a:t>
            </a:r>
            <a:r>
              <a:rPr lang="en-US" sz="800" dirty="0" err="1">
                <a:solidFill>
                  <a:schemeClr val="bg1">
                    <a:lumMod val="65000"/>
                  </a:schemeClr>
                </a:solidFill>
                <a:cs typeface="Calibri"/>
              </a:rPr>
              <a:t>Abbeel</a:t>
            </a:r>
            <a:endParaRPr lang="en-KR" sz="8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1F83369-7202-ED57-6F17-EA2749362A9F}"/>
              </a:ext>
            </a:extLst>
          </p:cNvPr>
          <p:cNvSpPr txBox="1"/>
          <p:nvPr/>
        </p:nvSpPr>
        <p:spPr>
          <a:xfrm>
            <a:off x="7248645" y="4212475"/>
            <a:ext cx="1714500" cy="6924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00" dirty="0">
                <a:solidFill>
                  <a:schemeClr val="dk1"/>
                </a:solidFill>
                <a:latin typeface="Pontano Sans"/>
                <a:sym typeface="Pontano Sans"/>
              </a:rPr>
              <a:t>Noise = 0.2</a:t>
            </a:r>
          </a:p>
          <a:p>
            <a:r>
              <a:rPr lang="en-US" sz="1300" dirty="0">
                <a:solidFill>
                  <a:schemeClr val="dk1"/>
                </a:solidFill>
                <a:latin typeface="Pontano Sans"/>
                <a:sym typeface="Pontano Sans"/>
              </a:rPr>
              <a:t>Discount = 0.9</a:t>
            </a:r>
          </a:p>
          <a:p>
            <a:r>
              <a:rPr lang="en-US" sz="1300" dirty="0">
                <a:solidFill>
                  <a:schemeClr val="dk1"/>
                </a:solidFill>
                <a:latin typeface="Pontano Sans"/>
                <a:sym typeface="Pontano Sans"/>
              </a:rPr>
              <a:t>Living reward = 0</a:t>
            </a:r>
          </a:p>
        </p:txBody>
      </p:sp>
      <p:pic>
        <p:nvPicPr>
          <p:cNvPr id="5" name="Picture 4" descr="Screen Shot 2014-08-10 at 7.48.19 PM.png">
            <a:extLst>
              <a:ext uri="{FF2B5EF4-FFF2-40B4-BE49-F238E27FC236}">
                <a16:creationId xmlns:a16="http://schemas.microsoft.com/office/drawing/2014/main" id="{37BCA6F1-4804-BBAF-CA55-DE03AC912A5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28000" y="1080000"/>
            <a:ext cx="3891428" cy="3600000"/>
          </a:xfrm>
          <a:prstGeom prst="rect">
            <a:avLst/>
          </a:prstGeom>
        </p:spPr>
      </p:pic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5E04B34-28D0-D9B8-A4E0-4A8FAFFC925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KR"/>
              <a:t>691</a:t>
            </a:r>
            <a:endParaRPr lang="en-KR" sz="4000" dirty="0"/>
          </a:p>
        </p:txBody>
      </p:sp>
    </p:spTree>
    <p:extLst>
      <p:ext uri="{BB962C8B-B14F-4D97-AF65-F5344CB8AC3E}">
        <p14:creationId xmlns:p14="http://schemas.microsoft.com/office/powerpoint/2010/main" val="148651430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8B7608-ED41-3B4C-CB4C-C0C7DA0C5E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5B0AB9-0005-67D2-5529-291C4EAEAE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k=</a:t>
            </a:r>
            <a:r>
              <a:rPr lang="en-US" altLang="ko-KR" dirty="0"/>
              <a:t>8</a:t>
            </a:r>
            <a:endParaRPr lang="en-KR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05CCEB7-101A-8B7E-F336-64FBB91E0440}"/>
              </a:ext>
            </a:extLst>
          </p:cNvPr>
          <p:cNvSpPr/>
          <p:nvPr/>
        </p:nvSpPr>
        <p:spPr>
          <a:xfrm>
            <a:off x="7067791" y="4928056"/>
            <a:ext cx="2076209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800" dirty="0">
                <a:solidFill>
                  <a:schemeClr val="bg1">
                    <a:lumMod val="65000"/>
                  </a:schemeClr>
                </a:solidFill>
                <a:cs typeface="Calibri"/>
              </a:rPr>
              <a:t>Adapted from CS188 of Klein and </a:t>
            </a:r>
            <a:r>
              <a:rPr lang="en-US" sz="800" dirty="0" err="1">
                <a:solidFill>
                  <a:schemeClr val="bg1">
                    <a:lumMod val="65000"/>
                  </a:schemeClr>
                </a:solidFill>
                <a:cs typeface="Calibri"/>
              </a:rPr>
              <a:t>Abbeel</a:t>
            </a:r>
            <a:endParaRPr lang="en-KR" sz="8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3371623-8D3C-3D19-2346-8788AD239B87}"/>
              </a:ext>
            </a:extLst>
          </p:cNvPr>
          <p:cNvSpPr txBox="1"/>
          <p:nvPr/>
        </p:nvSpPr>
        <p:spPr>
          <a:xfrm>
            <a:off x="7248645" y="4212475"/>
            <a:ext cx="1714500" cy="6924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00" dirty="0">
                <a:solidFill>
                  <a:schemeClr val="dk1"/>
                </a:solidFill>
                <a:latin typeface="Pontano Sans"/>
                <a:sym typeface="Pontano Sans"/>
              </a:rPr>
              <a:t>Noise = 0.2</a:t>
            </a:r>
          </a:p>
          <a:p>
            <a:r>
              <a:rPr lang="en-US" sz="1300" dirty="0">
                <a:solidFill>
                  <a:schemeClr val="dk1"/>
                </a:solidFill>
                <a:latin typeface="Pontano Sans"/>
                <a:sym typeface="Pontano Sans"/>
              </a:rPr>
              <a:t>Discount = 0.9</a:t>
            </a:r>
          </a:p>
          <a:p>
            <a:r>
              <a:rPr lang="en-US" sz="1300" dirty="0">
                <a:solidFill>
                  <a:schemeClr val="dk1"/>
                </a:solidFill>
                <a:latin typeface="Pontano Sans"/>
                <a:sym typeface="Pontano Sans"/>
              </a:rPr>
              <a:t>Living reward = 0</a:t>
            </a:r>
          </a:p>
        </p:txBody>
      </p:sp>
      <p:pic>
        <p:nvPicPr>
          <p:cNvPr id="5" name="Picture 4" descr="Screen Shot 2014-08-10 at 7.48.25 PM.png">
            <a:extLst>
              <a:ext uri="{FF2B5EF4-FFF2-40B4-BE49-F238E27FC236}">
                <a16:creationId xmlns:a16="http://schemas.microsoft.com/office/drawing/2014/main" id="{0C6CF4F7-6B36-545B-610B-E0F129295F2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28000" y="1080000"/>
            <a:ext cx="3910048" cy="3600000"/>
          </a:xfrm>
          <a:prstGeom prst="rect">
            <a:avLst/>
          </a:prstGeom>
        </p:spPr>
      </p:pic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75B53DE-A045-9FAC-B392-01C00BB90B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KR"/>
              <a:t>691</a:t>
            </a:r>
            <a:endParaRPr lang="en-KR" sz="4000" dirty="0"/>
          </a:p>
        </p:txBody>
      </p:sp>
    </p:spTree>
    <p:extLst>
      <p:ext uri="{BB962C8B-B14F-4D97-AF65-F5344CB8AC3E}">
        <p14:creationId xmlns:p14="http://schemas.microsoft.com/office/powerpoint/2010/main" val="150614315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70124B-AB10-AC20-3EE9-86D6DF5965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64AE81-AB5A-83E3-EB3A-300F1F3BA3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k=</a:t>
            </a:r>
            <a:r>
              <a:rPr lang="en-US" altLang="ko-KR" dirty="0"/>
              <a:t>9</a:t>
            </a:r>
            <a:endParaRPr lang="en-KR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9DED840-8954-5535-90EA-E160C2764DB1}"/>
              </a:ext>
            </a:extLst>
          </p:cNvPr>
          <p:cNvSpPr/>
          <p:nvPr/>
        </p:nvSpPr>
        <p:spPr>
          <a:xfrm>
            <a:off x="7067791" y="4928056"/>
            <a:ext cx="2076209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800" dirty="0">
                <a:solidFill>
                  <a:schemeClr val="bg1">
                    <a:lumMod val="65000"/>
                  </a:schemeClr>
                </a:solidFill>
                <a:cs typeface="Calibri"/>
              </a:rPr>
              <a:t>Adapted from CS188 of Klein and </a:t>
            </a:r>
            <a:r>
              <a:rPr lang="en-US" sz="800" dirty="0" err="1">
                <a:solidFill>
                  <a:schemeClr val="bg1">
                    <a:lumMod val="65000"/>
                  </a:schemeClr>
                </a:solidFill>
                <a:cs typeface="Calibri"/>
              </a:rPr>
              <a:t>Abbeel</a:t>
            </a:r>
            <a:endParaRPr lang="en-KR" sz="8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956B725-D737-8C5E-D1FE-BA2FDDCE3EAE}"/>
              </a:ext>
            </a:extLst>
          </p:cNvPr>
          <p:cNvSpPr txBox="1"/>
          <p:nvPr/>
        </p:nvSpPr>
        <p:spPr>
          <a:xfrm>
            <a:off x="7248645" y="4212475"/>
            <a:ext cx="1714500" cy="6924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00" dirty="0">
                <a:solidFill>
                  <a:schemeClr val="dk1"/>
                </a:solidFill>
                <a:latin typeface="Pontano Sans"/>
                <a:sym typeface="Pontano Sans"/>
              </a:rPr>
              <a:t>Noise = 0.2</a:t>
            </a:r>
          </a:p>
          <a:p>
            <a:r>
              <a:rPr lang="en-US" sz="1300" dirty="0">
                <a:solidFill>
                  <a:schemeClr val="dk1"/>
                </a:solidFill>
                <a:latin typeface="Pontano Sans"/>
                <a:sym typeface="Pontano Sans"/>
              </a:rPr>
              <a:t>Discount = 0.9</a:t>
            </a:r>
          </a:p>
          <a:p>
            <a:r>
              <a:rPr lang="en-US" sz="1300" dirty="0">
                <a:solidFill>
                  <a:schemeClr val="dk1"/>
                </a:solidFill>
                <a:latin typeface="Pontano Sans"/>
                <a:sym typeface="Pontano Sans"/>
              </a:rPr>
              <a:t>Living reward = 0</a:t>
            </a:r>
          </a:p>
        </p:txBody>
      </p:sp>
      <p:pic>
        <p:nvPicPr>
          <p:cNvPr id="5" name="Picture 4" descr="Screen Shot 2014-08-10 at 7.48.28 PM.png">
            <a:extLst>
              <a:ext uri="{FF2B5EF4-FFF2-40B4-BE49-F238E27FC236}">
                <a16:creationId xmlns:a16="http://schemas.microsoft.com/office/drawing/2014/main" id="{B27AC856-46CF-F19D-1B1C-F4E1119B6E7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28000" y="1080000"/>
            <a:ext cx="3902377" cy="3600000"/>
          </a:xfrm>
          <a:prstGeom prst="rect">
            <a:avLst/>
          </a:prstGeom>
        </p:spPr>
      </p:pic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9C3F88D-5A2A-5821-57A6-31BE144279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KR"/>
              <a:t>691</a:t>
            </a:r>
            <a:endParaRPr lang="en-KR" sz="4000" dirty="0"/>
          </a:p>
        </p:txBody>
      </p:sp>
    </p:spTree>
    <p:extLst>
      <p:ext uri="{BB962C8B-B14F-4D97-AF65-F5344CB8AC3E}">
        <p14:creationId xmlns:p14="http://schemas.microsoft.com/office/powerpoint/2010/main" val="315154553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B6F5CC-5BB3-93AE-7E24-5EB75EC626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D7A4F0-216F-B343-AE10-D73CFAD02E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k=</a:t>
            </a:r>
            <a:r>
              <a:rPr lang="en-US" altLang="ko-KR" dirty="0"/>
              <a:t>10</a:t>
            </a:r>
            <a:endParaRPr lang="en-KR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6F5A40A-2E13-080B-ADF7-094EDC73F152}"/>
              </a:ext>
            </a:extLst>
          </p:cNvPr>
          <p:cNvSpPr/>
          <p:nvPr/>
        </p:nvSpPr>
        <p:spPr>
          <a:xfrm>
            <a:off x="7067791" y="4928056"/>
            <a:ext cx="2076209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800" dirty="0">
                <a:solidFill>
                  <a:schemeClr val="bg1">
                    <a:lumMod val="65000"/>
                  </a:schemeClr>
                </a:solidFill>
                <a:cs typeface="Calibri"/>
              </a:rPr>
              <a:t>Adapted from CS188 of Klein and </a:t>
            </a:r>
            <a:r>
              <a:rPr lang="en-US" sz="800" dirty="0" err="1">
                <a:solidFill>
                  <a:schemeClr val="bg1">
                    <a:lumMod val="65000"/>
                  </a:schemeClr>
                </a:solidFill>
                <a:cs typeface="Calibri"/>
              </a:rPr>
              <a:t>Abbeel</a:t>
            </a:r>
            <a:endParaRPr lang="en-KR" sz="8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98DE03A-E602-0793-7B47-753EBA56F1A2}"/>
              </a:ext>
            </a:extLst>
          </p:cNvPr>
          <p:cNvSpPr txBox="1"/>
          <p:nvPr/>
        </p:nvSpPr>
        <p:spPr>
          <a:xfrm>
            <a:off x="7248645" y="4212475"/>
            <a:ext cx="1714500" cy="6924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00" dirty="0">
                <a:solidFill>
                  <a:schemeClr val="dk1"/>
                </a:solidFill>
                <a:latin typeface="Pontano Sans"/>
                <a:sym typeface="Pontano Sans"/>
              </a:rPr>
              <a:t>Noise = 0.2</a:t>
            </a:r>
          </a:p>
          <a:p>
            <a:r>
              <a:rPr lang="en-US" sz="1300" dirty="0">
                <a:solidFill>
                  <a:schemeClr val="dk1"/>
                </a:solidFill>
                <a:latin typeface="Pontano Sans"/>
                <a:sym typeface="Pontano Sans"/>
              </a:rPr>
              <a:t>Discount = 0.9</a:t>
            </a:r>
          </a:p>
          <a:p>
            <a:r>
              <a:rPr lang="en-US" sz="1300" dirty="0">
                <a:solidFill>
                  <a:schemeClr val="dk1"/>
                </a:solidFill>
                <a:latin typeface="Pontano Sans"/>
                <a:sym typeface="Pontano Sans"/>
              </a:rPr>
              <a:t>Living reward = 0</a:t>
            </a:r>
          </a:p>
        </p:txBody>
      </p:sp>
      <p:pic>
        <p:nvPicPr>
          <p:cNvPr id="5" name="Picture 4" descr="Screen Shot 2014-08-10 at 7.48.32 PM.png">
            <a:extLst>
              <a:ext uri="{FF2B5EF4-FFF2-40B4-BE49-F238E27FC236}">
                <a16:creationId xmlns:a16="http://schemas.microsoft.com/office/drawing/2014/main" id="{CECC996B-0D8D-816B-94A7-9251B101B11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28000" y="1080000"/>
            <a:ext cx="3903339" cy="3600000"/>
          </a:xfrm>
          <a:prstGeom prst="rect">
            <a:avLst/>
          </a:prstGeom>
        </p:spPr>
      </p:pic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223AAD4-9681-4866-41BF-9105BCE4FDD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KR"/>
              <a:t>691</a:t>
            </a:r>
            <a:endParaRPr lang="en-KR" sz="4000" dirty="0"/>
          </a:p>
        </p:txBody>
      </p:sp>
    </p:spTree>
    <p:extLst>
      <p:ext uri="{BB962C8B-B14F-4D97-AF65-F5344CB8AC3E}">
        <p14:creationId xmlns:p14="http://schemas.microsoft.com/office/powerpoint/2010/main" val="168410566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D75EC4-D2E1-E9EB-19CB-535D74EC4F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E4AD5B-7CCF-2B6E-42DD-7B25B09A00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k=</a:t>
            </a:r>
            <a:r>
              <a:rPr lang="en-US" altLang="ko-KR" dirty="0"/>
              <a:t>11</a:t>
            </a:r>
            <a:endParaRPr lang="en-KR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4BB77AE-D7DB-0420-FF2F-37610D21EC6C}"/>
              </a:ext>
            </a:extLst>
          </p:cNvPr>
          <p:cNvSpPr/>
          <p:nvPr/>
        </p:nvSpPr>
        <p:spPr>
          <a:xfrm>
            <a:off x="7067791" y="4928056"/>
            <a:ext cx="2076209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800" dirty="0">
                <a:solidFill>
                  <a:schemeClr val="bg1">
                    <a:lumMod val="65000"/>
                  </a:schemeClr>
                </a:solidFill>
                <a:cs typeface="Calibri"/>
              </a:rPr>
              <a:t>Adapted from CS188 of Klein and </a:t>
            </a:r>
            <a:r>
              <a:rPr lang="en-US" sz="800" dirty="0" err="1">
                <a:solidFill>
                  <a:schemeClr val="bg1">
                    <a:lumMod val="65000"/>
                  </a:schemeClr>
                </a:solidFill>
                <a:cs typeface="Calibri"/>
              </a:rPr>
              <a:t>Abbeel</a:t>
            </a:r>
            <a:endParaRPr lang="en-KR" sz="8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6056101-A3F9-B89E-D9F0-7C316A961EEC}"/>
              </a:ext>
            </a:extLst>
          </p:cNvPr>
          <p:cNvSpPr txBox="1"/>
          <p:nvPr/>
        </p:nvSpPr>
        <p:spPr>
          <a:xfrm>
            <a:off x="7248645" y="4212475"/>
            <a:ext cx="1714500" cy="6924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00" dirty="0">
                <a:solidFill>
                  <a:schemeClr val="dk1"/>
                </a:solidFill>
                <a:latin typeface="Pontano Sans"/>
                <a:sym typeface="Pontano Sans"/>
              </a:rPr>
              <a:t>Noise = 0.2</a:t>
            </a:r>
          </a:p>
          <a:p>
            <a:r>
              <a:rPr lang="en-US" sz="1300" dirty="0">
                <a:solidFill>
                  <a:schemeClr val="dk1"/>
                </a:solidFill>
                <a:latin typeface="Pontano Sans"/>
                <a:sym typeface="Pontano Sans"/>
              </a:rPr>
              <a:t>Discount = 0.9</a:t>
            </a:r>
          </a:p>
          <a:p>
            <a:r>
              <a:rPr lang="en-US" sz="1300" dirty="0">
                <a:solidFill>
                  <a:schemeClr val="dk1"/>
                </a:solidFill>
                <a:latin typeface="Pontano Sans"/>
                <a:sym typeface="Pontano Sans"/>
              </a:rPr>
              <a:t>Living reward = 0</a:t>
            </a:r>
          </a:p>
        </p:txBody>
      </p:sp>
      <p:pic>
        <p:nvPicPr>
          <p:cNvPr id="5" name="Picture 4" descr="Screen Shot 2014-08-10 at 7.48.37 PM.png">
            <a:extLst>
              <a:ext uri="{FF2B5EF4-FFF2-40B4-BE49-F238E27FC236}">
                <a16:creationId xmlns:a16="http://schemas.microsoft.com/office/drawing/2014/main" id="{152E617B-D8D1-681B-E887-6B94A9F6B98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28000" y="1080000"/>
            <a:ext cx="3884810" cy="3600000"/>
          </a:xfrm>
          <a:prstGeom prst="rect">
            <a:avLst/>
          </a:prstGeom>
        </p:spPr>
      </p:pic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402D365-96D8-BE29-37DE-274B30FB708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KR"/>
              <a:t>691</a:t>
            </a:r>
            <a:endParaRPr lang="en-KR" sz="4000" dirty="0"/>
          </a:p>
        </p:txBody>
      </p:sp>
    </p:spTree>
    <p:extLst>
      <p:ext uri="{BB962C8B-B14F-4D97-AF65-F5344CB8AC3E}">
        <p14:creationId xmlns:p14="http://schemas.microsoft.com/office/powerpoint/2010/main" val="417917989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7C5A3D-178B-072D-F696-401CF9C191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FBE6FE-F1F4-A225-AF36-FF4E4D6BE0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k=</a:t>
            </a:r>
            <a:r>
              <a:rPr lang="en-US" altLang="ko-KR" dirty="0"/>
              <a:t>12</a:t>
            </a:r>
            <a:endParaRPr lang="en-KR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650D505-4262-F45F-ADF6-70A01795948E}"/>
              </a:ext>
            </a:extLst>
          </p:cNvPr>
          <p:cNvSpPr/>
          <p:nvPr/>
        </p:nvSpPr>
        <p:spPr>
          <a:xfrm>
            <a:off x="7067791" y="4928056"/>
            <a:ext cx="2076209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800" dirty="0">
                <a:solidFill>
                  <a:schemeClr val="bg1">
                    <a:lumMod val="65000"/>
                  </a:schemeClr>
                </a:solidFill>
                <a:cs typeface="Calibri"/>
              </a:rPr>
              <a:t>Adapted from CS188 of Klein and </a:t>
            </a:r>
            <a:r>
              <a:rPr lang="en-US" sz="800" dirty="0" err="1">
                <a:solidFill>
                  <a:schemeClr val="bg1">
                    <a:lumMod val="65000"/>
                  </a:schemeClr>
                </a:solidFill>
                <a:cs typeface="Calibri"/>
              </a:rPr>
              <a:t>Abbeel</a:t>
            </a:r>
            <a:endParaRPr lang="en-KR" sz="8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E3767E1-E47E-56C6-07F5-ABED7556DD56}"/>
              </a:ext>
            </a:extLst>
          </p:cNvPr>
          <p:cNvSpPr txBox="1"/>
          <p:nvPr/>
        </p:nvSpPr>
        <p:spPr>
          <a:xfrm>
            <a:off x="7248645" y="4212475"/>
            <a:ext cx="1714500" cy="6924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00" dirty="0">
                <a:solidFill>
                  <a:schemeClr val="dk1"/>
                </a:solidFill>
                <a:latin typeface="Pontano Sans"/>
                <a:sym typeface="Pontano Sans"/>
              </a:rPr>
              <a:t>Noise = 0.2</a:t>
            </a:r>
          </a:p>
          <a:p>
            <a:r>
              <a:rPr lang="en-US" sz="1300" dirty="0">
                <a:solidFill>
                  <a:schemeClr val="dk1"/>
                </a:solidFill>
                <a:latin typeface="Pontano Sans"/>
                <a:sym typeface="Pontano Sans"/>
              </a:rPr>
              <a:t>Discount = 0.9</a:t>
            </a:r>
          </a:p>
          <a:p>
            <a:r>
              <a:rPr lang="en-US" sz="1300" dirty="0">
                <a:solidFill>
                  <a:schemeClr val="dk1"/>
                </a:solidFill>
                <a:latin typeface="Pontano Sans"/>
                <a:sym typeface="Pontano Sans"/>
              </a:rPr>
              <a:t>Living reward = 0</a:t>
            </a:r>
          </a:p>
        </p:txBody>
      </p:sp>
      <p:pic>
        <p:nvPicPr>
          <p:cNvPr id="5" name="Picture 4" descr="Screen Shot 2014-08-10 at 7.48.41 PM.png">
            <a:extLst>
              <a:ext uri="{FF2B5EF4-FFF2-40B4-BE49-F238E27FC236}">
                <a16:creationId xmlns:a16="http://schemas.microsoft.com/office/drawing/2014/main" id="{E408FE09-C744-1741-E4E6-70DD919F44B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28000" y="1080000"/>
            <a:ext cx="3903339" cy="3600000"/>
          </a:xfrm>
          <a:prstGeom prst="rect">
            <a:avLst/>
          </a:prstGeom>
        </p:spPr>
      </p:pic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AFACA41-C0ED-D88B-3919-5E3F52BF104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KR"/>
              <a:t>691</a:t>
            </a:r>
            <a:endParaRPr lang="en-KR" sz="4000" dirty="0"/>
          </a:p>
        </p:txBody>
      </p:sp>
    </p:spTree>
    <p:extLst>
      <p:ext uri="{BB962C8B-B14F-4D97-AF65-F5344CB8AC3E}">
        <p14:creationId xmlns:p14="http://schemas.microsoft.com/office/powerpoint/2010/main" val="922977537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BFD636-B7C8-3A7F-BAAB-9942025540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93E35B-8B79-C488-5617-53E238ACAB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k=</a:t>
            </a:r>
            <a:r>
              <a:rPr lang="en-US" altLang="ko-KR" dirty="0"/>
              <a:t>100</a:t>
            </a:r>
            <a:endParaRPr lang="en-KR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1C472F2-8ECA-ED03-99B3-ED28788075EF}"/>
              </a:ext>
            </a:extLst>
          </p:cNvPr>
          <p:cNvSpPr/>
          <p:nvPr/>
        </p:nvSpPr>
        <p:spPr>
          <a:xfrm>
            <a:off x="7067791" y="4928056"/>
            <a:ext cx="2076209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800" dirty="0">
                <a:solidFill>
                  <a:schemeClr val="bg1">
                    <a:lumMod val="65000"/>
                  </a:schemeClr>
                </a:solidFill>
                <a:cs typeface="Calibri"/>
              </a:rPr>
              <a:t>Adapted from CS188 of Klein and </a:t>
            </a:r>
            <a:r>
              <a:rPr lang="en-US" sz="800" dirty="0" err="1">
                <a:solidFill>
                  <a:schemeClr val="bg1">
                    <a:lumMod val="65000"/>
                  </a:schemeClr>
                </a:solidFill>
                <a:cs typeface="Calibri"/>
              </a:rPr>
              <a:t>Abbeel</a:t>
            </a:r>
            <a:endParaRPr lang="en-KR" sz="8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AB7FA12-BC4C-CCE7-5D7D-6617B3C0E38C}"/>
              </a:ext>
            </a:extLst>
          </p:cNvPr>
          <p:cNvSpPr txBox="1"/>
          <p:nvPr/>
        </p:nvSpPr>
        <p:spPr>
          <a:xfrm>
            <a:off x="7248645" y="4212475"/>
            <a:ext cx="1714500" cy="6924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00" dirty="0">
                <a:solidFill>
                  <a:schemeClr val="dk1"/>
                </a:solidFill>
                <a:latin typeface="Pontano Sans"/>
                <a:sym typeface="Pontano Sans"/>
              </a:rPr>
              <a:t>Noise = 0.2</a:t>
            </a:r>
          </a:p>
          <a:p>
            <a:r>
              <a:rPr lang="en-US" sz="1300" dirty="0">
                <a:solidFill>
                  <a:schemeClr val="dk1"/>
                </a:solidFill>
                <a:latin typeface="Pontano Sans"/>
                <a:sym typeface="Pontano Sans"/>
              </a:rPr>
              <a:t>Discount = 0.9</a:t>
            </a:r>
          </a:p>
          <a:p>
            <a:r>
              <a:rPr lang="en-US" sz="1300" dirty="0">
                <a:solidFill>
                  <a:schemeClr val="dk1"/>
                </a:solidFill>
                <a:latin typeface="Pontano Sans"/>
                <a:sym typeface="Pontano Sans"/>
              </a:rPr>
              <a:t>Living reward = 0</a:t>
            </a:r>
          </a:p>
        </p:txBody>
      </p:sp>
      <p:pic>
        <p:nvPicPr>
          <p:cNvPr id="5" name="Picture 4" descr="Screen Shot 2014-08-10 at 7.49.20 PM.png">
            <a:extLst>
              <a:ext uri="{FF2B5EF4-FFF2-40B4-BE49-F238E27FC236}">
                <a16:creationId xmlns:a16="http://schemas.microsoft.com/office/drawing/2014/main" id="{24EFA32C-B03B-1F98-0FDA-882E4FB6A2E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28000" y="1080000"/>
            <a:ext cx="3890967" cy="3600000"/>
          </a:xfrm>
          <a:prstGeom prst="rect">
            <a:avLst/>
          </a:prstGeom>
        </p:spPr>
      </p:pic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1BC1918-AD16-820D-B9A4-F997D0CACC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KR"/>
              <a:t>691</a:t>
            </a:r>
            <a:endParaRPr lang="en-KR" sz="4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E817A94-39AF-F624-DC72-FC38CD30ED6C}"/>
              </a:ext>
            </a:extLst>
          </p:cNvPr>
          <p:cNvSpPr txBox="1"/>
          <p:nvPr/>
        </p:nvSpPr>
        <p:spPr>
          <a:xfrm>
            <a:off x="7108395" y="1146250"/>
            <a:ext cx="171450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KR" dirty="0"/>
              <a:t>Observation??</a:t>
            </a:r>
          </a:p>
          <a:p>
            <a:endParaRPr lang="en-KR" dirty="0"/>
          </a:p>
          <a:p>
            <a:r>
              <a:rPr lang="en-KR" dirty="0"/>
              <a:t>Which one does converges first?</a:t>
            </a:r>
          </a:p>
          <a:p>
            <a:endParaRPr lang="en-KR" dirty="0"/>
          </a:p>
          <a:p>
            <a:r>
              <a:rPr lang="en-KR" dirty="0"/>
              <a:t>Policy or Value?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269A3CB-F3B9-22C4-8C76-D522FF230BBD}"/>
              </a:ext>
            </a:extLst>
          </p:cNvPr>
          <p:cNvSpPr txBox="1"/>
          <p:nvPr/>
        </p:nvSpPr>
        <p:spPr>
          <a:xfrm>
            <a:off x="7099042" y="2801961"/>
            <a:ext cx="1829368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KR" dirty="0"/>
              <a:t>W</a:t>
            </a:r>
            <a:r>
              <a:rPr lang="en-US" dirty="0"/>
              <a:t>h</a:t>
            </a:r>
            <a:r>
              <a:rPr lang="en-KR" dirty="0"/>
              <a:t>en did it converge?</a:t>
            </a:r>
          </a:p>
          <a:p>
            <a:r>
              <a:rPr lang="en-KR" dirty="0"/>
              <a:t>Is it easy to check the convergence of policy?</a:t>
            </a:r>
          </a:p>
        </p:txBody>
      </p:sp>
    </p:spTree>
    <p:extLst>
      <p:ext uri="{BB962C8B-B14F-4D97-AF65-F5344CB8AC3E}">
        <p14:creationId xmlns:p14="http://schemas.microsoft.com/office/powerpoint/2010/main" val="3300552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4DE746-C66F-2B42-36E9-CEFD2626F1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3BAE12-E312-8FBB-DAB2-8573619099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Computing Time-Limited Values</a:t>
            </a:r>
            <a:endParaRPr lang="en-KR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91D1A4D-E94D-8BED-CDBC-1D071A98FCA6}"/>
              </a:ext>
            </a:extLst>
          </p:cNvPr>
          <p:cNvSpPr/>
          <p:nvPr/>
        </p:nvSpPr>
        <p:spPr>
          <a:xfrm>
            <a:off x="7067791" y="4928056"/>
            <a:ext cx="2076209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800" dirty="0">
                <a:solidFill>
                  <a:schemeClr val="bg1">
                    <a:lumMod val="65000"/>
                  </a:schemeClr>
                </a:solidFill>
                <a:cs typeface="Calibri"/>
              </a:rPr>
              <a:t>Adapted from CS188 of Klein and </a:t>
            </a:r>
            <a:r>
              <a:rPr lang="en-US" sz="800" dirty="0" err="1">
                <a:solidFill>
                  <a:schemeClr val="bg1">
                    <a:lumMod val="65000"/>
                  </a:schemeClr>
                </a:solidFill>
                <a:cs typeface="Calibri"/>
              </a:rPr>
              <a:t>Abbeel</a:t>
            </a:r>
            <a:endParaRPr lang="en-KR" sz="800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6242196E-D761-70F8-1EEE-916C9FA763D7}"/>
              </a:ext>
            </a:extLst>
          </p:cNvPr>
          <p:cNvGrpSpPr/>
          <p:nvPr/>
        </p:nvGrpSpPr>
        <p:grpSpPr>
          <a:xfrm>
            <a:off x="945636" y="1377123"/>
            <a:ext cx="7252728" cy="3309970"/>
            <a:chOff x="285750" y="1885950"/>
            <a:chExt cx="8515350" cy="3886200"/>
          </a:xfrm>
        </p:grpSpPr>
        <p:pic>
          <p:nvPicPr>
            <p:cNvPr id="5" name="Picture 4" descr="RacingSubTree.png">
              <a:extLst>
                <a:ext uri="{FF2B5EF4-FFF2-40B4-BE49-F238E27FC236}">
                  <a16:creationId xmlns:a16="http://schemas.microsoft.com/office/drawing/2014/main" id="{259CD594-EC46-8593-DC56-53A7E811AC95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771900" y="3600450"/>
              <a:ext cx="4352254" cy="2116695"/>
            </a:xfrm>
            <a:prstGeom prst="rect">
              <a:avLst/>
            </a:prstGeom>
          </p:spPr>
        </p:pic>
        <p:cxnSp>
          <p:nvCxnSpPr>
            <p:cNvPr id="7" name="Straight Arrow Connector 10">
              <a:extLst>
                <a:ext uri="{FF2B5EF4-FFF2-40B4-BE49-F238E27FC236}">
                  <a16:creationId xmlns:a16="http://schemas.microsoft.com/office/drawing/2014/main" id="{D18F5E75-FC67-E28E-E642-ED65D123E7B4}"/>
                </a:ext>
              </a:extLst>
            </p:cNvPr>
            <p:cNvCxnSpPr>
              <a:stCxn id="55" idx="2"/>
              <a:endCxn id="59" idx="1"/>
            </p:cNvCxnSpPr>
            <p:nvPr/>
          </p:nvCxnSpPr>
          <p:spPr>
            <a:xfrm>
              <a:off x="5812120" y="2239514"/>
              <a:ext cx="1172483" cy="308179"/>
            </a:xfrm>
            <a:prstGeom prst="straightConnector1">
              <a:avLst/>
            </a:prstGeom>
            <a:ln w="12700">
              <a:solidFill>
                <a:srgbClr val="C00000"/>
              </a:solidFill>
              <a:headEnd type="none" w="med" len="med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8" name="Group 43">
              <a:extLst>
                <a:ext uri="{FF2B5EF4-FFF2-40B4-BE49-F238E27FC236}">
                  <a16:creationId xmlns:a16="http://schemas.microsoft.com/office/drawing/2014/main" id="{9C05DAAC-989D-E6C6-AB63-405C0E726D97}"/>
                </a:ext>
              </a:extLst>
            </p:cNvPr>
            <p:cNvGrpSpPr/>
            <p:nvPr/>
          </p:nvGrpSpPr>
          <p:grpSpPr>
            <a:xfrm>
              <a:off x="3951106" y="2000250"/>
              <a:ext cx="4677900" cy="1885950"/>
              <a:chOff x="460604" y="858084"/>
              <a:chExt cx="11931837" cy="4810462"/>
            </a:xfrm>
          </p:grpSpPr>
          <p:pic>
            <p:nvPicPr>
              <p:cNvPr id="55" name="Picture 2">
                <a:extLst>
                  <a:ext uri="{FF2B5EF4-FFF2-40B4-BE49-F238E27FC236}">
                    <a16:creationId xmlns:a16="http://schemas.microsoft.com/office/drawing/2014/main" id="{AF108E94-AF2E-A6B4-4803-F407D50FE971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8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 bwMode="auto">
              <a:xfrm>
                <a:off x="4743363" y="858084"/>
                <a:ext cx="928189" cy="610286"/>
              </a:xfrm>
              <a:prstGeom prst="rect">
                <a:avLst/>
              </a:prstGeom>
              <a:noFill/>
            </p:spPr>
          </p:pic>
          <p:pic>
            <p:nvPicPr>
              <p:cNvPr id="56" name="Picture 2">
                <a:extLst>
                  <a:ext uri="{FF2B5EF4-FFF2-40B4-BE49-F238E27FC236}">
                    <a16:creationId xmlns:a16="http://schemas.microsoft.com/office/drawing/2014/main" id="{1A1DD122-5A9A-7E35-8E2D-F9CF5160D4C2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9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 bwMode="auto">
              <a:xfrm>
                <a:off x="10212034" y="3044658"/>
                <a:ext cx="1014614" cy="639346"/>
              </a:xfrm>
              <a:prstGeom prst="rect">
                <a:avLst/>
              </a:prstGeom>
              <a:noFill/>
            </p:spPr>
          </p:pic>
          <p:pic>
            <p:nvPicPr>
              <p:cNvPr id="57" name="Picture 2">
                <a:extLst>
                  <a:ext uri="{FF2B5EF4-FFF2-40B4-BE49-F238E27FC236}">
                    <a16:creationId xmlns:a16="http://schemas.microsoft.com/office/drawing/2014/main" id="{899ACE57-5416-3212-4BFA-4A0E3E5BDC7B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0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 bwMode="auto">
              <a:xfrm>
                <a:off x="11407647" y="4941331"/>
                <a:ext cx="984794" cy="697467"/>
              </a:xfrm>
              <a:prstGeom prst="rect">
                <a:avLst/>
              </a:prstGeom>
              <a:noFill/>
            </p:spPr>
          </p:pic>
          <p:sp>
            <p:nvSpPr>
              <p:cNvPr id="58" name="Oval 7">
                <a:extLst>
                  <a:ext uri="{FF2B5EF4-FFF2-40B4-BE49-F238E27FC236}">
                    <a16:creationId xmlns:a16="http://schemas.microsoft.com/office/drawing/2014/main" id="{943690BA-6EB8-7661-4EB6-BE55768FBBA4}"/>
                  </a:ext>
                </a:extLst>
              </p:cNvPr>
              <p:cNvSpPr/>
              <p:nvPr/>
            </p:nvSpPr>
            <p:spPr>
              <a:xfrm>
                <a:off x="1770678" y="2209800"/>
                <a:ext cx="304800" cy="304800"/>
              </a:xfrm>
              <a:prstGeom prst="ellipse">
                <a:avLst/>
              </a:prstGeom>
              <a:solidFill>
                <a:srgbClr val="B8EAC0"/>
              </a:solidFill>
              <a:ln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0"/>
              </a:p>
            </p:txBody>
          </p:sp>
          <p:sp>
            <p:nvSpPr>
              <p:cNvPr id="59" name="Oval 8">
                <a:extLst>
                  <a:ext uri="{FF2B5EF4-FFF2-40B4-BE49-F238E27FC236}">
                    <a16:creationId xmlns:a16="http://schemas.microsoft.com/office/drawing/2014/main" id="{8273B5AA-CC50-061B-309D-365786493613}"/>
                  </a:ext>
                </a:extLst>
              </p:cNvPr>
              <p:cNvSpPr/>
              <p:nvPr/>
            </p:nvSpPr>
            <p:spPr>
              <a:xfrm>
                <a:off x="8153453" y="2209801"/>
                <a:ext cx="304800" cy="304800"/>
              </a:xfrm>
              <a:prstGeom prst="ellipse">
                <a:avLst/>
              </a:prstGeom>
              <a:solidFill>
                <a:srgbClr val="B8EAC0"/>
              </a:solidFill>
              <a:ln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0"/>
              </a:p>
            </p:txBody>
          </p:sp>
          <p:cxnSp>
            <p:nvCxnSpPr>
              <p:cNvPr id="60" name="Straight Arrow Connector 12">
                <a:extLst>
                  <a:ext uri="{FF2B5EF4-FFF2-40B4-BE49-F238E27FC236}">
                    <a16:creationId xmlns:a16="http://schemas.microsoft.com/office/drawing/2014/main" id="{D7F2BA88-764A-AD31-347B-38CC5A4FC733}"/>
                  </a:ext>
                </a:extLst>
              </p:cNvPr>
              <p:cNvCxnSpPr>
                <a:stCxn id="55" idx="2"/>
              </p:cNvCxnSpPr>
              <p:nvPr/>
            </p:nvCxnSpPr>
            <p:spPr>
              <a:xfrm flipH="1">
                <a:off x="2030842" y="1468370"/>
                <a:ext cx="3176615" cy="786067"/>
              </a:xfrm>
              <a:prstGeom prst="straightConnector1">
                <a:avLst/>
              </a:prstGeom>
              <a:ln w="12700">
                <a:solidFill>
                  <a:schemeClr val="accent2"/>
                </a:solidFill>
                <a:headEnd type="none" w="med" len="med"/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61" name="Picture 2">
                <a:extLst>
                  <a:ext uri="{FF2B5EF4-FFF2-40B4-BE49-F238E27FC236}">
                    <a16:creationId xmlns:a16="http://schemas.microsoft.com/office/drawing/2014/main" id="{ACA9D81E-F016-B4B4-3BF0-0E260CC98CC1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8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 bwMode="auto">
              <a:xfrm>
                <a:off x="5566004" y="3044658"/>
                <a:ext cx="928189" cy="610286"/>
              </a:xfrm>
              <a:prstGeom prst="rect">
                <a:avLst/>
              </a:prstGeom>
              <a:noFill/>
            </p:spPr>
          </p:pic>
          <p:cxnSp>
            <p:nvCxnSpPr>
              <p:cNvPr id="62" name="Straight Arrow Connector 16">
                <a:extLst>
                  <a:ext uri="{FF2B5EF4-FFF2-40B4-BE49-F238E27FC236}">
                    <a16:creationId xmlns:a16="http://schemas.microsoft.com/office/drawing/2014/main" id="{60DF957C-D4CC-37D2-399C-A5B467D41449}"/>
                  </a:ext>
                </a:extLst>
              </p:cNvPr>
              <p:cNvCxnSpPr/>
              <p:nvPr/>
            </p:nvCxnSpPr>
            <p:spPr>
              <a:xfrm flipH="1">
                <a:off x="6030098" y="2514601"/>
                <a:ext cx="2275755" cy="609599"/>
              </a:xfrm>
              <a:prstGeom prst="straightConnector1">
                <a:avLst/>
              </a:prstGeom>
              <a:ln w="12700">
                <a:solidFill>
                  <a:srgbClr val="C00000"/>
                </a:solidFill>
                <a:headEnd type="none" w="med" len="med"/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3" name="Straight Arrow Connector 17">
                <a:extLst>
                  <a:ext uri="{FF2B5EF4-FFF2-40B4-BE49-F238E27FC236}">
                    <a16:creationId xmlns:a16="http://schemas.microsoft.com/office/drawing/2014/main" id="{3C1E6DBD-3366-BBF0-612B-DCAEEB1B35ED}"/>
                  </a:ext>
                </a:extLst>
              </p:cNvPr>
              <p:cNvCxnSpPr/>
              <p:nvPr/>
            </p:nvCxnSpPr>
            <p:spPr>
              <a:xfrm>
                <a:off x="8305854" y="2514601"/>
                <a:ext cx="2413488" cy="609599"/>
              </a:xfrm>
              <a:prstGeom prst="straightConnector1">
                <a:avLst/>
              </a:prstGeom>
              <a:ln w="12700">
                <a:solidFill>
                  <a:srgbClr val="C00000"/>
                </a:solidFill>
                <a:headEnd type="none" w="med" len="med"/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64" name="Picture 2">
                <a:extLst>
                  <a:ext uri="{FF2B5EF4-FFF2-40B4-BE49-F238E27FC236}">
                    <a16:creationId xmlns:a16="http://schemas.microsoft.com/office/drawing/2014/main" id="{80602B8B-5DFA-8F89-79E0-F8E1EA84F02F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8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 bwMode="auto">
              <a:xfrm>
                <a:off x="1451203" y="3044658"/>
                <a:ext cx="928189" cy="610286"/>
              </a:xfrm>
              <a:prstGeom prst="rect">
                <a:avLst/>
              </a:prstGeom>
              <a:noFill/>
            </p:spPr>
          </p:pic>
          <p:cxnSp>
            <p:nvCxnSpPr>
              <p:cNvPr id="65" name="Straight Arrow Connector 64">
                <a:extLst>
                  <a:ext uri="{FF2B5EF4-FFF2-40B4-BE49-F238E27FC236}">
                    <a16:creationId xmlns:a16="http://schemas.microsoft.com/office/drawing/2014/main" id="{8464E2C8-873C-939C-807E-2EE5D75DABA9}"/>
                  </a:ext>
                </a:extLst>
              </p:cNvPr>
              <p:cNvCxnSpPr>
                <a:endCxn id="64" idx="0"/>
              </p:cNvCxnSpPr>
              <p:nvPr/>
            </p:nvCxnSpPr>
            <p:spPr>
              <a:xfrm flipH="1">
                <a:off x="1915298" y="2435743"/>
                <a:ext cx="7778" cy="608916"/>
              </a:xfrm>
              <a:prstGeom prst="straightConnector1">
                <a:avLst/>
              </a:prstGeom>
              <a:ln w="12700">
                <a:solidFill>
                  <a:schemeClr val="accent2"/>
                </a:solidFill>
                <a:headEnd type="none" w="med" len="med"/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66" name="Picture 2">
                <a:extLst>
                  <a:ext uri="{FF2B5EF4-FFF2-40B4-BE49-F238E27FC236}">
                    <a16:creationId xmlns:a16="http://schemas.microsoft.com/office/drawing/2014/main" id="{C96D1537-5083-57B1-DA89-E3DCE4928F02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9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 bwMode="auto">
              <a:xfrm>
                <a:off x="3088129" y="5029200"/>
                <a:ext cx="1014614" cy="639346"/>
              </a:xfrm>
              <a:prstGeom prst="rect">
                <a:avLst/>
              </a:prstGeom>
              <a:noFill/>
            </p:spPr>
          </p:pic>
          <p:sp>
            <p:nvSpPr>
              <p:cNvPr id="67" name="Oval 66">
                <a:extLst>
                  <a:ext uri="{FF2B5EF4-FFF2-40B4-BE49-F238E27FC236}">
                    <a16:creationId xmlns:a16="http://schemas.microsoft.com/office/drawing/2014/main" id="{4EA78FDA-0819-83BC-F8B3-929BEE56C9DE}"/>
                  </a:ext>
                </a:extLst>
              </p:cNvPr>
              <p:cNvSpPr/>
              <p:nvPr/>
            </p:nvSpPr>
            <p:spPr>
              <a:xfrm>
                <a:off x="764520" y="4114115"/>
                <a:ext cx="304800" cy="304800"/>
              </a:xfrm>
              <a:prstGeom prst="ellipse">
                <a:avLst/>
              </a:prstGeom>
              <a:solidFill>
                <a:srgbClr val="B8EAC0"/>
              </a:solidFill>
              <a:ln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0"/>
              </a:p>
            </p:txBody>
          </p:sp>
          <p:sp>
            <p:nvSpPr>
              <p:cNvPr id="68" name="Oval 67">
                <a:extLst>
                  <a:ext uri="{FF2B5EF4-FFF2-40B4-BE49-F238E27FC236}">
                    <a16:creationId xmlns:a16="http://schemas.microsoft.com/office/drawing/2014/main" id="{5E2F19BF-2561-1569-5520-2A1B908B608C}"/>
                  </a:ext>
                </a:extLst>
              </p:cNvPr>
              <p:cNvSpPr/>
              <p:nvPr/>
            </p:nvSpPr>
            <p:spPr>
              <a:xfrm>
                <a:off x="2778807" y="4114115"/>
                <a:ext cx="304800" cy="304800"/>
              </a:xfrm>
              <a:prstGeom prst="ellipse">
                <a:avLst/>
              </a:prstGeom>
              <a:solidFill>
                <a:srgbClr val="B8EAC0"/>
              </a:solidFill>
              <a:ln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0"/>
              </a:p>
            </p:txBody>
          </p:sp>
          <p:cxnSp>
            <p:nvCxnSpPr>
              <p:cNvPr id="69" name="Straight Arrow Connector 68">
                <a:extLst>
                  <a:ext uri="{FF2B5EF4-FFF2-40B4-BE49-F238E27FC236}">
                    <a16:creationId xmlns:a16="http://schemas.microsoft.com/office/drawing/2014/main" id="{A74D1DF1-64CA-95EE-81A8-36C39F3B47C2}"/>
                  </a:ext>
                </a:extLst>
              </p:cNvPr>
              <p:cNvCxnSpPr>
                <a:stCxn id="64" idx="2"/>
                <a:endCxn id="68" idx="1"/>
              </p:cNvCxnSpPr>
              <p:nvPr/>
            </p:nvCxnSpPr>
            <p:spPr>
              <a:xfrm>
                <a:off x="1915298" y="3654944"/>
                <a:ext cx="908145" cy="503807"/>
              </a:xfrm>
              <a:prstGeom prst="straightConnector1">
                <a:avLst/>
              </a:prstGeom>
              <a:ln w="12700">
                <a:solidFill>
                  <a:srgbClr val="C00000"/>
                </a:solidFill>
                <a:headEnd type="none" w="med" len="med"/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0" name="Straight Arrow Connector 69">
                <a:extLst>
                  <a:ext uri="{FF2B5EF4-FFF2-40B4-BE49-F238E27FC236}">
                    <a16:creationId xmlns:a16="http://schemas.microsoft.com/office/drawing/2014/main" id="{18AAF019-0C1F-C480-AF0C-BE19161D0228}"/>
                  </a:ext>
                </a:extLst>
              </p:cNvPr>
              <p:cNvCxnSpPr>
                <a:stCxn id="64" idx="2"/>
                <a:endCxn id="67" idx="7"/>
              </p:cNvCxnSpPr>
              <p:nvPr/>
            </p:nvCxnSpPr>
            <p:spPr>
              <a:xfrm flipH="1">
                <a:off x="1024684" y="3654944"/>
                <a:ext cx="890614" cy="503807"/>
              </a:xfrm>
              <a:prstGeom prst="straightConnector1">
                <a:avLst/>
              </a:prstGeom>
              <a:ln w="12700">
                <a:solidFill>
                  <a:schemeClr val="accent2"/>
                </a:solidFill>
                <a:headEnd type="none" w="med" len="med"/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71" name="Picture 2">
                <a:extLst>
                  <a:ext uri="{FF2B5EF4-FFF2-40B4-BE49-F238E27FC236}">
                    <a16:creationId xmlns:a16="http://schemas.microsoft.com/office/drawing/2014/main" id="{D6C3733F-EA2A-1BF0-3D90-27401B8D5139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8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 bwMode="auto">
              <a:xfrm>
                <a:off x="1772547" y="5029200"/>
                <a:ext cx="928189" cy="610286"/>
              </a:xfrm>
              <a:prstGeom prst="rect">
                <a:avLst/>
              </a:prstGeom>
              <a:noFill/>
            </p:spPr>
          </p:pic>
          <p:cxnSp>
            <p:nvCxnSpPr>
              <p:cNvPr id="72" name="Straight Arrow Connector 71">
                <a:extLst>
                  <a:ext uri="{FF2B5EF4-FFF2-40B4-BE49-F238E27FC236}">
                    <a16:creationId xmlns:a16="http://schemas.microsoft.com/office/drawing/2014/main" id="{F6D786B5-7229-7300-B6B0-6790C583570F}"/>
                  </a:ext>
                </a:extLst>
              </p:cNvPr>
              <p:cNvCxnSpPr>
                <a:stCxn id="68" idx="4"/>
                <a:endCxn id="71" idx="0"/>
              </p:cNvCxnSpPr>
              <p:nvPr/>
            </p:nvCxnSpPr>
            <p:spPr>
              <a:xfrm flipH="1">
                <a:off x="2236642" y="4418915"/>
                <a:ext cx="694565" cy="610285"/>
              </a:xfrm>
              <a:prstGeom prst="straightConnector1">
                <a:avLst/>
              </a:prstGeom>
              <a:ln w="12700">
                <a:solidFill>
                  <a:srgbClr val="C00000"/>
                </a:solidFill>
                <a:headEnd type="none" w="med" len="med"/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3" name="Straight Arrow Connector 72">
                <a:extLst>
                  <a:ext uri="{FF2B5EF4-FFF2-40B4-BE49-F238E27FC236}">
                    <a16:creationId xmlns:a16="http://schemas.microsoft.com/office/drawing/2014/main" id="{819E8D94-B86C-158C-7B34-934982F81C1E}"/>
                  </a:ext>
                </a:extLst>
              </p:cNvPr>
              <p:cNvCxnSpPr>
                <a:stCxn id="68" idx="4"/>
                <a:endCxn id="66" idx="0"/>
              </p:cNvCxnSpPr>
              <p:nvPr/>
            </p:nvCxnSpPr>
            <p:spPr>
              <a:xfrm>
                <a:off x="2931207" y="4418915"/>
                <a:ext cx="664230" cy="610285"/>
              </a:xfrm>
              <a:prstGeom prst="straightConnector1">
                <a:avLst/>
              </a:prstGeom>
              <a:ln w="12700">
                <a:solidFill>
                  <a:srgbClr val="C00000"/>
                </a:solidFill>
                <a:headEnd type="none" w="med" len="med"/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74" name="Picture 2">
                <a:extLst>
                  <a:ext uri="{FF2B5EF4-FFF2-40B4-BE49-F238E27FC236}">
                    <a16:creationId xmlns:a16="http://schemas.microsoft.com/office/drawing/2014/main" id="{9F96DAC9-33CB-6230-C207-45B6ED927A33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8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 bwMode="auto">
              <a:xfrm>
                <a:off x="460604" y="5027830"/>
                <a:ext cx="928189" cy="610286"/>
              </a:xfrm>
              <a:prstGeom prst="rect">
                <a:avLst/>
              </a:prstGeom>
              <a:noFill/>
            </p:spPr>
          </p:pic>
          <p:cxnSp>
            <p:nvCxnSpPr>
              <p:cNvPr id="75" name="Straight Arrow Connector 74">
                <a:extLst>
                  <a:ext uri="{FF2B5EF4-FFF2-40B4-BE49-F238E27FC236}">
                    <a16:creationId xmlns:a16="http://schemas.microsoft.com/office/drawing/2014/main" id="{48A7EF3D-30E3-242B-8D44-5639FBFCD643}"/>
                  </a:ext>
                </a:extLst>
              </p:cNvPr>
              <p:cNvCxnSpPr>
                <a:stCxn id="67" idx="4"/>
                <a:endCxn id="74" idx="0"/>
              </p:cNvCxnSpPr>
              <p:nvPr/>
            </p:nvCxnSpPr>
            <p:spPr>
              <a:xfrm>
                <a:off x="916920" y="4418915"/>
                <a:ext cx="7779" cy="608915"/>
              </a:xfrm>
              <a:prstGeom prst="straightConnector1">
                <a:avLst/>
              </a:prstGeom>
              <a:ln w="12700">
                <a:solidFill>
                  <a:schemeClr val="accent2"/>
                </a:solidFill>
                <a:headEnd type="none" w="med" len="med"/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6" name="Oval 75">
                <a:extLst>
                  <a:ext uri="{FF2B5EF4-FFF2-40B4-BE49-F238E27FC236}">
                    <a16:creationId xmlns:a16="http://schemas.microsoft.com/office/drawing/2014/main" id="{099AB3D9-FBFD-ED22-F3C9-DECB847F181B}"/>
                  </a:ext>
                </a:extLst>
              </p:cNvPr>
              <p:cNvSpPr/>
              <p:nvPr/>
            </p:nvSpPr>
            <p:spPr>
              <a:xfrm>
                <a:off x="4863762" y="4114115"/>
                <a:ext cx="304800" cy="304800"/>
              </a:xfrm>
              <a:prstGeom prst="ellipse">
                <a:avLst/>
              </a:prstGeom>
              <a:solidFill>
                <a:srgbClr val="B8EAC0"/>
              </a:solidFill>
              <a:ln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0"/>
              </a:p>
            </p:txBody>
          </p:sp>
          <p:cxnSp>
            <p:nvCxnSpPr>
              <p:cNvPr id="77" name="Straight Arrow Connector 76">
                <a:extLst>
                  <a:ext uri="{FF2B5EF4-FFF2-40B4-BE49-F238E27FC236}">
                    <a16:creationId xmlns:a16="http://schemas.microsoft.com/office/drawing/2014/main" id="{DE2F4488-2E4C-7EAD-D766-8B41BD11C519}"/>
                  </a:ext>
                </a:extLst>
              </p:cNvPr>
              <p:cNvCxnSpPr>
                <a:stCxn id="61" idx="2"/>
                <a:endCxn id="76" idx="7"/>
              </p:cNvCxnSpPr>
              <p:nvPr/>
            </p:nvCxnSpPr>
            <p:spPr>
              <a:xfrm flipH="1">
                <a:off x="5123926" y="3654944"/>
                <a:ext cx="906173" cy="503807"/>
              </a:xfrm>
              <a:prstGeom prst="straightConnector1">
                <a:avLst/>
              </a:prstGeom>
              <a:ln w="12700">
                <a:solidFill>
                  <a:schemeClr val="accent2"/>
                </a:solidFill>
                <a:headEnd type="none" w="med" len="med"/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78" name="Picture 2">
                <a:extLst>
                  <a:ext uri="{FF2B5EF4-FFF2-40B4-BE49-F238E27FC236}">
                    <a16:creationId xmlns:a16="http://schemas.microsoft.com/office/drawing/2014/main" id="{D518773E-18B0-91FB-32C0-59256CAF5F89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8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 bwMode="auto">
              <a:xfrm>
                <a:off x="4559846" y="5027830"/>
                <a:ext cx="928189" cy="610286"/>
              </a:xfrm>
              <a:prstGeom prst="rect">
                <a:avLst/>
              </a:prstGeom>
              <a:noFill/>
            </p:spPr>
          </p:pic>
          <p:cxnSp>
            <p:nvCxnSpPr>
              <p:cNvPr id="79" name="Straight Arrow Connector 78">
                <a:extLst>
                  <a:ext uri="{FF2B5EF4-FFF2-40B4-BE49-F238E27FC236}">
                    <a16:creationId xmlns:a16="http://schemas.microsoft.com/office/drawing/2014/main" id="{2B662460-34A6-A2CB-EFC0-9BB3F9A69001}"/>
                  </a:ext>
                </a:extLst>
              </p:cNvPr>
              <p:cNvCxnSpPr>
                <a:stCxn id="76" idx="4"/>
                <a:endCxn id="78" idx="0"/>
              </p:cNvCxnSpPr>
              <p:nvPr/>
            </p:nvCxnSpPr>
            <p:spPr>
              <a:xfrm>
                <a:off x="5016162" y="4418915"/>
                <a:ext cx="7779" cy="608915"/>
              </a:xfrm>
              <a:prstGeom prst="straightConnector1">
                <a:avLst/>
              </a:prstGeom>
              <a:ln w="12700">
                <a:solidFill>
                  <a:schemeClr val="accent2"/>
                </a:solidFill>
                <a:headEnd type="none" w="med" len="med"/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80" name="Picture 2">
                <a:extLst>
                  <a:ext uri="{FF2B5EF4-FFF2-40B4-BE49-F238E27FC236}">
                    <a16:creationId xmlns:a16="http://schemas.microsoft.com/office/drawing/2014/main" id="{7A820F13-D3D5-A8BB-6646-B4349772C56C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9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 bwMode="auto">
              <a:xfrm>
                <a:off x="7169733" y="5029200"/>
                <a:ext cx="1014614" cy="639346"/>
              </a:xfrm>
              <a:prstGeom prst="rect">
                <a:avLst/>
              </a:prstGeom>
              <a:noFill/>
            </p:spPr>
          </p:pic>
          <p:sp>
            <p:nvSpPr>
              <p:cNvPr id="81" name="Oval 80">
                <a:extLst>
                  <a:ext uri="{FF2B5EF4-FFF2-40B4-BE49-F238E27FC236}">
                    <a16:creationId xmlns:a16="http://schemas.microsoft.com/office/drawing/2014/main" id="{FA780851-DA51-A6AA-5F9A-280A7402D43D}"/>
                  </a:ext>
                </a:extLst>
              </p:cNvPr>
              <p:cNvSpPr/>
              <p:nvPr/>
            </p:nvSpPr>
            <p:spPr>
              <a:xfrm>
                <a:off x="6894840" y="4114115"/>
                <a:ext cx="304800" cy="304800"/>
              </a:xfrm>
              <a:prstGeom prst="ellipse">
                <a:avLst/>
              </a:prstGeom>
              <a:solidFill>
                <a:srgbClr val="B8EAC0"/>
              </a:solidFill>
              <a:ln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0"/>
              </a:p>
            </p:txBody>
          </p:sp>
          <p:cxnSp>
            <p:nvCxnSpPr>
              <p:cNvPr id="82" name="Straight Arrow Connector 81">
                <a:extLst>
                  <a:ext uri="{FF2B5EF4-FFF2-40B4-BE49-F238E27FC236}">
                    <a16:creationId xmlns:a16="http://schemas.microsoft.com/office/drawing/2014/main" id="{0F0E3835-E8D9-B016-02CA-1A02874C1C19}"/>
                  </a:ext>
                </a:extLst>
              </p:cNvPr>
              <p:cNvCxnSpPr>
                <a:stCxn id="61" idx="2"/>
                <a:endCxn id="81" idx="1"/>
              </p:cNvCxnSpPr>
              <p:nvPr/>
            </p:nvCxnSpPr>
            <p:spPr>
              <a:xfrm>
                <a:off x="6030098" y="3654944"/>
                <a:ext cx="909379" cy="503807"/>
              </a:xfrm>
              <a:prstGeom prst="straightConnector1">
                <a:avLst/>
              </a:prstGeom>
              <a:ln w="12700">
                <a:solidFill>
                  <a:srgbClr val="C00000"/>
                </a:solidFill>
                <a:headEnd type="none" w="med" len="med"/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83" name="Picture 2">
                <a:extLst>
                  <a:ext uri="{FF2B5EF4-FFF2-40B4-BE49-F238E27FC236}">
                    <a16:creationId xmlns:a16="http://schemas.microsoft.com/office/drawing/2014/main" id="{9D1E619E-A920-614D-60E1-E53351F1E474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8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 bwMode="auto">
              <a:xfrm>
                <a:off x="5999923" y="5029200"/>
                <a:ext cx="928189" cy="610286"/>
              </a:xfrm>
              <a:prstGeom prst="rect">
                <a:avLst/>
              </a:prstGeom>
              <a:noFill/>
            </p:spPr>
          </p:pic>
          <p:cxnSp>
            <p:nvCxnSpPr>
              <p:cNvPr id="84" name="Straight Arrow Connector 83">
                <a:extLst>
                  <a:ext uri="{FF2B5EF4-FFF2-40B4-BE49-F238E27FC236}">
                    <a16:creationId xmlns:a16="http://schemas.microsoft.com/office/drawing/2014/main" id="{AC4935F5-CD1F-C3CA-B317-59A708C213CE}"/>
                  </a:ext>
                </a:extLst>
              </p:cNvPr>
              <p:cNvCxnSpPr>
                <a:stCxn id="81" idx="4"/>
                <a:endCxn id="83" idx="0"/>
              </p:cNvCxnSpPr>
              <p:nvPr/>
            </p:nvCxnSpPr>
            <p:spPr>
              <a:xfrm flipH="1">
                <a:off x="6464016" y="4418915"/>
                <a:ext cx="583224" cy="610285"/>
              </a:xfrm>
              <a:prstGeom prst="straightConnector1">
                <a:avLst/>
              </a:prstGeom>
              <a:ln w="12700">
                <a:solidFill>
                  <a:srgbClr val="C00000"/>
                </a:solidFill>
                <a:headEnd type="none" w="med" len="med"/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5" name="Straight Arrow Connector 84">
                <a:extLst>
                  <a:ext uri="{FF2B5EF4-FFF2-40B4-BE49-F238E27FC236}">
                    <a16:creationId xmlns:a16="http://schemas.microsoft.com/office/drawing/2014/main" id="{BA806DB9-1D19-D6C0-C40B-CE26A3ECFCFA}"/>
                  </a:ext>
                </a:extLst>
              </p:cNvPr>
              <p:cNvCxnSpPr>
                <a:stCxn id="81" idx="4"/>
                <a:endCxn id="80" idx="0"/>
              </p:cNvCxnSpPr>
              <p:nvPr/>
            </p:nvCxnSpPr>
            <p:spPr>
              <a:xfrm>
                <a:off x="7047240" y="4418915"/>
                <a:ext cx="629800" cy="610285"/>
              </a:xfrm>
              <a:prstGeom prst="straightConnector1">
                <a:avLst/>
              </a:prstGeom>
              <a:ln w="12700">
                <a:solidFill>
                  <a:srgbClr val="C00000"/>
                </a:solidFill>
                <a:headEnd type="none" w="med" len="med"/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86" name="Picture 2">
                <a:extLst>
                  <a:ext uri="{FF2B5EF4-FFF2-40B4-BE49-F238E27FC236}">
                    <a16:creationId xmlns:a16="http://schemas.microsoft.com/office/drawing/2014/main" id="{AA31413A-DB30-8319-A844-21862C6F56FB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9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 bwMode="auto">
              <a:xfrm>
                <a:off x="9920493" y="5028515"/>
                <a:ext cx="1014614" cy="639346"/>
              </a:xfrm>
              <a:prstGeom prst="rect">
                <a:avLst/>
              </a:prstGeom>
              <a:noFill/>
            </p:spPr>
          </p:pic>
          <p:sp>
            <p:nvSpPr>
              <p:cNvPr id="87" name="Oval 86">
                <a:extLst>
                  <a:ext uri="{FF2B5EF4-FFF2-40B4-BE49-F238E27FC236}">
                    <a16:creationId xmlns:a16="http://schemas.microsoft.com/office/drawing/2014/main" id="{80FD05EF-8B40-035E-111F-122A71A71776}"/>
                  </a:ext>
                </a:extLst>
              </p:cNvPr>
              <p:cNvSpPr/>
              <p:nvPr/>
            </p:nvSpPr>
            <p:spPr>
              <a:xfrm>
                <a:off x="9478656" y="4113430"/>
                <a:ext cx="304800" cy="304800"/>
              </a:xfrm>
              <a:prstGeom prst="ellipse">
                <a:avLst/>
              </a:prstGeom>
              <a:solidFill>
                <a:srgbClr val="B8EAC0"/>
              </a:solidFill>
              <a:ln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0"/>
              </a:p>
            </p:txBody>
          </p:sp>
          <p:cxnSp>
            <p:nvCxnSpPr>
              <p:cNvPr id="88" name="Straight Arrow Connector 87">
                <a:extLst>
                  <a:ext uri="{FF2B5EF4-FFF2-40B4-BE49-F238E27FC236}">
                    <a16:creationId xmlns:a16="http://schemas.microsoft.com/office/drawing/2014/main" id="{3DC53268-AFEA-8C3A-7352-526264548748}"/>
                  </a:ext>
                </a:extLst>
              </p:cNvPr>
              <p:cNvCxnSpPr>
                <a:stCxn id="56" idx="2"/>
                <a:endCxn id="87" idx="7"/>
              </p:cNvCxnSpPr>
              <p:nvPr/>
            </p:nvCxnSpPr>
            <p:spPr>
              <a:xfrm flipH="1">
                <a:off x="9738820" y="3684004"/>
                <a:ext cx="980522" cy="474062"/>
              </a:xfrm>
              <a:prstGeom prst="straightConnector1">
                <a:avLst/>
              </a:prstGeom>
              <a:ln w="12700">
                <a:solidFill>
                  <a:schemeClr val="accent2"/>
                </a:solidFill>
                <a:headEnd type="none" w="med" len="med"/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89" name="Picture 2">
                <a:extLst>
                  <a:ext uri="{FF2B5EF4-FFF2-40B4-BE49-F238E27FC236}">
                    <a16:creationId xmlns:a16="http://schemas.microsoft.com/office/drawing/2014/main" id="{9643631F-AB22-4FD7-B2A9-03DA1C4C6952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8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 bwMode="auto">
              <a:xfrm>
                <a:off x="8549581" y="5028515"/>
                <a:ext cx="928189" cy="610286"/>
              </a:xfrm>
              <a:prstGeom prst="rect">
                <a:avLst/>
              </a:prstGeom>
              <a:noFill/>
            </p:spPr>
          </p:pic>
          <p:cxnSp>
            <p:nvCxnSpPr>
              <p:cNvPr id="90" name="Straight Arrow Connector 89">
                <a:extLst>
                  <a:ext uri="{FF2B5EF4-FFF2-40B4-BE49-F238E27FC236}">
                    <a16:creationId xmlns:a16="http://schemas.microsoft.com/office/drawing/2014/main" id="{67688D97-8988-5DAE-FF68-F9B1EAB5EBE6}"/>
                  </a:ext>
                </a:extLst>
              </p:cNvPr>
              <p:cNvCxnSpPr>
                <a:stCxn id="87" idx="4"/>
                <a:endCxn id="89" idx="0"/>
              </p:cNvCxnSpPr>
              <p:nvPr/>
            </p:nvCxnSpPr>
            <p:spPr>
              <a:xfrm flipH="1">
                <a:off x="9013677" y="4418230"/>
                <a:ext cx="617379" cy="610285"/>
              </a:xfrm>
              <a:prstGeom prst="straightConnector1">
                <a:avLst/>
              </a:prstGeom>
              <a:ln w="12700">
                <a:solidFill>
                  <a:schemeClr val="accent2"/>
                </a:solidFill>
                <a:headEnd type="none" w="med" len="med"/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1" name="Straight Arrow Connector 90">
                <a:extLst>
                  <a:ext uri="{FF2B5EF4-FFF2-40B4-BE49-F238E27FC236}">
                    <a16:creationId xmlns:a16="http://schemas.microsoft.com/office/drawing/2014/main" id="{8B78CDA8-020A-DC30-0078-27A798257E62}"/>
                  </a:ext>
                </a:extLst>
              </p:cNvPr>
              <p:cNvCxnSpPr>
                <a:stCxn id="87" idx="4"/>
                <a:endCxn id="86" idx="0"/>
              </p:cNvCxnSpPr>
              <p:nvPr/>
            </p:nvCxnSpPr>
            <p:spPr>
              <a:xfrm>
                <a:off x="9631056" y="4418230"/>
                <a:ext cx="796745" cy="610285"/>
              </a:xfrm>
              <a:prstGeom prst="straightConnector1">
                <a:avLst/>
              </a:prstGeom>
              <a:ln w="12700">
                <a:solidFill>
                  <a:schemeClr val="accent2"/>
                </a:solidFill>
                <a:headEnd type="none" w="med" len="med"/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2" name="Oval 91">
                <a:extLst>
                  <a:ext uri="{FF2B5EF4-FFF2-40B4-BE49-F238E27FC236}">
                    <a16:creationId xmlns:a16="http://schemas.microsoft.com/office/drawing/2014/main" id="{261BD603-C767-4672-DA91-07ACD930B85C}"/>
                  </a:ext>
                </a:extLst>
              </p:cNvPr>
              <p:cNvSpPr/>
              <p:nvPr/>
            </p:nvSpPr>
            <p:spPr>
              <a:xfrm>
                <a:off x="11651969" y="4114115"/>
                <a:ext cx="304800" cy="304800"/>
              </a:xfrm>
              <a:prstGeom prst="ellipse">
                <a:avLst/>
              </a:prstGeom>
              <a:solidFill>
                <a:srgbClr val="B8EAC0"/>
              </a:solidFill>
              <a:ln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0"/>
              </a:p>
            </p:txBody>
          </p:sp>
          <p:cxnSp>
            <p:nvCxnSpPr>
              <p:cNvPr id="93" name="Straight Arrow Connector 92">
                <a:extLst>
                  <a:ext uri="{FF2B5EF4-FFF2-40B4-BE49-F238E27FC236}">
                    <a16:creationId xmlns:a16="http://schemas.microsoft.com/office/drawing/2014/main" id="{48557400-CE0F-117B-BD01-914EE142EC97}"/>
                  </a:ext>
                </a:extLst>
              </p:cNvPr>
              <p:cNvCxnSpPr>
                <a:stCxn id="56" idx="2"/>
                <a:endCxn id="92" idx="1"/>
              </p:cNvCxnSpPr>
              <p:nvPr/>
            </p:nvCxnSpPr>
            <p:spPr>
              <a:xfrm>
                <a:off x="10719342" y="3684004"/>
                <a:ext cx="977264" cy="474747"/>
              </a:xfrm>
              <a:prstGeom prst="straightConnector1">
                <a:avLst/>
              </a:prstGeom>
              <a:ln w="12700">
                <a:solidFill>
                  <a:srgbClr val="C00000"/>
                </a:solidFill>
                <a:headEnd type="none" w="med" len="med"/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4" name="Straight Arrow Connector 93">
                <a:extLst>
                  <a:ext uri="{FF2B5EF4-FFF2-40B4-BE49-F238E27FC236}">
                    <a16:creationId xmlns:a16="http://schemas.microsoft.com/office/drawing/2014/main" id="{773F8F53-ED7C-623A-4A86-DC8C2FAE9E65}"/>
                  </a:ext>
                </a:extLst>
              </p:cNvPr>
              <p:cNvCxnSpPr>
                <a:stCxn id="92" idx="4"/>
              </p:cNvCxnSpPr>
              <p:nvPr/>
            </p:nvCxnSpPr>
            <p:spPr>
              <a:xfrm>
                <a:off x="11804369" y="4418915"/>
                <a:ext cx="7778" cy="608916"/>
              </a:xfrm>
              <a:prstGeom prst="straightConnector1">
                <a:avLst/>
              </a:prstGeom>
              <a:ln w="12700">
                <a:solidFill>
                  <a:srgbClr val="C00000"/>
                </a:solidFill>
                <a:headEnd type="none" w="med" len="med"/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0" name="Rounded Rectangle 9">
              <a:extLst>
                <a:ext uri="{FF2B5EF4-FFF2-40B4-BE49-F238E27FC236}">
                  <a16:creationId xmlns:a16="http://schemas.microsoft.com/office/drawing/2014/main" id="{A57AB175-05BF-76BD-B044-B47DAE233B5E}"/>
                </a:ext>
              </a:extLst>
            </p:cNvPr>
            <p:cNvSpPr/>
            <p:nvPr/>
          </p:nvSpPr>
          <p:spPr>
            <a:xfrm>
              <a:off x="3714750" y="5257800"/>
              <a:ext cx="5086350" cy="514350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11" name="Right Arrow 10">
              <a:extLst>
                <a:ext uri="{FF2B5EF4-FFF2-40B4-BE49-F238E27FC236}">
                  <a16:creationId xmlns:a16="http://schemas.microsoft.com/office/drawing/2014/main" id="{C100FCBE-2313-94F5-E427-135EC9681832}"/>
                </a:ext>
              </a:extLst>
            </p:cNvPr>
            <p:cNvSpPr/>
            <p:nvPr/>
          </p:nvSpPr>
          <p:spPr>
            <a:xfrm flipH="1">
              <a:off x="3028950" y="5376496"/>
              <a:ext cx="514350" cy="316523"/>
            </a:xfrm>
            <a:prstGeom prst="rightArrow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pic>
          <p:nvPicPr>
            <p:cNvPr id="12" name="Picture 11" descr="TP_tmp.png">
              <a:extLst>
                <a:ext uri="{FF2B5EF4-FFF2-40B4-BE49-F238E27FC236}">
                  <a16:creationId xmlns:a16="http://schemas.microsoft.com/office/drawing/2014/main" id="{ED59F116-3190-D2CA-7E99-C49601E415AA}"/>
                </a:ext>
              </a:extLst>
            </p:cNvPr>
            <p:cNvPicPr>
              <a:picLocks noChangeAspect="1"/>
            </p:cNvPicPr>
            <p:nvPr>
              <p:custDataLst>
                <p:tags r:id="rId1"/>
              </p:custDataLst>
            </p:nvPr>
          </p:nvPicPr>
          <p:blipFill>
            <a:blip r:embed="rId21" cstate="print"/>
            <a:stretch>
              <a:fillRect/>
            </a:stretch>
          </p:blipFill>
          <p:spPr bwMode="auto">
            <a:xfrm>
              <a:off x="400050" y="5429250"/>
              <a:ext cx="648465" cy="209293"/>
            </a:xfrm>
            <a:prstGeom prst="rect">
              <a:avLst/>
            </a:prstGeom>
            <a:noFill/>
            <a:ln/>
            <a:effectLst/>
          </p:spPr>
        </p:pic>
        <p:pic>
          <p:nvPicPr>
            <p:cNvPr id="13" name="Picture 2">
              <a:extLst>
                <a:ext uri="{FF2B5EF4-FFF2-40B4-BE49-F238E27FC236}">
                  <a16:creationId xmlns:a16="http://schemas.microsoft.com/office/drawing/2014/main" id="{E23BB869-655E-AC00-83AD-5FF41A14D8E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auto">
            <a:xfrm>
              <a:off x="686254" y="5429251"/>
              <a:ext cx="275561" cy="181181"/>
            </a:xfrm>
            <a:prstGeom prst="rect">
              <a:avLst/>
            </a:prstGeom>
            <a:noFill/>
          </p:spPr>
        </p:pic>
        <p:pic>
          <p:nvPicPr>
            <p:cNvPr id="14" name="Picture 13" descr="TP_tmp.png">
              <a:extLst>
                <a:ext uri="{FF2B5EF4-FFF2-40B4-BE49-F238E27FC236}">
                  <a16:creationId xmlns:a16="http://schemas.microsoft.com/office/drawing/2014/main" id="{19607957-5EC9-5D86-AD15-33D34F26D24A}"/>
                </a:ext>
              </a:extLst>
            </p:cNvPr>
            <p:cNvPicPr>
              <a:picLocks noChangeAspect="1"/>
            </p:cNvPicPr>
            <p:nvPr>
              <p:custDataLst>
                <p:tags r:id="rId2"/>
              </p:custDataLst>
            </p:nvPr>
          </p:nvPicPr>
          <p:blipFill>
            <a:blip r:embed="rId21" cstate="print"/>
            <a:stretch>
              <a:fillRect/>
            </a:stretch>
          </p:blipFill>
          <p:spPr bwMode="auto">
            <a:xfrm>
              <a:off x="1237485" y="5429250"/>
              <a:ext cx="648465" cy="209293"/>
            </a:xfrm>
            <a:prstGeom prst="rect">
              <a:avLst/>
            </a:prstGeom>
            <a:noFill/>
            <a:ln/>
            <a:effectLst/>
          </p:spPr>
        </p:pic>
        <p:pic>
          <p:nvPicPr>
            <p:cNvPr id="15" name="Picture 14" descr="TP_tmp.png">
              <a:extLst>
                <a:ext uri="{FF2B5EF4-FFF2-40B4-BE49-F238E27FC236}">
                  <a16:creationId xmlns:a16="http://schemas.microsoft.com/office/drawing/2014/main" id="{1E6AC59F-3718-D2B7-C284-6BAE9965DA74}"/>
                </a:ext>
              </a:extLst>
            </p:cNvPr>
            <p:cNvPicPr>
              <a:picLocks noChangeAspect="1"/>
            </p:cNvPicPr>
            <p:nvPr>
              <p:custDataLst>
                <p:tags r:id="rId3"/>
              </p:custDataLst>
            </p:nvPr>
          </p:nvPicPr>
          <p:blipFill>
            <a:blip r:embed="rId21" cstate="print"/>
            <a:stretch>
              <a:fillRect/>
            </a:stretch>
          </p:blipFill>
          <p:spPr bwMode="auto">
            <a:xfrm>
              <a:off x="2094735" y="5429250"/>
              <a:ext cx="648465" cy="209293"/>
            </a:xfrm>
            <a:prstGeom prst="rect">
              <a:avLst/>
            </a:prstGeom>
            <a:noFill/>
            <a:ln/>
            <a:effectLst/>
          </p:spPr>
        </p:pic>
        <p:pic>
          <p:nvPicPr>
            <p:cNvPr id="16" name="Picture 2">
              <a:extLst>
                <a:ext uri="{FF2B5EF4-FFF2-40B4-BE49-F238E27FC236}">
                  <a16:creationId xmlns:a16="http://schemas.microsoft.com/office/drawing/2014/main" id="{47305465-7C86-7720-8A5F-124BAB9E404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auto">
            <a:xfrm>
              <a:off x="2381271" y="5395953"/>
              <a:ext cx="292366" cy="207064"/>
            </a:xfrm>
            <a:prstGeom prst="rect">
              <a:avLst/>
            </a:prstGeom>
            <a:noFill/>
          </p:spPr>
        </p:pic>
        <p:pic>
          <p:nvPicPr>
            <p:cNvPr id="17" name="Picture 2">
              <a:extLst>
                <a:ext uri="{FF2B5EF4-FFF2-40B4-BE49-F238E27FC236}">
                  <a16:creationId xmlns:a16="http://schemas.microsoft.com/office/drawing/2014/main" id="{7F5C24F5-80A7-FC4C-DEB4-0FAAEC60EFE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auto">
            <a:xfrm>
              <a:off x="1531499" y="5422818"/>
              <a:ext cx="301217" cy="189809"/>
            </a:xfrm>
            <a:prstGeom prst="rect">
              <a:avLst/>
            </a:prstGeom>
            <a:noFill/>
          </p:spPr>
        </p:pic>
        <p:sp>
          <p:nvSpPr>
            <p:cNvPr id="18" name="Rounded Rectangle 17">
              <a:extLst>
                <a:ext uri="{FF2B5EF4-FFF2-40B4-BE49-F238E27FC236}">
                  <a16:creationId xmlns:a16="http://schemas.microsoft.com/office/drawing/2014/main" id="{DD9E3B18-4F92-E2E1-61D1-CF6C4E35BE3E}"/>
                </a:ext>
              </a:extLst>
            </p:cNvPr>
            <p:cNvSpPr/>
            <p:nvPr/>
          </p:nvSpPr>
          <p:spPr>
            <a:xfrm>
              <a:off x="285750" y="5257800"/>
              <a:ext cx="2571750" cy="514350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19" name="Rounded Rectangle 18">
              <a:extLst>
                <a:ext uri="{FF2B5EF4-FFF2-40B4-BE49-F238E27FC236}">
                  <a16:creationId xmlns:a16="http://schemas.microsoft.com/office/drawing/2014/main" id="{BC55B648-9DF6-7226-B7F4-27FBD9C0484D}"/>
                </a:ext>
              </a:extLst>
            </p:cNvPr>
            <p:cNvSpPr/>
            <p:nvPr/>
          </p:nvSpPr>
          <p:spPr>
            <a:xfrm>
              <a:off x="3714750" y="4400550"/>
              <a:ext cx="5086350" cy="514350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20" name="Right Arrow 19">
              <a:extLst>
                <a:ext uri="{FF2B5EF4-FFF2-40B4-BE49-F238E27FC236}">
                  <a16:creationId xmlns:a16="http://schemas.microsoft.com/office/drawing/2014/main" id="{B159E684-144B-2E1B-5D8F-77E1D9B185FB}"/>
                </a:ext>
              </a:extLst>
            </p:cNvPr>
            <p:cNvSpPr/>
            <p:nvPr/>
          </p:nvSpPr>
          <p:spPr>
            <a:xfrm flipH="1">
              <a:off x="3028950" y="4519246"/>
              <a:ext cx="514350" cy="316523"/>
            </a:xfrm>
            <a:prstGeom prst="rightArrow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pic>
          <p:nvPicPr>
            <p:cNvPr id="21" name="Picture 20" descr="TP_tmp.png">
              <a:extLst>
                <a:ext uri="{FF2B5EF4-FFF2-40B4-BE49-F238E27FC236}">
                  <a16:creationId xmlns:a16="http://schemas.microsoft.com/office/drawing/2014/main" id="{956BF6C8-855E-8306-022A-54D1283987A9}"/>
                </a:ext>
              </a:extLst>
            </p:cNvPr>
            <p:cNvPicPr>
              <a:picLocks noChangeAspect="1"/>
            </p:cNvPicPr>
            <p:nvPr>
              <p:custDataLst>
                <p:tags r:id="rId4"/>
              </p:custDataLst>
            </p:nvPr>
          </p:nvPicPr>
          <p:blipFill>
            <a:blip r:embed="rId25" cstate="print"/>
            <a:stretch>
              <a:fillRect/>
            </a:stretch>
          </p:blipFill>
          <p:spPr bwMode="auto">
            <a:xfrm>
              <a:off x="399858" y="4572000"/>
              <a:ext cx="648848" cy="209416"/>
            </a:xfrm>
            <a:prstGeom prst="rect">
              <a:avLst/>
            </a:prstGeom>
            <a:noFill/>
            <a:ln/>
            <a:effectLst/>
          </p:spPr>
        </p:pic>
        <p:pic>
          <p:nvPicPr>
            <p:cNvPr id="22" name="Picture 2">
              <a:extLst>
                <a:ext uri="{FF2B5EF4-FFF2-40B4-BE49-F238E27FC236}">
                  <a16:creationId xmlns:a16="http://schemas.microsoft.com/office/drawing/2014/main" id="{C0984A84-F717-4CEE-6D99-519CEBE07DB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auto">
            <a:xfrm>
              <a:off x="686254" y="4572001"/>
              <a:ext cx="275561" cy="181181"/>
            </a:xfrm>
            <a:prstGeom prst="rect">
              <a:avLst/>
            </a:prstGeom>
            <a:noFill/>
          </p:spPr>
        </p:pic>
        <p:pic>
          <p:nvPicPr>
            <p:cNvPr id="23" name="Picture 22" descr="TP_tmp.png">
              <a:extLst>
                <a:ext uri="{FF2B5EF4-FFF2-40B4-BE49-F238E27FC236}">
                  <a16:creationId xmlns:a16="http://schemas.microsoft.com/office/drawing/2014/main" id="{ADFA3AB9-9663-83C7-34A1-A4FFD3FC9DD8}"/>
                </a:ext>
              </a:extLst>
            </p:cNvPr>
            <p:cNvPicPr>
              <a:picLocks noChangeAspect="1"/>
            </p:cNvPicPr>
            <p:nvPr>
              <p:custDataLst>
                <p:tags r:id="rId5"/>
              </p:custDataLst>
            </p:nvPr>
          </p:nvPicPr>
          <p:blipFill>
            <a:blip r:embed="rId25" cstate="print"/>
            <a:stretch>
              <a:fillRect/>
            </a:stretch>
          </p:blipFill>
          <p:spPr bwMode="auto">
            <a:xfrm>
              <a:off x="1237293" y="4572000"/>
              <a:ext cx="648848" cy="209416"/>
            </a:xfrm>
            <a:prstGeom prst="rect">
              <a:avLst/>
            </a:prstGeom>
            <a:noFill/>
            <a:ln/>
            <a:effectLst/>
          </p:spPr>
        </p:pic>
        <p:pic>
          <p:nvPicPr>
            <p:cNvPr id="24" name="Picture 23" descr="TP_tmp.png">
              <a:extLst>
                <a:ext uri="{FF2B5EF4-FFF2-40B4-BE49-F238E27FC236}">
                  <a16:creationId xmlns:a16="http://schemas.microsoft.com/office/drawing/2014/main" id="{709DA3B1-8F6D-1FDA-805E-76C8838ECF08}"/>
                </a:ext>
              </a:extLst>
            </p:cNvPr>
            <p:cNvPicPr>
              <a:picLocks noChangeAspect="1"/>
            </p:cNvPicPr>
            <p:nvPr>
              <p:custDataLst>
                <p:tags r:id="rId6"/>
              </p:custDataLst>
            </p:nvPr>
          </p:nvPicPr>
          <p:blipFill>
            <a:blip r:embed="rId25" cstate="print"/>
            <a:stretch>
              <a:fillRect/>
            </a:stretch>
          </p:blipFill>
          <p:spPr bwMode="auto">
            <a:xfrm>
              <a:off x="2094543" y="4572000"/>
              <a:ext cx="648848" cy="209416"/>
            </a:xfrm>
            <a:prstGeom prst="rect">
              <a:avLst/>
            </a:prstGeom>
            <a:noFill/>
            <a:ln/>
            <a:effectLst/>
          </p:spPr>
        </p:pic>
        <p:pic>
          <p:nvPicPr>
            <p:cNvPr id="25" name="Picture 2">
              <a:extLst>
                <a:ext uri="{FF2B5EF4-FFF2-40B4-BE49-F238E27FC236}">
                  <a16:creationId xmlns:a16="http://schemas.microsoft.com/office/drawing/2014/main" id="{133C3B73-9616-1051-56DC-4D55DB690D9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auto">
            <a:xfrm>
              <a:off x="2381271" y="4538703"/>
              <a:ext cx="292366" cy="207064"/>
            </a:xfrm>
            <a:prstGeom prst="rect">
              <a:avLst/>
            </a:prstGeom>
            <a:noFill/>
          </p:spPr>
        </p:pic>
        <p:pic>
          <p:nvPicPr>
            <p:cNvPr id="26" name="Picture 2">
              <a:extLst>
                <a:ext uri="{FF2B5EF4-FFF2-40B4-BE49-F238E27FC236}">
                  <a16:creationId xmlns:a16="http://schemas.microsoft.com/office/drawing/2014/main" id="{87433F6F-7654-5B61-C24C-C119036F9D0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auto">
            <a:xfrm>
              <a:off x="1531499" y="4565568"/>
              <a:ext cx="301217" cy="189809"/>
            </a:xfrm>
            <a:prstGeom prst="rect">
              <a:avLst/>
            </a:prstGeom>
            <a:noFill/>
          </p:spPr>
        </p:pic>
        <p:sp>
          <p:nvSpPr>
            <p:cNvPr id="27" name="Rounded Rectangle 26">
              <a:extLst>
                <a:ext uri="{FF2B5EF4-FFF2-40B4-BE49-F238E27FC236}">
                  <a16:creationId xmlns:a16="http://schemas.microsoft.com/office/drawing/2014/main" id="{89477175-1BEB-D711-4BFC-2533C9839F0C}"/>
                </a:ext>
              </a:extLst>
            </p:cNvPr>
            <p:cNvSpPr/>
            <p:nvPr/>
          </p:nvSpPr>
          <p:spPr>
            <a:xfrm>
              <a:off x="285750" y="4400550"/>
              <a:ext cx="2571750" cy="514350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28" name="Rounded Rectangle 27">
              <a:extLst>
                <a:ext uri="{FF2B5EF4-FFF2-40B4-BE49-F238E27FC236}">
                  <a16:creationId xmlns:a16="http://schemas.microsoft.com/office/drawing/2014/main" id="{9A61747A-A8A9-C1EB-6201-CDA5121726E4}"/>
                </a:ext>
              </a:extLst>
            </p:cNvPr>
            <p:cNvSpPr/>
            <p:nvPr/>
          </p:nvSpPr>
          <p:spPr>
            <a:xfrm>
              <a:off x="3714750" y="3555227"/>
              <a:ext cx="5086350" cy="514350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29" name="Right Arrow 28">
              <a:extLst>
                <a:ext uri="{FF2B5EF4-FFF2-40B4-BE49-F238E27FC236}">
                  <a16:creationId xmlns:a16="http://schemas.microsoft.com/office/drawing/2014/main" id="{AA32514C-D0D8-E351-284B-31E370D0EA10}"/>
                </a:ext>
              </a:extLst>
            </p:cNvPr>
            <p:cNvSpPr/>
            <p:nvPr/>
          </p:nvSpPr>
          <p:spPr>
            <a:xfrm flipH="1">
              <a:off x="3028950" y="3673923"/>
              <a:ext cx="514350" cy="316523"/>
            </a:xfrm>
            <a:prstGeom prst="rightArrow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pic>
          <p:nvPicPr>
            <p:cNvPr id="30" name="Picture 29" descr="TP_tmp.png">
              <a:extLst>
                <a:ext uri="{FF2B5EF4-FFF2-40B4-BE49-F238E27FC236}">
                  <a16:creationId xmlns:a16="http://schemas.microsoft.com/office/drawing/2014/main" id="{7DCE34A8-C1BA-D657-CCFC-272F3E5449B8}"/>
                </a:ext>
              </a:extLst>
            </p:cNvPr>
            <p:cNvPicPr>
              <a:picLocks noChangeAspect="1"/>
            </p:cNvPicPr>
            <p:nvPr>
              <p:custDataLst>
                <p:tags r:id="rId7"/>
              </p:custDataLst>
            </p:nvPr>
          </p:nvPicPr>
          <p:blipFill>
            <a:blip r:embed="rId26" cstate="print"/>
            <a:stretch>
              <a:fillRect/>
            </a:stretch>
          </p:blipFill>
          <p:spPr bwMode="auto">
            <a:xfrm>
              <a:off x="399667" y="3726676"/>
              <a:ext cx="649230" cy="209540"/>
            </a:xfrm>
            <a:prstGeom prst="rect">
              <a:avLst/>
            </a:prstGeom>
            <a:noFill/>
            <a:ln/>
            <a:effectLst/>
          </p:spPr>
        </p:pic>
        <p:pic>
          <p:nvPicPr>
            <p:cNvPr id="31" name="Picture 2">
              <a:extLst>
                <a:ext uri="{FF2B5EF4-FFF2-40B4-BE49-F238E27FC236}">
                  <a16:creationId xmlns:a16="http://schemas.microsoft.com/office/drawing/2014/main" id="{98A8DF02-D37E-CC69-217B-B11635307A9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auto">
            <a:xfrm>
              <a:off x="686254" y="3726677"/>
              <a:ext cx="275561" cy="181181"/>
            </a:xfrm>
            <a:prstGeom prst="rect">
              <a:avLst/>
            </a:prstGeom>
            <a:noFill/>
          </p:spPr>
        </p:pic>
        <p:pic>
          <p:nvPicPr>
            <p:cNvPr id="32" name="Picture 31" descr="TP_tmp.png">
              <a:extLst>
                <a:ext uri="{FF2B5EF4-FFF2-40B4-BE49-F238E27FC236}">
                  <a16:creationId xmlns:a16="http://schemas.microsoft.com/office/drawing/2014/main" id="{1F8E5D70-072A-E727-D3FF-C1517CE1513A}"/>
                </a:ext>
              </a:extLst>
            </p:cNvPr>
            <p:cNvPicPr>
              <a:picLocks noChangeAspect="1"/>
            </p:cNvPicPr>
            <p:nvPr>
              <p:custDataLst>
                <p:tags r:id="rId8"/>
              </p:custDataLst>
            </p:nvPr>
          </p:nvPicPr>
          <p:blipFill>
            <a:blip r:embed="rId26" cstate="print"/>
            <a:stretch>
              <a:fillRect/>
            </a:stretch>
          </p:blipFill>
          <p:spPr bwMode="auto">
            <a:xfrm>
              <a:off x="1237102" y="3726676"/>
              <a:ext cx="649230" cy="209540"/>
            </a:xfrm>
            <a:prstGeom prst="rect">
              <a:avLst/>
            </a:prstGeom>
            <a:noFill/>
            <a:ln/>
            <a:effectLst/>
          </p:spPr>
        </p:pic>
        <p:pic>
          <p:nvPicPr>
            <p:cNvPr id="33" name="Picture 32" descr="TP_tmp.png">
              <a:extLst>
                <a:ext uri="{FF2B5EF4-FFF2-40B4-BE49-F238E27FC236}">
                  <a16:creationId xmlns:a16="http://schemas.microsoft.com/office/drawing/2014/main" id="{ADB3B208-643F-BC99-15AB-C2D09CD091E7}"/>
                </a:ext>
              </a:extLst>
            </p:cNvPr>
            <p:cNvPicPr>
              <a:picLocks noChangeAspect="1"/>
            </p:cNvPicPr>
            <p:nvPr>
              <p:custDataLst>
                <p:tags r:id="rId9"/>
              </p:custDataLst>
            </p:nvPr>
          </p:nvPicPr>
          <p:blipFill>
            <a:blip r:embed="rId26" cstate="print"/>
            <a:stretch>
              <a:fillRect/>
            </a:stretch>
          </p:blipFill>
          <p:spPr bwMode="auto">
            <a:xfrm>
              <a:off x="2094351" y="3726676"/>
              <a:ext cx="649230" cy="209540"/>
            </a:xfrm>
            <a:prstGeom prst="rect">
              <a:avLst/>
            </a:prstGeom>
            <a:noFill/>
            <a:ln/>
            <a:effectLst/>
          </p:spPr>
        </p:pic>
        <p:pic>
          <p:nvPicPr>
            <p:cNvPr id="34" name="Picture 2">
              <a:extLst>
                <a:ext uri="{FF2B5EF4-FFF2-40B4-BE49-F238E27FC236}">
                  <a16:creationId xmlns:a16="http://schemas.microsoft.com/office/drawing/2014/main" id="{F7A51BA9-293F-A537-EB38-93F93F44109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auto">
            <a:xfrm>
              <a:off x="2381271" y="3693380"/>
              <a:ext cx="292366" cy="207064"/>
            </a:xfrm>
            <a:prstGeom prst="rect">
              <a:avLst/>
            </a:prstGeom>
            <a:noFill/>
          </p:spPr>
        </p:pic>
        <p:pic>
          <p:nvPicPr>
            <p:cNvPr id="35" name="Picture 2">
              <a:extLst>
                <a:ext uri="{FF2B5EF4-FFF2-40B4-BE49-F238E27FC236}">
                  <a16:creationId xmlns:a16="http://schemas.microsoft.com/office/drawing/2014/main" id="{F8227359-C185-C23F-5B3B-22B392B55E9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auto">
            <a:xfrm>
              <a:off x="1531499" y="3720244"/>
              <a:ext cx="301217" cy="189809"/>
            </a:xfrm>
            <a:prstGeom prst="rect">
              <a:avLst/>
            </a:prstGeom>
            <a:noFill/>
          </p:spPr>
        </p:pic>
        <p:sp>
          <p:nvSpPr>
            <p:cNvPr id="36" name="Rounded Rectangle 35">
              <a:extLst>
                <a:ext uri="{FF2B5EF4-FFF2-40B4-BE49-F238E27FC236}">
                  <a16:creationId xmlns:a16="http://schemas.microsoft.com/office/drawing/2014/main" id="{5D308141-41D5-D2B5-4E16-387FA6ECBAAB}"/>
                </a:ext>
              </a:extLst>
            </p:cNvPr>
            <p:cNvSpPr/>
            <p:nvPr/>
          </p:nvSpPr>
          <p:spPr>
            <a:xfrm>
              <a:off x="285750" y="3555227"/>
              <a:ext cx="2571750" cy="514350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37" name="Rounded Rectangle 36">
              <a:extLst>
                <a:ext uri="{FF2B5EF4-FFF2-40B4-BE49-F238E27FC236}">
                  <a16:creationId xmlns:a16="http://schemas.microsoft.com/office/drawing/2014/main" id="{CDAD2024-93C8-0377-035B-6A412707E682}"/>
                </a:ext>
              </a:extLst>
            </p:cNvPr>
            <p:cNvSpPr/>
            <p:nvPr/>
          </p:nvSpPr>
          <p:spPr>
            <a:xfrm>
              <a:off x="3714750" y="2713384"/>
              <a:ext cx="5086350" cy="514350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38" name="Right Arrow 37">
              <a:extLst>
                <a:ext uri="{FF2B5EF4-FFF2-40B4-BE49-F238E27FC236}">
                  <a16:creationId xmlns:a16="http://schemas.microsoft.com/office/drawing/2014/main" id="{17E2A5B1-4AEC-6DDB-C96F-11D867E3DE32}"/>
                </a:ext>
              </a:extLst>
            </p:cNvPr>
            <p:cNvSpPr/>
            <p:nvPr/>
          </p:nvSpPr>
          <p:spPr>
            <a:xfrm flipH="1">
              <a:off x="3028950" y="2832080"/>
              <a:ext cx="514350" cy="316523"/>
            </a:xfrm>
            <a:prstGeom prst="rightArrow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pic>
          <p:nvPicPr>
            <p:cNvPr id="39" name="Picture 38" descr="TP_tmp.png">
              <a:extLst>
                <a:ext uri="{FF2B5EF4-FFF2-40B4-BE49-F238E27FC236}">
                  <a16:creationId xmlns:a16="http://schemas.microsoft.com/office/drawing/2014/main" id="{E8D602AD-A4E2-3854-4B46-86723D369868}"/>
                </a:ext>
              </a:extLst>
            </p:cNvPr>
            <p:cNvPicPr>
              <a:picLocks noChangeAspect="1"/>
            </p:cNvPicPr>
            <p:nvPr>
              <p:custDataLst>
                <p:tags r:id="rId10"/>
              </p:custDataLst>
            </p:nvPr>
          </p:nvPicPr>
          <p:blipFill>
            <a:blip r:embed="rId27" cstate="print"/>
            <a:stretch>
              <a:fillRect/>
            </a:stretch>
          </p:blipFill>
          <p:spPr bwMode="auto">
            <a:xfrm>
              <a:off x="399475" y="2884834"/>
              <a:ext cx="649613" cy="209663"/>
            </a:xfrm>
            <a:prstGeom prst="rect">
              <a:avLst/>
            </a:prstGeom>
            <a:noFill/>
            <a:ln/>
            <a:effectLst/>
          </p:spPr>
        </p:pic>
        <p:pic>
          <p:nvPicPr>
            <p:cNvPr id="40" name="Picture 2">
              <a:extLst>
                <a:ext uri="{FF2B5EF4-FFF2-40B4-BE49-F238E27FC236}">
                  <a16:creationId xmlns:a16="http://schemas.microsoft.com/office/drawing/2014/main" id="{15C91A56-092B-5693-543C-27AA06FD190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auto">
            <a:xfrm>
              <a:off x="686254" y="2884834"/>
              <a:ext cx="275561" cy="181181"/>
            </a:xfrm>
            <a:prstGeom prst="rect">
              <a:avLst/>
            </a:prstGeom>
            <a:noFill/>
          </p:spPr>
        </p:pic>
        <p:pic>
          <p:nvPicPr>
            <p:cNvPr id="41" name="Picture 40" descr="TP_tmp.png">
              <a:extLst>
                <a:ext uri="{FF2B5EF4-FFF2-40B4-BE49-F238E27FC236}">
                  <a16:creationId xmlns:a16="http://schemas.microsoft.com/office/drawing/2014/main" id="{BDB5C051-46C1-346E-C87E-60F8E2CB3DB2}"/>
                </a:ext>
              </a:extLst>
            </p:cNvPr>
            <p:cNvPicPr>
              <a:picLocks noChangeAspect="1"/>
            </p:cNvPicPr>
            <p:nvPr>
              <p:custDataLst>
                <p:tags r:id="rId11"/>
              </p:custDataLst>
            </p:nvPr>
          </p:nvPicPr>
          <p:blipFill>
            <a:blip r:embed="rId27" cstate="print"/>
            <a:stretch>
              <a:fillRect/>
            </a:stretch>
          </p:blipFill>
          <p:spPr bwMode="auto">
            <a:xfrm>
              <a:off x="1236910" y="2884834"/>
              <a:ext cx="649613" cy="209663"/>
            </a:xfrm>
            <a:prstGeom prst="rect">
              <a:avLst/>
            </a:prstGeom>
            <a:noFill/>
            <a:ln/>
            <a:effectLst/>
          </p:spPr>
        </p:pic>
        <p:pic>
          <p:nvPicPr>
            <p:cNvPr id="42" name="Picture 41" descr="TP_tmp.png">
              <a:extLst>
                <a:ext uri="{FF2B5EF4-FFF2-40B4-BE49-F238E27FC236}">
                  <a16:creationId xmlns:a16="http://schemas.microsoft.com/office/drawing/2014/main" id="{8017D3E2-4E64-4CF3-410C-EB05DF793A03}"/>
                </a:ext>
              </a:extLst>
            </p:cNvPr>
            <p:cNvPicPr>
              <a:picLocks noChangeAspect="1"/>
            </p:cNvPicPr>
            <p:nvPr>
              <p:custDataLst>
                <p:tags r:id="rId12"/>
              </p:custDataLst>
            </p:nvPr>
          </p:nvPicPr>
          <p:blipFill>
            <a:blip r:embed="rId27" cstate="print"/>
            <a:stretch>
              <a:fillRect/>
            </a:stretch>
          </p:blipFill>
          <p:spPr bwMode="auto">
            <a:xfrm>
              <a:off x="2094160" y="2884834"/>
              <a:ext cx="649613" cy="209663"/>
            </a:xfrm>
            <a:prstGeom prst="rect">
              <a:avLst/>
            </a:prstGeom>
            <a:noFill/>
            <a:ln/>
            <a:effectLst/>
          </p:spPr>
        </p:pic>
        <p:pic>
          <p:nvPicPr>
            <p:cNvPr id="43" name="Picture 2">
              <a:extLst>
                <a:ext uri="{FF2B5EF4-FFF2-40B4-BE49-F238E27FC236}">
                  <a16:creationId xmlns:a16="http://schemas.microsoft.com/office/drawing/2014/main" id="{E96B3B6D-A1DC-FBD8-58A7-D5419D3251D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auto">
            <a:xfrm>
              <a:off x="2381271" y="2851537"/>
              <a:ext cx="292366" cy="207064"/>
            </a:xfrm>
            <a:prstGeom prst="rect">
              <a:avLst/>
            </a:prstGeom>
            <a:noFill/>
          </p:spPr>
        </p:pic>
        <p:pic>
          <p:nvPicPr>
            <p:cNvPr id="44" name="Picture 2">
              <a:extLst>
                <a:ext uri="{FF2B5EF4-FFF2-40B4-BE49-F238E27FC236}">
                  <a16:creationId xmlns:a16="http://schemas.microsoft.com/office/drawing/2014/main" id="{C285A522-3C3F-762E-2F03-E0F3530E967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auto">
            <a:xfrm>
              <a:off x="1531499" y="2878402"/>
              <a:ext cx="301217" cy="189809"/>
            </a:xfrm>
            <a:prstGeom prst="rect">
              <a:avLst/>
            </a:prstGeom>
            <a:noFill/>
          </p:spPr>
        </p:pic>
        <p:sp>
          <p:nvSpPr>
            <p:cNvPr id="45" name="Rounded Rectangle 44">
              <a:extLst>
                <a:ext uri="{FF2B5EF4-FFF2-40B4-BE49-F238E27FC236}">
                  <a16:creationId xmlns:a16="http://schemas.microsoft.com/office/drawing/2014/main" id="{56095E9F-8CF0-AA77-A1CB-941277AEFF8A}"/>
                </a:ext>
              </a:extLst>
            </p:cNvPr>
            <p:cNvSpPr/>
            <p:nvPr/>
          </p:nvSpPr>
          <p:spPr>
            <a:xfrm>
              <a:off x="285750" y="2713384"/>
              <a:ext cx="2571750" cy="514350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46" name="Rounded Rectangle 45">
              <a:extLst>
                <a:ext uri="{FF2B5EF4-FFF2-40B4-BE49-F238E27FC236}">
                  <a16:creationId xmlns:a16="http://schemas.microsoft.com/office/drawing/2014/main" id="{E0CA2ED7-DC70-BBE3-D61B-1CE0B693A01C}"/>
                </a:ext>
              </a:extLst>
            </p:cNvPr>
            <p:cNvSpPr/>
            <p:nvPr/>
          </p:nvSpPr>
          <p:spPr>
            <a:xfrm>
              <a:off x="3714750" y="1885950"/>
              <a:ext cx="5086350" cy="514350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47" name="Right Arrow 46">
              <a:extLst>
                <a:ext uri="{FF2B5EF4-FFF2-40B4-BE49-F238E27FC236}">
                  <a16:creationId xmlns:a16="http://schemas.microsoft.com/office/drawing/2014/main" id="{E5B86676-75CA-B837-3101-5CA6A115E7B8}"/>
                </a:ext>
              </a:extLst>
            </p:cNvPr>
            <p:cNvSpPr/>
            <p:nvPr/>
          </p:nvSpPr>
          <p:spPr>
            <a:xfrm flipH="1">
              <a:off x="3028950" y="2004646"/>
              <a:ext cx="514350" cy="316523"/>
            </a:xfrm>
            <a:prstGeom prst="rightArrow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pic>
          <p:nvPicPr>
            <p:cNvPr id="48" name="Picture 47" descr="TP_tmp.png">
              <a:extLst>
                <a:ext uri="{FF2B5EF4-FFF2-40B4-BE49-F238E27FC236}">
                  <a16:creationId xmlns:a16="http://schemas.microsoft.com/office/drawing/2014/main" id="{5B48E477-DA76-A2C5-A108-F9ED82BB665C}"/>
                </a:ext>
              </a:extLst>
            </p:cNvPr>
            <p:cNvPicPr>
              <a:picLocks noChangeAspect="1"/>
            </p:cNvPicPr>
            <p:nvPr>
              <p:custDataLst>
                <p:tags r:id="rId13"/>
              </p:custDataLst>
            </p:nvPr>
          </p:nvPicPr>
          <p:blipFill>
            <a:blip r:embed="rId28" cstate="print"/>
            <a:stretch>
              <a:fillRect/>
            </a:stretch>
          </p:blipFill>
          <p:spPr bwMode="auto">
            <a:xfrm>
              <a:off x="399283" y="2057400"/>
              <a:ext cx="649997" cy="209787"/>
            </a:xfrm>
            <a:prstGeom prst="rect">
              <a:avLst/>
            </a:prstGeom>
            <a:noFill/>
            <a:ln/>
            <a:effectLst/>
          </p:spPr>
        </p:pic>
        <p:pic>
          <p:nvPicPr>
            <p:cNvPr id="49" name="Picture 2">
              <a:extLst>
                <a:ext uri="{FF2B5EF4-FFF2-40B4-BE49-F238E27FC236}">
                  <a16:creationId xmlns:a16="http://schemas.microsoft.com/office/drawing/2014/main" id="{5F2244B4-F1BF-08AE-3606-8CD1B2AD640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auto">
            <a:xfrm>
              <a:off x="686254" y="2057401"/>
              <a:ext cx="275561" cy="181181"/>
            </a:xfrm>
            <a:prstGeom prst="rect">
              <a:avLst/>
            </a:prstGeom>
            <a:noFill/>
          </p:spPr>
        </p:pic>
        <p:pic>
          <p:nvPicPr>
            <p:cNvPr id="50" name="Picture 49" descr="TP_tmp.png">
              <a:extLst>
                <a:ext uri="{FF2B5EF4-FFF2-40B4-BE49-F238E27FC236}">
                  <a16:creationId xmlns:a16="http://schemas.microsoft.com/office/drawing/2014/main" id="{AEC53B9E-68F5-09B3-66AE-82CF5150D778}"/>
                </a:ext>
              </a:extLst>
            </p:cNvPr>
            <p:cNvPicPr>
              <a:picLocks noChangeAspect="1"/>
            </p:cNvPicPr>
            <p:nvPr>
              <p:custDataLst>
                <p:tags r:id="rId14"/>
              </p:custDataLst>
            </p:nvPr>
          </p:nvPicPr>
          <p:blipFill>
            <a:blip r:embed="rId28" cstate="print"/>
            <a:stretch>
              <a:fillRect/>
            </a:stretch>
          </p:blipFill>
          <p:spPr bwMode="auto">
            <a:xfrm>
              <a:off x="1236718" y="2057400"/>
              <a:ext cx="649997" cy="209787"/>
            </a:xfrm>
            <a:prstGeom prst="rect">
              <a:avLst/>
            </a:prstGeom>
            <a:noFill/>
            <a:ln/>
            <a:effectLst/>
          </p:spPr>
        </p:pic>
        <p:pic>
          <p:nvPicPr>
            <p:cNvPr id="51" name="Picture 50" descr="TP_tmp.png">
              <a:extLst>
                <a:ext uri="{FF2B5EF4-FFF2-40B4-BE49-F238E27FC236}">
                  <a16:creationId xmlns:a16="http://schemas.microsoft.com/office/drawing/2014/main" id="{F8C5906E-5258-5EA2-6987-04F76946CFAB}"/>
                </a:ext>
              </a:extLst>
            </p:cNvPr>
            <p:cNvPicPr>
              <a:picLocks noChangeAspect="1"/>
            </p:cNvPicPr>
            <p:nvPr>
              <p:custDataLst>
                <p:tags r:id="rId15"/>
              </p:custDataLst>
            </p:nvPr>
          </p:nvPicPr>
          <p:blipFill>
            <a:blip r:embed="rId28" cstate="print"/>
            <a:stretch>
              <a:fillRect/>
            </a:stretch>
          </p:blipFill>
          <p:spPr bwMode="auto">
            <a:xfrm>
              <a:off x="2093967" y="2057400"/>
              <a:ext cx="649997" cy="209787"/>
            </a:xfrm>
            <a:prstGeom prst="rect">
              <a:avLst/>
            </a:prstGeom>
            <a:noFill/>
            <a:ln/>
            <a:effectLst/>
          </p:spPr>
        </p:pic>
        <p:pic>
          <p:nvPicPr>
            <p:cNvPr id="52" name="Picture 2">
              <a:extLst>
                <a:ext uri="{FF2B5EF4-FFF2-40B4-BE49-F238E27FC236}">
                  <a16:creationId xmlns:a16="http://schemas.microsoft.com/office/drawing/2014/main" id="{DDEC2CB2-1899-5786-6946-A295D40BECD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auto">
            <a:xfrm>
              <a:off x="2381271" y="2024103"/>
              <a:ext cx="292366" cy="207064"/>
            </a:xfrm>
            <a:prstGeom prst="rect">
              <a:avLst/>
            </a:prstGeom>
            <a:noFill/>
          </p:spPr>
        </p:pic>
        <p:pic>
          <p:nvPicPr>
            <p:cNvPr id="53" name="Picture 2">
              <a:extLst>
                <a:ext uri="{FF2B5EF4-FFF2-40B4-BE49-F238E27FC236}">
                  <a16:creationId xmlns:a16="http://schemas.microsoft.com/office/drawing/2014/main" id="{1641F03E-1EA2-0669-C85B-0D14DDE3672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auto">
            <a:xfrm>
              <a:off x="1531499" y="2050968"/>
              <a:ext cx="301217" cy="189809"/>
            </a:xfrm>
            <a:prstGeom prst="rect">
              <a:avLst/>
            </a:prstGeom>
            <a:noFill/>
          </p:spPr>
        </p:pic>
        <p:sp>
          <p:nvSpPr>
            <p:cNvPr id="54" name="Rounded Rectangle 53">
              <a:extLst>
                <a:ext uri="{FF2B5EF4-FFF2-40B4-BE49-F238E27FC236}">
                  <a16:creationId xmlns:a16="http://schemas.microsoft.com/office/drawing/2014/main" id="{4921AE0E-1718-05D9-310A-6275B671EF61}"/>
                </a:ext>
              </a:extLst>
            </p:cNvPr>
            <p:cNvSpPr/>
            <p:nvPr/>
          </p:nvSpPr>
          <p:spPr>
            <a:xfrm>
              <a:off x="285750" y="1885950"/>
              <a:ext cx="2571750" cy="514350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</p:grp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B693AE5-65DD-0D82-1072-B6914BF0B4E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KR"/>
              <a:t>691</a:t>
            </a:r>
            <a:endParaRPr lang="en-KR" sz="4000" dirty="0"/>
          </a:p>
        </p:txBody>
      </p:sp>
    </p:spTree>
    <p:extLst>
      <p:ext uri="{BB962C8B-B14F-4D97-AF65-F5344CB8AC3E}">
        <p14:creationId xmlns:p14="http://schemas.microsoft.com/office/powerpoint/2010/main" val="2290455141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FAB020-CF45-6763-1055-A821F3FB3E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ADF195-1439-9C8F-7E17-4C300CC369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Value Iteration</a:t>
            </a:r>
            <a:endParaRPr lang="en-KR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7268D5E-A80D-534A-CA5B-E709B0BAC772}"/>
              </a:ext>
            </a:extLst>
          </p:cNvPr>
          <p:cNvSpPr/>
          <p:nvPr/>
        </p:nvSpPr>
        <p:spPr>
          <a:xfrm>
            <a:off x="7067791" y="4928056"/>
            <a:ext cx="2076209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800" dirty="0">
                <a:solidFill>
                  <a:schemeClr val="bg1">
                    <a:lumMod val="65000"/>
                  </a:schemeClr>
                </a:solidFill>
                <a:cs typeface="Calibri"/>
              </a:rPr>
              <a:t>Adapted from CS188 of Klein and </a:t>
            </a:r>
            <a:r>
              <a:rPr lang="en-US" sz="800" dirty="0" err="1">
                <a:solidFill>
                  <a:schemeClr val="bg1">
                    <a:lumMod val="65000"/>
                  </a:schemeClr>
                </a:solidFill>
                <a:cs typeface="Calibri"/>
              </a:rPr>
              <a:t>Abbeel</a:t>
            </a:r>
            <a:endParaRPr lang="en-KR" sz="8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EDC350A-C8F2-968A-7799-8D4F9CD75A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296715" y="1397693"/>
            <a:ext cx="4550569" cy="3150394"/>
          </a:xfrm>
          <a:prstGeom prst="rect">
            <a:avLst/>
          </a:prstGeom>
          <a:noFill/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D833F89-5B6D-501F-22CC-53555ECACC8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KR"/>
              <a:t>691</a:t>
            </a:r>
            <a:endParaRPr lang="en-KR" sz="4000" dirty="0"/>
          </a:p>
        </p:txBody>
      </p:sp>
    </p:spTree>
    <p:extLst>
      <p:ext uri="{BB962C8B-B14F-4D97-AF65-F5344CB8AC3E}">
        <p14:creationId xmlns:p14="http://schemas.microsoft.com/office/powerpoint/2010/main" val="3596087398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2E09A9-D40C-B3DB-FF2E-29177F84BC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5D9F99-2A23-997D-B22D-98986C12BB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ＭＳ Ｐゴシック" pitchFamily="34" charset="-128"/>
                <a:sym typeface="Symbol" pitchFamily="18" charset="2"/>
              </a:rPr>
              <a:t>Value Iteration</a:t>
            </a:r>
            <a:endParaRPr lang="en-KR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E17F09E-8876-FC02-3869-483EEB772884}"/>
              </a:ext>
            </a:extLst>
          </p:cNvPr>
          <p:cNvSpPr/>
          <p:nvPr/>
        </p:nvSpPr>
        <p:spPr>
          <a:xfrm>
            <a:off x="7067791" y="4928056"/>
            <a:ext cx="2076209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800" dirty="0">
                <a:solidFill>
                  <a:schemeClr val="bg1">
                    <a:lumMod val="65000"/>
                  </a:schemeClr>
                </a:solidFill>
                <a:cs typeface="Calibri"/>
              </a:rPr>
              <a:t>Adapted from CS188 of Klein and </a:t>
            </a:r>
            <a:r>
              <a:rPr lang="en-US" sz="800" dirty="0" err="1">
                <a:solidFill>
                  <a:schemeClr val="bg1">
                    <a:lumMod val="65000"/>
                  </a:schemeClr>
                </a:solidFill>
                <a:cs typeface="Calibri"/>
              </a:rPr>
              <a:t>Abbeel</a:t>
            </a:r>
            <a:endParaRPr lang="en-KR" sz="800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6D0FC82-70E1-FA9C-8805-07BF1487061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80000"/>
              </a:lnSpc>
            </a:pPr>
            <a:r>
              <a:rPr lang="en-US" dirty="0">
                <a:solidFill>
                  <a:schemeClr val="tx1"/>
                </a:solidFill>
                <a:ea typeface="ＭＳ Ｐゴシック" pitchFamily="34" charset="-128"/>
              </a:rPr>
              <a:t>Start with V</a:t>
            </a:r>
            <a:r>
              <a:rPr lang="en-US" baseline="-25000" dirty="0">
                <a:solidFill>
                  <a:schemeClr val="tx1"/>
                </a:solidFill>
                <a:ea typeface="ＭＳ Ｐゴシック" pitchFamily="34" charset="-128"/>
              </a:rPr>
              <a:t>0</a:t>
            </a:r>
            <a:r>
              <a:rPr lang="ko-KR" altLang="en-US" baseline="-25000" dirty="0">
                <a:solidFill>
                  <a:schemeClr val="tx1"/>
                </a:solidFill>
                <a:ea typeface="ＭＳ Ｐゴシック" pitchFamily="34" charset="-128"/>
              </a:rPr>
              <a:t> </a:t>
            </a:r>
            <a:r>
              <a:rPr lang="en-US" dirty="0">
                <a:solidFill>
                  <a:schemeClr val="tx1"/>
                </a:solidFill>
                <a:ea typeface="ＭＳ Ｐゴシック" pitchFamily="34" charset="-128"/>
              </a:rPr>
              <a:t>(s) = 0: no time steps left means an expected reward sum of zero</a:t>
            </a:r>
          </a:p>
          <a:p>
            <a:pPr lvl="2">
              <a:lnSpc>
                <a:spcPct val="80000"/>
              </a:lnSpc>
            </a:pPr>
            <a:endParaRPr lang="en-US" sz="500" dirty="0">
              <a:solidFill>
                <a:schemeClr val="tx1"/>
              </a:solidFill>
              <a:ea typeface="ＭＳ Ｐゴシック" pitchFamily="34" charset="-128"/>
            </a:endParaRPr>
          </a:p>
          <a:p>
            <a:pPr>
              <a:lnSpc>
                <a:spcPct val="80000"/>
              </a:lnSpc>
            </a:pPr>
            <a:r>
              <a:rPr lang="en-US" dirty="0">
                <a:solidFill>
                  <a:schemeClr val="tx1"/>
                </a:solidFill>
                <a:ea typeface="ＭＳ Ｐゴシック" pitchFamily="34" charset="-128"/>
              </a:rPr>
              <a:t>Given vector of </a:t>
            </a:r>
            <a:r>
              <a:rPr lang="en-US" dirty="0" err="1">
                <a:solidFill>
                  <a:schemeClr val="tx1"/>
                </a:solidFill>
                <a:ea typeface="ＭＳ Ｐゴシック" pitchFamily="34" charset="-128"/>
              </a:rPr>
              <a:t>V</a:t>
            </a:r>
            <a:r>
              <a:rPr lang="en-US" baseline="-25000" dirty="0" err="1">
                <a:solidFill>
                  <a:schemeClr val="tx1"/>
                </a:solidFill>
                <a:ea typeface="ＭＳ Ｐゴシック" pitchFamily="34" charset="-128"/>
              </a:rPr>
              <a:t>k</a:t>
            </a:r>
            <a:r>
              <a:rPr lang="ko-KR" altLang="en-US" baseline="-25000" dirty="0">
                <a:solidFill>
                  <a:schemeClr val="tx1"/>
                </a:solidFill>
                <a:ea typeface="ＭＳ Ｐゴシック" pitchFamily="34" charset="-128"/>
              </a:rPr>
              <a:t> </a:t>
            </a:r>
            <a:r>
              <a:rPr lang="en-US" dirty="0">
                <a:solidFill>
                  <a:schemeClr val="tx1"/>
                </a:solidFill>
                <a:ea typeface="ＭＳ Ｐゴシック" pitchFamily="34" charset="-128"/>
              </a:rPr>
              <a:t>(s) values, do one ply of </a:t>
            </a:r>
            <a:r>
              <a:rPr lang="en-US" dirty="0" err="1">
                <a:solidFill>
                  <a:schemeClr val="tx1"/>
                </a:solidFill>
                <a:ea typeface="ＭＳ Ｐゴシック" pitchFamily="34" charset="-128"/>
              </a:rPr>
              <a:t>expectimax</a:t>
            </a:r>
            <a:r>
              <a:rPr lang="en-US" dirty="0">
                <a:solidFill>
                  <a:schemeClr val="tx1"/>
                </a:solidFill>
                <a:ea typeface="ＭＳ Ｐゴシック" pitchFamily="34" charset="-128"/>
              </a:rPr>
              <a:t> from each state:</a:t>
            </a:r>
            <a:endParaRPr lang="en-US" sz="1500" dirty="0">
              <a:solidFill>
                <a:schemeClr val="tx1"/>
              </a:solidFill>
              <a:ea typeface="ＭＳ Ｐゴシック" pitchFamily="34" charset="-128"/>
            </a:endParaRPr>
          </a:p>
          <a:p>
            <a:pPr lvl="1">
              <a:lnSpc>
                <a:spcPct val="80000"/>
              </a:lnSpc>
            </a:pPr>
            <a:endParaRPr lang="en-US" sz="1500" dirty="0">
              <a:solidFill>
                <a:schemeClr val="tx1"/>
              </a:solidFill>
              <a:ea typeface="ＭＳ Ｐゴシック" pitchFamily="34" charset="-128"/>
            </a:endParaRPr>
          </a:p>
          <a:p>
            <a:pPr marL="596900" lvl="1" indent="0">
              <a:lnSpc>
                <a:spcPct val="80000"/>
              </a:lnSpc>
              <a:buNone/>
            </a:pPr>
            <a:endParaRPr lang="en-US" sz="1500" dirty="0">
              <a:solidFill>
                <a:schemeClr val="tx1"/>
              </a:solidFill>
              <a:ea typeface="ＭＳ Ｐゴシック" pitchFamily="34" charset="-128"/>
            </a:endParaRPr>
          </a:p>
          <a:p>
            <a:pPr>
              <a:lnSpc>
                <a:spcPct val="80000"/>
              </a:lnSpc>
            </a:pPr>
            <a:r>
              <a:rPr lang="en-US" dirty="0">
                <a:solidFill>
                  <a:schemeClr val="tx1"/>
                </a:solidFill>
                <a:ea typeface="ＭＳ Ｐゴシック" pitchFamily="34" charset="-128"/>
              </a:rPr>
              <a:t>Repeat until convergence</a:t>
            </a:r>
          </a:p>
          <a:p>
            <a:pPr marL="596900" lvl="1" indent="0">
              <a:lnSpc>
                <a:spcPct val="80000"/>
              </a:lnSpc>
              <a:buNone/>
            </a:pPr>
            <a:endParaRPr lang="en-US" sz="500" dirty="0">
              <a:solidFill>
                <a:schemeClr val="tx1"/>
              </a:solidFill>
              <a:ea typeface="ＭＳ Ｐゴシック" pitchFamily="34" charset="-128"/>
            </a:endParaRPr>
          </a:p>
          <a:p>
            <a:pPr>
              <a:lnSpc>
                <a:spcPct val="80000"/>
              </a:lnSpc>
            </a:pPr>
            <a:r>
              <a:rPr lang="en-US" dirty="0">
                <a:solidFill>
                  <a:schemeClr val="tx1"/>
                </a:solidFill>
                <a:ea typeface="ＭＳ Ｐゴシック" pitchFamily="34" charset="-128"/>
              </a:rPr>
              <a:t>Complexity of each iteration: O</a:t>
            </a:r>
            <a:r>
              <a:rPr lang="ko-KR" altLang="en-US" dirty="0">
                <a:solidFill>
                  <a:schemeClr val="tx1"/>
                </a:solidFill>
                <a:ea typeface="ＭＳ Ｐゴシック" pitchFamily="34" charset="-128"/>
              </a:rPr>
              <a:t> </a:t>
            </a:r>
            <a:r>
              <a:rPr lang="en-US" dirty="0">
                <a:solidFill>
                  <a:schemeClr val="tx1"/>
                </a:solidFill>
                <a:ea typeface="ＭＳ Ｐゴシック" pitchFamily="34" charset="-128"/>
              </a:rPr>
              <a:t>(S</a:t>
            </a:r>
            <a:r>
              <a:rPr lang="en-US" baseline="30000" dirty="0">
                <a:solidFill>
                  <a:schemeClr val="tx1"/>
                </a:solidFill>
                <a:ea typeface="ＭＳ Ｐゴシック" pitchFamily="34" charset="-128"/>
              </a:rPr>
              <a:t>2</a:t>
            </a:r>
            <a:r>
              <a:rPr lang="en-US" dirty="0">
                <a:solidFill>
                  <a:schemeClr val="tx1"/>
                </a:solidFill>
                <a:ea typeface="ＭＳ Ｐゴシック" pitchFamily="34" charset="-128"/>
              </a:rPr>
              <a:t>A)</a:t>
            </a:r>
          </a:p>
          <a:p>
            <a:pPr lvl="1">
              <a:lnSpc>
                <a:spcPct val="80000"/>
              </a:lnSpc>
            </a:pPr>
            <a:endParaRPr lang="en-US" sz="500" dirty="0">
              <a:solidFill>
                <a:schemeClr val="tx1"/>
              </a:solidFill>
              <a:ea typeface="ＭＳ Ｐゴシック" pitchFamily="34" charset="-128"/>
            </a:endParaRPr>
          </a:p>
          <a:p>
            <a:pPr>
              <a:lnSpc>
                <a:spcPct val="80000"/>
              </a:lnSpc>
            </a:pPr>
            <a:r>
              <a:rPr lang="en-US" dirty="0">
                <a:solidFill>
                  <a:schemeClr val="tx1"/>
                </a:solidFill>
                <a:ea typeface="ＭＳ Ｐゴシック" pitchFamily="34" charset="-128"/>
              </a:rPr>
              <a:t>Theorem: will converge to </a:t>
            </a:r>
            <a:r>
              <a:rPr lang="en-US" b="1" i="1" dirty="0">
                <a:solidFill>
                  <a:schemeClr val="tx1"/>
                </a:solidFill>
                <a:ea typeface="ＭＳ Ｐゴシック" pitchFamily="34" charset="-128"/>
              </a:rPr>
              <a:t>unique optimal values</a:t>
            </a: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en-US" sz="1500" dirty="0">
                <a:solidFill>
                  <a:schemeClr val="tx1"/>
                </a:solidFill>
                <a:ea typeface="ＭＳ Ｐゴシック" pitchFamily="34" charset="-128"/>
              </a:rPr>
              <a:t>Basic idea: approximations get refined towards optimal values</a:t>
            </a: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en-US" sz="1500" dirty="0">
                <a:solidFill>
                  <a:schemeClr val="tx1"/>
                </a:solidFill>
                <a:ea typeface="ＭＳ Ｐゴシック" pitchFamily="34" charset="-128"/>
              </a:rPr>
              <a:t>Policy may converge long before values do</a:t>
            </a:r>
          </a:p>
          <a:p>
            <a:endParaRPr lang="en-KR" dirty="0">
              <a:solidFill>
                <a:schemeClr val="tx1"/>
              </a:solidFill>
            </a:endParaRP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6B2F870B-B872-2169-B5AC-0A2BF0611D88}"/>
              </a:ext>
            </a:extLst>
          </p:cNvPr>
          <p:cNvGrpSpPr/>
          <p:nvPr/>
        </p:nvGrpSpPr>
        <p:grpSpPr>
          <a:xfrm>
            <a:off x="7169894" y="1776666"/>
            <a:ext cx="1714500" cy="2971800"/>
            <a:chOff x="6915150" y="2571750"/>
            <a:chExt cx="1714500" cy="2971800"/>
          </a:xfrm>
        </p:grpSpPr>
        <p:grpSp>
          <p:nvGrpSpPr>
            <p:cNvPr id="3" name="Group 10">
              <a:extLst>
                <a:ext uri="{FF2B5EF4-FFF2-40B4-BE49-F238E27FC236}">
                  <a16:creationId xmlns:a16="http://schemas.microsoft.com/office/drawing/2014/main" id="{4987EA5D-022F-9123-CCF7-3E605265AE0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915150" y="2571750"/>
              <a:ext cx="1714500" cy="1614488"/>
              <a:chOff x="2400" y="1401"/>
              <a:chExt cx="1440" cy="1356"/>
            </a:xfrm>
          </p:grpSpPr>
          <p:sp>
            <p:nvSpPr>
              <p:cNvPr id="5" name="AutoShape 11">
                <a:extLst>
                  <a:ext uri="{FF2B5EF4-FFF2-40B4-BE49-F238E27FC236}">
                    <a16:creationId xmlns:a16="http://schemas.microsoft.com/office/drawing/2014/main" id="{BA2D4C6B-6F70-AD2F-CF7B-347DB4B444D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70" y="1488"/>
                <a:ext cx="155" cy="124"/>
              </a:xfrm>
              <a:prstGeom prst="triangle">
                <a:avLst>
                  <a:gd name="adj" fmla="val 50000"/>
                </a:avLst>
              </a:prstGeom>
              <a:solidFill>
                <a:srgbClr val="0000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endParaRPr lang="en-US" sz="1350">
                  <a:latin typeface="Calibri"/>
                  <a:cs typeface="Calibri"/>
                </a:endParaRPr>
              </a:p>
            </p:txBody>
          </p:sp>
          <p:grpSp>
            <p:nvGrpSpPr>
              <p:cNvPr id="7" name="Group 12">
                <a:extLst>
                  <a:ext uri="{FF2B5EF4-FFF2-40B4-BE49-F238E27FC236}">
                    <a16:creationId xmlns:a16="http://schemas.microsoft.com/office/drawing/2014/main" id="{D7A2F412-CF22-CAF3-2FC4-CA71C01AA13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529" y="1617"/>
                <a:ext cx="1263" cy="361"/>
                <a:chOff x="1584" y="1680"/>
                <a:chExt cx="2352" cy="336"/>
              </a:xfrm>
            </p:grpSpPr>
            <p:sp>
              <p:nvSpPr>
                <p:cNvPr id="20" name="Line 13">
                  <a:extLst>
                    <a:ext uri="{FF2B5EF4-FFF2-40B4-BE49-F238E27FC236}">
                      <a16:creationId xmlns:a16="http://schemas.microsoft.com/office/drawing/2014/main" id="{27C1E408-B1BB-A992-A164-543850DEB61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584" y="1680"/>
                  <a:ext cx="1152" cy="33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prstDash val="dash"/>
                  <a:round/>
                  <a:headEnd/>
                  <a:tailEnd type="triangle" w="med" len="med"/>
                </a:ln>
              </p:spPr>
              <p:txBody>
                <a:bodyPr/>
                <a:lstStyle/>
                <a:p>
                  <a:endParaRPr lang="en-US" sz="1350">
                    <a:latin typeface="Calibri"/>
                    <a:cs typeface="Calibri"/>
                  </a:endParaRPr>
                </a:p>
              </p:txBody>
            </p:sp>
            <p:sp>
              <p:nvSpPr>
                <p:cNvPr id="21" name="Line 14">
                  <a:extLst>
                    <a:ext uri="{FF2B5EF4-FFF2-40B4-BE49-F238E27FC236}">
                      <a16:creationId xmlns:a16="http://schemas.microsoft.com/office/drawing/2014/main" id="{62E74B1A-DF49-4007-588D-AD13401D2B7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736" y="1680"/>
                  <a:ext cx="1200" cy="288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prstDash val="dash"/>
                  <a:round/>
                  <a:headEnd/>
                  <a:tailEnd type="triangle" w="med" len="med"/>
                </a:ln>
              </p:spPr>
              <p:txBody>
                <a:bodyPr/>
                <a:lstStyle/>
                <a:p>
                  <a:endParaRPr lang="en-US" sz="1350">
                    <a:latin typeface="Calibri"/>
                    <a:cs typeface="Calibri"/>
                  </a:endParaRPr>
                </a:p>
              </p:txBody>
            </p:sp>
            <p:sp>
              <p:nvSpPr>
                <p:cNvPr id="22" name="Line 15">
                  <a:extLst>
                    <a:ext uri="{FF2B5EF4-FFF2-40B4-BE49-F238E27FC236}">
                      <a16:creationId xmlns:a16="http://schemas.microsoft.com/office/drawing/2014/main" id="{651DAB93-C076-D775-C675-BA634195819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2304" y="1680"/>
                  <a:ext cx="432" cy="336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 type="triangle" w="med" len="med"/>
                </a:ln>
              </p:spPr>
              <p:txBody>
                <a:bodyPr/>
                <a:lstStyle/>
                <a:p>
                  <a:endParaRPr lang="en-US" sz="1350">
                    <a:latin typeface="Calibri"/>
                    <a:cs typeface="Calibri"/>
                  </a:endParaRPr>
                </a:p>
              </p:txBody>
            </p:sp>
            <p:sp>
              <p:nvSpPr>
                <p:cNvPr id="23" name="Line 16">
                  <a:extLst>
                    <a:ext uri="{FF2B5EF4-FFF2-40B4-BE49-F238E27FC236}">
                      <a16:creationId xmlns:a16="http://schemas.microsoft.com/office/drawing/2014/main" id="{9CEEB108-746F-4B73-74A0-8EE84FBBA28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736" y="1680"/>
                  <a:ext cx="432" cy="288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prstDash val="dash"/>
                  <a:round/>
                  <a:headEnd/>
                  <a:tailEnd type="triangle" w="med" len="med"/>
                </a:ln>
              </p:spPr>
              <p:txBody>
                <a:bodyPr/>
                <a:lstStyle/>
                <a:p>
                  <a:endParaRPr lang="en-US" sz="1350">
                    <a:latin typeface="Calibri"/>
                    <a:cs typeface="Calibri"/>
                  </a:endParaRPr>
                </a:p>
              </p:txBody>
            </p:sp>
          </p:grpSp>
          <p:sp>
            <p:nvSpPr>
              <p:cNvPr id="8" name="Oval 17">
                <a:extLst>
                  <a:ext uri="{FF2B5EF4-FFF2-40B4-BE49-F238E27FC236}">
                    <a16:creationId xmlns:a16="http://schemas.microsoft.com/office/drawing/2014/main" id="{D7FB124D-4A89-103E-B810-010CF56D815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64" y="1978"/>
                <a:ext cx="129" cy="129"/>
              </a:xfrm>
              <a:prstGeom prst="ellipse">
                <a:avLst/>
              </a:prstGeom>
              <a:solidFill>
                <a:srgbClr val="0080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sz="1350">
                  <a:latin typeface="Calibri"/>
                  <a:cs typeface="Calibri"/>
                </a:endParaRPr>
              </a:p>
            </p:txBody>
          </p:sp>
          <p:grpSp>
            <p:nvGrpSpPr>
              <p:cNvPr id="10" name="Group 18">
                <a:extLst>
                  <a:ext uri="{FF2B5EF4-FFF2-40B4-BE49-F238E27FC236}">
                    <a16:creationId xmlns:a16="http://schemas.microsoft.com/office/drawing/2014/main" id="{AB76B8B7-F605-6529-4572-F62044FA392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400" y="2107"/>
                <a:ext cx="1057" cy="386"/>
                <a:chOff x="1536" y="2400"/>
                <a:chExt cx="1584" cy="624"/>
              </a:xfrm>
            </p:grpSpPr>
            <p:sp>
              <p:nvSpPr>
                <p:cNvPr id="16" name="Line 19">
                  <a:extLst>
                    <a:ext uri="{FF2B5EF4-FFF2-40B4-BE49-F238E27FC236}">
                      <a16:creationId xmlns:a16="http://schemas.microsoft.com/office/drawing/2014/main" id="{5B7C05B1-8379-FA19-EA06-F1BD1496BB3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536" y="2400"/>
                  <a:ext cx="776" cy="62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prstDash val="dash"/>
                  <a:round/>
                  <a:headEnd/>
                  <a:tailEnd type="triangle" w="med" len="med"/>
                </a:ln>
              </p:spPr>
              <p:txBody>
                <a:bodyPr/>
                <a:lstStyle/>
                <a:p>
                  <a:endParaRPr lang="en-US" sz="1350">
                    <a:latin typeface="Calibri"/>
                    <a:cs typeface="Calibri"/>
                  </a:endParaRPr>
                </a:p>
              </p:txBody>
            </p:sp>
            <p:sp>
              <p:nvSpPr>
                <p:cNvPr id="17" name="Line 20">
                  <a:extLst>
                    <a:ext uri="{FF2B5EF4-FFF2-40B4-BE49-F238E27FC236}">
                      <a16:creationId xmlns:a16="http://schemas.microsoft.com/office/drawing/2014/main" id="{C87BA446-6461-0619-5AD2-EAADDD7D2DF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312" y="2400"/>
                  <a:ext cx="808" cy="62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prstDash val="dash"/>
                  <a:round/>
                  <a:headEnd/>
                  <a:tailEnd type="triangle" w="med" len="med"/>
                </a:ln>
              </p:spPr>
              <p:txBody>
                <a:bodyPr/>
                <a:lstStyle/>
                <a:p>
                  <a:endParaRPr lang="en-US" sz="1350">
                    <a:latin typeface="Calibri"/>
                    <a:cs typeface="Calibri"/>
                  </a:endParaRPr>
                </a:p>
              </p:txBody>
            </p:sp>
            <p:sp>
              <p:nvSpPr>
                <p:cNvPr id="18" name="Line 21">
                  <a:extLst>
                    <a:ext uri="{FF2B5EF4-FFF2-40B4-BE49-F238E27FC236}">
                      <a16:creationId xmlns:a16="http://schemas.microsoft.com/office/drawing/2014/main" id="{73698F49-C929-6EF4-B394-E24EA3829A7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2021" y="2400"/>
                  <a:ext cx="291" cy="624"/>
                </a:xfrm>
                <a:prstGeom prst="line">
                  <a:avLst/>
                </a:prstGeom>
                <a:noFill/>
                <a:ln w="9525">
                  <a:solidFill>
                    <a:schemeClr val="bg1"/>
                  </a:solidFill>
                  <a:prstDash val="dash"/>
                  <a:round/>
                  <a:headEnd/>
                  <a:tailEnd type="triangle" w="med" len="med"/>
                </a:ln>
              </p:spPr>
              <p:txBody>
                <a:bodyPr/>
                <a:lstStyle/>
                <a:p>
                  <a:endParaRPr lang="en-US" sz="1350">
                    <a:latin typeface="Calibri"/>
                    <a:cs typeface="Calibri"/>
                  </a:endParaRPr>
                </a:p>
              </p:txBody>
            </p:sp>
            <p:sp>
              <p:nvSpPr>
                <p:cNvPr id="19" name="Line 22">
                  <a:extLst>
                    <a:ext uri="{FF2B5EF4-FFF2-40B4-BE49-F238E27FC236}">
                      <a16:creationId xmlns:a16="http://schemas.microsoft.com/office/drawing/2014/main" id="{B02EFD06-8A8C-101C-8742-9C885A3A0F9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312" y="2400"/>
                  <a:ext cx="280" cy="624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 type="triangle" w="med" len="med"/>
                </a:ln>
              </p:spPr>
              <p:txBody>
                <a:bodyPr/>
                <a:lstStyle/>
                <a:p>
                  <a:endParaRPr lang="en-US" sz="1350">
                    <a:latin typeface="Calibri"/>
                    <a:cs typeface="Calibri"/>
                  </a:endParaRPr>
                </a:p>
              </p:txBody>
            </p:sp>
          </p:grpSp>
          <p:sp>
            <p:nvSpPr>
              <p:cNvPr id="11" name="Text Box 23">
                <a:extLst>
                  <a:ext uri="{FF2B5EF4-FFF2-40B4-BE49-F238E27FC236}">
                    <a16:creationId xmlns:a16="http://schemas.microsoft.com/office/drawing/2014/main" id="{96E2031A-D4C0-BCD4-0E8B-E7484CD0A8D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024" y="1680"/>
                <a:ext cx="129" cy="25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sz="1350">
                    <a:latin typeface="Calibri"/>
                    <a:cs typeface="Calibri"/>
                  </a:rPr>
                  <a:t>a</a:t>
                </a:r>
              </a:p>
            </p:txBody>
          </p:sp>
          <p:sp>
            <p:nvSpPr>
              <p:cNvPr id="12" name="Text Box 24">
                <a:extLst>
                  <a:ext uri="{FF2B5EF4-FFF2-40B4-BE49-F238E27FC236}">
                    <a16:creationId xmlns:a16="http://schemas.microsoft.com/office/drawing/2014/main" id="{15416D93-FC57-83AE-80A7-CB50D130913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216" y="1401"/>
                <a:ext cx="624" cy="25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sz="1350" dirty="0">
                    <a:solidFill>
                      <a:srgbClr val="0000FF"/>
                    </a:solidFill>
                    <a:latin typeface="Calibri"/>
                    <a:cs typeface="Calibri"/>
                  </a:rPr>
                  <a:t>V</a:t>
                </a:r>
                <a:r>
                  <a:rPr lang="en-US" sz="1350" baseline="-25000" dirty="0">
                    <a:solidFill>
                      <a:srgbClr val="0000FF"/>
                    </a:solidFill>
                    <a:latin typeface="Calibri"/>
                    <a:cs typeface="Calibri"/>
                  </a:rPr>
                  <a:t>k+1</a:t>
                </a:r>
                <a:r>
                  <a:rPr lang="en-US" sz="1350" dirty="0">
                    <a:solidFill>
                      <a:srgbClr val="0000FF"/>
                    </a:solidFill>
                    <a:latin typeface="Calibri"/>
                    <a:cs typeface="Calibri"/>
                  </a:rPr>
                  <a:t>(s)</a:t>
                </a:r>
              </a:p>
            </p:txBody>
          </p:sp>
          <p:sp>
            <p:nvSpPr>
              <p:cNvPr id="13" name="Text Box 25">
                <a:extLst>
                  <a:ext uri="{FF2B5EF4-FFF2-40B4-BE49-F238E27FC236}">
                    <a16:creationId xmlns:a16="http://schemas.microsoft.com/office/drawing/2014/main" id="{806CDF33-37AB-9BF3-1309-9AFB17B22A0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76" y="1920"/>
                <a:ext cx="559" cy="25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sz="1350" dirty="0">
                    <a:solidFill>
                      <a:srgbClr val="008000"/>
                    </a:solidFill>
                    <a:latin typeface="Calibri"/>
                    <a:cs typeface="Calibri"/>
                  </a:rPr>
                  <a:t>s, a</a:t>
                </a:r>
              </a:p>
            </p:txBody>
          </p:sp>
          <p:sp>
            <p:nvSpPr>
              <p:cNvPr id="14" name="Text Box 26">
                <a:extLst>
                  <a:ext uri="{FF2B5EF4-FFF2-40B4-BE49-F238E27FC236}">
                    <a16:creationId xmlns:a16="http://schemas.microsoft.com/office/drawing/2014/main" id="{CC2BE898-9C26-6B58-333B-AE51D16DA30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592" y="2265"/>
                <a:ext cx="504" cy="25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sz="1350" dirty="0" err="1">
                    <a:latin typeface="Calibri"/>
                    <a:cs typeface="Calibri"/>
                  </a:rPr>
                  <a:t>s,a,s</a:t>
                </a:r>
                <a:r>
                  <a:rPr lang="ja-JP" altLang="en-US" sz="1350">
                    <a:latin typeface="Calibri"/>
                    <a:cs typeface="Calibri"/>
                  </a:rPr>
                  <a:t>’</a:t>
                </a:r>
                <a:endParaRPr lang="en-US" sz="1350" dirty="0">
                  <a:latin typeface="Calibri"/>
                  <a:cs typeface="Calibri"/>
                </a:endParaRPr>
              </a:p>
            </p:txBody>
          </p:sp>
          <p:sp>
            <p:nvSpPr>
              <p:cNvPr id="15" name="Text Box 28">
                <a:extLst>
                  <a:ext uri="{FF2B5EF4-FFF2-40B4-BE49-F238E27FC236}">
                    <a16:creationId xmlns:a16="http://schemas.microsoft.com/office/drawing/2014/main" id="{05DB722E-A377-CDB1-2E19-104A574D78D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789" y="2505"/>
                <a:ext cx="667" cy="25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pPr algn="r" rtl="1">
                  <a:spcBef>
                    <a:spcPct val="50000"/>
                  </a:spcBef>
                </a:pPr>
                <a:r>
                  <a:rPr lang="en-US" sz="1350" dirty="0" err="1">
                    <a:solidFill>
                      <a:srgbClr val="0000FF"/>
                    </a:solidFill>
                    <a:latin typeface="Calibri"/>
                    <a:cs typeface="Calibri"/>
                  </a:rPr>
                  <a:t>V</a:t>
                </a:r>
                <a:r>
                  <a:rPr lang="en-US" sz="1350" baseline="-25000" dirty="0" err="1">
                    <a:solidFill>
                      <a:srgbClr val="0000FF"/>
                    </a:solidFill>
                    <a:latin typeface="Calibri"/>
                    <a:cs typeface="Calibri"/>
                  </a:rPr>
                  <a:t>k</a:t>
                </a:r>
                <a:r>
                  <a:rPr lang="en-US" sz="1350" dirty="0">
                    <a:solidFill>
                      <a:srgbClr val="0000FF"/>
                    </a:solidFill>
                    <a:latin typeface="Calibri"/>
                    <a:cs typeface="Calibri"/>
                  </a:rPr>
                  <a:t>(s’</a:t>
                </a:r>
                <a:r>
                  <a:rPr lang="en-US" altLang="ja-JP" sz="1350" dirty="0">
                    <a:solidFill>
                      <a:srgbClr val="0000FF"/>
                    </a:solidFill>
                    <a:latin typeface="Calibri"/>
                    <a:cs typeface="Calibri"/>
                  </a:rPr>
                  <a:t>)</a:t>
                </a:r>
                <a:endParaRPr lang="en-US" sz="1350" dirty="0">
                  <a:solidFill>
                    <a:srgbClr val="0000FF"/>
                  </a:solidFill>
                  <a:latin typeface="Calibri"/>
                  <a:cs typeface="Calibri"/>
                </a:endParaRPr>
              </a:p>
            </p:txBody>
          </p:sp>
        </p:grpSp>
        <p:sp>
          <p:nvSpPr>
            <p:cNvPr id="24" name="Isosceles Triangle 26">
              <a:extLst>
                <a:ext uri="{FF2B5EF4-FFF2-40B4-BE49-F238E27FC236}">
                  <a16:creationId xmlns:a16="http://schemas.microsoft.com/office/drawing/2014/main" id="{E699F236-7C72-7887-FE41-0787ADF5A42A}"/>
                </a:ext>
              </a:extLst>
            </p:cNvPr>
            <p:cNvSpPr/>
            <p:nvPr/>
          </p:nvSpPr>
          <p:spPr>
            <a:xfrm>
              <a:off x="7200900" y="4229100"/>
              <a:ext cx="1200150" cy="1314450"/>
            </a:xfrm>
            <a:prstGeom prst="triangle">
              <a:avLst/>
            </a:prstGeom>
            <a:solidFill>
              <a:srgbClr val="8FAAFF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>
                <a:latin typeface="Calibri"/>
                <a:cs typeface="Calibri"/>
              </a:endParaRPr>
            </a:p>
          </p:txBody>
        </p:sp>
      </p:grpSp>
      <p:pic>
        <p:nvPicPr>
          <p:cNvPr id="26" name="Picture 25" descr="txp_fig">
            <a:extLst>
              <a:ext uri="{FF2B5EF4-FFF2-40B4-BE49-F238E27FC236}">
                <a16:creationId xmlns:a16="http://schemas.microsoft.com/office/drawing/2014/main" id="{171F58BB-A3F4-8B44-7FBF-D0B3EF4589D4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 cstate="print"/>
          <a:stretch>
            <a:fillRect/>
          </a:stretch>
        </p:blipFill>
        <p:spPr bwMode="auto">
          <a:xfrm>
            <a:off x="1167244" y="2106006"/>
            <a:ext cx="5450200" cy="518198"/>
          </a:xfrm>
          <a:prstGeom prst="rect">
            <a:avLst/>
          </a:prstGeom>
          <a:noFill/>
          <a:ln/>
          <a:effectLst/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28D348-813B-376A-607F-990FC960BAF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KR"/>
              <a:t>691</a:t>
            </a:r>
            <a:endParaRPr lang="en-KR" sz="4000" dirty="0"/>
          </a:p>
        </p:txBody>
      </p:sp>
    </p:spTree>
    <p:extLst>
      <p:ext uri="{BB962C8B-B14F-4D97-AF65-F5344CB8AC3E}">
        <p14:creationId xmlns:p14="http://schemas.microsoft.com/office/powerpoint/2010/main" val="37133483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C53428-786C-6BE2-376E-6585E793D8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A27A3E-5FB5-6B45-5574-03E9DE63AC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ＭＳ Ｐゴシック" pitchFamily="34" charset="-128"/>
              </a:rPr>
              <a:t>Example: Value Iteration</a:t>
            </a:r>
            <a:endParaRPr lang="en-KR" dirty="0">
              <a:ea typeface="ＭＳ Ｐゴシック" pitchFamily="34" charset="-128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37C3EFA-E630-B601-D545-EEDFD9D2478B}"/>
              </a:ext>
            </a:extLst>
          </p:cNvPr>
          <p:cNvSpPr/>
          <p:nvPr/>
        </p:nvSpPr>
        <p:spPr>
          <a:xfrm>
            <a:off x="7067791" y="4928056"/>
            <a:ext cx="2076209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800" dirty="0">
                <a:solidFill>
                  <a:schemeClr val="bg1">
                    <a:lumMod val="65000"/>
                  </a:schemeClr>
                </a:solidFill>
                <a:cs typeface="Calibri"/>
              </a:rPr>
              <a:t>Adapted from CS188 of Klein and </a:t>
            </a:r>
            <a:r>
              <a:rPr lang="en-US" sz="800" dirty="0" err="1">
                <a:solidFill>
                  <a:schemeClr val="bg1">
                    <a:lumMod val="65000"/>
                  </a:schemeClr>
                </a:solidFill>
                <a:cs typeface="Calibri"/>
              </a:rPr>
              <a:t>Abbeel</a:t>
            </a:r>
            <a:endParaRPr lang="en-KR" sz="800" dirty="0"/>
          </a:p>
        </p:txBody>
      </p:sp>
      <p:pic>
        <p:nvPicPr>
          <p:cNvPr id="3" name="Content Placeholder 38" descr="TP_tmp.png">
            <a:extLst>
              <a:ext uri="{FF2B5EF4-FFF2-40B4-BE49-F238E27FC236}">
                <a16:creationId xmlns:a16="http://schemas.microsoft.com/office/drawing/2014/main" id="{3689BBBC-8EA5-0A9E-D56F-E1E73DD4CCB7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6" cstate="print"/>
          <a:stretch>
            <a:fillRect/>
          </a:stretch>
        </p:blipFill>
        <p:spPr bwMode="auto">
          <a:xfrm>
            <a:off x="527360" y="4052375"/>
            <a:ext cx="191106" cy="191106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id="5" name="Picture 2">
            <a:extLst>
              <a:ext uri="{FF2B5EF4-FFF2-40B4-BE49-F238E27FC236}">
                <a16:creationId xmlns:a16="http://schemas.microsoft.com/office/drawing/2014/main" id="{9B844D73-A79B-523E-BAB1-B4B027C5D2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129153" y="1362128"/>
            <a:ext cx="501509" cy="329742"/>
          </a:xfrm>
          <a:prstGeom prst="rect">
            <a:avLst/>
          </a:prstGeom>
          <a:noFill/>
        </p:spPr>
      </p:pic>
      <p:pic>
        <p:nvPicPr>
          <p:cNvPr id="7" name="Picture 2">
            <a:extLst>
              <a:ext uri="{FF2B5EF4-FFF2-40B4-BE49-F238E27FC236}">
                <a16:creationId xmlns:a16="http://schemas.microsoft.com/office/drawing/2014/main" id="{32151649-3FE8-1783-C75D-78ABC7ED73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995997" y="1328832"/>
            <a:ext cx="532093" cy="376847"/>
          </a:xfrm>
          <a:prstGeom prst="rect">
            <a:avLst/>
          </a:prstGeom>
          <a:noFill/>
        </p:spPr>
      </p:pic>
      <p:pic>
        <p:nvPicPr>
          <p:cNvPr id="8" name="Picture 2">
            <a:extLst>
              <a:ext uri="{FF2B5EF4-FFF2-40B4-BE49-F238E27FC236}">
                <a16:creationId xmlns:a16="http://schemas.microsoft.com/office/drawing/2014/main" id="{18A9C7C4-5DAA-F078-D213-5B691BC409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065691" y="1355696"/>
            <a:ext cx="548203" cy="345443"/>
          </a:xfrm>
          <a:prstGeom prst="rect">
            <a:avLst/>
          </a:prstGeom>
          <a:noFill/>
        </p:spPr>
      </p:pic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1D947E08-A9B5-1ABD-90DF-4175178997F9}"/>
              </a:ext>
            </a:extLst>
          </p:cNvPr>
          <p:cNvSpPr/>
          <p:nvPr/>
        </p:nvSpPr>
        <p:spPr>
          <a:xfrm>
            <a:off x="927410" y="3831504"/>
            <a:ext cx="2743200" cy="640577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>
              <a:latin typeface="Calibri"/>
              <a:cs typeface="Calibri"/>
            </a:endParaRP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ECDE9CB1-4927-5AC9-4DA3-BA47F465EE11}"/>
              </a:ext>
            </a:extLst>
          </p:cNvPr>
          <p:cNvSpPr/>
          <p:nvPr/>
        </p:nvSpPr>
        <p:spPr>
          <a:xfrm>
            <a:off x="927410" y="2802804"/>
            <a:ext cx="2743200" cy="640577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>
              <a:latin typeface="Calibri"/>
              <a:cs typeface="Calibri"/>
            </a:endParaRP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48D5BA0E-C39A-F64A-3AE8-FE08B70DC993}"/>
              </a:ext>
            </a:extLst>
          </p:cNvPr>
          <p:cNvSpPr/>
          <p:nvPr/>
        </p:nvSpPr>
        <p:spPr>
          <a:xfrm>
            <a:off x="927410" y="1786031"/>
            <a:ext cx="2743200" cy="628650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>
              <a:latin typeface="Calibri"/>
              <a:cs typeface="Calibri"/>
            </a:endParaRPr>
          </a:p>
        </p:txBody>
      </p:sp>
      <p:pic>
        <p:nvPicPr>
          <p:cNvPr id="13" name="Picture 12" descr="TP_tmp.png">
            <a:extLst>
              <a:ext uri="{FF2B5EF4-FFF2-40B4-BE49-F238E27FC236}">
                <a16:creationId xmlns:a16="http://schemas.microsoft.com/office/drawing/2014/main" id="{F29CD92B-DD3C-7EEE-7728-0CB7FD7328BE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0" cstate="print"/>
          <a:stretch>
            <a:fillRect/>
          </a:stretch>
        </p:blipFill>
        <p:spPr bwMode="auto">
          <a:xfrm>
            <a:off x="536916" y="3035603"/>
            <a:ext cx="171995" cy="191488"/>
          </a:xfrm>
          <a:prstGeom prst="rect">
            <a:avLst/>
          </a:prstGeom>
          <a:noFill/>
          <a:ln/>
          <a:effectLst/>
        </p:spPr>
      </p:pic>
      <p:pic>
        <p:nvPicPr>
          <p:cNvPr id="14" name="Picture 13" descr="TP_tmp.png">
            <a:extLst>
              <a:ext uri="{FF2B5EF4-FFF2-40B4-BE49-F238E27FC236}">
                <a16:creationId xmlns:a16="http://schemas.microsoft.com/office/drawing/2014/main" id="{F64D965F-F472-63D1-B6ED-1DBA6F8DF084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1" cstate="print"/>
          <a:stretch>
            <a:fillRect/>
          </a:stretch>
        </p:blipFill>
        <p:spPr bwMode="auto">
          <a:xfrm>
            <a:off x="517614" y="2006903"/>
            <a:ext cx="191488" cy="191488"/>
          </a:xfrm>
          <a:prstGeom prst="rect">
            <a:avLst/>
          </a:prstGeom>
          <a:noFill/>
          <a:ln/>
          <a:effectLst/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60E85A8E-11E4-8EC2-6C15-741D9E062F8B}"/>
              </a:ext>
            </a:extLst>
          </p:cNvPr>
          <p:cNvSpPr txBox="1"/>
          <p:nvPr/>
        </p:nvSpPr>
        <p:spPr>
          <a:xfrm>
            <a:off x="1098860" y="3957731"/>
            <a:ext cx="245745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100" dirty="0">
                <a:latin typeface="Calibri"/>
                <a:cs typeface="Calibri"/>
              </a:rPr>
              <a:t>  0             0             0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0C967CA-C328-3D69-A22F-72DC417E083E}"/>
              </a:ext>
            </a:extLst>
          </p:cNvPr>
          <p:cNvSpPr txBox="1"/>
          <p:nvPr/>
        </p:nvSpPr>
        <p:spPr>
          <a:xfrm>
            <a:off x="1098860" y="2929031"/>
            <a:ext cx="245745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100" dirty="0">
                <a:latin typeface="Calibri"/>
                <a:cs typeface="Calibri"/>
              </a:rPr>
              <a:t>  2             1             0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4BDA4FA-DD6C-376F-7402-56A8D492A8B0}"/>
              </a:ext>
            </a:extLst>
          </p:cNvPr>
          <p:cNvSpPr txBox="1"/>
          <p:nvPr/>
        </p:nvSpPr>
        <p:spPr>
          <a:xfrm>
            <a:off x="1098860" y="1900331"/>
            <a:ext cx="245745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100" dirty="0">
                <a:latin typeface="Calibri"/>
                <a:cs typeface="Calibri"/>
              </a:rPr>
              <a:t>  3.5          2.5          0</a:t>
            </a:r>
          </a:p>
        </p:txBody>
      </p:sp>
      <p:pic>
        <p:nvPicPr>
          <p:cNvPr id="19" name="Picture 3">
            <a:extLst>
              <a:ext uri="{FF2B5EF4-FFF2-40B4-BE49-F238E27FC236}">
                <a16:creationId xmlns:a16="http://schemas.microsoft.com/office/drawing/2014/main" id="{4AD8B53D-EBE6-3B9B-8FB3-77B6B9F5BB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107246" y="1535809"/>
            <a:ext cx="4821164" cy="17577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" name="Picture 19" descr="txp_fig">
            <a:extLst>
              <a:ext uri="{FF2B5EF4-FFF2-40B4-BE49-F238E27FC236}">
                <a16:creationId xmlns:a16="http://schemas.microsoft.com/office/drawing/2014/main" id="{47BC5020-2D62-05B6-D42F-E5EBAF292AFF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3" cstate="print"/>
          <a:stretch>
            <a:fillRect/>
          </a:stretch>
        </p:blipFill>
        <p:spPr bwMode="auto">
          <a:xfrm>
            <a:off x="4299260" y="4129181"/>
            <a:ext cx="4478650" cy="425824"/>
          </a:xfrm>
          <a:prstGeom prst="rect">
            <a:avLst/>
          </a:prstGeom>
          <a:noFill/>
          <a:ln/>
          <a:effectLst/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18EF438-7D6D-7499-17E1-FB177EF4D5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KR"/>
              <a:t>691</a:t>
            </a:r>
            <a:endParaRPr lang="en-KR" sz="4000" dirty="0"/>
          </a:p>
        </p:txBody>
      </p:sp>
    </p:spTree>
    <p:extLst>
      <p:ext uri="{BB962C8B-B14F-4D97-AF65-F5344CB8AC3E}">
        <p14:creationId xmlns:p14="http://schemas.microsoft.com/office/powerpoint/2010/main" val="25791595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1625FE-565A-31BE-2367-859A5D5291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F08694-3049-2DE5-8CA7-55570190AF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ＭＳ Ｐゴシック" pitchFamily="34" charset="-128"/>
              </a:rPr>
              <a:t>Convergence*</a:t>
            </a:r>
            <a:endParaRPr lang="en-KR" dirty="0">
              <a:ea typeface="ＭＳ Ｐゴシック" pitchFamily="34" charset="-128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231215A-F61F-8550-0D1D-20229516E25A}"/>
              </a:ext>
            </a:extLst>
          </p:cNvPr>
          <p:cNvSpPr/>
          <p:nvPr/>
        </p:nvSpPr>
        <p:spPr>
          <a:xfrm>
            <a:off x="7067791" y="4928056"/>
            <a:ext cx="2076209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800" dirty="0">
                <a:solidFill>
                  <a:schemeClr val="bg1">
                    <a:lumMod val="65000"/>
                  </a:schemeClr>
                </a:solidFill>
                <a:cs typeface="Calibri"/>
              </a:rPr>
              <a:t>Adapted from CS188 of Klein and </a:t>
            </a:r>
            <a:r>
              <a:rPr lang="en-US" sz="800" dirty="0" err="1">
                <a:solidFill>
                  <a:schemeClr val="bg1">
                    <a:lumMod val="65000"/>
                  </a:schemeClr>
                </a:solidFill>
                <a:cs typeface="Calibri"/>
              </a:rPr>
              <a:t>Abbeel</a:t>
            </a:r>
            <a:endParaRPr lang="en-KR" sz="800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4192E33A-61AF-FBED-150E-D539814B15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1152475"/>
            <a:ext cx="5971113" cy="3416400"/>
          </a:xfrm>
        </p:spPr>
        <p:txBody>
          <a:bodyPr/>
          <a:lstStyle/>
          <a:p>
            <a:r>
              <a:rPr lang="en-US" dirty="0">
                <a:solidFill>
                  <a:schemeClr val="tx1"/>
                </a:solidFill>
                <a:ea typeface="ＭＳ Ｐゴシック" pitchFamily="34" charset="-128"/>
              </a:rPr>
              <a:t>How do we know the </a:t>
            </a:r>
            <a:r>
              <a:rPr lang="en-US" dirty="0" err="1">
                <a:solidFill>
                  <a:schemeClr val="tx1"/>
                </a:solidFill>
                <a:ea typeface="ＭＳ Ｐゴシック" pitchFamily="34" charset="-128"/>
              </a:rPr>
              <a:t>V</a:t>
            </a:r>
            <a:r>
              <a:rPr lang="en-US" sz="1100" dirty="0" err="1">
                <a:solidFill>
                  <a:schemeClr val="tx1"/>
                </a:solidFill>
                <a:ea typeface="ＭＳ Ｐゴシック" pitchFamily="34" charset="-128"/>
              </a:rPr>
              <a:t>k</a:t>
            </a:r>
            <a:r>
              <a:rPr lang="en-US" dirty="0">
                <a:solidFill>
                  <a:schemeClr val="tx1"/>
                </a:solidFill>
                <a:ea typeface="ＭＳ Ｐゴシック" pitchFamily="34" charset="-128"/>
              </a:rPr>
              <a:t> vectors are going to converge?</a:t>
            </a:r>
          </a:p>
          <a:p>
            <a:endParaRPr lang="en-US" sz="500" dirty="0">
              <a:solidFill>
                <a:schemeClr val="tx1"/>
              </a:solidFill>
              <a:ea typeface="ＭＳ Ｐゴシック" pitchFamily="34" charset="-128"/>
            </a:endParaRPr>
          </a:p>
          <a:p>
            <a:r>
              <a:rPr lang="en-US" dirty="0">
                <a:solidFill>
                  <a:schemeClr val="tx1"/>
                </a:solidFill>
                <a:ea typeface="ＭＳ Ｐゴシック" pitchFamily="34" charset="-128"/>
              </a:rPr>
              <a:t>Case 1: If the tree has </a:t>
            </a:r>
            <a:r>
              <a:rPr lang="en-US" b="1" dirty="0">
                <a:solidFill>
                  <a:schemeClr val="tx1"/>
                </a:solidFill>
                <a:ea typeface="ＭＳ Ｐゴシック" pitchFamily="34" charset="-128"/>
              </a:rPr>
              <a:t>maximum depth M</a:t>
            </a:r>
            <a:r>
              <a:rPr lang="en-US" dirty="0">
                <a:solidFill>
                  <a:schemeClr val="tx1"/>
                </a:solidFill>
                <a:ea typeface="ＭＳ Ｐゴシック" pitchFamily="34" charset="-128"/>
              </a:rPr>
              <a:t>, then V</a:t>
            </a:r>
            <a:r>
              <a:rPr lang="en-US" sz="1050" dirty="0">
                <a:solidFill>
                  <a:schemeClr val="tx1"/>
                </a:solidFill>
                <a:ea typeface="ＭＳ Ｐゴシック" pitchFamily="34" charset="-128"/>
              </a:rPr>
              <a:t>M</a:t>
            </a:r>
            <a:r>
              <a:rPr lang="en-US" dirty="0">
                <a:solidFill>
                  <a:schemeClr val="tx1"/>
                </a:solidFill>
                <a:ea typeface="ＭＳ Ｐゴシック" pitchFamily="34" charset="-128"/>
              </a:rPr>
              <a:t> holds the actual untruncated values</a:t>
            </a:r>
          </a:p>
          <a:p>
            <a:endParaRPr lang="en-US" sz="500" dirty="0">
              <a:solidFill>
                <a:schemeClr val="tx1"/>
              </a:solidFill>
              <a:ea typeface="ＭＳ Ｐゴシック" pitchFamily="34" charset="-128"/>
            </a:endParaRPr>
          </a:p>
          <a:p>
            <a:r>
              <a:rPr lang="en-US" dirty="0">
                <a:solidFill>
                  <a:schemeClr val="tx1"/>
                </a:solidFill>
                <a:ea typeface="ＭＳ Ｐゴシック" pitchFamily="34" charset="-128"/>
              </a:rPr>
              <a:t>Case 2: If the </a:t>
            </a:r>
            <a:r>
              <a:rPr lang="en-US" b="1" dirty="0">
                <a:solidFill>
                  <a:schemeClr val="tx1"/>
                </a:solidFill>
                <a:ea typeface="ＭＳ Ｐゴシック" pitchFamily="34" charset="-128"/>
              </a:rPr>
              <a:t>discount</a:t>
            </a:r>
            <a:r>
              <a:rPr lang="en-US" dirty="0">
                <a:solidFill>
                  <a:schemeClr val="tx1"/>
                </a:solidFill>
                <a:ea typeface="ＭＳ Ｐゴシック" pitchFamily="34" charset="-128"/>
              </a:rPr>
              <a:t> is less than 1</a:t>
            </a: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en-US" sz="1200" dirty="0">
                <a:solidFill>
                  <a:schemeClr val="tx1"/>
                </a:solidFill>
                <a:ea typeface="ＭＳ Ｐゴシック" pitchFamily="34" charset="-128"/>
              </a:rPr>
              <a:t>Sketch: For any state </a:t>
            </a:r>
            <a:r>
              <a:rPr lang="en-US" sz="1200" dirty="0" err="1">
                <a:solidFill>
                  <a:schemeClr val="tx1"/>
                </a:solidFill>
                <a:ea typeface="ＭＳ Ｐゴシック" pitchFamily="34" charset="-128"/>
              </a:rPr>
              <a:t>V</a:t>
            </a:r>
            <a:r>
              <a:rPr lang="en-US" sz="700" dirty="0" err="1">
                <a:solidFill>
                  <a:schemeClr val="tx1"/>
                </a:solidFill>
                <a:ea typeface="ＭＳ Ｐゴシック" pitchFamily="34" charset="-128"/>
              </a:rPr>
              <a:t>k</a:t>
            </a:r>
            <a:r>
              <a:rPr lang="en-US" sz="1200" dirty="0">
                <a:solidFill>
                  <a:schemeClr val="tx1"/>
                </a:solidFill>
                <a:ea typeface="ＭＳ Ｐゴシック" pitchFamily="34" charset="-128"/>
              </a:rPr>
              <a:t> and V</a:t>
            </a:r>
            <a:r>
              <a:rPr lang="en-US" sz="700" dirty="0">
                <a:solidFill>
                  <a:schemeClr val="tx1"/>
                </a:solidFill>
                <a:ea typeface="ＭＳ Ｐゴシック" pitchFamily="34" charset="-128"/>
              </a:rPr>
              <a:t>k+1</a:t>
            </a:r>
            <a:r>
              <a:rPr lang="en-US" sz="1200" dirty="0">
                <a:solidFill>
                  <a:schemeClr val="tx1"/>
                </a:solidFill>
                <a:ea typeface="ＭＳ Ｐゴシック" pitchFamily="34" charset="-128"/>
              </a:rPr>
              <a:t> can be viewed as depth k+1 </a:t>
            </a:r>
            <a:r>
              <a:rPr lang="en-US" sz="1200" dirty="0" err="1">
                <a:solidFill>
                  <a:schemeClr val="tx1"/>
                </a:solidFill>
                <a:ea typeface="ＭＳ Ｐゴシック" pitchFamily="34" charset="-128"/>
              </a:rPr>
              <a:t>expectimax</a:t>
            </a:r>
            <a:r>
              <a:rPr lang="en-US" sz="1200" dirty="0">
                <a:solidFill>
                  <a:schemeClr val="tx1"/>
                </a:solidFill>
                <a:ea typeface="ＭＳ Ｐゴシック" pitchFamily="34" charset="-128"/>
              </a:rPr>
              <a:t> results in nearly identical search trees</a:t>
            </a: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en-US" sz="1200" dirty="0">
                <a:solidFill>
                  <a:schemeClr val="tx1"/>
                </a:solidFill>
                <a:ea typeface="ＭＳ Ｐゴシック" pitchFamily="34" charset="-128"/>
              </a:rPr>
              <a:t>The difference is that on </a:t>
            </a:r>
            <a:r>
              <a:rPr lang="en-US" sz="1200" dirty="0">
                <a:solidFill>
                  <a:srgbClr val="FF0000"/>
                </a:solidFill>
                <a:ea typeface="ＭＳ Ｐゴシック" pitchFamily="34" charset="-128"/>
              </a:rPr>
              <a:t>the bottom layer, V</a:t>
            </a:r>
            <a:r>
              <a:rPr lang="en-US" sz="700" dirty="0">
                <a:solidFill>
                  <a:srgbClr val="FF0000"/>
                </a:solidFill>
                <a:ea typeface="ＭＳ Ｐゴシック" pitchFamily="34" charset="-128"/>
              </a:rPr>
              <a:t>k+</a:t>
            </a:r>
            <a:r>
              <a:rPr lang="en-US" sz="700" dirty="0">
                <a:solidFill>
                  <a:schemeClr val="tx1"/>
                </a:solidFill>
                <a:ea typeface="ＭＳ Ｐゴシック" pitchFamily="34" charset="-128"/>
              </a:rPr>
              <a:t>1</a:t>
            </a:r>
            <a:r>
              <a:rPr lang="en-US" sz="1200" dirty="0">
                <a:solidFill>
                  <a:schemeClr val="tx1"/>
                </a:solidFill>
                <a:ea typeface="ＭＳ Ｐゴシック" pitchFamily="34" charset="-128"/>
              </a:rPr>
              <a:t> has actual rewards while </a:t>
            </a:r>
            <a:r>
              <a:rPr lang="en-US" sz="1200" dirty="0" err="1">
                <a:solidFill>
                  <a:schemeClr val="tx1"/>
                </a:solidFill>
                <a:ea typeface="ＭＳ Ｐゴシック" pitchFamily="34" charset="-128"/>
              </a:rPr>
              <a:t>V</a:t>
            </a:r>
            <a:r>
              <a:rPr lang="en-US" sz="700" dirty="0" err="1">
                <a:solidFill>
                  <a:schemeClr val="tx1"/>
                </a:solidFill>
                <a:ea typeface="ＭＳ Ｐゴシック" pitchFamily="34" charset="-128"/>
              </a:rPr>
              <a:t>k</a:t>
            </a:r>
            <a:r>
              <a:rPr lang="en-US" sz="1200" dirty="0">
                <a:solidFill>
                  <a:schemeClr val="tx1"/>
                </a:solidFill>
                <a:ea typeface="ＭＳ Ｐゴシック" pitchFamily="34" charset="-128"/>
              </a:rPr>
              <a:t> has zeros</a:t>
            </a: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en-US" sz="1200" dirty="0">
                <a:solidFill>
                  <a:schemeClr val="tx1"/>
                </a:solidFill>
                <a:ea typeface="ＭＳ Ｐゴシック" pitchFamily="34" charset="-128"/>
              </a:rPr>
              <a:t>That last layer is at best all </a:t>
            </a:r>
            <a:r>
              <a:rPr lang="en-US" sz="1200" dirty="0">
                <a:solidFill>
                  <a:srgbClr val="FF0000"/>
                </a:solidFill>
                <a:ea typeface="ＭＳ Ｐゴシック" pitchFamily="34" charset="-128"/>
              </a:rPr>
              <a:t>R</a:t>
            </a:r>
            <a:r>
              <a:rPr lang="en-US" sz="700" dirty="0">
                <a:solidFill>
                  <a:srgbClr val="FF0000"/>
                </a:solidFill>
                <a:ea typeface="ＭＳ Ｐゴシック" pitchFamily="34" charset="-128"/>
              </a:rPr>
              <a:t>MAX</a:t>
            </a:r>
            <a:r>
              <a:rPr lang="en-US" sz="1200" dirty="0">
                <a:solidFill>
                  <a:srgbClr val="FF0000"/>
                </a:solidFill>
                <a:ea typeface="ＭＳ Ｐゴシック" pitchFamily="34" charset="-128"/>
              </a:rPr>
              <a:t> </a:t>
            </a: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en-US" sz="1200" dirty="0">
                <a:solidFill>
                  <a:schemeClr val="tx1"/>
                </a:solidFill>
                <a:ea typeface="ＭＳ Ｐゴシック" pitchFamily="34" charset="-128"/>
              </a:rPr>
              <a:t>It is at worst R</a:t>
            </a:r>
            <a:r>
              <a:rPr lang="en-US" sz="700" dirty="0">
                <a:solidFill>
                  <a:schemeClr val="tx1"/>
                </a:solidFill>
                <a:ea typeface="ＭＳ Ｐゴシック" pitchFamily="34" charset="-128"/>
              </a:rPr>
              <a:t>MIN</a:t>
            </a:r>
            <a:r>
              <a:rPr lang="en-US" sz="1200" dirty="0">
                <a:solidFill>
                  <a:schemeClr val="tx1"/>
                </a:solidFill>
                <a:ea typeface="ＭＳ Ｐゴシック" pitchFamily="34" charset="-128"/>
              </a:rPr>
              <a:t> </a:t>
            </a: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en-US" sz="1200" dirty="0">
                <a:solidFill>
                  <a:schemeClr val="tx1"/>
                </a:solidFill>
                <a:ea typeface="ＭＳ Ｐゴシック" pitchFamily="34" charset="-128"/>
              </a:rPr>
              <a:t>But everything is discounted by </a:t>
            </a:r>
            <a:r>
              <a:rPr lang="el-GR" sz="1200" dirty="0">
                <a:solidFill>
                  <a:schemeClr val="tx1"/>
                </a:solidFill>
                <a:ea typeface="ＭＳ Ｐゴシック" pitchFamily="34" charset="-128"/>
              </a:rPr>
              <a:t>γ</a:t>
            </a:r>
            <a:r>
              <a:rPr lang="en-US" sz="1200" baseline="30000" dirty="0">
                <a:solidFill>
                  <a:schemeClr val="tx1"/>
                </a:solidFill>
                <a:ea typeface="ＭＳ Ｐゴシック" pitchFamily="34" charset="-128"/>
              </a:rPr>
              <a:t>k</a:t>
            </a:r>
            <a:r>
              <a:rPr lang="en-US" sz="1200" dirty="0">
                <a:solidFill>
                  <a:schemeClr val="tx1"/>
                </a:solidFill>
                <a:ea typeface="ＭＳ Ｐゴシック" pitchFamily="34" charset="-128"/>
              </a:rPr>
              <a:t> that far out</a:t>
            </a: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en-US" sz="1200" dirty="0">
                <a:solidFill>
                  <a:schemeClr val="tx1"/>
                </a:solidFill>
                <a:ea typeface="ＭＳ Ｐゴシック" pitchFamily="34" charset="-128"/>
              </a:rPr>
              <a:t>So </a:t>
            </a:r>
            <a:r>
              <a:rPr lang="en-US" sz="1200" dirty="0" err="1">
                <a:solidFill>
                  <a:schemeClr val="tx1"/>
                </a:solidFill>
                <a:ea typeface="ＭＳ Ｐゴシック" pitchFamily="34" charset="-128"/>
              </a:rPr>
              <a:t>V</a:t>
            </a:r>
            <a:r>
              <a:rPr lang="en-US" sz="700" dirty="0" err="1">
                <a:solidFill>
                  <a:schemeClr val="tx1"/>
                </a:solidFill>
                <a:ea typeface="ＭＳ Ｐゴシック" pitchFamily="34" charset="-128"/>
              </a:rPr>
              <a:t>k</a:t>
            </a:r>
            <a:r>
              <a:rPr lang="en-US" sz="1200" dirty="0">
                <a:solidFill>
                  <a:schemeClr val="tx1"/>
                </a:solidFill>
                <a:ea typeface="ＭＳ Ｐゴシック" pitchFamily="34" charset="-128"/>
              </a:rPr>
              <a:t> and V</a:t>
            </a:r>
            <a:r>
              <a:rPr lang="en-US" sz="700" dirty="0">
                <a:solidFill>
                  <a:schemeClr val="tx1"/>
                </a:solidFill>
                <a:ea typeface="ＭＳ Ｐゴシック" pitchFamily="34" charset="-128"/>
              </a:rPr>
              <a:t>k+1</a:t>
            </a:r>
            <a:r>
              <a:rPr lang="en-US" sz="1200" dirty="0">
                <a:solidFill>
                  <a:schemeClr val="tx1"/>
                </a:solidFill>
                <a:ea typeface="ＭＳ Ｐゴシック" pitchFamily="34" charset="-128"/>
              </a:rPr>
              <a:t> are at most </a:t>
            </a:r>
            <a:r>
              <a:rPr lang="el-GR" sz="1200" dirty="0">
                <a:solidFill>
                  <a:srgbClr val="FF0000"/>
                </a:solidFill>
                <a:ea typeface="ＭＳ Ｐゴシック" pitchFamily="34" charset="-128"/>
              </a:rPr>
              <a:t>γ</a:t>
            </a:r>
            <a:r>
              <a:rPr lang="en-US" sz="1200" baseline="30000" dirty="0">
                <a:solidFill>
                  <a:srgbClr val="FF0000"/>
                </a:solidFill>
                <a:ea typeface="ＭＳ Ｐゴシック" pitchFamily="34" charset="-128"/>
              </a:rPr>
              <a:t>k</a:t>
            </a:r>
            <a:r>
              <a:rPr lang="en-US" sz="1200" dirty="0">
                <a:solidFill>
                  <a:srgbClr val="FF0000"/>
                </a:solidFill>
                <a:ea typeface="ＭＳ Ｐゴシック" pitchFamily="34" charset="-128"/>
              </a:rPr>
              <a:t> max | R | </a:t>
            </a:r>
            <a:r>
              <a:rPr lang="en-US" sz="1200" dirty="0">
                <a:solidFill>
                  <a:schemeClr val="tx1"/>
                </a:solidFill>
                <a:ea typeface="ＭＳ Ｐゴシック" pitchFamily="34" charset="-128"/>
              </a:rPr>
              <a:t>different</a:t>
            </a: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en-US" sz="1200" dirty="0">
                <a:solidFill>
                  <a:schemeClr val="tx1"/>
                </a:solidFill>
                <a:ea typeface="ＭＳ Ｐゴシック" pitchFamily="34" charset="-128"/>
              </a:rPr>
              <a:t>So as k increases, the values converge</a:t>
            </a:r>
          </a:p>
          <a:p>
            <a:endParaRPr lang="en-KR" dirty="0">
              <a:solidFill>
                <a:schemeClr val="tx1"/>
              </a:solidFill>
              <a:ea typeface="ＭＳ Ｐゴシック" pitchFamily="34" charset="-128"/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2AE28249-96EC-A4C6-32D9-D4F2D177F879}"/>
              </a:ext>
            </a:extLst>
          </p:cNvPr>
          <p:cNvGrpSpPr/>
          <p:nvPr/>
        </p:nvGrpSpPr>
        <p:grpSpPr>
          <a:xfrm>
            <a:off x="6024047" y="1936954"/>
            <a:ext cx="2808250" cy="2189469"/>
            <a:chOff x="5429250" y="2228851"/>
            <a:chExt cx="3445175" cy="2686050"/>
          </a:xfrm>
        </p:grpSpPr>
        <p:sp>
          <p:nvSpPr>
            <p:cNvPr id="3" name="Isosceles Triangle 4">
              <a:extLst>
                <a:ext uri="{FF2B5EF4-FFF2-40B4-BE49-F238E27FC236}">
                  <a16:creationId xmlns:a16="http://schemas.microsoft.com/office/drawing/2014/main" id="{59FDA8C1-402D-768C-EF7E-F94216B00C5F}"/>
                </a:ext>
              </a:extLst>
            </p:cNvPr>
            <p:cNvSpPr/>
            <p:nvPr/>
          </p:nvSpPr>
          <p:spPr>
            <a:xfrm>
              <a:off x="5429250" y="2585769"/>
              <a:ext cx="1601279" cy="2329132"/>
            </a:xfrm>
            <a:prstGeom prst="triangl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>
                <a:latin typeface="Calibri"/>
                <a:cs typeface="Calibri"/>
              </a:endParaRPr>
            </a:p>
          </p:txBody>
        </p:sp>
        <p:sp>
          <p:nvSpPr>
            <p:cNvPr id="5" name="Isosceles Triangle 3">
              <a:extLst>
                <a:ext uri="{FF2B5EF4-FFF2-40B4-BE49-F238E27FC236}">
                  <a16:creationId xmlns:a16="http://schemas.microsoft.com/office/drawing/2014/main" id="{B6FE62DD-5EDA-BF47-D1C0-5397FDC6C99E}"/>
                </a:ext>
              </a:extLst>
            </p:cNvPr>
            <p:cNvSpPr/>
            <p:nvPr/>
          </p:nvSpPr>
          <p:spPr>
            <a:xfrm>
              <a:off x="5526297" y="2585769"/>
              <a:ext cx="1407184" cy="2037991"/>
            </a:xfrm>
            <a:prstGeom prst="triangle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>
                <a:latin typeface="Calibri"/>
                <a:cs typeface="Calibri"/>
              </a:endParaRPr>
            </a:p>
          </p:txBody>
        </p:sp>
        <p:sp>
          <p:nvSpPr>
            <p:cNvPr id="7" name="Isosceles Triangle 5">
              <a:extLst>
                <a:ext uri="{FF2B5EF4-FFF2-40B4-BE49-F238E27FC236}">
                  <a16:creationId xmlns:a16="http://schemas.microsoft.com/office/drawing/2014/main" id="{B6AB1881-9CE2-303B-FE9A-4BD86CD059E8}"/>
                </a:ext>
              </a:extLst>
            </p:cNvPr>
            <p:cNvSpPr/>
            <p:nvPr/>
          </p:nvSpPr>
          <p:spPr>
            <a:xfrm>
              <a:off x="7273146" y="2585769"/>
              <a:ext cx="1601279" cy="2329132"/>
            </a:xfrm>
            <a:prstGeom prst="triangle">
              <a:avLst/>
            </a:prstGeom>
            <a:solidFill>
              <a:srgbClr val="FF0000">
                <a:alpha val="20000"/>
              </a:srgb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>
                <a:latin typeface="Calibri"/>
                <a:cs typeface="Calibri"/>
              </a:endParaRPr>
            </a:p>
          </p:txBody>
        </p:sp>
        <p:sp>
          <p:nvSpPr>
            <p:cNvPr id="8" name="Isosceles Triangle 6">
              <a:extLst>
                <a:ext uri="{FF2B5EF4-FFF2-40B4-BE49-F238E27FC236}">
                  <a16:creationId xmlns:a16="http://schemas.microsoft.com/office/drawing/2014/main" id="{ACAF41D5-08FE-D5AB-B8DE-255883D0ACD2}"/>
                </a:ext>
              </a:extLst>
            </p:cNvPr>
            <p:cNvSpPr/>
            <p:nvPr/>
          </p:nvSpPr>
          <p:spPr>
            <a:xfrm>
              <a:off x="7370194" y="2585769"/>
              <a:ext cx="1407184" cy="2037991"/>
            </a:xfrm>
            <a:prstGeom prst="triangle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>
                <a:latin typeface="Calibri"/>
                <a:cs typeface="Calibri"/>
              </a:endParaRPr>
            </a:p>
          </p:txBody>
        </p:sp>
        <p:pic>
          <p:nvPicPr>
            <p:cNvPr id="10" name="Picture 9" descr="TP_tmp.png">
              <a:extLst>
                <a:ext uri="{FF2B5EF4-FFF2-40B4-BE49-F238E27FC236}">
                  <a16:creationId xmlns:a16="http://schemas.microsoft.com/office/drawing/2014/main" id="{A7E85DC7-0CFA-D0F2-C79B-1414FB8325E8}"/>
                </a:ext>
              </a:extLst>
            </p:cNvPr>
            <p:cNvPicPr>
              <a:picLocks noChangeAspect="1"/>
            </p:cNvPicPr>
            <p:nvPr>
              <p:custDataLst>
                <p:tags r:id="rId1"/>
              </p:custDataLst>
            </p:nvPr>
          </p:nvPicPr>
          <p:blipFill>
            <a:blip r:embed="rId4" cstate="print"/>
            <a:stretch>
              <a:fillRect/>
            </a:stretch>
          </p:blipFill>
          <p:spPr>
            <a:xfrm>
              <a:off x="5948339" y="2228955"/>
              <a:ext cx="585181" cy="291793"/>
            </a:xfrm>
            <a:prstGeom prst="rect">
              <a:avLst/>
            </a:prstGeom>
          </p:spPr>
        </p:pic>
        <p:pic>
          <p:nvPicPr>
            <p:cNvPr id="11" name="Picture 10" descr="TP_tmp.png">
              <a:extLst>
                <a:ext uri="{FF2B5EF4-FFF2-40B4-BE49-F238E27FC236}">
                  <a16:creationId xmlns:a16="http://schemas.microsoft.com/office/drawing/2014/main" id="{EA23B16E-89DF-2004-69B6-AB638C8F5389}"/>
                </a:ext>
              </a:extLst>
            </p:cNvPr>
            <p:cNvPicPr>
              <a:picLocks noChangeAspect="1"/>
            </p:cNvPicPr>
            <p:nvPr>
              <p:custDataLst>
                <p:tags r:id="rId2"/>
              </p:custDataLst>
            </p:nvPr>
          </p:nvPicPr>
          <p:blipFill>
            <a:blip r:embed="rId5" cstate="print"/>
            <a:stretch>
              <a:fillRect/>
            </a:stretch>
          </p:blipFill>
          <p:spPr bwMode="auto">
            <a:xfrm>
              <a:off x="7664710" y="2228851"/>
              <a:ext cx="850640" cy="292058"/>
            </a:xfrm>
            <a:prstGeom prst="rect">
              <a:avLst/>
            </a:prstGeom>
            <a:noFill/>
            <a:ln/>
            <a:effectLst/>
          </p:spPr>
        </p:pic>
      </p:grp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22793F-28D7-2AFF-0031-09C48010B20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KR"/>
              <a:t>691</a:t>
            </a:r>
            <a:endParaRPr lang="en-KR" sz="4000" dirty="0"/>
          </a:p>
        </p:txBody>
      </p:sp>
    </p:spTree>
    <p:extLst>
      <p:ext uri="{BB962C8B-B14F-4D97-AF65-F5344CB8AC3E}">
        <p14:creationId xmlns:p14="http://schemas.microsoft.com/office/powerpoint/2010/main" val="4290681271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3C3290-D67F-5059-6011-51ECF79FE3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B377FF-2869-7D6C-6819-9183461F3D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KR" dirty="0"/>
              <a:t>Questions?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6193E9B-5D04-4251-1226-85952B103A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If discount factor      is close to 0, an agent is effectively "shortsighted." Can a shortsighted policy ever outperform a far-sighted one</a:t>
            </a:r>
            <a:r>
              <a:rPr lang="ko-KR" altLang="en-US" dirty="0">
                <a:solidFill>
                  <a:schemeClr val="tx1"/>
                </a:solidFill>
              </a:rPr>
              <a:t> </a:t>
            </a:r>
            <a:r>
              <a:rPr lang="en-US" dirty="0">
                <a:solidFill>
                  <a:schemeClr val="tx1"/>
                </a:solidFill>
              </a:rPr>
              <a:t>and under what conditions?</a:t>
            </a:r>
          </a:p>
          <a:p>
            <a:r>
              <a:rPr lang="en-US" dirty="0">
                <a:solidFill>
                  <a:schemeClr val="tx1"/>
                </a:solidFill>
              </a:rPr>
              <a:t>Value Iteration sweeps all states repeatedly. Is it still practical when the state space is too large to enumerate?</a:t>
            </a:r>
          </a:p>
          <a:p>
            <a:r>
              <a:rPr lang="en-US" dirty="0">
                <a:solidFill>
                  <a:schemeClr val="tx1"/>
                </a:solidFill>
              </a:rPr>
              <a:t>Can a policy generalize to unseen/never-visited states? </a:t>
            </a:r>
          </a:p>
          <a:p>
            <a:r>
              <a:rPr lang="en-US" dirty="0">
                <a:solidFill>
                  <a:schemeClr val="tx1"/>
                </a:solidFill>
              </a:rPr>
              <a:t>MDPs assume the agent always knows its current state. How realistic is this assumption (e.g., robots, self-driving cars) and what's the cost of relaxing it?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C9F312A-3DEB-C307-9C4E-3E932019DA2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KR"/>
              <a:t>691</a:t>
            </a:r>
            <a:endParaRPr lang="en-KR" sz="4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ADE6C35-0827-451F-A778-B25F58C8AA82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2534140" y="1344247"/>
            <a:ext cx="120701" cy="1481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8689917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91A1D5C2-1A4B-DF60-34D4-15E7DF9F3F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BD237B-24BC-3A98-38D1-06CE8800DC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KR" dirty="0"/>
              <a:t>Readings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AFF3422-7919-4D61-F91C-E1758849000E}"/>
              </a:ext>
            </a:extLst>
          </p:cNvPr>
          <p:cNvSpPr/>
          <p:nvPr/>
        </p:nvSpPr>
        <p:spPr>
          <a:xfrm>
            <a:off x="7067791" y="4928056"/>
            <a:ext cx="2076209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800" dirty="0">
                <a:solidFill>
                  <a:schemeClr val="bg1">
                    <a:lumMod val="65000"/>
                  </a:schemeClr>
                </a:solidFill>
                <a:cs typeface="Calibri"/>
              </a:rPr>
              <a:t>Adapted from CS188 of Klein and </a:t>
            </a:r>
            <a:r>
              <a:rPr lang="en-US" sz="800" dirty="0" err="1">
                <a:solidFill>
                  <a:schemeClr val="bg1">
                    <a:lumMod val="65000"/>
                  </a:schemeClr>
                </a:solidFill>
                <a:cs typeface="Calibri"/>
              </a:rPr>
              <a:t>Abbeel</a:t>
            </a:r>
            <a:endParaRPr lang="en-KR" sz="800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6BEF1F53-9D83-334F-03D6-6F85B93EE32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dirty="0">
                <a:solidFill>
                  <a:schemeClr val="tx1"/>
                </a:solidFill>
              </a:rPr>
              <a:t>16.1 Sequential Decision Problems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chemeClr val="tx1"/>
                </a:solidFill>
              </a:rPr>
              <a:t>16.2 Algorithms for MDPs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chemeClr val="tx1"/>
                </a:solidFill>
              </a:rPr>
              <a:t>16.3 Bandit Problems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8340190-7D68-16E4-FF86-E1DD68DD1E9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KR"/>
              <a:t>691</a:t>
            </a:r>
            <a:endParaRPr lang="en-KR" sz="4000" dirty="0"/>
          </a:p>
        </p:txBody>
      </p:sp>
    </p:spTree>
    <p:extLst>
      <p:ext uri="{BB962C8B-B14F-4D97-AF65-F5344CB8AC3E}">
        <p14:creationId xmlns:p14="http://schemas.microsoft.com/office/powerpoint/2010/main" val="3210270986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AE2C77-F7AE-07CA-7B9C-BC23B58925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KR" dirty="0"/>
              <a:t>What’s next?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48B562-C1AA-B178-2220-A8007596890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Policy-Based Methods</a:t>
            </a:r>
            <a:endParaRPr lang="en-KR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A44B5D9-F023-ABAE-424A-48697DBDE84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KR"/>
              <a:t>691</a:t>
            </a:r>
            <a:endParaRPr lang="en-KR" sz="4000" dirty="0"/>
          </a:p>
        </p:txBody>
      </p:sp>
    </p:spTree>
    <p:extLst>
      <p:ext uri="{BB962C8B-B14F-4D97-AF65-F5344CB8AC3E}">
        <p14:creationId xmlns:p14="http://schemas.microsoft.com/office/powerpoint/2010/main" val="1372881886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template"/>
  <p:tag name="SOURCE" val="TPT1  equation P(S_{t+1} = s' | S_t = s_t, A_t = a_t, S_{t-1}=s_{t-1},A_{t-1}, \ldots S_0 = s_0)  template TPT1  env TPENV1  fore 0  back 16777215  eqnno 1"/>
  <p:tag name="FILENAME" val="TP_tmp"/>
  <p:tag name="ORIGWIDTH" val="259"/>
  <p:tag name="PICTUREFILESIZE" val="8247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template"/>
  <p:tag name="SOURCE" val="TPT1  equation P(S_{t+1} = s' | S_t = s_t, A_t = a_t)  template TPT1  env TPENV1  fore 0  back 16777215  eqnno 1"/>
  <p:tag name="FILENAME" val="TP_tmp"/>
  <p:tag name="ORIGWIDTH" val="126"/>
  <p:tag name="PICTUREFILESIZE" val="4726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\pagestyle{empty} \usepackage[usenames]{color} \def\argmax{\mathop{\rm arg\,max}} \begin{document} \[ \textcolor{BrickRed}{1} \] \end{document} "/>
  <p:tag name="FILENAME" val="txp_fig"/>
  <p:tag name="FORMAT" val="png16m"/>
  <p:tag name="RES" val="1200"/>
  <p:tag name="BLEND" val="0"/>
  <p:tag name="TRANSPARENT" val="0"/>
  <p:tag name="TBUG" val="0"/>
  <p:tag name="ALLOWFS" val="0"/>
  <p:tag name="ORIGWIDTH" val="9"/>
  <p:tag name="PICTUREFILESIZE" val="984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\pagestyle{empty} \usepackage[usenames]{color} \def\argmax{\mathop{\rm arg\,max}} \begin{document} \[ \textcolor{BrickRed}{\gamma} \] \end{document} "/>
  <p:tag name="FILENAME" val="txp_fig"/>
  <p:tag name="FORMAT" val="png16m"/>
  <p:tag name="RES" val="1200"/>
  <p:tag name="BLEND" val="0"/>
  <p:tag name="TRANSPARENT" val="0"/>
  <p:tag name="TBUG" val="0"/>
  <p:tag name="ALLOWFS" val="0"/>
  <p:tag name="ORIGWIDTH" val="12"/>
  <p:tag name="PICTUREFILESIZE" val="1703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\pagestyle{empty} \usepackage[usenames]{color} \def\argmax{\mathop{\rm arg\,max}} \begin{document} \[ \textcolor{BrickRed}{\gamma^2} \] \end{document} "/>
  <p:tag name="FILENAME" val="txp_fig"/>
  <p:tag name="FORMAT" val="png16m"/>
  <p:tag name="RES" val="1200"/>
  <p:tag name="BLEND" val="0"/>
  <p:tag name="TRANSPARENT" val="0"/>
  <p:tag name="TBUG" val="0"/>
  <p:tag name="ALLOWFS" val="0"/>
  <p:tag name="ORIGWIDTH" val="22"/>
  <p:tag name="PICTUREFILESIZE" val="320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\pagestyle{empty} \usepackage[usenames]{color} \def\argmax{\mathop{\rm arg\,max}} \begin{document} \[ \textcolor{BrickRed}{1} \] \end{document} "/>
  <p:tag name="FILENAME" val="txp_fig"/>
  <p:tag name="FORMAT" val="png16m"/>
  <p:tag name="RES" val="1200"/>
  <p:tag name="BLEND" val="0"/>
  <p:tag name="TRANSPARENT" val="0"/>
  <p:tag name="TBUG" val="0"/>
  <p:tag name="ALLOWFS" val="0"/>
  <p:tag name="ORIGWIDTH" val="9"/>
  <p:tag name="PICTUREFILESIZE" val="984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\pagestyle{empty} \usepackage[usenames]{color} \def\argmax{\mathop{\rm arg\,max}} \begin{document} \[ \textcolor{BrickRed}{\gamma} \] \end{document} "/>
  <p:tag name="FILENAME" val="txp_fig"/>
  <p:tag name="FORMAT" val="png16m"/>
  <p:tag name="RES" val="1200"/>
  <p:tag name="BLEND" val="0"/>
  <p:tag name="TRANSPARENT" val="0"/>
  <p:tag name="TBUG" val="0"/>
  <p:tag name="ALLOWFS" val="0"/>
  <p:tag name="ORIGWIDTH" val="12"/>
  <p:tag name="PICTUREFILESIZE" val="1703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\pagestyle{empty} \usepackage[usenames]{color} \def\argmax{\mathop{\rm arg\,max}} \begin{document} \[ \textcolor{BrickRed}{\gamma^2} \] \end{document} "/>
  <p:tag name="FILENAME" val="txp_fig"/>
  <p:tag name="FORMAT" val="png16m"/>
  <p:tag name="RES" val="1200"/>
  <p:tag name="BLEND" val="0"/>
  <p:tag name="TRANSPARENT" val="0"/>
  <p:tag name="TBUG" val="0"/>
  <p:tag name="ALLOWFS" val="0"/>
  <p:tag name="ORIGWIDTH" val="22"/>
  <p:tag name="PICTUREFILESIZE" val="320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template"/>
  <p:tag name="SOURCE" val="TPT1  equation [a_1, a_2, \ldots] \succ [b_1, b_2, \ldots]  template TPT1  env TPENV1  fore 0  back 16777215  eqnno 3"/>
  <p:tag name="FILENAME" val="TP_tmp"/>
  <p:tag name="ORIGWIDTH" val="101"/>
  <p:tag name="PICTUREFILESIZE" val="4675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template"/>
  <p:tag name="SOURCE" val="TPT1  equation [r, a_1, a_2, \ldots] \succ [r, b_1, b_2, \ldots]  template TPT1  env TPENV1  fore 0  back 16777215  eqnno 3"/>
  <p:tag name="FILENAME" val="TP_tmp"/>
  <p:tag name="ORIGWIDTH" val="119"/>
  <p:tag name="PICTUREFILESIZE" val="5504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 \usepackage[usenames]{color} \def\argmax{\mathop{\rm arg\,max}} \def\pref{\succ} \def\lequiv{\Leftrightarrow} \begin{document} \centering $[r,r_0,r_1,r_2,\ldots]\pref [r,r'_0,r'_1,r'_2,\ldots]$\\ $\lequiv$\\ $[r_0,r_1,r_2,\ldots]\pref [r'_0,r'_1,r'_2,\ldots]$ \end{document} "/>
  <p:tag name="EXTERNALNAME" val="txp_fig"/>
  <p:tag name="BLEND" val="False"/>
  <p:tag name="TRANSPARENT" val="False"/>
  <p:tag name="KEEPFILES" val="False"/>
  <p:tag name="DEBUGPAUSE" val="False"/>
  <p:tag name="RESOLUTION" val="1200"/>
  <p:tag name="TIMEOUT" val="(none)"/>
  <p:tag name="BOXWIDTH" val="620"/>
  <p:tag name="BOXHEIGHT" val="374"/>
  <p:tag name="BOXFONT" val="10"/>
  <p:tag name="BOXWRAP" val="False"/>
  <p:tag name="WORKAROUNDTRANSPARENCYBUG" val="False"/>
  <p:tag name="ALLOWFONTSUBSTITUTION" val="False"/>
  <p:tag name="BITMAPFORMAT" val="png16m"/>
  <p:tag name="ORIGWIDTH" val="316"/>
  <p:tag name="PICTUREFILESIZE" val="47868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\pagestyle{empty} \usepackage[usenames]{color} \def\argmax{\mathop{\rm arg\,max}} \def\pref{\succ} \def\lequiv{\Leftrightarrow} \begin{document} $U([r_0,r_1,r_2,\ldots]) = r_0 + r_1 + r_2 + \cdots $ \end{document} "/>
  <p:tag name="FILENAME" val="txp_fig"/>
  <p:tag name="FORMAT" val="png16m"/>
  <p:tag name="RES" val="1200"/>
  <p:tag name="BLEND" val="0"/>
  <p:tag name="TRANSPARENT" val="0"/>
  <p:tag name="TBUG" val="0"/>
  <p:tag name="ALLOWFS" val="0"/>
  <p:tag name="ORIGWIDTH" val="364"/>
  <p:tag name="PICTUREFILESIZE" val="18194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\pagestyle{empty} \usepackage[usenames]{color} \def\argmax{\mathop{\rm arg\,max}} \def\pref{\succ} \def\lequiv{\Leftrightarrow} \begin{document} $U([r_0,r_1,r_2,\ldots]) = r_0 + \gamma r_1 + \gamma^2 r_2 \cdots $ \end{document} "/>
  <p:tag name="FILENAME" val="txp_fig"/>
  <p:tag name="FORMAT" val="png16m"/>
  <p:tag name="RES" val="1200"/>
  <p:tag name="BLEND" val="0"/>
  <p:tag name="TRANSPARENT" val="0"/>
  <p:tag name="TBUG" val="0"/>
  <p:tag name="ALLOWFS" val="0"/>
  <p:tag name="ORIGWIDTH" val="374"/>
  <p:tag name="PICTUREFILESIZE" val="21779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113"/>
  <p:tag name="ORIGINALWIDTH" val=" 1304"/>
  <p:tag name="OUTPUTTYPE" val="PNG"/>
  <p:tag name="IGUANATEXVERSION" val="162"/>
  <p:tag name="LATEXADDIN" val="\documentclass{article}&#10;\usepackage{amsmath}&#10;\pagestyle{empty}&#10;\begin{document}&#10;&#10;&#10;$b\rightarrow a \rightarrow \text{exit} = r_0+\gamma r_1$&#13;&#10;&#10;&#10;\end{document}"/>
  <p:tag name="IGUANATEXSIZE" val="14"/>
  <p:tag name="IGUANATEXCURSOR" val="121"/>
  <p:tag name="TRANSPARENCY" val="True"/>
  <p:tag name="CHOOSECOLOR" val="False"/>
  <p:tag name="COLORHEX" val="000000"/>
  <p:tag name="LATEXENGINEID" val="0"/>
  <p:tag name="TEMPFOLDER" val="/Users/hyunwoo/Library/Containers/com.microsoft.Powerpoint/Data/tmp/TemporaryItems/"/>
  <p:tag name="LATEXFORMHEIGHT" val=" 426.65"/>
  <p:tag name="LATEXFORMWIDTH" val=" 513.35"/>
  <p:tag name="LATEXFORMWRAP" val="True"/>
  <p:tag name="BITMAPVECTOR" val="0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\pagestyle{empty} \usepackage[usenames]{color} \def\argmax{\mathop{\rm arg\,max}} \begin{document} \[ \textcolor{Black}{U([r_0,\ldots r_{\infty}]) = \sum_{t=0}^{\infty} \gamma^t r_t \leq R_{{\rm max}}/(1-\gamma)} \] \end{document} "/>
  <p:tag name="FILENAME" val="txp_fig"/>
  <p:tag name="FORMAT" val="png16m"/>
  <p:tag name="RES" val="1200"/>
  <p:tag name="BLEND" val="0"/>
  <p:tag name="TRANSPARENT" val="0"/>
  <p:tag name="TBUG" val="0"/>
  <p:tag name="ALLOWFS" val="0"/>
  <p:tag name="ORIGWIDTH" val="395"/>
  <p:tag name="PICTUREFILESIZE" val="43739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\pagestyle{empty} \usepackage[usenames]{color} \def\argmax{\mathop{\rm arg\,max}} \begin{document} \[ \textcolor{Blue}{V^*(s) = \max_a Q^*(s,a)} \] \end{document} "/>
  <p:tag name="FILENAME" val="txp_fig"/>
  <p:tag name="FORMAT" val="png16m"/>
  <p:tag name="RES" val="1200"/>
  <p:tag name="BLEND" val="0"/>
  <p:tag name="TRANSPARENT" val="0"/>
  <p:tag name="TBUG" val="0"/>
  <p:tag name="ALLOWFS" val="0"/>
  <p:tag name="ORIGWIDTH" val="205"/>
  <p:tag name="PICTUREFILESIZE" val="19269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\pagestyle{empty} \usepackage[usenames]{color} \def\argmax{\mathop{\rm arg\,max}} \begin{document} \[ \textcolor{Blue}{V^*(s) = \max_a \sum_{s'} T(s,a,s') \,\left[ R(s, a, s') + \gamma\, V^*(s')\right]} \] \end{document} "/>
  <p:tag name="FILENAME" val="txp_fig"/>
  <p:tag name="FORMAT" val="png16m"/>
  <p:tag name="RES" val="1200"/>
  <p:tag name="BLEND" val="0"/>
  <p:tag name="TRANSPARENT" val="0"/>
  <p:tag name="TBUG" val="0"/>
  <p:tag name="ALLOWFS" val="0"/>
  <p:tag name="ORIGWIDTH" val="463"/>
  <p:tag name="PICTUREFILESIZE" val="46392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\pagestyle{empty} \usepackage[usenames]{color} \def\argmax{\mathop{\rm arg\,max}} \begin{document} \[ \textcolor{OliveGreen}{Q^*(s,a) = \sum_{s'} T(s,a,s') \left[ R(s,a,s') + \gamma V^*(s') \right]} \] \end{document} "/>
  <p:tag name="FILENAME" val="txp_fig"/>
  <p:tag name="FORMAT" val="png16m"/>
  <p:tag name="RES" val="1200"/>
  <p:tag name="BLEND" val="0"/>
  <p:tag name="TRANSPARENT" val="0"/>
  <p:tag name="TBUG" val="0"/>
  <p:tag name="ALLOWFS" val="0"/>
  <p:tag name="ORIGWIDTH" val="431"/>
  <p:tag name="PICTUREFILESIZE" val="43230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\pagestyle{empty} \usepackage[usenames]{color} \def\argmax{\mathop{\rm arg\,max}} \begin{document} \[ \textcolor{Blue}{V^*(s) = \max_a Q^*(s,a)} \] \end{document} "/>
  <p:tag name="FILENAME" val="txp_fig"/>
  <p:tag name="FORMAT" val="png16m"/>
  <p:tag name="RES" val="1200"/>
  <p:tag name="BLEND" val="0"/>
  <p:tag name="TRANSPARENT" val="0"/>
  <p:tag name="TBUG" val="0"/>
  <p:tag name="ALLOWFS" val="0"/>
  <p:tag name="ORIGWIDTH" val="205"/>
  <p:tag name="PICTUREFILESIZE" val="19269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\pagestyle{empty} \usepackage[usenames]{color} \def\argmax{\mathop{\rm arg\,max}} \begin{document} \[ \textcolor{Blue}{V^*(s) = \max_a \sum_{s'} T(s,a,s') \,\left[ R(s, a, s') + \gamma\, V^*(s')\right]} \] \end{document} "/>
  <p:tag name="FILENAME" val="txp_fig"/>
  <p:tag name="FORMAT" val="png16m"/>
  <p:tag name="RES" val="1200"/>
  <p:tag name="BLEND" val="0"/>
  <p:tag name="TRANSPARENT" val="0"/>
  <p:tag name="TBUG" val="0"/>
  <p:tag name="ALLOWFS" val="0"/>
  <p:tag name="ORIGWIDTH" val="463"/>
  <p:tag name="PICTUREFILESIZE" val="46392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\pagestyle{empty} \usepackage[usenames]{color} \def\argmax{\mathop{\rm arg\,max}} \begin{document} \[ \textcolor{OliveGreen}{Q^*(s,a) = \sum_{s'} T(s,a,s') \left[ R(s,a,s') + \gamma V^*(s') \right]} \] \end{document} "/>
  <p:tag name="FILENAME" val="txp_fig"/>
  <p:tag name="FORMAT" val="png16m"/>
  <p:tag name="RES" val="1200"/>
  <p:tag name="BLEND" val="0"/>
  <p:tag name="TRANSPARENT" val="0"/>
  <p:tag name="TBUG" val="0"/>
  <p:tag name="ALLOWFS" val="0"/>
  <p:tag name="ORIGWIDTH" val="431"/>
  <p:tag name="PICTUREFILESIZE" val="43230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template"/>
  <p:tag name="SOURCE" val="TPT1  equation V_2(\phantom{xxx})  template TPT1  env TPENV1  fore 0  back 16777215  eqnno 1"/>
  <p:tag name="FILENAME" val="TP_tmp"/>
  <p:tag name="ORIGWIDTH" val="34"/>
  <p:tag name="PICTUREFILESIZE" val="2364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template"/>
  <p:tag name="SOURCE" val="TPT1  equation V_0(\phantom{xxx})  template TPT1  env TPENV1  fore 0  back 16777215  eqnno 1"/>
  <p:tag name="FILENAME" val="TP_tmp"/>
  <p:tag name="ORIGWIDTH" val="34"/>
  <p:tag name="PICTUREFILESIZE" val="2278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template"/>
  <p:tag name="SOURCE" val="TPT1  equation V_0(\phantom{xxx})  template TPT1  env TPENV1  fore 0  back 16777215  eqnno 1"/>
  <p:tag name="FILENAME" val="TP_tmp"/>
  <p:tag name="ORIGWIDTH" val="34"/>
  <p:tag name="PICTUREFILESIZE" val="2278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template"/>
  <p:tag name="SOURCE" val="TPT1  equation V_0(\phantom{xxx})  template TPT1  env TPENV1  fore 0  back 16777215  eqnno 1"/>
  <p:tag name="FILENAME" val="TP_tmp"/>
  <p:tag name="ORIGWIDTH" val="34"/>
  <p:tag name="PICTUREFILESIZE" val="2278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template"/>
  <p:tag name="SOURCE" val="TPT1  equation V_1(\phantom{xxx})  template TPT1  env TPENV1  fore 0  back 16777215  eqnno 1"/>
  <p:tag name="FILENAME" val="TP_tmp"/>
  <p:tag name="ORIGWIDTH" val="34"/>
  <p:tag name="PICTUREFILESIZE" val="2084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template"/>
  <p:tag name="SOURCE" val="TPT1  equation V_1(\phantom{xxx})  template TPT1  env TPENV1  fore 0  back 16777215  eqnno 1"/>
  <p:tag name="FILENAME" val="TP_tmp"/>
  <p:tag name="ORIGWIDTH" val="34"/>
  <p:tag name="PICTUREFILESIZE" val="2084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template"/>
  <p:tag name="SOURCE" val="TPT1  equation V_1(\phantom{xxx})  template TPT1  env TPENV1  fore 0  back 16777215  eqnno 1"/>
  <p:tag name="FILENAME" val="TP_tmp"/>
  <p:tag name="ORIGWIDTH" val="34"/>
  <p:tag name="PICTUREFILESIZE" val="2084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template"/>
  <p:tag name="SOURCE" val="TPT1  equation V_2(\phantom{xxx})  template TPT1  env TPENV1  fore 0  back 16777215  eqnno 1"/>
  <p:tag name="FILENAME" val="TP_tmp"/>
  <p:tag name="ORIGWIDTH" val="34"/>
  <p:tag name="PICTUREFILESIZE" val="2364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template"/>
  <p:tag name="SOURCE" val="TPT1  equation V_2(\phantom{xxx})  template TPT1  env TPENV1  fore 0  back 16777215  eqnno 1"/>
  <p:tag name="FILENAME" val="TP_tmp"/>
  <p:tag name="ORIGWIDTH" val="34"/>
  <p:tag name="PICTUREFILESIZE" val="2364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template"/>
  <p:tag name="SOURCE" val="TPT1  equation V_2(\phantom{xxx})  template TPT1  env TPENV1  fore 0  back 16777215  eqnno 1"/>
  <p:tag name="FILENAME" val="TP_tmp"/>
  <p:tag name="ORIGWIDTH" val="34"/>
  <p:tag name="PICTUREFILESIZE" val="2364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template"/>
  <p:tag name="SOURCE" val="TPT1  equation V_3(\phantom{xxx})  template TPT1  env TPENV1  fore 0  back 16777215  eqnno 1"/>
  <p:tag name="FILENAME" val="TP_tmp"/>
  <p:tag name="ORIGWIDTH" val="34"/>
  <p:tag name="PICTUREFILESIZE" val="2417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template"/>
  <p:tag name="SOURCE" val="TPT1  equation V_3(\phantom{xxx})  template TPT1  env TPENV1  fore 0  back 16777215  eqnno 1"/>
  <p:tag name="FILENAME" val="TP_tmp"/>
  <p:tag name="ORIGWIDTH" val="34"/>
  <p:tag name="PICTUREFILESIZE" val="2417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template"/>
  <p:tag name="SOURCE" val="TPT1  equation V_3(\phantom{xxx})  template TPT1  env TPENV1  fore 0  back 16777215  eqnno 1"/>
  <p:tag name="FILENAME" val="TP_tmp"/>
  <p:tag name="ORIGWIDTH" val="34"/>
  <p:tag name="PICTUREFILESIZE" val="2417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template"/>
  <p:tag name="SOURCE" val="TPT1  equation V_4(\phantom{xxx})  template TPT1  env TPENV1  fore 0  back 16777215  eqnno 1"/>
  <p:tag name="FILENAME" val="TP_tmp"/>
  <p:tag name="ORIGWIDTH" val="34"/>
  <p:tag name="PICTUREFILESIZE" val="2228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template"/>
  <p:tag name="SOURCE" val="TPT1  equation V_4(\phantom{xxx})  template TPT1  env TPENV1  fore 0  back 16777215  eqnno 1"/>
  <p:tag name="FILENAME" val="TP_tmp"/>
  <p:tag name="ORIGWIDTH" val="34"/>
  <p:tag name="PICTUREFILESIZE" val="2228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template"/>
  <p:tag name="SOURCE" val="TPT1  equation V_4(\phantom{xxx})  template TPT1  env TPENV1  fore 0  back 16777215  eqnno 1"/>
  <p:tag name="FILENAME" val="TP_tmp"/>
  <p:tag name="ORIGWIDTH" val="34"/>
  <p:tag name="PICTUREFILESIZE" val="2228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\pagestyle{empty} \usepackage[usenames]{color} \def\argmax{\mathop{\rm arg\,max}} \begin{document} \[ \textcolor{Black}{V_{k+1}(s) \leftarrow \max_a \sum_{s'} T(s,a,s') \,\left[ R(s, a, s') + \gamma\, V_k(s')\right]} \] \end{document} "/>
  <p:tag name="FILENAME" val="txp_fig"/>
  <p:tag name="FORMAT" val="png16m"/>
  <p:tag name="RES" val="1200"/>
  <p:tag name="BLEND" val="0"/>
  <p:tag name="TRANSPARENT" val="0"/>
  <p:tag name="TBUG" val="0"/>
  <p:tag name="ALLOWFS" val="0"/>
  <p:tag name="ORIGWIDTH" val="484"/>
  <p:tag name="PICTUREFILESIZE" val="48339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template"/>
  <p:tag name="SOURCE" val="TPT1  equation V_0  template TPT1  env TPENV1  fore 0  back 16777215  eqnno 1"/>
  <p:tag name="FILENAME" val="TP_tmp"/>
  <p:tag name="ORIGWIDTH" val="10"/>
  <p:tag name="PICTUREFILESIZE" val="1346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template"/>
  <p:tag name="SOURCE" val="TPT1  equation V_1  template TPT1  env TPENV1  fore 0  back 16777215  eqnno 1"/>
  <p:tag name="FILENAME" val="TP_tmp"/>
  <p:tag name="ORIGWIDTH" val="9"/>
  <p:tag name="PICTUREFILESIZE" val="1157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template"/>
  <p:tag name="SOURCE" val="TPT1  equation V_2  template TPT1  env TPENV1  fore 0  back 16777215  eqnno 1"/>
  <p:tag name="FILENAME" val="TP_tmp"/>
  <p:tag name="ORIGWIDTH" val="10"/>
  <p:tag name="PICTUREFILESIZE" val="1396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\pagestyle{empty} \usepackage[usenames]{color} \def\argmax{\mathop{\rm arg\,max}} \begin{document} \[ \textcolor{Black}{V_{k+1}(s) \leftarrow \max_a \sum_{s'} T(s,a,s') \,\left[ R(s, a, s') + \gamma\, V_k(s')\right]} \] \end{document} "/>
  <p:tag name="FILENAME" val="txp_fig"/>
  <p:tag name="FORMAT" val="png16m"/>
  <p:tag name="RES" val="1200"/>
  <p:tag name="BLEND" val="0"/>
  <p:tag name="TRANSPARENT" val="0"/>
  <p:tag name="TBUG" val="0"/>
  <p:tag name="ALLOWFS" val="0"/>
  <p:tag name="ORIGWIDTH" val="484"/>
  <p:tag name="PICTUREFILESIZE" val="48339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template"/>
  <p:tag name="SOURCE" val="TPT1  equation V_k(s)  template TPT1  env TPENV1  fore 0  back 16777215  eqnno 2"/>
  <p:tag name="FILENAME" val="TP_tmp"/>
  <p:tag name="ORIGWIDTH" val="22"/>
  <p:tag name="PICTUREFILESIZE" val="2676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template"/>
  <p:tag name="SOURCE" val="TPT1  equation V_{k+1}(s)  template TPT1  env TPENV1  fore 0  back 16777215  eqnno 2"/>
  <p:tag name="FILENAME" val="TP_tmp"/>
  <p:tag name="ORIGWIDTH" val="32"/>
  <p:tag name="PICTUREFILESIZE" val="2981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81"/>
  <p:tag name="ORIGINALWIDTH" val=" 66"/>
  <p:tag name="OUTPUTTYPE" val="PNG"/>
  <p:tag name="IGUANATEXVERSION" val="162"/>
  <p:tag name="LATEXADDIN" val="\documentclass{article}&#10;\usepackage{amsmath}&#10;\pagestyle{empty}&#10;\begin{document}&#10;&#10;&#10;$\gamma$&#10;&#10;\end{document}"/>
  <p:tag name="IGUANATEXSIZE" val="18"/>
  <p:tag name="IGUANATEXCURSOR" val="90"/>
  <p:tag name="TRANSPARENCY" val="True"/>
  <p:tag name="CHOOSECOLOR" val="False"/>
  <p:tag name="COLORHEX" val="000000"/>
  <p:tag name="LATEXENGINEID" val="0"/>
  <p:tag name="TEMPFOLDER" val="/Users/hyunwoo/Library/Containers/com.microsoft.Powerpoint/Data/tmp/TemporaryItems/"/>
  <p:tag name="LATEXFORMHEIGHT" val=" 426.65"/>
  <p:tag name="LATEXFORMWIDTH" val=" 513.35"/>
  <p:tag name="LATEXFORMWRAP" val="True"/>
  <p:tag name="BITMAPVECTOR" val="0"/>
</p:tagLst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9844</TotalTime>
  <Words>3072</Words>
  <Application>Microsoft Macintosh PowerPoint</Application>
  <PresentationFormat>화면 슬라이드 쇼(16:9)</PresentationFormat>
  <Paragraphs>546</Paragraphs>
  <Slides>56</Slides>
  <Notes>33</Notes>
  <HiddenSlides>2</HiddenSlides>
  <MMClips>1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56</vt:i4>
      </vt:variant>
    </vt:vector>
  </HeadingPairs>
  <TitlesOfParts>
    <vt:vector size="64" baseType="lpstr">
      <vt:lpstr>Pontano Sans</vt:lpstr>
      <vt:lpstr>Times New Roman</vt:lpstr>
      <vt:lpstr>Wingdings</vt:lpstr>
      <vt:lpstr>ＭＳ Ｐゴシック</vt:lpstr>
      <vt:lpstr>Symbol</vt:lpstr>
      <vt:lpstr>Arial</vt:lpstr>
      <vt:lpstr>Calibri</vt:lpstr>
      <vt:lpstr>Simple Light</vt:lpstr>
      <vt:lpstr>8. Markov Decision Processes</vt:lpstr>
      <vt:lpstr>PowerPoint 프레젠테이션</vt:lpstr>
      <vt:lpstr>Today’s agenda</vt:lpstr>
      <vt:lpstr>Non-Deterministic Search</vt:lpstr>
      <vt:lpstr>Example: Grid World</vt:lpstr>
      <vt:lpstr>Grid World Actions</vt:lpstr>
      <vt:lpstr>Markov Decision Processes</vt:lpstr>
      <vt:lpstr>Video of Demo Gridworld Manual Intro</vt:lpstr>
      <vt:lpstr>What is Markov about MDPs?</vt:lpstr>
      <vt:lpstr>Policies</vt:lpstr>
      <vt:lpstr>Optimal Policies</vt:lpstr>
      <vt:lpstr>Example: Racing</vt:lpstr>
      <vt:lpstr>Example: Racing</vt:lpstr>
      <vt:lpstr>Racing Search Tree</vt:lpstr>
      <vt:lpstr>MDP Search Trees</vt:lpstr>
      <vt:lpstr>Utilities of Sequences</vt:lpstr>
      <vt:lpstr>Utilities of Sequences</vt:lpstr>
      <vt:lpstr>Discounting</vt:lpstr>
      <vt:lpstr>Discounting</vt:lpstr>
      <vt:lpstr>Stationary Preferences</vt:lpstr>
      <vt:lpstr>Quiz: Discounting</vt:lpstr>
      <vt:lpstr>PowerPoint 프레젠테이션</vt:lpstr>
      <vt:lpstr>Infinite Utilities?!</vt:lpstr>
      <vt:lpstr>Recap: Defining MDPs</vt:lpstr>
      <vt:lpstr>Solving MDPs</vt:lpstr>
      <vt:lpstr>Optimal Quantities</vt:lpstr>
      <vt:lpstr>Snapshot of Demo – Gridworld V Values</vt:lpstr>
      <vt:lpstr>Snapshot of Demo – Gridworld Q Values</vt:lpstr>
      <vt:lpstr>Values of States</vt:lpstr>
      <vt:lpstr>PowerPoint 프레젠테이션</vt:lpstr>
      <vt:lpstr>Racing Search Tree</vt:lpstr>
      <vt:lpstr>Racing Search Tree</vt:lpstr>
      <vt:lpstr>Racing Search Tree</vt:lpstr>
      <vt:lpstr>Time-Limited Values</vt:lpstr>
      <vt:lpstr>k=0</vt:lpstr>
      <vt:lpstr>k=1</vt:lpstr>
      <vt:lpstr>k=2</vt:lpstr>
      <vt:lpstr>k=3</vt:lpstr>
      <vt:lpstr>k=4</vt:lpstr>
      <vt:lpstr>k=5</vt:lpstr>
      <vt:lpstr>k=6</vt:lpstr>
      <vt:lpstr>k=7</vt:lpstr>
      <vt:lpstr>k=8</vt:lpstr>
      <vt:lpstr>k=9</vt:lpstr>
      <vt:lpstr>k=10</vt:lpstr>
      <vt:lpstr>k=11</vt:lpstr>
      <vt:lpstr>k=12</vt:lpstr>
      <vt:lpstr>k=100</vt:lpstr>
      <vt:lpstr>Computing Time-Limited Values</vt:lpstr>
      <vt:lpstr>Value Iteration</vt:lpstr>
      <vt:lpstr>Value Iteration</vt:lpstr>
      <vt:lpstr>Example: Value Iteration</vt:lpstr>
      <vt:lpstr>Convergence*</vt:lpstr>
      <vt:lpstr>Questions?</vt:lpstr>
      <vt:lpstr>Readings</vt:lpstr>
      <vt:lpstr>What’s next?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Neural Network Basics I</dc:title>
  <cp:lastModifiedBy>김가경</cp:lastModifiedBy>
  <cp:revision>434</cp:revision>
  <dcterms:modified xsi:type="dcterms:W3CDTF">2026-04-07T02:23:25Z</dcterms:modified>
</cp:coreProperties>
</file>