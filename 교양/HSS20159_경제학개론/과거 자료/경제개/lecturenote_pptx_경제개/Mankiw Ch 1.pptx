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5"/>
  </p:notesMasterIdLst>
  <p:sldIdLst>
    <p:sldId id="257" r:id="rId2"/>
    <p:sldId id="258" r:id="rId3"/>
    <p:sldId id="259" r:id="rId4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26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Ch.1</a:t>
            </a:r>
            <a:r>
              <a:rPr lang="ko-KR" altLang="en-US" b="1" dirty="0"/>
              <a:t> </a:t>
            </a:r>
            <a:r>
              <a:rPr lang="en-US" altLang="ko-KR" b="1" dirty="0"/>
              <a:t>Ten Principles of Economics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20"/>
            <a:ext cx="5915025" cy="9182948"/>
          </a:xfrm>
        </p:spPr>
        <p:txBody>
          <a:bodyPr>
            <a:normAutofit fontScale="92500"/>
          </a:bodyPr>
          <a:lstStyle/>
          <a:p>
            <a:pPr>
              <a:lnSpc>
                <a:spcPct val="160000"/>
              </a:lnSpc>
            </a:pPr>
            <a:r>
              <a:rPr lang="en-US" altLang="ko-KR" sz="1300" b="1" dirty="0"/>
              <a:t>Scarcity 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Society has limited resources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We cannot produce all the goods and services people wish to have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Economics is the study of how society manages its scarce resources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How people decide what to buy, how much to work, save, and spend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How firms decide how much to produce, how many workers to hire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How society decides how to divide its resources between…</a:t>
            </a:r>
          </a:p>
          <a:p>
            <a:pPr>
              <a:lnSpc>
                <a:spcPct val="160000"/>
              </a:lnSpc>
            </a:pPr>
            <a:endParaRPr lang="en-US" altLang="ko-KR" sz="1300" b="1" dirty="0"/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Principle 1: People Face Trade-offs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To get something that we like, we have to give up something else that we also like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No Free lunch ex. Going to a party the night before an exam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Society faces trade-offs between efficiency and equality</a:t>
            </a:r>
          </a:p>
          <a:p>
            <a:pPr>
              <a:lnSpc>
                <a:spcPct val="160000"/>
              </a:lnSpc>
            </a:pPr>
            <a:endParaRPr lang="en-US" altLang="ko-KR" sz="1300" b="1" dirty="0"/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Principle 2: The Cost of Something Is What You Give Up to Get It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Making decisions: Compare costs and benefits of alternatives… Need to include opportunity costs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Opportunity cost : Whatever must be given up to obtain some item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Ex. The opportunity cost of going to college for a year? Going to the movies? </a:t>
            </a:r>
          </a:p>
          <a:p>
            <a:pPr>
              <a:lnSpc>
                <a:spcPct val="160000"/>
              </a:lnSpc>
            </a:pPr>
            <a:endParaRPr lang="en-US" altLang="ko-KR" sz="1300" b="1" dirty="0"/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Principle 3: Rational People Think at the Margin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Rational people make decisions by evaluating costs and benefits of marginal changes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Ex. A manager considers whether to increase output compares the cost of the needed labor and materials to the extra revenue</a:t>
            </a:r>
          </a:p>
          <a:p>
            <a:pPr>
              <a:lnSpc>
                <a:spcPct val="160000"/>
              </a:lnSpc>
            </a:pPr>
            <a:endParaRPr lang="en-US" altLang="ko-KR" sz="1300" b="1" dirty="0"/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Principle 4: People Respond to Incentives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Incentive : Something that induces a person to act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Ex. Gas prices and SUVs. Cigarette taxes and teen smoking</a:t>
            </a:r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en-US" altLang="ko-KR" sz="1400" dirty="0"/>
              <a:t>Principle 1~4 are on </a:t>
            </a:r>
            <a:r>
              <a:rPr lang="en-US" altLang="ko-KR" sz="1400" b="1" dirty="0"/>
              <a:t>“How People Make Decisions”</a:t>
            </a:r>
          </a:p>
          <a:p>
            <a:pPr>
              <a:lnSpc>
                <a:spcPct val="160000"/>
              </a:lnSpc>
            </a:pPr>
            <a:endParaRPr lang="ko-KR" altLang="en-US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00063" y="979170"/>
            <a:ext cx="5915025" cy="1027938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ko-KR" sz="1300" b="1" dirty="0"/>
              <a:t>Principle 5: Trade Can Make Everyone Better Off 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People benefit from trade </a:t>
            </a:r>
          </a:p>
          <a:p>
            <a:pPr lvl="1">
              <a:lnSpc>
                <a:spcPct val="160000"/>
              </a:lnSpc>
            </a:pPr>
            <a:r>
              <a:rPr lang="en-US" altLang="ko-KR" sz="1075" dirty="0"/>
              <a:t>Can buy a greater variety of goods and services at lower cost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Countries benefit from trade and specialization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Get a better price abroad for goods they produce… Buy other goods more cheaply from abroad</a:t>
            </a:r>
          </a:p>
          <a:p>
            <a:pPr>
              <a:lnSpc>
                <a:spcPct val="160000"/>
              </a:lnSpc>
            </a:pPr>
            <a:endParaRPr lang="en-US" altLang="ko-KR" sz="1300" b="1" dirty="0"/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Principle 6: Markets Are Usually a Good Way to Organize Economic Activity</a:t>
            </a:r>
          </a:p>
          <a:p>
            <a:pPr>
              <a:lnSpc>
                <a:spcPct val="160000"/>
              </a:lnSpc>
            </a:pPr>
            <a:r>
              <a:rPr lang="en-US" altLang="ko-KR" sz="1325" dirty="0"/>
              <a:t>A market economy allocates resources by Decentralized decisions of many firms and households as they interact in markets </a:t>
            </a:r>
          </a:p>
          <a:p>
            <a:pPr>
              <a:lnSpc>
                <a:spcPct val="160000"/>
              </a:lnSpc>
            </a:pPr>
            <a:r>
              <a:rPr lang="en-US" altLang="ko-KR" sz="1325" b="1" dirty="0">
                <a:sym typeface="Wingdings" panose="05000000000000000000" pitchFamily="2" charset="2"/>
              </a:rPr>
              <a:t>Adam Smith in ‘The Wealth of Nations (1776)’ 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>
                <a:sym typeface="Wingdings" panose="05000000000000000000" pitchFamily="2" charset="2"/>
              </a:rPr>
              <a:t>“Each of these households and firms acts as if “led by an invisible hand” to promote general economic well-being”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>
                <a:sym typeface="Wingdings" panose="05000000000000000000" pitchFamily="2" charset="2"/>
              </a:rPr>
              <a:t>“Invisible hands” : Prices guide self-interested households and firms to make decisions that maximize society’s economic well-being</a:t>
            </a:r>
          </a:p>
          <a:p>
            <a:pPr>
              <a:lnSpc>
                <a:spcPct val="160000"/>
              </a:lnSpc>
            </a:pPr>
            <a:endParaRPr lang="en-US" altLang="ko-KR" sz="1300" b="1" dirty="0"/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Principle 7: Governments Can Sometimes Improve Market Outcomes</a:t>
            </a:r>
          </a:p>
          <a:p>
            <a:pPr>
              <a:lnSpc>
                <a:spcPct val="160000"/>
              </a:lnSpc>
            </a:pPr>
            <a:r>
              <a:rPr lang="en-US" altLang="ko-KR" sz="1325" dirty="0"/>
              <a:t>Government enforce </a:t>
            </a:r>
            <a:r>
              <a:rPr lang="en-US" altLang="ko-KR" sz="1325" b="1" dirty="0"/>
              <a:t>property rights</a:t>
            </a:r>
          </a:p>
          <a:p>
            <a:pPr>
              <a:lnSpc>
                <a:spcPct val="160000"/>
              </a:lnSpc>
            </a:pPr>
            <a:r>
              <a:rPr lang="en-US" altLang="ko-KR" sz="1325" dirty="0"/>
              <a:t>Government promote </a:t>
            </a:r>
            <a:r>
              <a:rPr lang="en-US" altLang="ko-KR" sz="1325" b="1" dirty="0"/>
              <a:t>efficiency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Avoid market failures: market left on its own fails to allocate resources efficiently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Two major sources of market failure: </a:t>
            </a:r>
            <a:r>
              <a:rPr lang="en-US" altLang="ko-KR" sz="1100" b="1" u="sng" dirty="0"/>
              <a:t>Externalities,</a:t>
            </a:r>
            <a:r>
              <a:rPr lang="ko-KR" altLang="en-US" sz="1100" b="1" u="sng" dirty="0"/>
              <a:t> </a:t>
            </a:r>
            <a:r>
              <a:rPr lang="en-US" altLang="ko-KR" sz="1100" b="1" u="sng" dirty="0"/>
              <a:t>Market</a:t>
            </a:r>
            <a:r>
              <a:rPr lang="ko-KR" altLang="en-US" sz="1100" b="1" u="sng" dirty="0"/>
              <a:t> </a:t>
            </a:r>
            <a:r>
              <a:rPr lang="en-US" altLang="ko-KR" sz="1100" b="1" u="sng" dirty="0"/>
              <a:t>power</a:t>
            </a:r>
          </a:p>
          <a:p>
            <a:pPr>
              <a:lnSpc>
                <a:spcPct val="160000"/>
              </a:lnSpc>
            </a:pPr>
            <a:r>
              <a:rPr lang="en-US" altLang="ko-KR" sz="1325" dirty="0"/>
              <a:t>Government promote </a:t>
            </a:r>
            <a:r>
              <a:rPr lang="en-US" altLang="ko-KR" sz="1325" b="1" dirty="0"/>
              <a:t>equality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Avoid disparities in economic wellbeing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/>
              <a:t>Use taxes or welfare policies</a:t>
            </a:r>
          </a:p>
          <a:p>
            <a:pPr marL="257175" lvl="1" indent="0">
              <a:lnSpc>
                <a:spcPct val="160000"/>
              </a:lnSpc>
              <a:buNone/>
            </a:pPr>
            <a:endParaRPr lang="en-US" altLang="ko-KR" sz="1325" i="1" dirty="0"/>
          </a:p>
          <a:p>
            <a:pPr>
              <a:lnSpc>
                <a:spcPct val="160000"/>
              </a:lnSpc>
            </a:pPr>
            <a:r>
              <a:rPr lang="en-US" altLang="ko-KR" sz="1300" dirty="0"/>
              <a:t>Principle 5~7 are on </a:t>
            </a:r>
            <a:r>
              <a:rPr lang="en-US" altLang="ko-KR" sz="1300" b="1" dirty="0"/>
              <a:t>“How People Interact”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0538" y="940506"/>
            <a:ext cx="5915025" cy="1056569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b="1" dirty="0"/>
              <a:t>Principle 8: A country’s standard of living depends on its ability to produce goods and services</a:t>
            </a:r>
          </a:p>
          <a:p>
            <a:pPr>
              <a:lnSpc>
                <a:spcPct val="150000"/>
              </a:lnSpc>
            </a:pPr>
            <a:endParaRPr lang="en-US" altLang="ko-KR" sz="1300" b="1" dirty="0"/>
          </a:p>
          <a:p>
            <a:pPr>
              <a:lnSpc>
                <a:spcPct val="150000"/>
              </a:lnSpc>
            </a:pPr>
            <a:r>
              <a:rPr lang="en-US" altLang="ko-KR" sz="1300" b="1" dirty="0"/>
              <a:t>Principle 9: Prices rise when the government prints too much money</a:t>
            </a:r>
          </a:p>
          <a:p>
            <a:pPr>
              <a:lnSpc>
                <a:spcPct val="150000"/>
              </a:lnSpc>
            </a:pPr>
            <a:endParaRPr lang="en-US" altLang="ko-KR" sz="1300" b="1" dirty="0"/>
          </a:p>
          <a:p>
            <a:pPr>
              <a:lnSpc>
                <a:spcPct val="150000"/>
              </a:lnSpc>
            </a:pPr>
            <a:r>
              <a:rPr lang="en-US" altLang="ko-KR" sz="1300" b="1" dirty="0"/>
              <a:t>Principle 10: Society Faces a Short-run Tradeoff between Inflation and Unemployment</a:t>
            </a:r>
          </a:p>
          <a:p>
            <a:pPr>
              <a:lnSpc>
                <a:spcPct val="150000"/>
              </a:lnSpc>
            </a:pPr>
            <a:endParaRPr lang="en-US" altLang="ko-KR" sz="1300" b="1" dirty="0"/>
          </a:p>
          <a:p>
            <a:pPr>
              <a:lnSpc>
                <a:spcPct val="160000"/>
              </a:lnSpc>
            </a:pPr>
            <a:r>
              <a:rPr lang="en-US" altLang="ko-KR" sz="1300" dirty="0"/>
              <a:t>Principle 8~10 are on </a:t>
            </a:r>
            <a:r>
              <a:rPr lang="en-US" altLang="ko-KR" sz="1300" b="1" dirty="0"/>
              <a:t>“How the economy as a whole works”</a:t>
            </a:r>
          </a:p>
          <a:p>
            <a:pPr>
              <a:lnSpc>
                <a:spcPct val="150000"/>
              </a:lnSpc>
            </a:pPr>
            <a:endParaRPr lang="ko-KR" altLang="en-US" sz="1300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223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</TotalTime>
  <Words>512</Words>
  <Application>Microsoft Office PowerPoint</Application>
  <PresentationFormat>와이드스크린</PresentationFormat>
  <Paragraphs>60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Ch.1 Ten Principles of Economics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user</cp:lastModifiedBy>
  <cp:revision>26</cp:revision>
  <dcterms:created xsi:type="dcterms:W3CDTF">2021-06-28T02:08:57Z</dcterms:created>
  <dcterms:modified xsi:type="dcterms:W3CDTF">2024-02-21T05:37:35Z</dcterms:modified>
</cp:coreProperties>
</file>