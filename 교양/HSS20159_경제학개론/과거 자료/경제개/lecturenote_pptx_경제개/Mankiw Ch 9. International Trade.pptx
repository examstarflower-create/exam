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4"/>
  </p:notesMasterIdLst>
  <p:sldIdLst>
    <p:sldId id="257" r:id="rId2"/>
    <p:sldId id="258" r:id="rId3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3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2023-03-27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Ch 9. International</a:t>
            </a:r>
            <a:r>
              <a:rPr lang="ko-KR" altLang="en-US" dirty="0"/>
              <a:t> </a:t>
            </a:r>
            <a:r>
              <a:rPr lang="en-US" altLang="ko-KR" dirty="0"/>
              <a:t>Trade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19"/>
            <a:ext cx="5915025" cy="9744567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1400" b="1" dirty="0"/>
              <a:t>Comparative advantage</a:t>
            </a:r>
            <a:r>
              <a:rPr lang="en-US" altLang="ko-KR" sz="1400" dirty="0"/>
              <a:t>: A country produces the good at lower opportunity cost than other countries.</a:t>
            </a:r>
          </a:p>
          <a:p>
            <a:pPr>
              <a:lnSpc>
                <a:spcPct val="160000"/>
              </a:lnSpc>
            </a:pPr>
            <a:r>
              <a:rPr lang="en-US" altLang="ko-KR" sz="1400" dirty="0"/>
              <a:t>The equilibrium without trade(A closed</a:t>
            </a:r>
            <a:r>
              <a:rPr lang="ko-KR" altLang="en-US" sz="1400" dirty="0"/>
              <a:t> </a:t>
            </a:r>
            <a:r>
              <a:rPr lang="en-US" altLang="ko-KR" sz="1400" dirty="0"/>
              <a:t>economy), Equilibrium price and quantity determined on the domestic market.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400" dirty="0"/>
              <a:t>- TS =</a:t>
            </a:r>
            <a:r>
              <a:rPr lang="ko-KR" altLang="en-US" sz="1400" dirty="0"/>
              <a:t> </a:t>
            </a:r>
            <a:r>
              <a:rPr lang="en-US" altLang="ko-KR" sz="1400" dirty="0"/>
              <a:t>CS + PS.</a:t>
            </a:r>
          </a:p>
          <a:p>
            <a:pPr>
              <a:lnSpc>
                <a:spcPct val="160000"/>
              </a:lnSpc>
            </a:pPr>
            <a:r>
              <a:rPr lang="en-US" altLang="ko-KR" sz="1400" dirty="0"/>
              <a:t>A small</a:t>
            </a:r>
            <a:r>
              <a:rPr lang="ko-KR" altLang="en-US" sz="1400" dirty="0"/>
              <a:t> </a:t>
            </a:r>
            <a:r>
              <a:rPr lang="en-US" altLang="ko-KR" sz="1400" dirty="0"/>
              <a:t>open economy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400" dirty="0"/>
              <a:t>If the world price of a good, </a:t>
            </a:r>
            <a:r>
              <a:rPr lang="en-US" altLang="ko-KR" sz="1400" b="1" dirty="0"/>
              <a:t>P</a:t>
            </a:r>
            <a:r>
              <a:rPr lang="en-US" altLang="ko-KR" sz="1400" b="1" baseline="-25000" dirty="0"/>
              <a:t>W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&gt;</a:t>
            </a:r>
            <a:r>
              <a:rPr lang="ko-KR" altLang="en-US" sz="1400" b="1" dirty="0"/>
              <a:t> </a:t>
            </a:r>
            <a:r>
              <a:rPr lang="en-US" altLang="ko-KR" sz="1400" dirty="0"/>
              <a:t>domestic price without trade</a:t>
            </a:r>
            <a:r>
              <a:rPr lang="ko-KR" altLang="en-US" sz="1400" dirty="0"/>
              <a:t> </a:t>
            </a:r>
            <a:r>
              <a:rPr lang="en-US" altLang="ko-KR" sz="1400" b="1" dirty="0"/>
              <a:t>P</a:t>
            </a:r>
            <a:r>
              <a:rPr lang="en-US" altLang="ko-KR" sz="1400" b="1" baseline="-25000" dirty="0"/>
              <a:t>D</a:t>
            </a:r>
            <a:r>
              <a:rPr lang="en-US" altLang="ko-KR" sz="1400" dirty="0"/>
              <a:t> , domestic country export the good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400" b="1" dirty="0"/>
              <a:t>If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P</a:t>
            </a:r>
            <a:r>
              <a:rPr lang="en-US" altLang="ko-KR" sz="1400" b="1" baseline="-25000" dirty="0"/>
              <a:t>D </a:t>
            </a:r>
            <a:r>
              <a:rPr lang="en-US" altLang="ko-KR" sz="1400" b="1" dirty="0"/>
              <a:t>&gt; P</a:t>
            </a:r>
            <a:r>
              <a:rPr lang="en-US" altLang="ko-KR" sz="1400" b="1" baseline="-25000" dirty="0"/>
              <a:t>W </a:t>
            </a:r>
            <a:r>
              <a:rPr lang="en-US" altLang="ko-KR" sz="1400" b="1" dirty="0"/>
              <a:t>, </a:t>
            </a:r>
            <a:r>
              <a:rPr lang="en-US" altLang="ko-KR" sz="1400" dirty="0"/>
              <a:t>the country imports the good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400" dirty="0"/>
              <a:t>A small economy is a </a:t>
            </a:r>
            <a:r>
              <a:rPr lang="en-US" altLang="ko-KR" sz="1400" b="1" u="sng" dirty="0"/>
              <a:t>price taker</a:t>
            </a:r>
            <a:r>
              <a:rPr lang="en-US" altLang="ko-KR" sz="1400" dirty="0"/>
              <a:t> in world markets (its actions have no effect on Pw)</a:t>
            </a:r>
            <a:endParaRPr lang="en-US" altLang="ko-KR" sz="1400" b="1" u="sng" dirty="0"/>
          </a:p>
          <a:p>
            <a:pPr>
              <a:lnSpc>
                <a:spcPct val="160000"/>
              </a:lnSpc>
            </a:pPr>
            <a:r>
              <a:rPr lang="en-US" altLang="ko-KR" sz="1400" b="1" dirty="0"/>
              <a:t>When a small economy engages in free trade, Pw is the only relevant price.</a:t>
            </a:r>
            <a:endParaRPr lang="en-US" altLang="ko-KR" sz="14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400" dirty="0"/>
              <a:t>No seller would accept less than Pw (export available).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400" dirty="0"/>
              <a:t>No buyer would pay more than Pw</a:t>
            </a:r>
            <a:r>
              <a:rPr lang="ko-KR" altLang="en-US" sz="1400" dirty="0"/>
              <a:t> </a:t>
            </a:r>
            <a:r>
              <a:rPr lang="en-US" altLang="ko-KR" sz="1400" dirty="0"/>
              <a:t>(Import available).</a:t>
            </a:r>
          </a:p>
          <a:p>
            <a:pPr>
              <a:lnSpc>
                <a:spcPct val="160000"/>
              </a:lnSpc>
            </a:pPr>
            <a:r>
              <a:rPr lang="en-US" altLang="ko-KR" sz="1400" b="1" dirty="0"/>
              <a:t>Benefits from trade</a:t>
            </a:r>
            <a:endParaRPr lang="en-US" altLang="ko-KR" sz="1400" dirty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en-US" altLang="ko-KR" sz="1400" b="1" dirty="0"/>
              <a:t>Other benefits of international trade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400" dirty="0"/>
              <a:t>Consumers : Increased variety of goods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400" dirty="0"/>
              <a:t>Producers: lower cost &amp; Economies of scale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400" dirty="0"/>
              <a:t>Reduce market power of domestic firms, Technological advances around the world</a:t>
            </a:r>
          </a:p>
          <a:p>
            <a:pPr>
              <a:lnSpc>
                <a:spcPct val="160000"/>
              </a:lnSpc>
            </a:pPr>
            <a:endParaRPr lang="ko-KR" altLang="en-US" sz="1325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893443"/>
            <a:ext cx="5915025" cy="10406735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1300" b="1" dirty="0"/>
              <a:t>Why Opposition to trade?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Losses concentrated among a small group of people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Gains spread thinly over many people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Losers have more incentive to lobby for restrictions on trade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Winners from trade can compensate the losers, but difficult</a:t>
            </a:r>
          </a:p>
          <a:p>
            <a:pPr lvl="1"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Analysis of a Tariff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Free Trade vs. 10$ Tariff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Compare TS(Total surplus)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TS under Free trade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TS with Tariff</a:t>
            </a:r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Deadweight Loss = D + F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/>
              <a:t>  - D = deadweight loss from the overproduction of shirts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/>
              <a:t>  - F = deadweight loss from the underconsumption of shirts</a:t>
            </a:r>
          </a:p>
          <a:p>
            <a:pPr lvl="2"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Import Quotas</a:t>
            </a:r>
            <a:r>
              <a:rPr lang="ko-KR" altLang="en-US" sz="1300" b="1" dirty="0"/>
              <a:t>  </a:t>
            </a:r>
            <a:r>
              <a:rPr lang="en-US" altLang="ko-KR" sz="1300" dirty="0"/>
              <a:t>: Quantitative limit on imports of a good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Mostly has the same effect as a tariff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Raises price, reduces quantity of imports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Reduces buyers’ welfare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300" dirty="0"/>
              <a:t>Increases sellers’ welfare</a:t>
            </a:r>
          </a:p>
          <a:p>
            <a:pPr>
              <a:lnSpc>
                <a:spcPct val="160000"/>
              </a:lnSpc>
            </a:pPr>
            <a:endParaRPr lang="en-US" altLang="ko-KR" sz="1300" b="1" u="sng" dirty="0"/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5 Arguments for Restricting Trade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300" dirty="0"/>
              <a:t>① Jobs argument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ko-KR" altLang="ko-KR" sz="1300" dirty="0"/>
              <a:t>②</a:t>
            </a:r>
            <a:r>
              <a:rPr lang="en-US" altLang="ko-KR" sz="1300" dirty="0"/>
              <a:t> National-security argument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ko-KR" altLang="en-US" sz="1300" dirty="0"/>
              <a:t>③ </a:t>
            </a:r>
            <a:r>
              <a:rPr lang="en-US" altLang="ko-KR" sz="1300" dirty="0"/>
              <a:t>Infant-industry argument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ko-KR" altLang="en-US" sz="1300" dirty="0"/>
              <a:t>④ </a:t>
            </a:r>
            <a:r>
              <a:rPr lang="en-US" altLang="ko-KR" sz="1300" dirty="0"/>
              <a:t>Unfair-competition argument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ko-KR" altLang="en-US" sz="1300" dirty="0"/>
              <a:t>⑤ </a:t>
            </a:r>
            <a:r>
              <a:rPr lang="en-US" altLang="ko-KR" sz="1300" dirty="0"/>
              <a:t>Protection-as-a-bargaining-chip argument</a:t>
            </a:r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300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1096</TotalTime>
  <Words>319</Words>
  <Application>Microsoft Office PowerPoint</Application>
  <PresentationFormat>와이드스크린</PresentationFormat>
  <Paragraphs>47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Ch 9. International Trade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user</cp:lastModifiedBy>
  <cp:revision>94</cp:revision>
  <dcterms:created xsi:type="dcterms:W3CDTF">2021-06-28T02:08:57Z</dcterms:created>
  <dcterms:modified xsi:type="dcterms:W3CDTF">2023-03-27T05:18:55Z</dcterms:modified>
</cp:coreProperties>
</file>