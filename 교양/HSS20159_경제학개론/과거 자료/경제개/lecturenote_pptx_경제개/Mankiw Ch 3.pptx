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2021-09-07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Ch</a:t>
            </a:r>
            <a:r>
              <a:rPr lang="en-US" altLang="ko-KR" dirty="0"/>
              <a:t> </a:t>
            </a:r>
            <a:r>
              <a:rPr lang="en-US" altLang="ko-KR" dirty="0" smtClean="0"/>
              <a:t>3. Interdependence and the Gains from Trade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897151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altLang="ko-KR" sz="1300" b="1" dirty="0" smtClean="0"/>
              <a:t>“Trade can make everyone better off” – how countries can gain from trade??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Example: </a:t>
            </a:r>
            <a:r>
              <a:rPr lang="en-US" altLang="ko-KR" sz="1300" dirty="0" smtClean="0"/>
              <a:t>Two countries, two goods model, Narnia &amp; Neverland, Computers &amp; Wheat, One resource(labor hours)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1. PPF in Narnia (same as previous chapter)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Suppose Narnia </a:t>
            </a:r>
            <a:r>
              <a:rPr lang="en-US" altLang="ko-KR" sz="1300" dirty="0" smtClean="0"/>
              <a:t>uses </a:t>
            </a:r>
            <a:r>
              <a:rPr lang="en-US" altLang="ko-KR" sz="1300" dirty="0"/>
              <a:t>half its labor to </a:t>
            </a:r>
            <a:r>
              <a:rPr lang="en-US" altLang="ko-KR" sz="1300" dirty="0" smtClean="0"/>
              <a:t>produce </a:t>
            </a:r>
            <a:r>
              <a:rPr lang="en-US" altLang="ko-KR" sz="1300" dirty="0"/>
              <a:t>each of the </a:t>
            </a:r>
            <a:r>
              <a:rPr lang="en-US" altLang="ko-KR" sz="1300" dirty="0" smtClean="0"/>
              <a:t>two </a:t>
            </a:r>
            <a:r>
              <a:rPr lang="en-US" altLang="ko-KR" sz="1300" dirty="0"/>
              <a:t>goods. </a:t>
            </a:r>
            <a:r>
              <a:rPr lang="en-US" altLang="ko-KR" sz="1300" dirty="0" smtClean="0"/>
              <a:t>Then </a:t>
            </a:r>
            <a:r>
              <a:rPr lang="en-US" altLang="ko-KR" sz="1300" dirty="0"/>
              <a:t>it will produce </a:t>
            </a:r>
            <a:r>
              <a:rPr lang="en-US" altLang="ko-KR" sz="1300" dirty="0" smtClean="0"/>
              <a:t>and </a:t>
            </a:r>
            <a:r>
              <a:rPr lang="en-US" altLang="ko-KR" sz="1300" dirty="0"/>
              <a:t>consume 250 </a:t>
            </a:r>
            <a:r>
              <a:rPr lang="en-US" altLang="ko-KR" sz="1300" dirty="0" smtClean="0"/>
              <a:t>computers </a:t>
            </a:r>
            <a:r>
              <a:rPr lang="en-US" altLang="ko-KR" sz="1300" dirty="0"/>
              <a:t>and </a:t>
            </a:r>
            <a:r>
              <a:rPr lang="en-US" altLang="ko-KR" sz="1300" dirty="0" smtClean="0"/>
              <a:t>2,500 </a:t>
            </a:r>
            <a:r>
              <a:rPr lang="en-US" altLang="ko-KR" sz="1300" dirty="0"/>
              <a:t>tons of wheat</a:t>
            </a:r>
            <a:r>
              <a:rPr lang="en-US" altLang="ko-KR" sz="13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2. Neverland’s PPF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Neverland has 30,000 hours of labor available </a:t>
            </a:r>
            <a:r>
              <a:rPr lang="en-US" altLang="ko-KR" sz="1300" dirty="0" smtClean="0"/>
              <a:t>for </a:t>
            </a:r>
            <a:r>
              <a:rPr lang="en-US" altLang="ko-KR" sz="1300" dirty="0"/>
              <a:t>production, per month</a:t>
            </a:r>
            <a:r>
              <a:rPr lang="en-US" altLang="ko-KR" sz="1300" dirty="0" smtClean="0"/>
              <a:t>.  </a:t>
            </a:r>
            <a:r>
              <a:rPr lang="en-US" altLang="ko-KR" sz="1300" dirty="0"/>
              <a:t>Producing one computer requires 125 hours of </a:t>
            </a:r>
            <a:r>
              <a:rPr lang="en-US" altLang="ko-KR" sz="1300" dirty="0" smtClean="0"/>
              <a:t>labor</a:t>
            </a:r>
            <a:r>
              <a:rPr lang="en-US" altLang="ko-KR" sz="1300" dirty="0"/>
              <a:t>. </a:t>
            </a:r>
            <a:r>
              <a:rPr lang="en-US" altLang="ko-KR" sz="1300" dirty="0" smtClean="0"/>
              <a:t>Producing </a:t>
            </a:r>
            <a:r>
              <a:rPr lang="en-US" altLang="ko-KR" sz="1300" dirty="0"/>
              <a:t>one ton of wheat requires 25 hours </a:t>
            </a:r>
            <a:r>
              <a:rPr lang="en-US" altLang="ko-KR" sz="1300" dirty="0" smtClean="0"/>
              <a:t>of </a:t>
            </a:r>
            <a:r>
              <a:rPr lang="en-US" altLang="ko-KR" sz="1300" dirty="0"/>
              <a:t>labor.</a:t>
            </a:r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How many computers and wheat they can produce??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Suppose Neverland uses </a:t>
            </a:r>
            <a:r>
              <a:rPr lang="en-US" altLang="ko-KR" sz="1300" dirty="0" smtClean="0"/>
              <a:t>half </a:t>
            </a:r>
            <a:r>
              <a:rPr lang="en-US" altLang="ko-KR" sz="1300" dirty="0"/>
              <a:t>its labor to produce </a:t>
            </a:r>
            <a:r>
              <a:rPr lang="en-US" altLang="ko-KR" sz="1300" dirty="0" smtClean="0"/>
              <a:t>each </a:t>
            </a:r>
            <a:r>
              <a:rPr lang="en-US" altLang="ko-KR" sz="1300" dirty="0"/>
              <a:t>good. </a:t>
            </a:r>
            <a:r>
              <a:rPr lang="en-US" altLang="ko-KR" sz="1300" dirty="0" smtClean="0"/>
              <a:t>Then </a:t>
            </a:r>
            <a:r>
              <a:rPr lang="en-US" altLang="ko-KR" sz="1300" dirty="0"/>
              <a:t>it will produce and </a:t>
            </a:r>
            <a:r>
              <a:rPr lang="en-US" altLang="ko-KR" sz="1300" dirty="0" smtClean="0"/>
              <a:t>consume 120</a:t>
            </a:r>
            <a:r>
              <a:rPr lang="en-US" altLang="ko-KR" sz="1300" dirty="0"/>
              <a:t>(=15,000/125) </a:t>
            </a:r>
            <a:r>
              <a:rPr lang="en-US" altLang="ko-KR" sz="1300" dirty="0" smtClean="0"/>
              <a:t>computers </a:t>
            </a:r>
            <a:r>
              <a:rPr lang="en-US" altLang="ko-KR" sz="1300" dirty="0"/>
              <a:t>and </a:t>
            </a:r>
            <a:r>
              <a:rPr lang="en-US" altLang="ko-KR" sz="1300" dirty="0" smtClean="0"/>
              <a:t>600</a:t>
            </a:r>
            <a:r>
              <a:rPr lang="en-US" altLang="ko-KR" sz="1300" dirty="0"/>
              <a:t>(=15,000/25) tons of </a:t>
            </a:r>
            <a:r>
              <a:rPr lang="en-US" altLang="ko-KR" sz="1300" dirty="0" smtClean="0"/>
              <a:t>wheat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3. Comparison between consumption &lt;Without trade&gt; vs. &lt;with trade&gt;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4. Preparation for trade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Suppose Narnia produces 3400 tons of </a:t>
            </a:r>
            <a:r>
              <a:rPr lang="en-US" altLang="ko-KR" sz="1300" dirty="0" smtClean="0"/>
              <a:t>wheat</a:t>
            </a:r>
            <a:r>
              <a:rPr lang="en-US" altLang="ko-KR" sz="1300" dirty="0"/>
              <a:t>. </a:t>
            </a:r>
            <a:r>
              <a:rPr lang="en-US" altLang="ko-KR" sz="1300" dirty="0" smtClean="0"/>
              <a:t>Also suppose </a:t>
            </a:r>
            <a:r>
              <a:rPr lang="en-US" altLang="ko-KR" sz="1300" dirty="0"/>
              <a:t>Neverland produces 240 </a:t>
            </a:r>
            <a:r>
              <a:rPr lang="en-US" altLang="ko-KR" sz="1300" dirty="0" smtClean="0"/>
              <a:t>computers</a:t>
            </a:r>
            <a:r>
              <a:rPr lang="en-US" altLang="ko-KR" sz="1300" dirty="0"/>
              <a:t>.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5. Consumption under trade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Suppose Narnia exports 700 tons of wheat to </a:t>
            </a:r>
            <a:r>
              <a:rPr lang="en-US" altLang="ko-KR" sz="1300" dirty="0" smtClean="0"/>
              <a:t>Neverland</a:t>
            </a:r>
            <a:r>
              <a:rPr lang="en-US" altLang="ko-KR" sz="1300" dirty="0"/>
              <a:t>, and imports 110 computers from </a:t>
            </a:r>
            <a:r>
              <a:rPr lang="en-US" altLang="ko-KR" sz="1300" dirty="0" smtClean="0"/>
              <a:t>Neverland</a:t>
            </a:r>
            <a:r>
              <a:rPr lang="en-US" altLang="ko-KR" sz="1300" dirty="0"/>
              <a:t>. (Neverland imports 700 tons </a:t>
            </a:r>
            <a:r>
              <a:rPr lang="en-US" altLang="ko-KR" sz="1300" dirty="0" smtClean="0"/>
              <a:t>wheat </a:t>
            </a:r>
            <a:r>
              <a:rPr lang="en-US" altLang="ko-KR" sz="1300" dirty="0"/>
              <a:t>and exports 110 computers.)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400" b="1" dirty="0"/>
              <a:t>Absolute advantage : </a:t>
            </a:r>
            <a:endParaRPr lang="en-US" altLang="ko-KR" sz="1400" b="1" dirty="0" smtClean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The </a:t>
            </a:r>
            <a:r>
              <a:rPr lang="en-US" altLang="ko-KR" sz="1300" dirty="0"/>
              <a:t>ability to produce a good using </a:t>
            </a:r>
            <a:r>
              <a:rPr lang="en-US" altLang="ko-KR" sz="1300" b="1" u="sng" dirty="0"/>
              <a:t>fewer </a:t>
            </a:r>
            <a:r>
              <a:rPr lang="en-US" altLang="ko-KR" sz="1300" b="1" u="sng" dirty="0" smtClean="0"/>
              <a:t>inputs </a:t>
            </a:r>
            <a:r>
              <a:rPr lang="en-US" altLang="ko-KR" sz="1300" dirty="0"/>
              <a:t>than another </a:t>
            </a:r>
            <a:r>
              <a:rPr lang="en-US" altLang="ko-KR" sz="1300" dirty="0" smtClean="0"/>
              <a:t>producer.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Measures the cost of a good in terms of </a:t>
            </a:r>
            <a:r>
              <a:rPr lang="en-US" altLang="ko-KR" sz="1300" dirty="0" smtClean="0"/>
              <a:t>the </a:t>
            </a:r>
            <a:r>
              <a:rPr lang="en-US" altLang="ko-KR" sz="1300" dirty="0"/>
              <a:t>inputs required to produce it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400" b="1" dirty="0" smtClean="0"/>
              <a:t>Comparative advantage: </a:t>
            </a:r>
          </a:p>
          <a:p>
            <a:pPr>
              <a:lnSpc>
                <a:spcPct val="160000"/>
              </a:lnSpc>
            </a:pPr>
            <a:r>
              <a:rPr lang="en-US" altLang="ko-KR" sz="1300" dirty="0"/>
              <a:t>The ability to produce a good at a </a:t>
            </a:r>
            <a:r>
              <a:rPr lang="en-US" altLang="ko-KR" sz="1300" b="1" u="sng" dirty="0"/>
              <a:t>lower </a:t>
            </a:r>
            <a:r>
              <a:rPr lang="en-US" altLang="ko-KR" sz="1300" b="1" u="sng" dirty="0" smtClean="0"/>
              <a:t>opportunity </a:t>
            </a:r>
            <a:r>
              <a:rPr lang="en-US" altLang="ko-KR" sz="1300" b="1" u="sng" dirty="0"/>
              <a:t>cost </a:t>
            </a:r>
            <a:r>
              <a:rPr lang="en-US" altLang="ko-KR" sz="1300" dirty="0"/>
              <a:t>than another producer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 smtClean="0"/>
              <a:t>Principle </a:t>
            </a:r>
            <a:r>
              <a:rPr lang="en-US" altLang="ko-KR" sz="1300" b="1" dirty="0"/>
              <a:t>of comparative </a:t>
            </a:r>
            <a:r>
              <a:rPr lang="en-US" altLang="ko-KR" sz="1300" b="1" dirty="0" smtClean="0"/>
              <a:t>advantage : Specialization!!</a:t>
            </a:r>
            <a:endParaRPr lang="en-US" altLang="ko-KR" sz="1300" b="1" dirty="0" smtClean="0"/>
          </a:p>
          <a:p>
            <a:pPr>
              <a:lnSpc>
                <a:spcPct val="160000"/>
              </a:lnSpc>
            </a:pPr>
            <a:r>
              <a:rPr lang="en-US" altLang="ko-KR" sz="1300" dirty="0"/>
              <a:t>Gains from trade </a:t>
            </a:r>
            <a:r>
              <a:rPr lang="en-US" altLang="ko-KR" sz="1300" dirty="0" smtClean="0"/>
              <a:t>arise </a:t>
            </a:r>
            <a:r>
              <a:rPr lang="en-US" altLang="ko-KR" sz="1300" dirty="0"/>
              <a:t>from comparative advantage.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When </a:t>
            </a:r>
            <a:r>
              <a:rPr lang="en-US" altLang="ko-KR" sz="1300" dirty="0"/>
              <a:t>each country specializes in the </a:t>
            </a:r>
            <a:r>
              <a:rPr lang="en-US" altLang="ko-KR" sz="1300" dirty="0" smtClean="0"/>
              <a:t>good(s</a:t>
            </a:r>
            <a:r>
              <a:rPr lang="en-US" altLang="ko-KR" sz="1300" dirty="0"/>
              <a:t>) in which it has a comparative </a:t>
            </a:r>
            <a:r>
              <a:rPr lang="en-US" altLang="ko-KR" sz="1300" dirty="0" smtClean="0"/>
              <a:t>advantage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en-US" altLang="ko-KR" sz="1300" dirty="0" smtClean="0"/>
              <a:t>All </a:t>
            </a:r>
            <a:r>
              <a:rPr lang="en-US" altLang="ko-KR" sz="1300" dirty="0"/>
              <a:t>countries can gain from trade </a:t>
            </a:r>
            <a:endParaRPr lang="en-US" altLang="ko-KR" sz="1300" dirty="0" smtClean="0"/>
          </a:p>
          <a:p>
            <a:pPr>
              <a:lnSpc>
                <a:spcPct val="160000"/>
              </a:lnSpc>
            </a:pPr>
            <a:endParaRPr lang="en-US" altLang="ko-KR" sz="15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98" y="808078"/>
            <a:ext cx="3916618" cy="276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316</Words>
  <Application>Microsoft Office PowerPoint</Application>
  <PresentationFormat>와이드스크린</PresentationFormat>
  <Paragraphs>34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3. Interdependence and the Gains from Trade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35</cp:revision>
  <dcterms:created xsi:type="dcterms:W3CDTF">2021-06-28T02:08:57Z</dcterms:created>
  <dcterms:modified xsi:type="dcterms:W3CDTF">2021-09-07T05:51:55Z</dcterms:modified>
</cp:coreProperties>
</file>