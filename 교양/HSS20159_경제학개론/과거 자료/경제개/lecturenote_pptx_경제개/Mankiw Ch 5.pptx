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4660"/>
  </p:normalViewPr>
  <p:slideViewPr>
    <p:cSldViewPr snapToGrid="0">
      <p:cViewPr varScale="1">
        <p:scale>
          <a:sx n="65" d="100"/>
          <a:sy n="65" d="100"/>
        </p:scale>
        <p:origin x="3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 5. Elasticity and Its Application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89715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/>
              <a:t>Elasticity : </a:t>
            </a:r>
            <a:r>
              <a:rPr lang="en-US" altLang="ko-KR" sz="1300" dirty="0"/>
              <a:t>Measure of the responsiveness of </a:t>
            </a:r>
            <a:r>
              <a:rPr lang="en-US" altLang="ko-KR" sz="1300" b="1" i="1" dirty="0" err="1"/>
              <a:t>Qd</a:t>
            </a:r>
            <a:r>
              <a:rPr lang="en-US" altLang="ko-KR" sz="1300" b="1" i="1" dirty="0"/>
              <a:t> </a:t>
            </a:r>
            <a:r>
              <a:rPr lang="en-US" altLang="ko-KR" sz="1300" dirty="0"/>
              <a:t>or </a:t>
            </a:r>
            <a:r>
              <a:rPr lang="en-US" altLang="ko-KR" sz="1300" b="1" i="1" dirty="0"/>
              <a:t>Qs </a:t>
            </a:r>
            <a:r>
              <a:rPr lang="en-US" altLang="ko-KR" sz="1300" dirty="0"/>
              <a:t>to a change in one of its determinants </a:t>
            </a:r>
          </a:p>
          <a:p>
            <a:pPr>
              <a:lnSpc>
                <a:spcPct val="160000"/>
              </a:lnSpc>
            </a:pPr>
            <a:endParaRPr lang="en-US" altLang="ko-KR" sz="900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Price elasticity of demand : </a:t>
            </a:r>
            <a:r>
              <a:rPr lang="en-US" altLang="ko-KR" sz="1300" dirty="0"/>
              <a:t>How much the quantity demanded of a good responds to a change in the price of that good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Formula = (Percentage change in </a:t>
            </a:r>
            <a:r>
              <a:rPr lang="en-US" altLang="ko-KR" sz="1300" dirty="0" err="1"/>
              <a:t>Qd</a:t>
            </a:r>
            <a:r>
              <a:rPr lang="en-US" altLang="ko-KR" sz="1300" dirty="0"/>
              <a:t>) / (Percentage change in P)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To calculate percentage change, use ‘end value’ and ‘start value’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Price elasticity has different values according to the direction!!</a:t>
            </a:r>
          </a:p>
          <a:p>
            <a:pPr>
              <a:lnSpc>
                <a:spcPct val="160000"/>
              </a:lnSpc>
            </a:pPr>
            <a:endParaRPr lang="en-US" altLang="ko-KR" sz="7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Determinants of price elasticity of demand</a:t>
            </a:r>
          </a:p>
          <a:p>
            <a:r>
              <a:rPr lang="en-US" altLang="ko-KR" sz="1300" dirty="0"/>
              <a:t>Example 1: Breakfast cereal</a:t>
            </a:r>
            <a:r>
              <a:rPr lang="ko-KR" altLang="en-US" sz="1300" dirty="0"/>
              <a:t> </a:t>
            </a:r>
            <a:r>
              <a:rPr lang="en-US" altLang="ko-KR" sz="1300" dirty="0"/>
              <a:t>vs.</a:t>
            </a:r>
            <a:r>
              <a:rPr lang="ko-KR" altLang="en-US" sz="1300" dirty="0"/>
              <a:t> </a:t>
            </a:r>
            <a:r>
              <a:rPr lang="en-US" altLang="ko-KR" sz="1300" dirty="0"/>
              <a:t>Sunscreen </a:t>
            </a:r>
            <a:r>
              <a:rPr lang="en-US" altLang="ko-KR" sz="1300" dirty="0">
                <a:sym typeface="Wingdings" panose="05000000000000000000" pitchFamily="2" charset="2"/>
              </a:rPr>
              <a:t> </a:t>
            </a:r>
            <a:r>
              <a:rPr lang="en-US" altLang="ko-KR" sz="1300" dirty="0"/>
              <a:t>Price elasticity is higher when </a:t>
            </a:r>
            <a:r>
              <a:rPr lang="en-US" altLang="ko-KR" sz="1300" b="1" dirty="0"/>
              <a:t>close substitutes </a:t>
            </a:r>
            <a:r>
              <a:rPr lang="en-US" altLang="ko-KR" sz="1300" dirty="0"/>
              <a:t>are available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Example 2: Blue jeans</a:t>
            </a:r>
            <a:r>
              <a:rPr lang="ko-KR" altLang="en-US" sz="1300" dirty="0"/>
              <a:t> </a:t>
            </a:r>
            <a:r>
              <a:rPr lang="en-US" altLang="ko-KR" sz="1300" dirty="0"/>
              <a:t>vs.</a:t>
            </a:r>
            <a:r>
              <a:rPr lang="ko-KR" altLang="en-US" sz="1300" dirty="0"/>
              <a:t> </a:t>
            </a:r>
            <a:r>
              <a:rPr lang="en-US" altLang="ko-KR" sz="1300" dirty="0"/>
              <a:t>Clothing </a:t>
            </a:r>
            <a:r>
              <a:rPr lang="en-US" altLang="ko-KR" sz="1300" dirty="0">
                <a:sym typeface="Wingdings" panose="05000000000000000000" pitchFamily="2" charset="2"/>
              </a:rPr>
              <a:t> </a:t>
            </a:r>
            <a:r>
              <a:rPr lang="en-US" altLang="ko-KR" sz="1300" dirty="0"/>
              <a:t>Price elasticity is higher for </a:t>
            </a:r>
            <a:r>
              <a:rPr lang="en-US" altLang="ko-KR" sz="1300" b="1" dirty="0"/>
              <a:t>narrowly defined goods</a:t>
            </a:r>
            <a:r>
              <a:rPr lang="en-US" altLang="ko-KR" sz="1300" dirty="0"/>
              <a:t> than for broadly defined ones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Example 3: Insulin</a:t>
            </a:r>
            <a:r>
              <a:rPr lang="ko-KR" altLang="en-US" sz="1300" dirty="0"/>
              <a:t> </a:t>
            </a:r>
            <a:r>
              <a:rPr lang="en-US" altLang="ko-KR" sz="1300" dirty="0"/>
              <a:t>vs.</a:t>
            </a:r>
            <a:r>
              <a:rPr lang="ko-KR" altLang="en-US" sz="1300" dirty="0"/>
              <a:t> </a:t>
            </a:r>
            <a:r>
              <a:rPr lang="en-US" altLang="ko-KR" sz="1300" dirty="0"/>
              <a:t>Yachts </a:t>
            </a:r>
            <a:r>
              <a:rPr lang="en-US" altLang="ko-KR" sz="1300" dirty="0">
                <a:sym typeface="Wingdings" panose="05000000000000000000" pitchFamily="2" charset="2"/>
              </a:rPr>
              <a:t> </a:t>
            </a:r>
            <a:r>
              <a:rPr lang="en-US" altLang="ko-KR" sz="1300" dirty="0"/>
              <a:t>Price elasticity is higher for </a:t>
            </a:r>
            <a:r>
              <a:rPr lang="en-US" altLang="ko-KR" sz="1300" b="1" dirty="0"/>
              <a:t>luxuries</a:t>
            </a:r>
            <a:r>
              <a:rPr lang="en-US" altLang="ko-KR" sz="1300" dirty="0"/>
              <a:t> than for necessities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Example 4: Gasoline in the short run</a:t>
            </a:r>
            <a:r>
              <a:rPr lang="ko-KR" altLang="en-US" sz="1300" dirty="0"/>
              <a:t> </a:t>
            </a:r>
            <a:r>
              <a:rPr lang="en-US" altLang="ko-KR" sz="1300" dirty="0"/>
              <a:t>vs.</a:t>
            </a:r>
            <a:r>
              <a:rPr lang="ko-KR" altLang="en-US" sz="1300" dirty="0"/>
              <a:t> </a:t>
            </a:r>
            <a:r>
              <a:rPr lang="en-US" altLang="ko-KR" sz="1300" dirty="0"/>
              <a:t>Gasoline in the long run </a:t>
            </a:r>
            <a:r>
              <a:rPr lang="en-US" altLang="ko-KR" sz="1300" dirty="0">
                <a:sym typeface="Wingdings" panose="05000000000000000000" pitchFamily="2" charset="2"/>
              </a:rPr>
              <a:t> </a:t>
            </a:r>
            <a:r>
              <a:rPr lang="en-US" altLang="ko-KR" sz="1300" dirty="0"/>
              <a:t>Price elasticity is higher in </a:t>
            </a:r>
            <a:r>
              <a:rPr lang="en-US" altLang="ko-KR" sz="1300" b="1" dirty="0"/>
              <a:t>the long run</a:t>
            </a:r>
          </a:p>
          <a:p>
            <a:pPr>
              <a:lnSpc>
                <a:spcPct val="160000"/>
              </a:lnSpc>
            </a:pPr>
            <a:endParaRPr lang="en-US" altLang="ko-KR" sz="400" b="1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Variety of demand curves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Perfectly inelastic demand: D curve vertical, </a:t>
            </a:r>
            <a:r>
              <a:rPr lang="en-US" altLang="ko-KR" sz="1300" dirty="0"/>
              <a:t>consumers price sensitivity 0, Elasticity 0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Inelastic demand: D curve relatively steep, </a:t>
            </a:r>
            <a:r>
              <a:rPr lang="en-US" altLang="ko-KR" sz="1300" dirty="0"/>
              <a:t>consumers price sensitivity relatively low, Elasticity less than 1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Unit elastic demand: D curve intermediate slope, </a:t>
            </a:r>
            <a:r>
              <a:rPr lang="en-US" altLang="ko-KR" sz="1300" dirty="0"/>
              <a:t>consumers price sensitivity intermediate, Elasticity = 1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Elastic demand: D curve relatively flat, </a:t>
            </a:r>
            <a:r>
              <a:rPr lang="en-US" altLang="ko-KR" sz="1300" dirty="0"/>
              <a:t>consumers price sensitivity relatively high, Elasticity greater than 1</a:t>
            </a:r>
            <a:endParaRPr lang="en-US" altLang="ko-KR" sz="13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/>
              <a:t>Perfectly elastic demand: D curve horizontal, </a:t>
            </a:r>
            <a:r>
              <a:rPr lang="en-US" altLang="ko-KR" sz="1300" dirty="0"/>
              <a:t>consumers price sensitivity extreme, Elasticity infinity</a:t>
            </a:r>
          </a:p>
          <a:p>
            <a:pPr>
              <a:lnSpc>
                <a:spcPct val="160000"/>
              </a:lnSpc>
            </a:pPr>
            <a:r>
              <a:rPr lang="en-US" altLang="ko-KR" sz="700" dirty="0"/>
              <a:t> </a:t>
            </a:r>
          </a:p>
          <a:p>
            <a:pPr>
              <a:lnSpc>
                <a:spcPct val="160000"/>
              </a:lnSpc>
            </a:pPr>
            <a:r>
              <a:rPr lang="en-US" altLang="ko-KR" sz="1300" b="1" u="sng" dirty="0"/>
              <a:t>Elasticity and Total revenue</a:t>
            </a:r>
            <a:r>
              <a:rPr lang="en-US" altLang="ko-KR" sz="1300" b="1" dirty="0"/>
              <a:t>: </a:t>
            </a:r>
            <a:r>
              <a:rPr lang="en-US" altLang="ko-KR" sz="1300" dirty="0"/>
              <a:t>A price increase has 2 effects on revenue. Higher revenue because of higher P, Also Lower revenue because you sell fewer units. For a price increase…</a:t>
            </a:r>
          </a:p>
          <a:p>
            <a:pPr>
              <a:lnSpc>
                <a:spcPct val="160000"/>
              </a:lnSpc>
            </a:pPr>
            <a:r>
              <a:rPr lang="en-US" altLang="ko-KR" sz="1300" u="sng" dirty="0"/>
              <a:t>If demand is elastic</a:t>
            </a:r>
            <a:r>
              <a:rPr lang="en-US" altLang="ko-KR" sz="1300" dirty="0"/>
              <a:t>, TR decreases: the fall in revenue from lower Q &gt; the increase in revenue from higher P</a:t>
            </a:r>
          </a:p>
          <a:p>
            <a:pPr>
              <a:lnSpc>
                <a:spcPct val="160000"/>
              </a:lnSpc>
            </a:pPr>
            <a:r>
              <a:rPr lang="en-US" altLang="ko-KR" sz="1300" u="sng" dirty="0"/>
              <a:t>If demand is inelastic</a:t>
            </a:r>
            <a:r>
              <a:rPr lang="en-US" altLang="ko-KR" sz="1300" dirty="0"/>
              <a:t>, TR increases: the fall in revenue from lower Q &lt; the increase in revenue from higher P</a:t>
            </a:r>
          </a:p>
          <a:p>
            <a:pPr marL="0" indent="0">
              <a:lnSpc>
                <a:spcPct val="160000"/>
              </a:lnSpc>
              <a:buNone/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Price elasticity of Supply : </a:t>
            </a:r>
            <a:r>
              <a:rPr lang="en-US" altLang="ko-KR" sz="1300" dirty="0"/>
              <a:t>How much the quantity supplied of a good responds to a change in the price of that good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Formula = (Percentage change in Qs) / (Percentage change in P)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Sellers’ price sensitivity</a:t>
            </a:r>
          </a:p>
          <a:p>
            <a:pPr>
              <a:lnSpc>
                <a:spcPct val="160000"/>
              </a:lnSpc>
            </a:pPr>
            <a:endParaRPr lang="en-US" altLang="ko-KR" sz="9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Variety of supply curves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Perfectly inelastic supply: S curve vertical, Elasticity 0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Inelastic supply: S curve relatively steep, Elasticity &lt; 1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Unit elastic supply: Intermediate slope, Elasticity = 1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Elastic supply: Relatively flat, , Elasticity &gt; 1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Perfectly Elastic supply: Horizontal, Elasticity infinity</a:t>
            </a:r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Determinants of supply elasticity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Sellers’ production ability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Length of time: Greater in the long run than in the short run</a:t>
            </a:r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 marL="0" indent="0">
              <a:lnSpc>
                <a:spcPct val="160000"/>
              </a:lnSpc>
              <a:buNone/>
            </a:pPr>
            <a:endParaRPr lang="en-US" altLang="ko-KR" sz="13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/>
              <a:t>Other elasticities of demand</a:t>
            </a:r>
          </a:p>
          <a:p>
            <a:pPr>
              <a:lnSpc>
                <a:spcPct val="160000"/>
              </a:lnSpc>
            </a:pPr>
            <a:r>
              <a:rPr lang="en-US" altLang="ko-KR" sz="1300" b="1" u="sng" dirty="0"/>
              <a:t>Income elasticity of demand</a:t>
            </a:r>
            <a:r>
              <a:rPr lang="en-US" altLang="ko-KR" sz="1300" b="1" dirty="0"/>
              <a:t>: </a:t>
            </a:r>
            <a:r>
              <a:rPr lang="en-US" altLang="ko-KR" sz="1300" dirty="0"/>
              <a:t>How much the quantity demanded of a good responds to a change in consumers’ income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Normal goods: income elasticity &gt; 0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Inferior goods: income elasticity &lt; 0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u="sng" dirty="0"/>
              <a:t>Cross-price elasticity of demand</a:t>
            </a:r>
            <a:r>
              <a:rPr lang="en-US" altLang="ko-KR" sz="1300" b="1" dirty="0"/>
              <a:t>: </a:t>
            </a:r>
            <a:r>
              <a:rPr lang="en-US" altLang="ko-KR" sz="1300" dirty="0"/>
              <a:t>How much the </a:t>
            </a:r>
            <a:r>
              <a:rPr lang="en-US" altLang="ko-KR" sz="1300" dirty="0" err="1"/>
              <a:t>Qd</a:t>
            </a:r>
            <a:r>
              <a:rPr lang="en-US" altLang="ko-KR" sz="1300" dirty="0"/>
              <a:t> of one good responds to a change in the price of another good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Substitutes: cross-price elasticity &gt; 0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Complements: cross-price elasticity &lt; 0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AACF2-4E8D-444E-8FEB-7FAF57A63B4E}" type="slidenum">
              <a:rPr kumimoji="0" lang="ko-KR" altLang="en-US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92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537</Words>
  <Application>Microsoft Office PowerPoint</Application>
  <PresentationFormat>와이드스크린</PresentationFormat>
  <Paragraphs>52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Ch 5. Elasticity and Its Application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library</cp:lastModifiedBy>
  <cp:revision>48</cp:revision>
  <dcterms:created xsi:type="dcterms:W3CDTF">2021-06-28T02:08:57Z</dcterms:created>
  <dcterms:modified xsi:type="dcterms:W3CDTF">2021-09-23T09:21:11Z</dcterms:modified>
</cp:coreProperties>
</file>