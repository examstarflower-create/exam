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3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Ch. 11</a:t>
            </a:r>
            <a:r>
              <a:rPr lang="ko-KR" altLang="en-US" dirty="0"/>
              <a:t> </a:t>
            </a:r>
            <a:r>
              <a:rPr lang="en-US" altLang="ko-KR" dirty="0"/>
              <a:t>Public goods and common resources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6611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300" dirty="0"/>
              <a:t>Two criteria for dividing the types of </a:t>
            </a:r>
            <a:r>
              <a:rPr lang="en-US" altLang="ko-KR" sz="1300" dirty="0" smtClean="0"/>
              <a:t>goods</a:t>
            </a:r>
          </a:p>
          <a:p>
            <a:pPr lvl="1">
              <a:lnSpc>
                <a:spcPct val="100000"/>
              </a:lnSpc>
            </a:pPr>
            <a:r>
              <a:rPr lang="en-US" altLang="ko-KR" sz="1300" dirty="0" smtClean="0"/>
              <a:t>Excludability: </a:t>
            </a:r>
            <a:r>
              <a:rPr lang="en-US" altLang="en-US" sz="1300" dirty="0"/>
              <a:t>Property of a good whereby a person can be prevented from using it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Excludable:  fish tacos, wireless Internet access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Not excludable:  radio signals, national defense</a:t>
            </a:r>
          </a:p>
          <a:p>
            <a:pPr>
              <a:lnSpc>
                <a:spcPct val="100000"/>
              </a:lnSpc>
            </a:pPr>
            <a:r>
              <a:rPr lang="en-US" altLang="en-US" sz="1300" dirty="0"/>
              <a:t>Rivalry in consumption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Property of a good whereby one person’s use diminishes other people’s use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Rival:  fish tacos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Not rival: An MP3 file of Lady </a:t>
            </a:r>
            <a:r>
              <a:rPr lang="en-US" altLang="en-US" sz="1300" dirty="0" err="1"/>
              <a:t>Gaga’s</a:t>
            </a:r>
            <a:r>
              <a:rPr lang="en-US" altLang="en-US" sz="1300" dirty="0"/>
              <a:t> latest single</a:t>
            </a:r>
          </a:p>
          <a:p>
            <a:pPr>
              <a:lnSpc>
                <a:spcPct val="100000"/>
              </a:lnSpc>
            </a:pPr>
            <a:r>
              <a:rPr lang="en-US" altLang="ko-KR" sz="1300" dirty="0" smtClean="0"/>
              <a:t>Different kinds of goods</a:t>
            </a:r>
            <a:endParaRPr lang="en-US" altLang="ko-KR" sz="1300" dirty="0"/>
          </a:p>
          <a:p>
            <a:pPr>
              <a:lnSpc>
                <a:spcPct val="100000"/>
              </a:lnSpc>
            </a:pPr>
            <a:r>
              <a:rPr lang="en-US" altLang="en-US" sz="1300" dirty="0"/>
              <a:t>Private goods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Excludable &amp; Rival in consumption (food)</a:t>
            </a:r>
          </a:p>
          <a:p>
            <a:pPr>
              <a:lnSpc>
                <a:spcPct val="100000"/>
              </a:lnSpc>
            </a:pPr>
            <a:r>
              <a:rPr lang="en-US" altLang="en-US" sz="1300" dirty="0"/>
              <a:t>Public goods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Not excludable &amp; Not rival in consumption (national defense)</a:t>
            </a:r>
          </a:p>
          <a:p>
            <a:pPr>
              <a:lnSpc>
                <a:spcPct val="100000"/>
              </a:lnSpc>
            </a:pPr>
            <a:r>
              <a:rPr lang="en-US" altLang="en-US" sz="1300" dirty="0"/>
              <a:t>Common resources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Rival in consumption &amp; Not excludable (fish in the ocean)</a:t>
            </a:r>
          </a:p>
          <a:p>
            <a:pPr>
              <a:lnSpc>
                <a:spcPct val="100000"/>
              </a:lnSpc>
            </a:pPr>
            <a:r>
              <a:rPr lang="en-US" altLang="en-US" sz="1300" dirty="0"/>
              <a:t>Club goods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Excludable &amp; Not rival in consumption (cable TV)</a:t>
            </a:r>
          </a:p>
          <a:p>
            <a:pPr lvl="1">
              <a:lnSpc>
                <a:spcPct val="100000"/>
              </a:lnSpc>
            </a:pPr>
            <a:endParaRPr lang="en-US" altLang="ko-KR" sz="1300" dirty="0"/>
          </a:p>
          <a:p>
            <a:pPr>
              <a:lnSpc>
                <a:spcPct val="100000"/>
              </a:lnSpc>
            </a:pPr>
            <a:r>
              <a:rPr lang="en-US" altLang="en-US" sz="1300" dirty="0"/>
              <a:t>Public goods and common resources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Externalities arise because something of value has no price attached to it  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Private decisions about consumption and production can lead to an inefficient outcome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Public policy can potentially raise economic well-being</a:t>
            </a:r>
          </a:p>
          <a:p>
            <a:pPr>
              <a:lnSpc>
                <a:spcPct val="100000"/>
              </a:lnSpc>
            </a:pPr>
            <a:r>
              <a:rPr lang="en-US" altLang="en-US" sz="1300" dirty="0"/>
              <a:t>Free rider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Person who receives the benefit of a good but avoids paying for it</a:t>
            </a:r>
          </a:p>
          <a:p>
            <a:pPr>
              <a:lnSpc>
                <a:spcPct val="100000"/>
              </a:lnSpc>
            </a:pPr>
            <a:r>
              <a:rPr lang="en-US" altLang="en-US" sz="1300" dirty="0"/>
              <a:t>The free-rider problem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Public goods are not excludable, so people have an incentive to be free riders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Prevents the private market from supplying the goods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Market failure </a:t>
            </a:r>
          </a:p>
          <a:p>
            <a:pPr>
              <a:lnSpc>
                <a:spcPct val="100000"/>
              </a:lnSpc>
            </a:pPr>
            <a:r>
              <a:rPr lang="en-US" altLang="en-US" sz="1300" dirty="0"/>
              <a:t>Government can remedy the free-rider problem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If total benefits of a public good exceeds its costs</a:t>
            </a:r>
          </a:p>
          <a:p>
            <a:pPr lvl="1">
              <a:lnSpc>
                <a:spcPct val="100000"/>
              </a:lnSpc>
            </a:pPr>
            <a:r>
              <a:rPr lang="en-US" altLang="en-US" sz="1300" dirty="0"/>
              <a:t>Provide the public good</a:t>
            </a:r>
          </a:p>
          <a:p>
            <a:r>
              <a:rPr lang="en-US" altLang="en-US" sz="1300" dirty="0" smtClean="0"/>
              <a:t>Cost–benefit </a:t>
            </a:r>
            <a:r>
              <a:rPr lang="en-US" altLang="en-US" sz="1300" dirty="0"/>
              <a:t>analysis</a:t>
            </a:r>
          </a:p>
          <a:p>
            <a:pPr lvl="1"/>
            <a:r>
              <a:rPr lang="en-US" altLang="en-US" sz="1300" dirty="0"/>
              <a:t>Compare the costs and benefits to society of providing a public good</a:t>
            </a:r>
          </a:p>
          <a:p>
            <a:pPr lvl="1">
              <a:lnSpc>
                <a:spcPct val="100000"/>
              </a:lnSpc>
            </a:pPr>
            <a:endParaRPr lang="en-US" altLang="ko-KR" sz="13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708007"/>
          </a:xfrm>
        </p:spPr>
        <p:txBody>
          <a:bodyPr>
            <a:normAutofit/>
          </a:bodyPr>
          <a:lstStyle/>
          <a:p>
            <a:r>
              <a:rPr lang="en-US" altLang="ko-KR" sz="1300" dirty="0"/>
              <a:t>Common resources are not excludable</a:t>
            </a:r>
          </a:p>
          <a:p>
            <a:pPr lvl="1"/>
            <a:r>
              <a:rPr lang="en-US" altLang="ko-KR" sz="1300" dirty="0"/>
              <a:t>Cannot prevent free riders from using</a:t>
            </a:r>
          </a:p>
          <a:p>
            <a:pPr lvl="1"/>
            <a:r>
              <a:rPr lang="en-US" altLang="ko-KR" sz="1300" dirty="0"/>
              <a:t>Little incentive for firms to provide</a:t>
            </a:r>
          </a:p>
          <a:p>
            <a:pPr lvl="1"/>
            <a:r>
              <a:rPr lang="en-US" altLang="ko-KR" sz="1300" dirty="0"/>
              <a:t>Role for government:  seeing that they are provided</a:t>
            </a:r>
          </a:p>
          <a:p>
            <a:r>
              <a:rPr lang="en-US" altLang="ko-KR" sz="1300" dirty="0"/>
              <a:t>Common resources: rival in consumption</a:t>
            </a:r>
          </a:p>
          <a:p>
            <a:pPr lvl="1"/>
            <a:r>
              <a:rPr lang="en-US" altLang="ko-KR" sz="1300" dirty="0"/>
              <a:t>Each person’s use reduces others’ ability to use</a:t>
            </a:r>
          </a:p>
          <a:p>
            <a:pPr lvl="1"/>
            <a:r>
              <a:rPr lang="en-US" altLang="ko-KR" sz="1300" dirty="0"/>
              <a:t>Role for government: ensuring they are not overused</a:t>
            </a:r>
          </a:p>
          <a:p>
            <a:r>
              <a:rPr lang="en-US" altLang="en-US" sz="1300" dirty="0"/>
              <a:t>The tragedy of the commons</a:t>
            </a:r>
          </a:p>
          <a:p>
            <a:pPr lvl="1"/>
            <a:r>
              <a:rPr lang="en-US" altLang="en-US" sz="1300" dirty="0"/>
              <a:t>Parable that shows why common resources are used more than </a:t>
            </a:r>
            <a:r>
              <a:rPr lang="en-US" altLang="en-US" sz="1300" dirty="0" smtClean="0"/>
              <a:t>desirable</a:t>
            </a:r>
          </a:p>
          <a:p>
            <a:pPr lvl="1"/>
            <a:r>
              <a:rPr lang="en-US" altLang="en-US" sz="1300" dirty="0"/>
              <a:t>Social and private incentives differ</a:t>
            </a:r>
          </a:p>
          <a:p>
            <a:pPr lvl="2"/>
            <a:r>
              <a:rPr lang="en-US" altLang="en-US" sz="1300" dirty="0"/>
              <a:t>The private incentives (using the land for free) outweigh the social incentives (using it carefully)</a:t>
            </a:r>
          </a:p>
          <a:p>
            <a:pPr lvl="1"/>
            <a:r>
              <a:rPr lang="en-US" altLang="en-US" sz="1300" dirty="0"/>
              <a:t>Arises because of a negative externality</a:t>
            </a:r>
          </a:p>
          <a:p>
            <a:pPr lvl="2"/>
            <a:r>
              <a:rPr lang="en-US" altLang="en-US" sz="1300" dirty="0"/>
              <a:t>Allowing one’s flock to graze on the common land reduces its quality for other families </a:t>
            </a:r>
          </a:p>
          <a:p>
            <a:pPr lvl="1"/>
            <a:r>
              <a:rPr lang="en-US" altLang="en-US" sz="1300" dirty="0"/>
              <a:t>People neglect this external cost, resulting in overuse of the land</a:t>
            </a:r>
          </a:p>
          <a:p>
            <a:pPr lvl="1"/>
            <a:endParaRPr lang="en-US" altLang="en-US" sz="1300" dirty="0"/>
          </a:p>
          <a:p>
            <a:pPr>
              <a:lnSpc>
                <a:spcPct val="160000"/>
              </a:lnSpc>
            </a:pPr>
            <a:r>
              <a:rPr lang="en-US" altLang="ko-KR" sz="1300" dirty="0"/>
              <a:t>Policy Options to Prevent </a:t>
            </a:r>
            <a:r>
              <a:rPr lang="en-US" altLang="ko-KR" sz="1300" dirty="0" smtClean="0"/>
              <a:t>Overconsumption </a:t>
            </a:r>
            <a:r>
              <a:rPr lang="en-US" altLang="ko-KR" sz="1300" dirty="0"/>
              <a:t>of Common </a:t>
            </a:r>
            <a:r>
              <a:rPr lang="en-US" altLang="ko-KR" sz="1300" dirty="0" smtClean="0"/>
              <a:t>Resources</a:t>
            </a:r>
          </a:p>
          <a:p>
            <a:r>
              <a:rPr lang="en-US" altLang="ko-KR" sz="1300" dirty="0"/>
              <a:t>Regulate use of the resource</a:t>
            </a:r>
          </a:p>
          <a:p>
            <a:r>
              <a:rPr lang="en-US" altLang="ko-KR" sz="1300" dirty="0"/>
              <a:t>Impose a corrective tax to internalize the </a:t>
            </a:r>
            <a:r>
              <a:rPr lang="en-US" altLang="ko-KR" sz="1300" dirty="0" smtClean="0"/>
              <a:t>externality</a:t>
            </a:r>
          </a:p>
          <a:p>
            <a:r>
              <a:rPr lang="en-US" altLang="ko-KR" sz="1300" dirty="0"/>
              <a:t>Auction off permits allowing use of the resource</a:t>
            </a:r>
          </a:p>
          <a:p>
            <a:r>
              <a:rPr lang="en-US" altLang="ko-KR" sz="1300" dirty="0" smtClean="0"/>
              <a:t>If </a:t>
            </a:r>
            <a:r>
              <a:rPr lang="en-US" altLang="ko-KR" sz="1300" dirty="0"/>
              <a:t>the resource is land, convert to a private good </a:t>
            </a:r>
          </a:p>
          <a:p>
            <a:endParaRPr lang="en-US" altLang="ko-KR" sz="1300" dirty="0"/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300" dirty="0"/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3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1347</TotalTime>
  <Words>408</Words>
  <Application>Microsoft Office PowerPoint</Application>
  <PresentationFormat>와이드스크린</PresentationFormat>
  <Paragraphs>57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Ch. 11 Public goods and common resources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107</cp:revision>
  <dcterms:created xsi:type="dcterms:W3CDTF">2021-06-28T02:08:57Z</dcterms:created>
  <dcterms:modified xsi:type="dcterms:W3CDTF">2024-03-26T08:42:23Z</dcterms:modified>
</cp:coreProperties>
</file>