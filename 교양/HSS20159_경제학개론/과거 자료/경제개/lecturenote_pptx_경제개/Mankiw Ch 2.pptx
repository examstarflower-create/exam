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4"/>
  </p:notesMasterIdLst>
  <p:sldIdLst>
    <p:sldId id="257" r:id="rId2"/>
    <p:sldId id="258" r:id="rId3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39" autoAdjust="0"/>
    <p:restoredTop sz="94660"/>
  </p:normalViewPr>
  <p:slideViewPr>
    <p:cSldViewPr snapToGrid="0">
      <p:cViewPr varScale="1">
        <p:scale>
          <a:sx n="43" d="100"/>
          <a:sy n="43" d="100"/>
        </p:scale>
        <p:origin x="219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2024-02-21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Ch 2. Thinking Like an Economist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19"/>
            <a:ext cx="5915025" cy="9897151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altLang="ko-KR" sz="1400" dirty="0"/>
              <a:t>Economists play two roles, Scientists and/or Policy advisors</a:t>
            </a:r>
          </a:p>
          <a:p>
            <a:pPr>
              <a:lnSpc>
                <a:spcPct val="160000"/>
              </a:lnSpc>
            </a:pPr>
            <a:r>
              <a:rPr lang="en-US" altLang="ko-KR" sz="1400" dirty="0"/>
              <a:t>Economists use assumptions and models to study economic issues</a:t>
            </a:r>
          </a:p>
          <a:p>
            <a:pPr>
              <a:lnSpc>
                <a:spcPct val="160000"/>
              </a:lnSpc>
            </a:pPr>
            <a:r>
              <a:rPr lang="en-US" altLang="ko-KR" sz="1300" b="1" dirty="0"/>
              <a:t>1. Circular-flow diagram</a:t>
            </a:r>
          </a:p>
          <a:p>
            <a:pPr lvl="1">
              <a:lnSpc>
                <a:spcPct val="160000"/>
              </a:lnSpc>
            </a:pPr>
            <a:r>
              <a:rPr lang="en-US" altLang="ko-KR" sz="1400" dirty="0"/>
              <a:t>Visual model of the economy, Shows how dollars flow through markets among households and firms</a:t>
            </a:r>
            <a:endParaRPr lang="en-US" altLang="ko-KR" sz="1200" dirty="0"/>
          </a:p>
          <a:p>
            <a:pPr lvl="1">
              <a:lnSpc>
                <a:spcPct val="160000"/>
              </a:lnSpc>
            </a:pPr>
            <a:r>
              <a:rPr lang="en-US" altLang="ko-KR" sz="1400" dirty="0"/>
              <a:t>Two decision makers –Firms and Households </a:t>
            </a:r>
          </a:p>
          <a:p>
            <a:pPr lvl="1">
              <a:lnSpc>
                <a:spcPct val="160000"/>
              </a:lnSpc>
            </a:pPr>
            <a:r>
              <a:rPr lang="en-US" altLang="ko-KR" sz="1400" dirty="0"/>
              <a:t>Interacting in two markets </a:t>
            </a:r>
          </a:p>
          <a:p>
            <a:pPr lvl="1">
              <a:lnSpc>
                <a:spcPct val="160000"/>
              </a:lnSpc>
            </a:pPr>
            <a:r>
              <a:rPr lang="en-US" altLang="ko-KR" sz="1400" dirty="0"/>
              <a:t>1) Market for gods and services </a:t>
            </a:r>
          </a:p>
          <a:p>
            <a:pPr lvl="1">
              <a:lnSpc>
                <a:spcPct val="160000"/>
              </a:lnSpc>
            </a:pPr>
            <a:r>
              <a:rPr lang="en-US" altLang="ko-KR" sz="1400" dirty="0"/>
              <a:t>2) Market for factors of production (inputs): labor, land, capital</a:t>
            </a:r>
            <a:endParaRPr lang="en-US" altLang="ko-KR" sz="1200" dirty="0"/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 lvl="1">
              <a:lnSpc>
                <a:spcPct val="160000"/>
              </a:lnSpc>
            </a:pPr>
            <a:endParaRPr lang="en-US" altLang="ko-KR" sz="1075" dirty="0"/>
          </a:p>
          <a:p>
            <a:pPr marL="0" indent="0">
              <a:lnSpc>
                <a:spcPct val="160000"/>
              </a:lnSpc>
              <a:buNone/>
            </a:pPr>
            <a:r>
              <a:rPr lang="en-US" altLang="ko-KR" sz="1300" b="1" dirty="0"/>
              <a:t>2. Production Possibilities Frontier, PPF</a:t>
            </a:r>
          </a:p>
          <a:p>
            <a:pPr lvl="1">
              <a:lnSpc>
                <a:spcPct val="160000"/>
              </a:lnSpc>
            </a:pPr>
            <a:r>
              <a:rPr lang="en-US" altLang="ko-KR" sz="1400" dirty="0"/>
              <a:t>A graph: combinations of output that the economy can possibly produce</a:t>
            </a:r>
          </a:p>
          <a:p>
            <a:pPr lvl="1">
              <a:lnSpc>
                <a:spcPct val="160000"/>
              </a:lnSpc>
            </a:pPr>
            <a:r>
              <a:rPr lang="en-US" altLang="ko-KR" sz="1400" dirty="0"/>
              <a:t>Given the available factors of production and technology</a:t>
            </a:r>
          </a:p>
          <a:p>
            <a:pPr lvl="1">
              <a:lnSpc>
                <a:spcPct val="160000"/>
              </a:lnSpc>
            </a:pPr>
            <a:r>
              <a:rPr lang="en-US" altLang="ko-KR" sz="1400" dirty="0"/>
              <a:t>Example: Narnia Land</a:t>
            </a:r>
          </a:p>
          <a:p>
            <a:pPr lvl="1">
              <a:lnSpc>
                <a:spcPct val="160000"/>
              </a:lnSpc>
            </a:pPr>
            <a:r>
              <a:rPr lang="en-US" altLang="ko-KR" sz="1400" dirty="0"/>
              <a:t>producing computers and wheat, with one resource(50,0000 Labor hours), Producing one computer requires 100 hours labor.</a:t>
            </a:r>
          </a:p>
          <a:p>
            <a:pPr lvl="1">
              <a:lnSpc>
                <a:spcPct val="160000"/>
              </a:lnSpc>
            </a:pPr>
            <a:r>
              <a:rPr lang="en-US" altLang="ko-KR" sz="1400" dirty="0"/>
              <a:t>Producing one ton of wheat requires 10 hours labor</a:t>
            </a:r>
            <a:endParaRPr lang="en-US" altLang="ko-KR" sz="1075" dirty="0"/>
          </a:p>
          <a:p>
            <a:pPr lvl="1">
              <a:lnSpc>
                <a:spcPct val="160000"/>
              </a:lnSpc>
            </a:pPr>
            <a:endParaRPr lang="ko-KR" altLang="en-US" sz="1075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143" y="5450278"/>
            <a:ext cx="4011714" cy="289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979170"/>
            <a:ext cx="5915025" cy="1027938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endParaRPr lang="en-US" altLang="ko-KR" sz="1300" dirty="0"/>
          </a:p>
          <a:p>
            <a:pPr>
              <a:lnSpc>
                <a:spcPct val="160000"/>
              </a:lnSpc>
            </a:pPr>
            <a:endParaRPr lang="en-US" altLang="ko-KR" sz="1500" dirty="0"/>
          </a:p>
          <a:p>
            <a:pPr>
              <a:lnSpc>
                <a:spcPct val="160000"/>
              </a:lnSpc>
            </a:pPr>
            <a:r>
              <a:rPr lang="en-US" altLang="ko-KR" sz="1800" dirty="0"/>
              <a:t>Points on the PPF (like A – E): possible &amp; Efficient: all resources are fully utilized</a:t>
            </a:r>
          </a:p>
          <a:p>
            <a:pPr>
              <a:lnSpc>
                <a:spcPct val="160000"/>
              </a:lnSpc>
            </a:pPr>
            <a:r>
              <a:rPr lang="en-US" altLang="ko-KR" sz="1800" dirty="0"/>
              <a:t>Points under the PPF (like F): possible but Not efficient: some resources are underutilized (e.g., workers unemployed, factories idle) </a:t>
            </a:r>
          </a:p>
          <a:p>
            <a:pPr>
              <a:lnSpc>
                <a:spcPct val="160000"/>
              </a:lnSpc>
            </a:pPr>
            <a:r>
              <a:rPr lang="en-US" altLang="ko-KR" sz="1800" dirty="0"/>
              <a:t>Points above the PPF (like G) – Not possible</a:t>
            </a:r>
          </a:p>
          <a:p>
            <a:pPr>
              <a:lnSpc>
                <a:spcPct val="160000"/>
              </a:lnSpc>
            </a:pPr>
            <a:endParaRPr lang="en-US" altLang="ko-KR" sz="1800" dirty="0"/>
          </a:p>
          <a:p>
            <a:pPr>
              <a:lnSpc>
                <a:spcPct val="160000"/>
              </a:lnSpc>
            </a:pPr>
            <a:r>
              <a:rPr lang="en-US" altLang="ko-KR" sz="1800" dirty="0"/>
              <a:t>Moving along a PPF </a:t>
            </a:r>
          </a:p>
          <a:p>
            <a:pPr>
              <a:lnSpc>
                <a:spcPct val="160000"/>
              </a:lnSpc>
            </a:pPr>
            <a:r>
              <a:rPr lang="en-US" altLang="ko-KR" sz="1800" dirty="0"/>
              <a:t>The slope of the PPF : The opportunity cost of one good in terms of the other</a:t>
            </a:r>
          </a:p>
          <a:p>
            <a:pPr>
              <a:lnSpc>
                <a:spcPct val="160000"/>
              </a:lnSpc>
            </a:pPr>
            <a:r>
              <a:rPr lang="en-US" altLang="ko-KR" sz="1800" dirty="0"/>
              <a:t>Economic Growth and the PPF : With additional resources or an improvement in technology, the economy can produce more </a:t>
            </a:r>
          </a:p>
          <a:p>
            <a:pPr>
              <a:lnSpc>
                <a:spcPct val="160000"/>
              </a:lnSpc>
            </a:pPr>
            <a:endParaRPr lang="en-US" altLang="ko-KR" sz="1800" dirty="0"/>
          </a:p>
          <a:p>
            <a:pPr>
              <a:lnSpc>
                <a:spcPct val="160000"/>
              </a:lnSpc>
            </a:pPr>
            <a:r>
              <a:rPr lang="en-US" altLang="ko-KR" sz="1800" b="1" dirty="0"/>
              <a:t>Shape of the PPF</a:t>
            </a:r>
          </a:p>
          <a:p>
            <a:pPr>
              <a:lnSpc>
                <a:spcPct val="160000"/>
              </a:lnSpc>
            </a:pPr>
            <a:r>
              <a:rPr lang="en-US" altLang="ko-KR" sz="1800" dirty="0"/>
              <a:t>Straight line: constant opportunity cost </a:t>
            </a:r>
          </a:p>
          <a:p>
            <a:pPr>
              <a:lnSpc>
                <a:spcPct val="160000"/>
              </a:lnSpc>
            </a:pPr>
            <a:r>
              <a:rPr lang="en-US" altLang="ko-KR" sz="1800" dirty="0"/>
              <a:t>Previous example: the opportunity cost of 1 computer is 10 tons of wheat</a:t>
            </a:r>
          </a:p>
          <a:p>
            <a:pPr>
              <a:lnSpc>
                <a:spcPct val="160000"/>
              </a:lnSpc>
            </a:pPr>
            <a:r>
              <a:rPr lang="en-US" altLang="ko-KR" sz="1800" dirty="0"/>
              <a:t>Bowed outward: increasing opportunity cost</a:t>
            </a:r>
          </a:p>
          <a:p>
            <a:pPr>
              <a:lnSpc>
                <a:spcPct val="160000"/>
              </a:lnSpc>
            </a:pPr>
            <a:r>
              <a:rPr lang="en-US" altLang="ko-KR" sz="1800" dirty="0"/>
              <a:t>As more units of a good are produced, we need to give up increasing amounts of the other good produced 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034" y="403879"/>
            <a:ext cx="3153082" cy="298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</TotalTime>
  <Words>293</Words>
  <Application>Microsoft Office PowerPoint</Application>
  <PresentationFormat>와이드스크린</PresentationFormat>
  <Paragraphs>50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Ch 2. Thinking Like an Economist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user</cp:lastModifiedBy>
  <cp:revision>32</cp:revision>
  <dcterms:created xsi:type="dcterms:W3CDTF">2021-06-28T02:08:57Z</dcterms:created>
  <dcterms:modified xsi:type="dcterms:W3CDTF">2024-02-21T05:38:14Z</dcterms:modified>
</cp:coreProperties>
</file>