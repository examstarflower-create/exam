
<file path=[Content_Types].xml><?xml version="1.0" encoding="utf-8"?>
<Types xmlns="http://schemas.openxmlformats.org/package/2006/content-types"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Default Extension="package" ContentType="application/vnd.openxmlformats-officedocument.package"/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wmf" ContentType="image/x-wmf"/>
  <Default Extension="gif" ContentType="image/gif"/>
  <Default Extension="bmp" ContentType="image/png"/>
  <Default Extension="tif" ContentType="image/tiff"/>
  <Default Extension="tiff" ContentType="image/tiff"/>
  <Default Extension="emf" ContentType="image/x-emf"/>
  <Default Extension="xlsx" ContentType="application/vnd.openxmlformats-officedocument.spreadsheetml.sheet"/>
  <Default Extension="xls" ContentType="application/vnd.ms-excel"/>
  <Default Extension="doc" ContentType="application/msword"/>
  <Default Extension="vml" ContentType="application/vnd.openxmlformats-officedocument.vmlDrawing"/>
  <Default Extension="bin" ContentType="application/vnd.openxmlformats-officedocument.oleObject"/>
  <Default Extension="wav" ContentType="audio/wav"/>
  <Default Extension="pdf" ContentType="application/pdf"/>
  <Default Extension="pict" ContentType="image/pict"/>
</Types>
</file>

<file path=_rels/.rels><?xml version="1.0" encoding="UTF-8"?>
<Relationships xmlns="http://schemas.openxmlformats.org/package/2006/relationships"><Relationship Target="ppt/presentation.xml" Type="http://schemas.openxmlformats.org/officeDocument/2006/relationships/officeDocument" Id="rId1"/><Relationship Target="docProps/core.xml" Type="http://schemas.openxmlformats.org/package/2006/relationships/metadata/core-properties" Id="rId2"/><Relationship Target="docProps/app.xml" Type="http://schemas.openxmlformats.org/officeDocument/2006/relationships/extended-properties" Id="rId3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firstSlideNum="1">
  <p:sldMasterIdLst>
    <p:sldMasterId id="2147483649" r:id="rId1"/>
  </p:sldMasterIdLst>
  <p:sldIdLst>
    <p:sldId id="256" r:id="rId2"/>
    <p:sldId id="257" r:id="rId3"/>
  </p:sldIdLst>
  <p:sldSz cx="6858000" cy="12192000" type="custom"/>
  <p:notesSz cx="6858000" cy="9144000"/>
  <p:defaultTextStyle>
    <a:defPPr>
      <a:defRPr lang="ko-KR"/>
    </a:defPPr>
    <a:lvl1pPr algn="l" marL="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marL="4572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marL="9144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marL="13716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marL="18288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marL="22860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marL="27432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marL="32004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marL="3657600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30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?>
<Relationships xmlns="http://schemas.openxmlformats.org/package/2006/relationships"><Relationship Id="rId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6" Type="http://schemas.openxmlformats.org/officeDocument/2006/relationships/tableStyles" Target="tableStyles.xml"/><Relationship Id="rId7" Type="http://schemas.openxmlformats.org/officeDocument/2006/relationships/theme" Target="theme/theme1.xml"/><Relationship Id="rId5" Type="http://schemas.openxmlformats.org/officeDocument/2006/relationships/viewProps" Target="viewProps.xml"/></Relationships>
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1_shape1"/>
          <p:cNvSpPr/>
          <p:nvPr>
            <p:ph type="ctrTitle"/>
          </p:nvPr>
        </p:nvSpPr>
        <p:spPr>
          <a:xfrm>
            <a:off x="857250" y="1995312"/>
            <a:ext cx="5143500" cy="4244622"/>
          </a:xfrm>
          <a:prstGeom prst="rect">
            <a:avLst/>
          </a:prstGeom>
        </p:spPr>
        <p:txBody>
          <a:bodyPr anchor="b"/>
          <a:lstStyle>
            <a:lvl1pPr algn="ctr">
              <a:defRPr sz="3375"/>
            </a:lvl1pPr>
          </a:lstStyle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1_shape2"/>
          <p:cNvSpPr/>
          <p:nvPr>
            <p:ph type="subTitle" idx="1"/>
          </p:nvPr>
        </p:nvSpPr>
        <p:spPr>
          <a:xfrm>
            <a:off x="857250" y="6403623"/>
            <a:ext cx="5143500" cy="2943577"/>
          </a:xfrm>
          <a:prstGeom prst="rect">
            <a:avLst/>
          </a:prstGeom>
        </p:spPr>
        <p:txBody>
          <a:bodyPr/>
          <a:lstStyle>
            <a:lvl1pPr algn="ctr" marL="0" indent="0">
              <a:buNone/>
              <a:defRPr sz="1350"/>
            </a:lvl1pPr>
            <a:lvl2pPr algn="ctr" marL="257175" indent="0">
              <a:buNone/>
              <a:defRPr sz="1125"/>
            </a:lvl2pPr>
            <a:lvl3pPr algn="ctr" marL="514350" indent="0">
              <a:buNone/>
              <a:defRPr sz="1013"/>
            </a:lvl3pPr>
            <a:lvl4pPr algn="ctr" marL="771525" indent="0">
              <a:buNone/>
              <a:defRPr sz="900"/>
            </a:lvl4pPr>
            <a:lvl5pPr algn="ctr" marL="1028700" indent="0">
              <a:buNone/>
              <a:defRPr sz="900"/>
            </a:lvl5pPr>
            <a:lvl6pPr algn="ctr" marL="1285875" indent="0">
              <a:buNone/>
              <a:defRPr sz="900"/>
            </a:lvl6pPr>
            <a:lvl7pPr algn="ctr" marL="1543050" indent="0">
              <a:buNone/>
              <a:defRPr sz="900"/>
            </a:lvl7pPr>
            <a:lvl8pPr algn="ctr" marL="1800225" indent="0">
              <a:buNone/>
              <a:defRPr sz="900"/>
            </a:lvl8pPr>
            <a:lvl9pPr algn="ctr" marL="2057400" indent="0">
              <a:buNone/>
              <a:defRPr sz="900"/>
            </a:lvl9pPr>
          </a:lstStyle>
          <a:p>
            <a:pPr/>
            <a:r>
              <a:rPr lang="ko-KR" altLang="en-US"/>
              <a:t>클릭하여</a:t>
            </a:r>
            <a:r>
              <a:rPr lang="en-US" altLang="en-US"/>
              <a:t> </a:t>
            </a:r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부제목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5" name="layout1_shape3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2021-10-26</a:t>
            </a:fld>
            <a:endParaRPr/>
          </a:p>
        </p:txBody>
      </p:sp>
      <p:sp>
        <p:nvSpPr>
          <p:cNvPr id="6" name="layout1_shape4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7" name="layout1_shape5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2_shape1"/>
          <p:cNvSpPr/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2_shape2"/>
          <p:cNvSpPr/>
          <p:nvPr>
            <p:ph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layout2_shape3"/>
          <p:cNvSpPr/>
          <p:nvPr>
            <p:ph type="dt" sz="half" idx="10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type="datetime1" id="{A658C7C3-8D3A-4C0D-B60E-240C4DE6BC36}">
              <a:rPr lang="ko-KR" sz="675">
                <a:solidFill>
                  <a:schemeClr val="tx1">
                    <a:tint val="75000"/>
                  </a:schemeClr>
                </a:solidFill>
              </a:rPr>
              <a:t>2021-10-26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layout2_shape4"/>
          <p:cNvSpPr/>
          <p:nvPr>
            <p:ph type="ftr" sz="quarter" idx="11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layout2_shape5"/>
          <p:cNvSpPr/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type="slidenum" id="{4BEDD84E-25D4-4983-8AA1-2863C96F08D9}">
              <a:rPr lang="ko-KR" sz="675">
                <a:solidFill>
                  <a:schemeClr val="tx1">
                    <a:tint val="75000"/>
                  </a:schemeClr>
                </a:solidFill>
              </a:rPr>
              <a:t>‹#›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3_shape1"/>
          <p:cNvSpPr/>
          <p:nvPr>
            <p:ph type="title"/>
          </p:nvPr>
        </p:nvSpPr>
        <p:spPr>
          <a:xfrm>
            <a:off x="467916" y="3039535"/>
            <a:ext cx="5915025" cy="5071532"/>
          </a:xfrm>
          <a:prstGeom prst="rect">
            <a:avLst/>
          </a:prstGeom>
        </p:spPr>
        <p:txBody>
          <a:bodyPr anchor="b"/>
          <a:lstStyle>
            <a:lvl1pPr>
              <a:defRPr sz="3375"/>
            </a:lvl1pPr>
          </a:lstStyle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3_shape2"/>
          <p:cNvSpPr/>
          <p:nvPr>
            <p:ph type="body" idx="1"/>
          </p:nvPr>
        </p:nvSpPr>
        <p:spPr>
          <a:xfrm>
            <a:off x="467916" y="8159046"/>
            <a:ext cx="5915025" cy="266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5" name="layout3_shape3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2021-10-26</a:t>
            </a:fld>
            <a:endParaRPr/>
          </a:p>
        </p:txBody>
      </p:sp>
      <p:sp>
        <p:nvSpPr>
          <p:cNvPr id="6" name="layout3_shape4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7" name="layout3_shape5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4_shape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4_shape2"/>
          <p:cNvSpPr/>
          <p:nvPr>
            <p:ph sz="half" idx="1"/>
          </p:nvPr>
        </p:nvSpPr>
        <p:spPr>
          <a:xfrm>
            <a:off x="471488" y="3245556"/>
            <a:ext cx="2914650" cy="77357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layout4_shape3"/>
          <p:cNvSpPr/>
          <p:nvPr>
            <p:ph sz="half" idx="2"/>
          </p:nvPr>
        </p:nvSpPr>
        <p:spPr>
          <a:xfrm>
            <a:off x="3471863" y="3245556"/>
            <a:ext cx="2914650" cy="77357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6" name="layout4_shape4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2021-10-26</a:t>
            </a:fld>
            <a:endParaRPr/>
          </a:p>
        </p:txBody>
      </p:sp>
      <p:sp>
        <p:nvSpPr>
          <p:cNvPr id="7" name="layout4_shape5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8" name="layout4_shape6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5_shape1"/>
          <p:cNvSpPr/>
          <p:nvPr>
            <p:ph type="title"/>
          </p:nvPr>
        </p:nvSpPr>
        <p:spPr>
          <a:xfrm>
            <a:off x="472381" y="649112"/>
            <a:ext cx="5915025" cy="2356556"/>
          </a:xfrm>
          <a:prstGeom prst="rect">
            <a:avLst/>
          </a:prstGeom>
        </p:spPr>
        <p:txBody>
          <a:bodyPr/>
          <a:lstStyle/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5_shape2"/>
          <p:cNvSpPr/>
          <p:nvPr>
            <p:ph type="body" idx="1"/>
          </p:nvPr>
        </p:nvSpPr>
        <p:spPr>
          <a:xfrm>
            <a:off x="472381" y="2988734"/>
            <a:ext cx="2901255" cy="146473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5" name="layout5_shape3"/>
          <p:cNvSpPr/>
          <p:nvPr>
            <p:ph sz="half" idx="2"/>
          </p:nvPr>
        </p:nvSpPr>
        <p:spPr>
          <a:xfrm>
            <a:off x="472381" y="4453467"/>
            <a:ext cx="2901255" cy="65503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6" name="layout5_shape4"/>
          <p:cNvSpPr/>
          <p:nvPr>
            <p:ph type="body" sz="quarter" idx="3"/>
          </p:nvPr>
        </p:nvSpPr>
        <p:spPr>
          <a:xfrm>
            <a:off x="3471863" y="2988734"/>
            <a:ext cx="2915543" cy="146473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7" name="layout5_shape5"/>
          <p:cNvSpPr/>
          <p:nvPr>
            <p:ph sz="quarter" idx="4"/>
          </p:nvPr>
        </p:nvSpPr>
        <p:spPr>
          <a:xfrm>
            <a:off x="3471863" y="4453467"/>
            <a:ext cx="2915543" cy="65503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8" name="layout5_shape6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2021-10-26</a:t>
            </a:fld>
            <a:endParaRPr/>
          </a:p>
        </p:txBody>
      </p:sp>
      <p:sp>
        <p:nvSpPr>
          <p:cNvPr id="9" name="layout5_shape7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10" name="layout5_shape8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6_shape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6_shape2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2021-10-26</a:t>
            </a:fld>
            <a:endParaRPr/>
          </a:p>
        </p:txBody>
      </p:sp>
      <p:sp>
        <p:nvSpPr>
          <p:cNvPr id="5" name="layout6_shape3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6" name="layout6_shape4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7_shape1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2021-10-26</a:t>
            </a:fld>
            <a:endParaRPr/>
          </a:p>
        </p:txBody>
      </p:sp>
      <p:sp>
        <p:nvSpPr>
          <p:cNvPr id="4" name="layout7_shape2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5" name="layout7_shape3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8_shape1"/>
          <p:cNvSpPr/>
          <p:nvPr>
            <p:ph type="title"/>
          </p:nvPr>
        </p:nvSpPr>
        <p:spPr>
          <a:xfrm>
            <a:off x="472381" y="812800"/>
            <a:ext cx="2211883" cy="2844800"/>
          </a:xfrm>
          <a:prstGeom prst="rect">
            <a:avLst/>
          </a:prstGeom>
        </p:spPr>
        <p:txBody>
          <a:bodyPr anchor="b"/>
          <a:lstStyle>
            <a:lvl1pPr>
              <a:defRPr sz="1800"/>
            </a:lvl1pPr>
          </a:lstStyle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8_shape2"/>
          <p:cNvSpPr/>
          <p:nvPr>
            <p:ph idx="1"/>
          </p:nvPr>
        </p:nvSpPr>
        <p:spPr>
          <a:xfrm>
            <a:off x="2915543" y="1755423"/>
            <a:ext cx="3471863" cy="8664222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layout8_shape3"/>
          <p:cNvSpPr/>
          <p:nvPr>
            <p:ph type="body" sz="half" idx="2"/>
          </p:nvPr>
        </p:nvSpPr>
        <p:spPr>
          <a:xfrm>
            <a:off x="472381" y="3657600"/>
            <a:ext cx="2211883" cy="6776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6" name="layout8_shape4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2021-10-26</a:t>
            </a:fld>
            <a:endParaRPr/>
          </a:p>
        </p:txBody>
      </p:sp>
      <p:sp>
        <p:nvSpPr>
          <p:cNvPr id="7" name="layout8_shape5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8" name="layout8_shape6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9_shape1"/>
          <p:cNvSpPr/>
          <p:nvPr>
            <p:ph type="title"/>
          </p:nvPr>
        </p:nvSpPr>
        <p:spPr>
          <a:xfrm>
            <a:off x="472381" y="812800"/>
            <a:ext cx="2211883" cy="2844800"/>
          </a:xfrm>
          <a:prstGeom prst="rect">
            <a:avLst/>
          </a:prstGeom>
        </p:spPr>
        <p:txBody>
          <a:bodyPr anchor="b"/>
          <a:lstStyle>
            <a:lvl1pPr>
              <a:defRPr sz="1800"/>
            </a:lvl1pPr>
          </a:lstStyle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9_shape2"/>
          <p:cNvSpPr/>
          <p:nvPr>
            <p:ph type="pic" idx="1"/>
          </p:nvPr>
        </p:nvSpPr>
        <p:spPr>
          <a:xfrm>
            <a:off x="2915543" y="1755423"/>
            <a:ext cx="3471863" cy="86642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/>
            <a:endParaRPr/>
          </a:p>
        </p:txBody>
      </p:sp>
      <p:sp>
        <p:nvSpPr>
          <p:cNvPr id="5" name="layout9_shape3"/>
          <p:cNvSpPr/>
          <p:nvPr>
            <p:ph type="body" sz="half" idx="2"/>
          </p:nvPr>
        </p:nvSpPr>
        <p:spPr>
          <a:xfrm>
            <a:off x="472381" y="3657600"/>
            <a:ext cx="2211883" cy="6776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6" name="layout9_shape4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2021-10-26</a:t>
            </a:fld>
            <a:endParaRPr/>
          </a:p>
        </p:txBody>
      </p:sp>
      <p:sp>
        <p:nvSpPr>
          <p:cNvPr id="7" name="layout9_shape5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8" name="layout9_shape6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10_shape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10_shape2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layout10_shape3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2021-10-26</a:t>
            </a:fld>
            <a:endParaRPr/>
          </a:p>
        </p:txBody>
      </p:sp>
      <p:sp>
        <p:nvSpPr>
          <p:cNvPr id="6" name="layout10_shape4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7" name="layout10_shape5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11_shape1"/>
          <p:cNvSpPr/>
          <p:nvPr>
            <p:ph type="title"/>
          </p:nvPr>
        </p:nvSpPr>
        <p:spPr>
          <a:xfrm>
            <a:off x="4907756" y="649111"/>
            <a:ext cx="1478756" cy="10332156"/>
          </a:xfrm>
          <a:prstGeom prst="rect">
            <a:avLst/>
          </a:prstGeom>
        </p:spPr>
        <p:txBody>
          <a:bodyPr vert="eaVert"/>
          <a:lstStyle/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11_shape2"/>
          <p:cNvSpPr/>
          <p:nvPr>
            <p:ph type="body" idx="1"/>
          </p:nvPr>
        </p:nvSpPr>
        <p:spPr>
          <a:xfrm>
            <a:off x="471487" y="649111"/>
            <a:ext cx="4350544" cy="1033215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layout11_shape3"/>
          <p:cNvSpPr/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datetime1" id="{A658C7C3-8D3A-4C0D-B60E-240C4DE6BC36}">
              <a:rPr lang="ko-KR"/>
              <a:t>2021-10-26</a:t>
            </a:fld>
            <a:endParaRPr/>
          </a:p>
        </p:txBody>
      </p:sp>
      <p:sp>
        <p:nvSpPr>
          <p:cNvPr id="6" name="layout11_shape4"/>
          <p:cNvSpPr/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7" name="layout11_shape5"/>
          <p:cNvSpPr/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type="slidenum" id="{4BEDD84E-25D4-4983-8AA1-2863C96F08D9}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ster1_shape1"/>
          <p:cNvSpPr/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pPr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master1_shape2"/>
          <p:cNvSpPr/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master1_shape3"/>
          <p:cNvSpPr/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type="datetime1" id="{A658C7C3-8D3A-4C0D-B60E-240C4DE6BC36}">
              <a:rPr lang="ko-KR" sz="675">
                <a:solidFill>
                  <a:schemeClr val="tx1">
                    <a:tint val="75000"/>
                  </a:schemeClr>
                </a:solidFill>
              </a:rPr>
              <a:t>2021-10-26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master1_shape4"/>
          <p:cNvSpPr/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master1_shape5"/>
          <p:cNvSpPr/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type="slidenum" id="{4BEDD84E-25D4-4983-8AA1-2863C96F08D9}">
              <a:rPr lang="ko-KR" sz="675">
                <a:solidFill>
                  <a:schemeClr val="tx1">
                    <a:tint val="75000"/>
                  </a:schemeClr>
                </a:solidFill>
              </a:rPr>
              <a:t>‹#›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 bg1="lt1" bg2="lt2" tx1="dk1" tx2="dk2" hlink="hlink" accent1="accent1" accent2="accent2" accent3="accent3" accent4="accent4" accent5="accent5" accent6="accent6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514350" latinLnBrk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marL="128588" indent="-128588" defTabSz="514350" latinLnBrk="1">
        <a:lnSpc>
          <a:spcPct val="90000"/>
        </a:lnSpc>
        <a:spcBef>
          <a:spcPts val="563"/>
        </a:spcBef>
        <a:buFont typeface="Arial" pitchFamily="2" charset="2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algn="l" marL="385763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algn="l" marL="642938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algn="l" marL="900113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algn="l" marL="1157288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algn="l" marL="1414463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algn="l" marL="1671638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algn="l" marL="1928813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algn="l" marL="2185988" indent="-128588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algn="l" marL="0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algn="l" marL="257175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algn="l" marL="514350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algn="l" marL="771525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algn="l" marL="1028700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algn="l" marL="1285875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algn="l" marL="1543050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algn="l" marL="1800225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algn="l" marL="2057400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1_shape1"/>
          <p:cNvSpPr/>
          <p:nvPr>
            <p:ph type="title"/>
          </p:nvPr>
        </p:nvSpPr>
        <p:spPr>
          <a:xfrm>
            <a:off x="471488" y="649114"/>
            <a:ext cx="5915025" cy="1149206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pPr algn="l" marL="0" defTabSz="514350" latinLnBrk="1">
              <a:lnSpc>
                <a:spcPct val="150000"/>
              </a:lnSpc>
              <a:spcBef>
                <a:spcPct val="0"/>
              </a:spcBef>
              <a:buNone/>
            </a:pPr>
            <a:r>
              <a:rPr lang="ko-KR" altLang="en-US" sz="2475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Ch. 14 Firms in Competitive Markets</a:t>
            </a:r>
          </a:p>
        </p:txBody>
      </p:sp>
      <p:sp>
        <p:nvSpPr>
          <p:cNvPr id="4" name="slide1_shape2"/>
          <p:cNvSpPr/>
          <p:nvPr>
            <p:ph idx="1"/>
          </p:nvPr>
        </p:nvSpPr>
        <p:spPr>
          <a:xfrm>
            <a:off x="471488" y="1798320"/>
            <a:ext cx="5915025" cy="9182948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 marL="127000" indent="-127000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400" b="1">
                <a:solidFill>
                  <a:schemeClr val="tx1">
                    <a:alpha val="100000"/>
                  </a:schemeClr>
                </a:solidFill>
                <a:ea typeface="+mn-cs"/>
              </a:rPr>
              <a:t>Perfectly competitive market:</a:t>
            </a:r>
          </a:p>
          <a:p>
            <a:pPr algn="l" marL="127000" indent="-127000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400">
                <a:solidFill>
                  <a:schemeClr val="tx1">
                    <a:alpha val="100000"/>
                  </a:schemeClr>
                </a:solidFill>
                <a:ea typeface="+mn-cs"/>
              </a:rPr>
              <a:t>Market with many buyers and sellers</a:t>
            </a:r>
          </a:p>
          <a:p>
            <a:pPr algn="l" marL="127000" indent="-127000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400">
                <a:solidFill>
                  <a:schemeClr val="tx1">
                    <a:alpha val="100000"/>
                  </a:schemeClr>
                </a:solidFill>
                <a:ea typeface="+mn-cs"/>
              </a:rPr>
              <a:t>Each buyerand seller is a </a:t>
            </a:r>
            <a:r>
              <a:rPr lang="en-US" altLang="ko-KR" sz="1400">
                <a:solidFill>
                  <a:schemeClr val="tx1">
                    <a:alpha val="100000"/>
                  </a:schemeClr>
                </a:solidFill>
                <a:latin typeface="+mn-cs"/>
              </a:rPr>
              <a:t>price taker</a:t>
            </a:r>
          </a:p>
          <a:p>
            <a:pPr algn="l" marL="127000" indent="-127000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400">
                <a:solidFill>
                  <a:schemeClr val="tx1">
                    <a:alpha val="100000"/>
                  </a:schemeClr>
                </a:solidFill>
                <a:ea typeface="+mn-cs"/>
              </a:rPr>
              <a:t>Identical Products</a:t>
            </a:r>
          </a:p>
          <a:p>
            <a:pPr algn="l" marL="127000" indent="-127000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400">
                <a:solidFill>
                  <a:schemeClr val="tx1">
                    <a:alpha val="100000"/>
                  </a:schemeClr>
                </a:solidFill>
                <a:ea typeface="+mn-cs"/>
              </a:rPr>
              <a:t>Freely enter of exit the market</a:t>
            </a:r>
          </a:p>
          <a:p>
            <a:pPr algn="l" marL="0" lvl="0">
              <a:lnSpc>
                <a:spcPct val="160000"/>
              </a:lnSpc>
              <a:spcBef>
                <a:spcPts val="550"/>
              </a:spcBef>
              <a:buNone/>
            </a:pPr>
            <a:r>
              <a:rPr lang="en-US" altLang="ko-KR" sz="1400">
                <a:solidFill>
                  <a:schemeClr val="tx1">
                    <a:alpha val="100000"/>
                  </a:schemeClr>
                </a:solidFill>
                <a:latin typeface="+mn-cs"/>
              </a:rPr>
              <a:t/>
            </a:r>
          </a:p>
          <a:p>
            <a:pPr algn="l" marL="127000" indent="-127000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en-US" altLang="ko-KR" sz="1400">
                <a:solidFill>
                  <a:schemeClr val="tx1">
                    <a:alpha val="100000"/>
                  </a:schemeClr>
                </a:solidFill>
                <a:latin typeface="+mn-cs"/>
              </a:rPr>
              <a:t>TR = P*Q</a:t>
            </a:r>
          </a:p>
          <a:p>
            <a:pPr algn="l" marL="127000" indent="-127000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en-US" altLang="ko-KR" sz="1400">
                <a:solidFill>
                  <a:schemeClr val="tx1">
                    <a:alpha val="100000"/>
                  </a:schemeClr>
                </a:solidFill>
                <a:latin typeface="+mn-cs"/>
              </a:rPr>
              <a:t>AR = TR / Q</a:t>
            </a:r>
          </a:p>
          <a:p>
            <a:pPr algn="l" marL="127000" indent="-127000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en-US" altLang="ko-KR" sz="1400">
                <a:solidFill>
                  <a:schemeClr val="tx1">
                    <a:alpha val="100000"/>
                  </a:schemeClr>
                </a:solidFill>
                <a:latin typeface="+mn-cs"/>
              </a:rPr>
              <a:t>MR = </a:t>
            </a:r>
            <a:r>
              <a:rPr lang="en-US" altLang="ko-KR" sz="1400">
                <a:solidFill>
                  <a:schemeClr val="tx1">
                    <a:alpha val="100000"/>
                  </a:schemeClr>
                </a:solidFill>
                <a:sym typeface="+mn-cs"/>
              </a:rPr>
              <a:t>∆</a:t>
            </a:r>
            <a:r>
              <a:rPr lang="en-US" altLang="ko-KR" sz="1400">
                <a:solidFill>
                  <a:schemeClr val="tx1">
                    <a:alpha val="100000"/>
                  </a:schemeClr>
                </a:solidFill>
                <a:latin typeface="+mn-cs"/>
              </a:rPr>
              <a:t>TR / </a:t>
            </a:r>
            <a:r>
              <a:rPr lang="en-US" altLang="ko-KR" sz="1400">
                <a:solidFill>
                  <a:schemeClr val="tx1">
                    <a:alpha val="100000"/>
                  </a:schemeClr>
                </a:solidFill>
                <a:sym typeface="+mn-cs"/>
              </a:rPr>
              <a:t>∆</a:t>
            </a:r>
            <a:r>
              <a:rPr lang="en-US" altLang="ko-KR" sz="1400">
                <a:solidFill>
                  <a:schemeClr val="tx1">
                    <a:alpha val="100000"/>
                  </a:schemeClr>
                </a:solidFill>
                <a:latin typeface="+mn-cs"/>
              </a:rPr>
              <a:t>Q = P </a:t>
            </a:r>
          </a:p>
          <a:p>
            <a:pPr algn="l" marL="127000" indent="-127000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400">
                <a:solidFill>
                  <a:schemeClr val="tx1">
                    <a:alpha val="100000"/>
                  </a:schemeClr>
                </a:solidFill>
                <a:ea typeface="+mn-cs"/>
              </a:rPr>
              <a:t>Only for competitive firms </a:t>
            </a:r>
            <a:r>
              <a:rPr lang="en-US" altLang="ko-KR" sz="1400">
                <a:solidFill>
                  <a:schemeClr val="tx1">
                    <a:alpha val="100000"/>
                  </a:schemeClr>
                </a:solidFill>
                <a:latin typeface="+mn-cs"/>
              </a:rPr>
              <a:t>MR = P</a:t>
            </a:r>
          </a:p>
          <a:p>
            <a:pPr algn="l" marL="0" lvl="0">
              <a:lnSpc>
                <a:spcPct val="160000"/>
              </a:lnSpc>
              <a:spcBef>
                <a:spcPts val="550"/>
              </a:spcBef>
              <a:buNone/>
            </a:pPr>
            <a:r>
              <a:rPr lang="en-US" altLang="ko-KR" sz="1400">
                <a:solidFill>
                  <a:schemeClr val="tx1">
                    <a:alpha val="100000"/>
                  </a:schemeClr>
                </a:solidFill>
                <a:latin typeface="+mn-cs"/>
              </a:rPr>
              <a:t/>
            </a:r>
          </a:p>
          <a:p>
            <a:pPr algn="l" marL="127000" indent="-127000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en-US" altLang="ko-KR" sz="1400" b="1">
                <a:solidFill>
                  <a:schemeClr val="tx1">
                    <a:alpha val="100000"/>
                  </a:schemeClr>
                </a:solidFill>
                <a:latin typeface="+mn-cs"/>
              </a:rPr>
              <a:t>For Profit Maximization, </a:t>
            </a:r>
            <a:r>
              <a:rPr lang="en-US" altLang="ko-KR" sz="1400" b="1">
                <a:solidFill>
                  <a:schemeClr val="tx1">
                    <a:alpha val="100000"/>
                  </a:schemeClr>
                </a:solidFill>
                <a:latin typeface="+mn-cs"/>
              </a:rPr>
              <a:t>MR = MC </a:t>
            </a:r>
          </a:p>
          <a:p>
            <a:pPr algn="l" marL="387350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lang="ko-KR" altLang="ko-KR" sz="1175">
                <a:solidFill>
                  <a:schemeClr val="tx1">
                    <a:alpha val="100000"/>
                  </a:schemeClr>
                </a:solidFill>
                <a:ea typeface="+mn-cs"/>
              </a:rPr>
              <a:t>Maximize profit for Q where MR = MC</a:t>
            </a:r>
          </a:p>
          <a:p>
            <a:pPr algn="l" marL="0" lvl="0">
              <a:lnSpc>
                <a:spcPct val="160000"/>
              </a:lnSpc>
              <a:spcBef>
                <a:spcPts val="275"/>
              </a:spcBef>
              <a:buNone/>
            </a:pPr>
            <a:r>
              <a:rPr lang="en-US" altLang="ko-KR" sz="1175">
                <a:solidFill>
                  <a:schemeClr val="tx1">
                    <a:alpha val="100000"/>
                  </a:schemeClr>
                </a:solidFill>
                <a:latin typeface="+mn-cs"/>
              </a:rPr>
              <a:t/>
            </a:r>
          </a:p>
          <a:p>
            <a:pPr algn="l" marL="127000" indent="-127000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The MC curve </a:t>
            </a: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determines the </a:t>
            </a: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firm’s Q at any </a:t>
            </a: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price.</a:t>
            </a:r>
          </a:p>
          <a:p>
            <a:pPr algn="l" marL="127000" indent="-127000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400">
                <a:solidFill>
                  <a:schemeClr val="tx1">
                    <a:alpha val="100000"/>
                  </a:schemeClr>
                </a:solidFill>
                <a:ea typeface="+mn-cs"/>
              </a:rPr>
              <a:t>The MC curve is the firm's supply curve. </a:t>
            </a:r>
            <a:r>
              <a:rPr lang="en-US" altLang="ko-KR" sz="1400">
                <a:solidFill>
                  <a:schemeClr val="tx1">
                    <a:alpha val="100000"/>
                  </a:schemeClr>
                </a:solidFill>
                <a:latin typeface="+mn-cs"/>
              </a:rPr>
              <a:t> </a:t>
            </a:r>
          </a:p>
          <a:p>
            <a:pPr algn="l" marL="0" lvl="0">
              <a:lnSpc>
                <a:spcPct val="160000"/>
              </a:lnSpc>
              <a:spcBef>
                <a:spcPts val="275"/>
              </a:spcBef>
              <a:buNone/>
            </a:pPr>
            <a:r>
              <a:rPr altLang="ko-KR" sz="1175">
                <a:latin typeface="+mn-ea"/>
                <a:ea typeface="+mn-ea"/>
              </a:rPr>
              <a:t/>
            </a:r>
          </a:p>
          <a:p>
            <a:pPr algn="l" marL="0" lvl="0">
              <a:lnSpc>
                <a:spcPct val="160000"/>
              </a:lnSpc>
              <a:spcBef>
                <a:spcPts val="275"/>
              </a:spcBef>
              <a:buNone/>
            </a:pPr>
            <a:r>
              <a:rPr lang="en-US" altLang="ko-KR" sz="1175">
                <a:solidFill>
                  <a:schemeClr val="tx1">
                    <a:alpha val="100000"/>
                  </a:schemeClr>
                </a:solidFill>
                <a:latin typeface="+mn-cs"/>
              </a:rPr>
              <a:t/>
            </a:r>
          </a:p>
          <a:p>
            <a:pPr algn="l" marL="127000" indent="-127000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lang="ko-KR" altLang="ko-KR" sz="1400" b="1">
                <a:solidFill>
                  <a:schemeClr val="tx1">
                    <a:alpha val="100000"/>
                  </a:schemeClr>
                </a:solidFill>
                <a:ea typeface="+mn-cs"/>
              </a:rPr>
              <a:t>Shutdown vs. Exit</a:t>
            </a:r>
          </a:p>
          <a:p>
            <a:pPr algn="l" marL="127000" indent="-127000" lvl="0">
              <a:lnSpc>
                <a:spcPct val="160000"/>
              </a:lnSpc>
              <a:spcBef>
                <a:spcPts val="550"/>
              </a:spcBef>
              <a:buFont typeface="Arial" pitchFamily="2" charset="2"/>
              <a:buChar char="•"/>
            </a:pP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Shutdown: </a:t>
            </a: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A short-run decision not to produce </a:t>
            </a: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anything because of market conditions.</a:t>
            </a:r>
          </a:p>
          <a:p>
            <a:pPr algn="l" marL="387350" indent="-127000" lvl="1">
              <a:lnSpc>
                <a:spcPct val="160000"/>
              </a:lnSpc>
              <a:spcBef>
                <a:spcPts val="275"/>
              </a:spcBef>
              <a:buFont typeface="Arial" pitchFamily="2" charset="2"/>
              <a:buChar char="•"/>
            </a:pPr>
            <a:r>
              <a:rPr altLang="ko-KR" sz="1175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If shut down in SR, must still pay FC, but can save VC.</a:t>
            </a:r>
          </a:p>
          <a:p>
            <a:pPr algn="l" marL="0" indent="-152400" lvl="0">
              <a:lnSpc>
                <a:spcPct val="160000"/>
              </a:lnSpc>
              <a:spcBef>
                <a:spcPts val="325"/>
              </a:spcBef>
              <a:buFont typeface="Arial" pitchFamily="2" charset="2"/>
              <a:buChar char="•"/>
            </a:pPr>
            <a:r>
              <a:rPr altLang="ko-KR" sz="1400">
                <a:latin typeface="+mn-ea"/>
                <a:ea typeface="+mn-ea"/>
              </a:rPr>
              <a:t>Exit: </a:t>
            </a:r>
            <a:r>
              <a:rPr altLang="ko-KR" sz="1175">
                <a:latin typeface="+mn-ea"/>
                <a:ea typeface="+mn-ea"/>
              </a:rPr>
              <a:t>A long-run decision to leave the market.</a:t>
            </a:r>
          </a:p>
          <a:p>
            <a:pPr algn="l" marL="457200" indent="-152400" lvl="1">
              <a:lnSpc>
                <a:spcPct val="160000"/>
              </a:lnSpc>
              <a:spcBef>
                <a:spcPts val="325"/>
              </a:spcBef>
              <a:buFont typeface="Arial" pitchFamily="2" charset="2"/>
              <a:buChar char="•"/>
            </a:pPr>
            <a:r>
              <a:rPr altLang="ko-KR" sz="1175">
                <a:latin typeface="Arial"/>
                <a:ea typeface="Arial"/>
              </a:rPr>
              <a:t> If exit in LR, zero costs.</a:t>
            </a:r>
          </a:p>
          <a:p>
            <a:pPr algn="l" marL="0" lvl="0">
              <a:lnSpc>
                <a:spcPct val="160000"/>
              </a:lnSpc>
              <a:spcBef>
                <a:spcPts val="275"/>
              </a:spcBef>
              <a:buNone/>
            </a:pPr>
            <a:r>
              <a:rPr altLang="ko-KR" sz="1175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/>
            </a:r>
          </a:p>
        </p:txBody>
      </p:sp>
      <p:sp>
        <p:nvSpPr>
          <p:cNvPr id="5" name="slide1_shape3"/>
          <p:cNvSpPr/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marL="0" defTabSz="914400" latinLnBrk="1">
              <a:lnSpc>
                <a:spcPct val="100000"/>
              </a:lnSpc>
            </a:pPr>
            <a:fld type="slidenum" id="{4BEDD84E-25D4-4983-8AA1-2863C96F08D9}">
              <a:rPr lang="ko-KR"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1</a:t>
            </a:fld>
            <a:endParaRPr sz="675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2_shape1"/>
          <p:cNvSpPr/>
          <p:nvPr>
            <p:ph idx="1"/>
          </p:nvPr>
        </p:nvSpPr>
        <p:spPr>
          <a:xfrm>
            <a:off x="471488" y="702945"/>
            <a:ext cx="5915025" cy="10279380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 marL="139700" indent="-139700" lvl="0">
              <a:lnSpc>
                <a:spcPct val="150000"/>
              </a:lnSpc>
              <a:spcBef>
                <a:spcPts val="600"/>
              </a:spcBef>
              <a:buFont typeface="Arial" pitchFamily="2" charset="2"/>
              <a:buChar char="•"/>
            </a:pP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Shut down if TR &lt; VC, or P &lt; AVC</a:t>
            </a:r>
          </a:p>
          <a:p>
            <a:pPr algn="l" marL="0" lvl="0">
              <a:lnSpc>
                <a:spcPct val="150000"/>
              </a:lnSpc>
              <a:spcBef>
                <a:spcPts val="350"/>
              </a:spcBef>
              <a:buNone/>
            </a:pPr>
            <a:r>
              <a:rPr lang="en-US" altLang="ko-KR" sz="1400">
                <a:solidFill>
                  <a:schemeClr val="tx1">
                    <a:alpha val="100000"/>
                  </a:schemeClr>
                </a:solidFill>
                <a:latin typeface="+mn-cs"/>
              </a:rPr>
              <a:t/>
            </a:r>
          </a:p>
          <a:p>
            <a:pPr algn="l" marL="139700" indent="-139700" lvl="0">
              <a:lnSpc>
                <a:spcPct val="150000"/>
              </a:lnSpc>
              <a:spcBef>
                <a:spcPts val="600"/>
              </a:spcBef>
              <a:buFont typeface="Arial" pitchFamily="2" charset="2"/>
              <a:buChar char="•"/>
            </a:pPr>
            <a:r>
              <a:rPr lang="en-US" altLang="ko-KR" sz="1400">
                <a:solidFill>
                  <a:schemeClr val="tx1">
                    <a:alpha val="100000"/>
                  </a:schemeClr>
                </a:solidFill>
                <a:latin typeface="+mn-cs"/>
              </a:rPr>
              <a:t>Sunk Cost : </a:t>
            </a:r>
          </a:p>
          <a:p>
            <a:pPr algn="l" marL="488950" indent="-161925" lvl="1">
              <a:lnSpc>
                <a:spcPct val="150000"/>
              </a:lnSpc>
              <a:spcBef>
                <a:spcPts val="350"/>
              </a:spcBef>
              <a:buFont typeface="Arial" pitchFamily="2" charset="2"/>
              <a:buChar char="•"/>
            </a:pP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A cost that has already been committed </a:t>
            </a: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and cannot be recovered</a:t>
            </a:r>
          </a:p>
          <a:p>
            <a:pPr algn="l" marL="488950" indent="-161925" lvl="1">
              <a:lnSpc>
                <a:spcPct val="150000"/>
              </a:lnSpc>
              <a:spcBef>
                <a:spcPts val="350"/>
              </a:spcBef>
              <a:buFont typeface="Arial" pitchFamily="2" charset="2"/>
              <a:buChar char="•"/>
            </a:pPr>
            <a:r>
              <a:rPr altLang="ko-KR" sz="1400">
                <a:solidFill>
                  <a:srgbClr val="000000"/>
                </a:solidFill>
                <a:latin typeface="Arial"/>
                <a:ea typeface="Arial"/>
              </a:rPr>
              <a:t>In the short run, FC are sunk costs</a:t>
            </a:r>
          </a:p>
          <a:p>
            <a:pPr algn="l" marL="0" lv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ko-KR" sz="1400">
                <a:solidFill>
                  <a:schemeClr val="tx1">
                    <a:alpha val="100000"/>
                  </a:schemeClr>
                </a:solidFill>
                <a:latin typeface="+mn-cs"/>
              </a:rPr>
              <a:t/>
            </a:r>
          </a:p>
          <a:p>
            <a:pPr algn="l" marL="139700" indent="-139700" lvl="0">
              <a:lnSpc>
                <a:spcPct val="150000"/>
              </a:lnSpc>
              <a:spcBef>
                <a:spcPts val="600"/>
              </a:spcBef>
              <a:buFont typeface="Arial" pitchFamily="2" charset="2"/>
              <a:buChar char="•"/>
            </a:pP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Exit the market if: TR &lt; TC </a:t>
            </a: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(same as: P &lt; ATC)</a:t>
            </a:r>
          </a:p>
          <a:p>
            <a:pPr algn="l" marL="0" lvl="0">
              <a:lnSpc>
                <a:spcPct val="150000"/>
              </a:lnSpc>
              <a:spcBef>
                <a:spcPts val="350"/>
              </a:spcBef>
              <a:buNone/>
            </a:pPr>
            <a:r>
              <a:rPr lang="en-US" altLang="ko-KR" sz="1400">
                <a:solidFill>
                  <a:schemeClr val="tx1">
                    <a:alpha val="100000"/>
                  </a:schemeClr>
                </a:solidFill>
                <a:latin typeface="+mn-cs"/>
              </a:rPr>
              <a:t/>
            </a:r>
          </a:p>
          <a:p>
            <a:pPr algn="l" marL="139700" indent="-139700" lvl="0">
              <a:lnSpc>
                <a:spcPct val="150000"/>
              </a:lnSpc>
              <a:spcBef>
                <a:spcPts val="600"/>
              </a:spcBef>
              <a:buFont typeface="Arial" pitchFamily="2" charset="2"/>
              <a:buChar char="•"/>
            </a:pPr>
            <a:r>
              <a:rPr lang="ko-KR" altLang="ko-KR" sz="1400">
                <a:solidFill>
                  <a:schemeClr val="tx1">
                    <a:alpha val="100000"/>
                  </a:schemeClr>
                </a:solidFill>
                <a:ea typeface="+mn-cs"/>
              </a:rPr>
              <a:t>Market Supply: Assumptions</a:t>
            </a:r>
          </a:p>
          <a:p>
            <a:pPr marL="457200" lvl="0">
              <a:lnSpc>
                <a:spcPct val="100000"/>
              </a:lnSpc>
              <a:buNone/>
            </a:pPr>
            <a:r>
              <a:rPr altLang="ko-KR" sz="1400">
                <a:latin typeface="+mn-ea"/>
                <a:ea typeface="+mn-ea"/>
              </a:rPr>
              <a:t>1. All existing firms and potential entrants </a:t>
            </a:r>
            <a:r>
              <a:rPr altLang="ko-KR" sz="1400">
                <a:latin typeface="+mn-ea"/>
                <a:ea typeface="+mn-ea"/>
              </a:rPr>
              <a:t>have identical costs.</a:t>
            </a:r>
            <a:br>
              <a:rPr lang="en-US" altLang="ko-KR"/>
            </a:br>
            <a:r>
              <a:rPr altLang="ko-KR" sz="1400">
                <a:latin typeface="+mn-ea"/>
                <a:ea typeface="+mn-ea"/>
              </a:rPr>
              <a:t>2. Each firm’s costs do not change as other </a:t>
            </a:r>
            <a:r>
              <a:rPr altLang="ko-KR" sz="1400">
                <a:latin typeface="+mn-ea"/>
                <a:ea typeface="+mn-ea"/>
              </a:rPr>
              <a:t>firms enter or exit the market.</a:t>
            </a:r>
            <a:br>
              <a:rPr lang="en-US" altLang="ko-KR"/>
            </a:br>
            <a:r>
              <a:rPr altLang="ko-KR" sz="1400">
                <a:latin typeface="+mn-ea"/>
                <a:ea typeface="+mn-ea"/>
              </a:rPr>
              <a:t>3. The number of firms in the market is </a:t>
            </a:r>
            <a:r>
              <a:rPr altLang="ko-KR" sz="1400">
                <a:latin typeface="+mn-ea"/>
                <a:ea typeface="+mn-ea"/>
              </a:rPr>
              <a:t>fixed in the short run, and variable in the long run.</a:t>
            </a:r>
          </a:p>
          <a:p>
            <a:pPr algn="l" marL="0" lvl="0">
              <a:lnSpc>
                <a:spcPct val="150000"/>
              </a:lnSpc>
              <a:spcBef>
                <a:spcPts val="350"/>
              </a:spcBef>
              <a:buNone/>
            </a:pPr>
            <a:r>
              <a:rPr lang="en-US" altLang="ko-KR" sz="1400">
                <a:solidFill>
                  <a:schemeClr val="tx1">
                    <a:alpha val="100000"/>
                  </a:schemeClr>
                </a:solidFill>
                <a:latin typeface="+mn-cs"/>
              </a:rPr>
              <a:t/>
            </a:r>
          </a:p>
          <a:p>
            <a:pPr algn="l" marL="139700" indent="-139700" lvl="0">
              <a:lnSpc>
                <a:spcPct val="150000"/>
              </a:lnSpc>
              <a:spcBef>
                <a:spcPts val="600"/>
              </a:spcBef>
              <a:buFont typeface="Arial" pitchFamily="2" charset="2"/>
              <a:buChar char="•"/>
            </a:pPr>
            <a:r>
              <a:rPr lang="ko-KR" altLang="ko-KR" sz="1400" b="1">
                <a:solidFill>
                  <a:schemeClr val="tx1">
                    <a:alpha val="100000"/>
                  </a:schemeClr>
                </a:solidFill>
                <a:ea typeface="+mn-cs"/>
              </a:rPr>
              <a:t>Zero profit condition</a:t>
            </a:r>
          </a:p>
          <a:p>
            <a:pPr algn="l" marL="139700" indent="-139700" lvl="0">
              <a:lnSpc>
                <a:spcPct val="150000"/>
              </a:lnSpc>
              <a:spcBef>
                <a:spcPts val="600"/>
              </a:spcBef>
              <a:buFont typeface="Arial" pitchFamily="2" charset="2"/>
              <a:buChar char="•"/>
            </a:pP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The process of entry or exit is complete in the long run</a:t>
            </a:r>
          </a:p>
          <a:p>
            <a:pPr algn="l" marL="139700" indent="-139700" lvl="0">
              <a:lnSpc>
                <a:spcPct val="150000"/>
              </a:lnSpc>
              <a:spcBef>
                <a:spcPts val="600"/>
              </a:spcBef>
              <a:buFont typeface="Arial" pitchFamily="2" charset="2"/>
              <a:buChar char="•"/>
            </a:pP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Remaining firms earn zero economic profit</a:t>
            </a:r>
          </a:p>
          <a:p>
            <a:pPr algn="l" marL="139700" indent="-139700" lvl="0">
              <a:lnSpc>
                <a:spcPct val="150000"/>
              </a:lnSpc>
              <a:spcBef>
                <a:spcPts val="600"/>
              </a:spcBef>
              <a:buFont typeface="Arial" pitchFamily="2" charset="2"/>
              <a:buChar char="•"/>
            </a:pPr>
            <a:r>
              <a:rPr altLang="ko-KR" sz="1400">
                <a:solidFill>
                  <a:srgbClr val="000000"/>
                </a:solidFill>
                <a:latin typeface="Arial"/>
                <a:ea typeface="Arial"/>
              </a:rPr>
              <a:t>If existing firms earn positive economic profit?</a:t>
            </a:r>
          </a:p>
          <a:p>
            <a:pPr algn="l" marL="139700" indent="-139700" lvl="0">
              <a:lnSpc>
                <a:spcPct val="150000"/>
              </a:lnSpc>
              <a:spcBef>
                <a:spcPts val="600"/>
              </a:spcBef>
              <a:buFont typeface="Arial" pitchFamily="2" charset="2"/>
              <a:buChar char="•"/>
            </a:pPr>
            <a:r>
              <a:rPr altLang="ko-KR" sz="1400">
                <a:solidFill>
                  <a:srgbClr val="000000"/>
                </a:solidFill>
                <a:latin typeface="Arial"/>
                <a:ea typeface="Arial"/>
              </a:rPr>
              <a:t>If existing firms incur losses?</a:t>
            </a:r>
          </a:p>
          <a:p>
            <a:pPr algn="l" marL="139700" indent="-139700" lvl="0">
              <a:lnSpc>
                <a:spcPct val="150000"/>
              </a:lnSpc>
              <a:spcBef>
                <a:spcPts val="600"/>
              </a:spcBef>
              <a:buFont typeface="Arial" pitchFamily="2" charset="2"/>
              <a:buChar char="•"/>
            </a:pP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/>
            </a:r>
          </a:p>
          <a:p>
            <a:pPr algn="l" marL="139700" indent="-139700" lvl="0">
              <a:lnSpc>
                <a:spcPct val="150000"/>
              </a:lnSpc>
              <a:spcBef>
                <a:spcPts val="600"/>
              </a:spcBef>
              <a:buFont typeface="Arial" pitchFamily="2" charset="2"/>
              <a:buChar char="•"/>
            </a:pPr>
            <a:r>
              <a:rPr lang="en-US" altLang="ko-KR" sz="1400">
                <a:solidFill>
                  <a:schemeClr val="tx1">
                    <a:alpha val="100000"/>
                  </a:schemeClr>
                </a:solidFill>
                <a:latin typeface="+mn-cs"/>
              </a:rPr>
              <a:t>In the long run, P = min</a:t>
            </a:r>
            <a:r>
              <a:rPr lang="en-US" altLang="ko-KR" sz="1400">
                <a:solidFill>
                  <a:schemeClr val="tx1">
                    <a:alpha val="100000"/>
                  </a:schemeClr>
                </a:solidFill>
                <a:latin typeface="+mn-cs"/>
              </a:rPr>
              <a:t> </a:t>
            </a:r>
            <a:r>
              <a:rPr lang="en-US" altLang="ko-KR" sz="1400">
                <a:solidFill>
                  <a:schemeClr val="tx1">
                    <a:alpha val="100000"/>
                  </a:schemeClr>
                </a:solidFill>
                <a:latin typeface="+mn-cs"/>
              </a:rPr>
              <a:t>ATC </a:t>
            </a:r>
          </a:p>
          <a:p>
            <a:pPr algn="l" marL="139700" indent="-139700" lvl="0">
              <a:lnSpc>
                <a:spcPct val="150000"/>
              </a:lnSpc>
              <a:spcBef>
                <a:spcPts val="600"/>
              </a:spcBef>
              <a:buFont typeface="Arial" pitchFamily="2" charset="2"/>
              <a:buChar char="•"/>
            </a:pP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Why do competitive firms stay in business </a:t>
            </a: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if they make zero profit?</a:t>
            </a:r>
          </a:p>
          <a:p>
            <a:pPr algn="l" marL="139700" indent="-139700" lvl="0">
              <a:lnSpc>
                <a:spcPct val="150000"/>
              </a:lnSpc>
              <a:spcBef>
                <a:spcPts val="600"/>
              </a:spcBef>
              <a:buFont typeface="Arial" pitchFamily="2" charset="2"/>
              <a:buChar char="•"/>
            </a:pP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Economic profit vs. accounting profit</a:t>
            </a:r>
          </a:p>
          <a:p>
            <a:pPr algn="l" marL="0" lvl="0">
              <a:lnSpc>
                <a:spcPct val="150000"/>
              </a:lnSpc>
              <a:spcBef>
                <a:spcPts val="600"/>
              </a:spcBef>
              <a:buNone/>
            </a:pP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/>
            </a:r>
          </a:p>
          <a:p>
            <a:pPr algn="l" marL="165100" indent="-165100" lvl="0">
              <a:lnSpc>
                <a:spcPct val="150000"/>
              </a:lnSpc>
              <a:spcBef>
                <a:spcPts val="725"/>
              </a:spcBef>
              <a:buFont typeface="Arial" pitchFamily="2" charset="2"/>
              <a:buChar char="•"/>
            </a:pPr>
            <a:r>
              <a:rPr lang="ko-KR" altLang="ko-KR" sz="1400" b="1">
                <a:solidFill>
                  <a:schemeClr val="tx1">
                    <a:alpha val="100000"/>
                  </a:schemeClr>
                </a:solidFill>
                <a:ea typeface="+mn-cs"/>
              </a:rPr>
              <a:t>Long-run Market Supply Curve</a:t>
            </a:r>
          </a:p>
          <a:p>
            <a:pPr algn="l" marL="165100" indent="-165100" lvl="0">
              <a:lnSpc>
                <a:spcPct val="150000"/>
              </a:lnSpc>
              <a:spcBef>
                <a:spcPts val="725"/>
              </a:spcBef>
              <a:buFont typeface="Arial" pitchFamily="2" charset="2"/>
              <a:buChar char="•"/>
            </a:pPr>
            <a:r>
              <a:rPr lang="ko-KR" altLang="ko-KR" sz="1400">
                <a:solidFill>
                  <a:schemeClr val="tx1">
                    <a:alpha val="100000"/>
                  </a:schemeClr>
                </a:solidFill>
                <a:ea typeface="+mn-cs"/>
              </a:rPr>
              <a:t>Horizontal if:</a:t>
            </a:r>
          </a:p>
          <a:p>
            <a:pPr algn="l" marL="165100" indent="-165100" lvl="0">
              <a:lnSpc>
                <a:spcPct val="150000"/>
              </a:lnSpc>
              <a:spcBef>
                <a:spcPts val="725"/>
              </a:spcBef>
              <a:buFont typeface="Arial" pitchFamily="2" charset="2"/>
              <a:buChar char="•"/>
            </a:pPr>
            <a:r>
              <a:rPr lang="ko-KR" altLang="ko-KR" sz="1400">
                <a:solidFill>
                  <a:schemeClr val="tx1">
                    <a:alpha val="100000"/>
                  </a:schemeClr>
                </a:solidFill>
                <a:ea typeface="+mn-cs"/>
              </a:rPr>
              <a:t> a</a:t>
            </a: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ll firms have identical costs, and </a:t>
            </a: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costs do not change as other firms </a:t>
            </a: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+mn-cs"/>
                <a:ea typeface="+mn-cs"/>
              </a:rPr>
              <a:t>enter or exit the market</a:t>
            </a:r>
          </a:p>
          <a:p>
            <a:pPr algn="l" marL="165100" indent="-165100" lvl="0">
              <a:lnSpc>
                <a:spcPct val="150000"/>
              </a:lnSpc>
              <a:spcBef>
                <a:spcPts val="725"/>
              </a:spcBef>
              <a:buFont typeface="Arial" pitchFamily="2" charset="2"/>
              <a:buChar char="•"/>
            </a:pP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Arial"/>
                <a:ea typeface="Arial"/>
              </a:rPr>
              <a:t>Long-run supply curve might slope </a:t>
            </a: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Arial"/>
                <a:ea typeface="Arial"/>
              </a:rPr>
              <a:t>upward if:</a:t>
            </a:r>
          </a:p>
          <a:p>
            <a:pPr algn="l" marL="165100" indent="-165100" lvl="0">
              <a:lnSpc>
                <a:spcPct val="150000"/>
              </a:lnSpc>
              <a:spcBef>
                <a:spcPts val="725"/>
              </a:spcBef>
              <a:buFont typeface="Arial" pitchFamily="2" charset="2"/>
              <a:buChar char="•"/>
            </a:pP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Arial"/>
                <a:ea typeface="Arial"/>
              </a:rPr>
              <a:t>Firms have different costs o</a:t>
            </a:r>
            <a:r>
              <a:rPr altLang="ko-KR" sz="1400">
                <a:solidFill>
                  <a:schemeClr val="tx1">
                    <a:alpha val="100000"/>
                  </a:schemeClr>
                </a:solidFill>
                <a:latin typeface="Arial"/>
                <a:ea typeface="Arial"/>
              </a:rPr>
              <a:t>r costs rise as firms enter the market</a:t>
            </a:r>
          </a:p>
        </p:txBody>
      </p:sp>
      <p:sp>
        <p:nvSpPr>
          <p:cNvPr id="4" name="slide2_shape2"/>
          <p:cNvSpPr/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marL="0" defTabSz="914400" latinLnBrk="1">
              <a:lnSpc>
                <a:spcPct val="100000"/>
              </a:lnSpc>
            </a:pPr>
            <a:fld type="slidenum" id="{4BEDD84E-25D4-4983-8AA1-2863C96F08D9}">
              <a:rPr lang="ko-KR"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2</a:t>
            </a:fld>
            <a:endParaRPr sz="675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맑은 고딕"/>
        <a:ea typeface=""/>
        <a:cs typeface=""/>
        <a:font script="Arab" typeface="Times New Roman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等线 Light"/>
        <a:font script="Hant" typeface="新細明體"/>
        <a:font script="Hebr" typeface="Times New Roman"/>
        <a:font script="Jpan" typeface="游ゴシック Light"/>
        <a:font script="Khmr" typeface="MoolBoran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Uigh" typeface="Microsoft Uighur"/>
        <a:font script="Viet" typeface="Times New Roman"/>
        <a:font script="Yiii" typeface="Microsoft Yi Baiti"/>
      </a:majorFont>
      <a:minorFont>
        <a:latin typeface="맑은 고딕"/>
        <a:ea typeface=""/>
        <a:cs typeface=""/>
        <a:font script="Arab" typeface="Arial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等线"/>
        <a:font script="Hant" typeface="新細明體"/>
        <a:font script="Hebr" typeface="Arial"/>
        <a:font script="Jpan" typeface="游ゴシック"/>
        <a:font script="Khmr" typeface="DaunPenh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Uigh" typeface="Microsoft Uighur"/>
        <a:font script="Viet" typeface="Arial"/>
        <a:font script="Yiii" typeface="Microsoft Yi Baiti"/>
      </a:minorFont>
    </a:fontScheme>
    <a:fmtScheme name="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  <a:satMod val="105000"/>
              </a:schemeClr>
            </a:gs>
            <a:gs pos="50000">
              <a:schemeClr val="phClr">
                <a:lumMod val="105000"/>
                <a:tint val="73000"/>
                <a:satMod val="103000"/>
              </a:schemeClr>
            </a:gs>
            <a:gs pos="100000">
              <a:schemeClr val="phClr">
                <a:lumMod val="105000"/>
                <a:tint val="81000"/>
                <a:satMod val="10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lumMod val="102000"/>
                <a:tint val="94000"/>
                <a:satMod val="103000"/>
              </a:schemeClr>
            </a:gs>
            <a:gs pos="50000">
              <a:schemeClr val="phClr">
                <a:lumMod val="100000"/>
                <a:shade val="100000"/>
                <a:satMod val="110000"/>
              </a:schemeClr>
            </a:gs>
            <a:gs pos="100000">
              <a:schemeClr val="phClr">
                <a:lumMod val="99000"/>
                <a:shade val="78000"/>
                <a:satMod val="120000"/>
              </a:schemeClr>
            </a:gs>
          </a:gsLst>
          <a:lin ang="5400000" scaled="1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 xmlns:a="http://schemas.openxmlformats.org/drawingml/2006/main">
          <a:effectLst/>
        </a:effectStyle>
        <a:effectStyle xmlns:a="http://schemas.openxmlformats.org/drawingml/2006/main">
          <a:effectLst/>
        </a:effectStyle>
        <a:effectStyle xmlns:a="http://schemas.openxmlformats.org/drawingml/2006/main"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tint val="93000"/>
                <a:shade val="98000"/>
                <a:satMod val="150000"/>
              </a:schemeClr>
            </a:gs>
            <a:gs pos="50000">
              <a:schemeClr val="phClr">
                <a:lumMod val="103000"/>
                <a:tint val="98000"/>
                <a:shade val="90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1"/>
        </a:gradFill>
      </a:bgFillStyleLst>
    </a:fmtScheme>
  </a:themeElements>
</a:theme>
</file>

<file path=ppt/theme/theme2.xml><?xml version="1.0" encoding="utf-8"?>
<a:theme xmlns:a="http://schemas.openxmlformats.org/drawingml/2006/main" name="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맑은 고딕"/>
        <a:ea typeface=""/>
        <a:cs typeface=""/>
        <a:font script="Arab" typeface="Times New Roman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等线 Light"/>
        <a:font script="Hant" typeface="新細明體"/>
        <a:font script="Hebr" typeface="Times New Roman"/>
        <a:font script="Jpan" typeface="游ゴシック Light"/>
        <a:font script="Khmr" typeface="MoolBoran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Uigh" typeface="Microsoft Uighur"/>
        <a:font script="Viet" typeface="Times New Roman"/>
        <a:font script="Yiii" typeface="Microsoft Yi Baiti"/>
      </a:majorFont>
      <a:minorFont>
        <a:latin typeface="맑은 고딕"/>
        <a:ea typeface=""/>
        <a:cs typeface=""/>
        <a:font script="Arab" typeface="Arial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等线"/>
        <a:font script="Hant" typeface="新細明體"/>
        <a:font script="Hebr" typeface="Arial"/>
        <a:font script="Jpan" typeface="游ゴシック"/>
        <a:font script="Khmr" typeface="DaunPenh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Uigh" typeface="Microsoft Uighur"/>
        <a:font script="Viet" typeface="Arial"/>
        <a:font script="Yiii" typeface="Microsoft Yi Baiti"/>
      </a:minorFont>
    </a:fontScheme>
    <a:fmtScheme name="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  <a:satMod val="105000"/>
              </a:schemeClr>
            </a:gs>
            <a:gs pos="50000">
              <a:schemeClr val="phClr">
                <a:lumMod val="105000"/>
                <a:tint val="73000"/>
                <a:satMod val="103000"/>
              </a:schemeClr>
            </a:gs>
            <a:gs pos="100000">
              <a:schemeClr val="phClr">
                <a:lumMod val="105000"/>
                <a:tint val="81000"/>
                <a:satMod val="10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lumMod val="102000"/>
                <a:tint val="94000"/>
                <a:satMod val="103000"/>
              </a:schemeClr>
            </a:gs>
            <a:gs pos="50000">
              <a:schemeClr val="phClr">
                <a:lumMod val="100000"/>
                <a:shade val="100000"/>
                <a:satMod val="110000"/>
              </a:schemeClr>
            </a:gs>
            <a:gs pos="100000">
              <a:schemeClr val="phClr">
                <a:lumMod val="99000"/>
                <a:shade val="78000"/>
                <a:satMod val="120000"/>
              </a:schemeClr>
            </a:gs>
          </a:gsLst>
          <a:lin ang="5400000" scaled="1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 xmlns:a="http://schemas.openxmlformats.org/drawingml/2006/main">
          <a:effectLst/>
        </a:effectStyle>
        <a:effectStyle xmlns:a="http://schemas.openxmlformats.org/drawingml/2006/main">
          <a:effectLst/>
        </a:effectStyle>
        <a:effectStyle xmlns:a="http://schemas.openxmlformats.org/drawingml/2006/main"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tint val="93000"/>
                <a:shade val="98000"/>
                <a:satMod val="150000"/>
              </a:schemeClr>
            </a:gs>
            <a:gs pos="50000">
              <a:schemeClr val="phClr">
                <a:lumMod val="103000"/>
                <a:tint val="98000"/>
                <a:shade val="90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1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Company>사이냅소프트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choyong4(choyong4)</cp:lastModifiedBy>
  <dcterms:modified xsi:type="dcterms:W3CDTF">2021-11-04T09:47:00Z</dcterms:modified>
</cp:coreProperties>
</file>