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 snapToGrid="0">
      <p:cViewPr>
        <p:scale>
          <a:sx n="100" d="100"/>
          <a:sy n="100" d="100"/>
        </p:scale>
        <p:origin x="384" y="-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2021-09-23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 6. Supply, Demand, and Government Policies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8971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dirty="0"/>
              <a:t>Government can change the private market outcome(with price control or taxes)</a:t>
            </a:r>
          </a:p>
          <a:p>
            <a:pPr>
              <a:lnSpc>
                <a:spcPct val="150000"/>
              </a:lnSpc>
            </a:pPr>
            <a:endParaRPr lang="en-US" altLang="ko-KR" sz="800" b="1" dirty="0"/>
          </a:p>
          <a:p>
            <a:pPr>
              <a:lnSpc>
                <a:spcPct val="150000"/>
              </a:lnSpc>
            </a:pPr>
            <a:r>
              <a:rPr lang="en-US" altLang="ko-KR" sz="1300" b="1" u="sng" dirty="0"/>
              <a:t>Price controls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Price ceiling</a:t>
            </a:r>
            <a:r>
              <a:rPr lang="en-US" altLang="ko-KR" sz="1300" dirty="0"/>
              <a:t> (=legal maximum on the</a:t>
            </a:r>
            <a:r>
              <a:rPr lang="ko-KR" altLang="en-US" sz="1300" dirty="0"/>
              <a:t> </a:t>
            </a:r>
            <a:r>
              <a:rPr lang="en-US" altLang="ko-KR" sz="1300" dirty="0"/>
              <a:t>price),</a:t>
            </a:r>
            <a:r>
              <a:rPr lang="en-US" altLang="ko-KR" sz="1300" b="1" dirty="0"/>
              <a:t> and Price floor</a:t>
            </a:r>
            <a:r>
              <a:rPr lang="en-US" altLang="ko-KR" sz="1300" dirty="0"/>
              <a:t>(=legal minimum on the price)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When the equilibrium price is </a:t>
            </a:r>
            <a:r>
              <a:rPr lang="en-US" altLang="ko-KR" sz="1300" b="1" u="sng" dirty="0"/>
              <a:t>above</a:t>
            </a:r>
            <a:r>
              <a:rPr lang="en-US" altLang="ko-KR" sz="1300" dirty="0"/>
              <a:t> the ceiling, Price ceiling is </a:t>
            </a:r>
            <a:r>
              <a:rPr lang="en-US" altLang="ko-KR" sz="1300" b="1" dirty="0"/>
              <a:t>binding, causes a ‘shortage’. Ex) Rent-control laws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When there is a shortage… rationing mechanism(long line, discrimination)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Unfair and inefficient results. 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 When the equilibrium price is </a:t>
            </a:r>
            <a:r>
              <a:rPr lang="en-US" altLang="ko-KR" sz="1300" b="1" u="sng" dirty="0"/>
              <a:t>below</a:t>
            </a:r>
            <a:r>
              <a:rPr lang="en-US" altLang="ko-KR" sz="1300" dirty="0"/>
              <a:t> the floor, Price floor is </a:t>
            </a:r>
            <a:r>
              <a:rPr lang="en-US" altLang="ko-KR" sz="1300" b="1" dirty="0"/>
              <a:t>binding, causes a ‘surplus’. Ex) Minimum wage laws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Economists usually oppose price ceilings and price floors.. Prices are balancing supply and demand. To help those in need, rent subsidies, wage subsidies are better than price controls.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b="1" u="sng" dirty="0"/>
              <a:t>Taxes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Government collect taxes to raise revenue for public projects.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Tax incidence</a:t>
            </a:r>
            <a:r>
              <a:rPr lang="en-US" altLang="ko-KR" sz="1300" dirty="0"/>
              <a:t>: Manner in which the burden of a tax is shared among participants in a market.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Example: The Market for Pizza</a:t>
            </a:r>
          </a:p>
          <a:p>
            <a:pPr>
              <a:lnSpc>
                <a:spcPct val="150000"/>
              </a:lnSpc>
            </a:pPr>
            <a:r>
              <a:rPr lang="en-US" altLang="ko-KR" sz="1300" u="sng" dirty="0"/>
              <a:t>Case 1</a:t>
            </a:r>
            <a:r>
              <a:rPr lang="en-US" altLang="ko-KR" sz="1300" dirty="0"/>
              <a:t>: Government impose $1.5 tax on </a:t>
            </a:r>
            <a:r>
              <a:rPr lang="en-US" altLang="ko-KR" sz="1300" b="1" dirty="0"/>
              <a:t>Buyers(=Buyers pay pizza tax).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A tax on buyers shifts the </a:t>
            </a:r>
            <a:r>
              <a:rPr lang="en-US" altLang="ko-KR" sz="1300" b="1" u="sng" dirty="0"/>
              <a:t>D curve down </a:t>
            </a:r>
            <a:r>
              <a:rPr lang="en-US" altLang="ko-KR" sz="1300" b="1" dirty="0"/>
              <a:t>by the amount of the tax.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We have new equilibrium price and quantity(Buyers price and sellers price are different… </a:t>
            </a:r>
            <a:r>
              <a:rPr lang="en-US" altLang="ko-KR" sz="1300" b="1" dirty="0"/>
              <a:t>Buyers have to pay $1.0 more</a:t>
            </a:r>
            <a:r>
              <a:rPr lang="en-US" altLang="ko-KR" sz="1300" dirty="0"/>
              <a:t>, and </a:t>
            </a:r>
            <a:r>
              <a:rPr lang="en-US" altLang="ko-KR" sz="1300" b="1" dirty="0"/>
              <a:t>sellers get $0.5 less</a:t>
            </a:r>
            <a:r>
              <a:rPr lang="en-US" altLang="ko-KR" sz="1300" dirty="0"/>
              <a:t> than before… the incidence of $1.5 tax) 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u="sng" dirty="0"/>
              <a:t>Case 2</a:t>
            </a:r>
            <a:r>
              <a:rPr lang="en-US" altLang="ko-KR" sz="1300" dirty="0"/>
              <a:t>: Government impose $1.5 tax on </a:t>
            </a:r>
            <a:r>
              <a:rPr lang="en-US" altLang="ko-KR" sz="1300" b="1" dirty="0"/>
              <a:t>Sellers(=sellers pay pizza tax).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A tax on sellers shifts the </a:t>
            </a:r>
            <a:r>
              <a:rPr lang="en-US" altLang="ko-KR" sz="1300" b="1" u="sng" dirty="0"/>
              <a:t>S curve up</a:t>
            </a:r>
            <a:r>
              <a:rPr lang="en-US" altLang="ko-KR" sz="1300" b="1" dirty="0"/>
              <a:t> by the amount of the tax.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We have new equilibrium price and quantity(</a:t>
            </a:r>
            <a:r>
              <a:rPr lang="en-US" altLang="ko-KR" sz="1300" b="1" dirty="0"/>
              <a:t>Buyers have to pay $1.0 more</a:t>
            </a:r>
            <a:r>
              <a:rPr lang="en-US" altLang="ko-KR" sz="1300" dirty="0"/>
              <a:t>, and </a:t>
            </a:r>
            <a:r>
              <a:rPr lang="en-US" altLang="ko-KR" sz="1300" b="1" dirty="0"/>
              <a:t>sellers get $0.5 less</a:t>
            </a:r>
            <a:r>
              <a:rPr lang="en-US" altLang="ko-KR" sz="1300" dirty="0"/>
              <a:t> than before… the incidence of $1.5 tax)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The outcome is the same in both cases! </a:t>
            </a:r>
            <a:r>
              <a:rPr lang="en-US" altLang="ko-KR" sz="1300" dirty="0"/>
              <a:t>The effects on P and Q, and the tax incidence are the same whether the tax is imposed on buyers or sellers!</a:t>
            </a:r>
          </a:p>
          <a:p>
            <a:pPr>
              <a:lnSpc>
                <a:spcPct val="150000"/>
              </a:lnSpc>
            </a:pPr>
            <a:endParaRPr lang="en-US" altLang="ko-KR" sz="1300" b="1" u="sng" dirty="0"/>
          </a:p>
          <a:p>
            <a:pPr>
              <a:lnSpc>
                <a:spcPct val="150000"/>
              </a:lnSpc>
            </a:pPr>
            <a:r>
              <a:rPr lang="en-US" altLang="ko-KR" sz="1300" b="1" u="sng" dirty="0"/>
              <a:t>Elasticity and tax incidence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Case 1: Supply is more elastic than demand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dirty="0"/>
              <a:t>Case 2: Demand is more elastic than supply</a:t>
            </a:r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en-US" altLang="ko-KR" sz="1300" b="1" dirty="0"/>
              <a:t>Who pays Luxury tax?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Luxury items: Demand is quite elastic, supply is relatively in elastic</a:t>
            </a:r>
          </a:p>
          <a:p>
            <a:pPr>
              <a:lnSpc>
                <a:spcPct val="150000"/>
              </a:lnSpc>
            </a:pPr>
            <a:r>
              <a:rPr lang="en-US" altLang="ko-KR" sz="1300" dirty="0"/>
              <a:t>Sellers(luxury items producers) pay most of the tax!!</a:t>
            </a:r>
          </a:p>
          <a:p>
            <a:pPr>
              <a:lnSpc>
                <a:spcPct val="150000"/>
              </a:lnSpc>
            </a:pPr>
            <a:endParaRPr lang="en-US" altLang="ko-KR" sz="1300" b="1" u="sng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5B84B3-BFBE-47D0-A7AB-C0A34814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8" y="4467225"/>
            <a:ext cx="3729038" cy="195968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5FF6D65-2300-4008-ACED-1B0F50084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6719546"/>
            <a:ext cx="3709989" cy="197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404</Words>
  <Application>Microsoft Office PowerPoint</Application>
  <PresentationFormat>와이드스크린</PresentationFormat>
  <Paragraphs>42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6. Supply, Demand, and Government Policies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library</cp:lastModifiedBy>
  <cp:revision>53</cp:revision>
  <dcterms:created xsi:type="dcterms:W3CDTF">2021-06-28T02:08:57Z</dcterms:created>
  <dcterms:modified xsi:type="dcterms:W3CDTF">2021-09-23T10:00:39Z</dcterms:modified>
</cp:coreProperties>
</file>