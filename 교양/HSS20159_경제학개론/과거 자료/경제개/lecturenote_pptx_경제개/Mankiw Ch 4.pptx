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5"/>
  </p:notesMasterIdLst>
  <p:sldIdLst>
    <p:sldId id="257" r:id="rId2"/>
    <p:sldId id="258" r:id="rId3"/>
    <p:sldId id="259" r:id="rId4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39" autoAdjust="0"/>
    <p:restoredTop sz="94660"/>
  </p:normalViewPr>
  <p:slideViewPr>
    <p:cSldViewPr snapToGrid="0">
      <p:cViewPr varScale="1">
        <p:scale>
          <a:sx n="44" d="100"/>
          <a:sy n="44" d="100"/>
        </p:scale>
        <p:origin x="24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2021-09-12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2021-09-12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2021-09-12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2021-09-12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2021-09-12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2021-09-12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2021-09-12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2021-09-12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2021-09-12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2021-09-12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2021-09-12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2021-09-12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2021-09-12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/>
              <a:t>Ch</a:t>
            </a:r>
            <a:r>
              <a:rPr lang="en-US" altLang="ko-KR" dirty="0"/>
              <a:t> </a:t>
            </a:r>
            <a:r>
              <a:rPr lang="en-US" altLang="ko-KR" dirty="0" smtClean="0"/>
              <a:t>4. The Market forces of Supply and Demand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19"/>
            <a:ext cx="5915025" cy="9897151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US" altLang="ko-KR" sz="1300" b="1" dirty="0" smtClean="0"/>
              <a:t>Competitive market : </a:t>
            </a:r>
            <a:r>
              <a:rPr lang="en-US" altLang="ko-KR" sz="1300" dirty="0" smtClean="0"/>
              <a:t>Many </a:t>
            </a:r>
            <a:r>
              <a:rPr lang="en-US" altLang="ko-KR" sz="1300" dirty="0"/>
              <a:t>buyers and many sellers, each has </a:t>
            </a:r>
            <a:r>
              <a:rPr lang="en-US" altLang="ko-KR" sz="1300" b="1" u="sng" dirty="0" smtClean="0"/>
              <a:t>a </a:t>
            </a:r>
            <a:r>
              <a:rPr lang="en-US" altLang="ko-KR" sz="1300" b="1" u="sng" dirty="0"/>
              <a:t>negligible </a:t>
            </a:r>
            <a:r>
              <a:rPr lang="en-US" altLang="ko-KR" sz="1300" dirty="0"/>
              <a:t>impact on market </a:t>
            </a:r>
            <a:r>
              <a:rPr lang="en-US" altLang="ko-KR" sz="1300" dirty="0" smtClean="0"/>
              <a:t>price</a:t>
            </a:r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Perfectly competitive market: same goods. NO one can affect the market</a:t>
            </a:r>
            <a:r>
              <a:rPr lang="ko-KR" altLang="en-US" sz="1300" dirty="0" smtClean="0"/>
              <a:t> </a:t>
            </a:r>
            <a:r>
              <a:rPr lang="en-US" altLang="ko-KR" sz="1300" dirty="0" smtClean="0"/>
              <a:t>price… </a:t>
            </a:r>
            <a:r>
              <a:rPr lang="en-US" altLang="ko-KR" sz="1300" u="sng" dirty="0" smtClean="0"/>
              <a:t>“Price takers</a:t>
            </a:r>
            <a:r>
              <a:rPr lang="en-US" altLang="ko-KR" sz="1300" dirty="0" smtClean="0"/>
              <a:t>”</a:t>
            </a:r>
          </a:p>
          <a:p>
            <a:pPr>
              <a:lnSpc>
                <a:spcPct val="160000"/>
              </a:lnSpc>
            </a:pPr>
            <a:endParaRPr lang="en-US" altLang="ko-KR" sz="1300" dirty="0" smtClean="0"/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Demand, or Quantity demanded</a:t>
            </a:r>
            <a:endParaRPr lang="en-US" altLang="ko-KR" sz="1300" b="1" dirty="0"/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Amount of a good that buyers are willing </a:t>
            </a:r>
            <a:r>
              <a:rPr lang="en-US" altLang="ko-KR" sz="1100" dirty="0" smtClean="0"/>
              <a:t>and </a:t>
            </a:r>
            <a:r>
              <a:rPr lang="en-US" altLang="ko-KR" sz="1100" dirty="0"/>
              <a:t>able to purchase </a:t>
            </a:r>
            <a:endParaRPr lang="en-US" altLang="ko-KR" sz="1100" dirty="0" smtClean="0"/>
          </a:p>
          <a:p>
            <a:pPr>
              <a:lnSpc>
                <a:spcPct val="160000"/>
              </a:lnSpc>
            </a:pPr>
            <a:r>
              <a:rPr lang="en-US" altLang="ko-KR" sz="1300" b="1" u="sng" dirty="0" smtClean="0"/>
              <a:t>Law of demand </a:t>
            </a:r>
            <a:r>
              <a:rPr lang="en-US" altLang="ko-KR" sz="1300" dirty="0" smtClean="0"/>
              <a:t>: Other things equal</a:t>
            </a:r>
            <a:r>
              <a:rPr lang="en-US" altLang="ko-KR" sz="1300" dirty="0"/>
              <a:t>, </a:t>
            </a:r>
            <a:r>
              <a:rPr lang="en-US" altLang="ko-KR" sz="1300" dirty="0" smtClean="0"/>
              <a:t>when </a:t>
            </a:r>
            <a:r>
              <a:rPr lang="en-US" altLang="ko-KR" sz="1300" dirty="0"/>
              <a:t>the price of a good rises, the 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quantity demanded of the good </a:t>
            </a:r>
            <a:r>
              <a:rPr lang="en-US" altLang="ko-KR" sz="1300" dirty="0" smtClean="0"/>
              <a:t>falls, and when </a:t>
            </a:r>
            <a:r>
              <a:rPr lang="en-US" altLang="ko-KR" sz="1300" dirty="0"/>
              <a:t>the price falls, the quantity </a:t>
            </a:r>
            <a:r>
              <a:rPr lang="en-US" altLang="ko-KR" sz="1300" dirty="0" smtClean="0"/>
              <a:t>demanded rises</a:t>
            </a:r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Demand schedule &amp; Demand curve(downward</a:t>
            </a:r>
            <a:r>
              <a:rPr lang="ko-KR" altLang="en-US" sz="1300" dirty="0" smtClean="0"/>
              <a:t> </a:t>
            </a:r>
            <a:r>
              <a:rPr lang="en-US" altLang="ko-KR" sz="1300" dirty="0" smtClean="0"/>
              <a:t>sloping)</a:t>
            </a: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Individual demand vs. Market demand</a:t>
            </a:r>
          </a:p>
          <a:p>
            <a:pPr>
              <a:lnSpc>
                <a:spcPct val="160000"/>
              </a:lnSpc>
            </a:pPr>
            <a:endParaRPr lang="en-US" altLang="ko-KR" sz="1300" dirty="0" smtClean="0"/>
          </a:p>
          <a:p>
            <a:pPr>
              <a:lnSpc>
                <a:spcPct val="160000"/>
              </a:lnSpc>
            </a:pPr>
            <a:r>
              <a:rPr lang="en-US" altLang="ko-KR" sz="1300" b="1" u="sng" dirty="0" smtClean="0"/>
              <a:t>Demand curve shifters </a:t>
            </a:r>
            <a:r>
              <a:rPr lang="en-US" altLang="ko-KR" sz="1300" b="1" dirty="0" smtClean="0"/>
              <a:t>: Non-price determinants of demand</a:t>
            </a:r>
          </a:p>
          <a:p>
            <a:pPr lvl="1">
              <a:lnSpc>
                <a:spcPct val="160000"/>
              </a:lnSpc>
            </a:pPr>
            <a:r>
              <a:rPr lang="en-US" altLang="ko-KR" sz="1300" dirty="0" smtClean="0"/>
              <a:t>Changes in them shift the D curve</a:t>
            </a:r>
          </a:p>
          <a:p>
            <a:pPr lvl="1">
              <a:lnSpc>
                <a:spcPct val="160000"/>
              </a:lnSpc>
            </a:pPr>
            <a:r>
              <a:rPr lang="en-US" altLang="ko-KR" sz="1300" dirty="0" smtClean="0"/>
              <a:t>Caution!! Movement along(on) the curve vs. Shift of the curve</a:t>
            </a: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1. Number of buyers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2. Income</a:t>
            </a:r>
          </a:p>
          <a:p>
            <a:pPr lvl="1">
              <a:lnSpc>
                <a:spcPct val="160000"/>
              </a:lnSpc>
            </a:pPr>
            <a:r>
              <a:rPr lang="en-US" altLang="ko-KR" sz="1300" dirty="0" smtClean="0"/>
              <a:t>Normal good: Increase in income leads to an increase in demand</a:t>
            </a:r>
          </a:p>
          <a:p>
            <a:pPr lvl="1">
              <a:lnSpc>
                <a:spcPct val="160000"/>
              </a:lnSpc>
            </a:pPr>
            <a:r>
              <a:rPr lang="en-US" altLang="ko-KR" sz="1300" dirty="0" smtClean="0"/>
              <a:t>Inferior good: Increase in income leads to a decrease in demand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3. Prices of related goods</a:t>
            </a:r>
          </a:p>
          <a:p>
            <a:pPr lvl="1">
              <a:lnSpc>
                <a:spcPct val="160000"/>
              </a:lnSpc>
            </a:pPr>
            <a:r>
              <a:rPr lang="en-US" altLang="ko-KR" sz="1300" dirty="0" smtClean="0"/>
              <a:t>Substitutes : Increase in the price of one leads to an </a:t>
            </a:r>
            <a:r>
              <a:rPr lang="en-US" altLang="ko-KR" sz="1300" u="sng" dirty="0" smtClean="0"/>
              <a:t>increase</a:t>
            </a:r>
            <a:r>
              <a:rPr lang="en-US" altLang="ko-KR" sz="1300" dirty="0" smtClean="0"/>
              <a:t> in the demand of the other.  Ex) Pizza and hamburger</a:t>
            </a:r>
          </a:p>
          <a:p>
            <a:pPr lvl="1">
              <a:lnSpc>
                <a:spcPct val="160000"/>
              </a:lnSpc>
            </a:pPr>
            <a:r>
              <a:rPr lang="en-US" altLang="ko-KR" sz="1300" dirty="0" smtClean="0"/>
              <a:t>Complements </a:t>
            </a:r>
            <a:r>
              <a:rPr lang="en-US" altLang="ko-KR" sz="1300" dirty="0"/>
              <a:t>: increase in the price of one leads to a </a:t>
            </a:r>
            <a:r>
              <a:rPr lang="en-US" altLang="ko-KR" sz="1300" u="sng" dirty="0" smtClean="0"/>
              <a:t>decrease </a:t>
            </a:r>
            <a:r>
              <a:rPr lang="en-US" altLang="ko-KR" sz="1300" dirty="0"/>
              <a:t>in the demand for the </a:t>
            </a:r>
            <a:r>
              <a:rPr lang="en-US" altLang="ko-KR" sz="1300" dirty="0" smtClean="0"/>
              <a:t>other.  Ex) Bagels and cream cheese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4. Tastes</a:t>
            </a:r>
          </a:p>
          <a:p>
            <a:pPr lvl="1">
              <a:lnSpc>
                <a:spcPct val="160000"/>
              </a:lnSpc>
            </a:pPr>
            <a:r>
              <a:rPr lang="en-US" altLang="ko-KR" sz="1300" dirty="0" smtClean="0"/>
              <a:t>Ex) Preference on SUV, Games, Foods….</a:t>
            </a:r>
            <a:endParaRPr lang="en-US" altLang="ko-KR" sz="13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979170"/>
            <a:ext cx="5915025" cy="1027938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ko-KR" sz="1300" b="1" dirty="0" smtClean="0"/>
              <a:t>Supply, </a:t>
            </a:r>
            <a:r>
              <a:rPr lang="en-US" altLang="ko-KR" sz="1300" b="1" dirty="0"/>
              <a:t>or Quantity </a:t>
            </a:r>
            <a:r>
              <a:rPr lang="en-US" altLang="ko-KR" sz="1300" b="1" dirty="0" smtClean="0"/>
              <a:t>supplied</a:t>
            </a:r>
            <a:endParaRPr lang="en-US" altLang="ko-KR" sz="1300" b="1" dirty="0"/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Amount of a good that </a:t>
            </a:r>
            <a:r>
              <a:rPr lang="en-US" altLang="ko-KR" sz="1100" dirty="0" smtClean="0"/>
              <a:t>sellers are </a:t>
            </a:r>
            <a:r>
              <a:rPr lang="en-US" altLang="ko-KR" sz="1100" dirty="0"/>
              <a:t>willing and able </a:t>
            </a:r>
            <a:r>
              <a:rPr lang="en-US" altLang="ko-KR" sz="1100" dirty="0" smtClean="0"/>
              <a:t>to sell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en-US" altLang="ko-KR" sz="1300" b="1" u="sng" dirty="0"/>
              <a:t>Law of </a:t>
            </a:r>
            <a:r>
              <a:rPr lang="en-US" altLang="ko-KR" sz="1300" b="1" u="sng" dirty="0" smtClean="0"/>
              <a:t>supply </a:t>
            </a:r>
            <a:r>
              <a:rPr lang="en-US" altLang="ko-KR" sz="1300" dirty="0"/>
              <a:t>: Other things equal, when the price of a good rises, the 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quantity </a:t>
            </a:r>
            <a:r>
              <a:rPr lang="en-US" altLang="ko-KR" sz="1300" dirty="0" smtClean="0"/>
              <a:t>supplied </a:t>
            </a:r>
            <a:r>
              <a:rPr lang="en-US" altLang="ko-KR" sz="1300" dirty="0"/>
              <a:t>of the good </a:t>
            </a:r>
            <a:r>
              <a:rPr lang="en-US" altLang="ko-KR" sz="1300" dirty="0" smtClean="0"/>
              <a:t>rises, </a:t>
            </a:r>
            <a:r>
              <a:rPr lang="en-US" altLang="ko-KR" sz="1300" dirty="0"/>
              <a:t>and when the price falls, the quantity </a:t>
            </a:r>
            <a:r>
              <a:rPr lang="en-US" altLang="ko-KR" sz="1300" dirty="0" smtClean="0"/>
              <a:t>supplied falls</a:t>
            </a: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Supply </a:t>
            </a:r>
            <a:r>
              <a:rPr lang="en-US" altLang="ko-KR" sz="1300" dirty="0"/>
              <a:t>schedule &amp; </a:t>
            </a:r>
            <a:r>
              <a:rPr lang="en-US" altLang="ko-KR" sz="1300" dirty="0" smtClean="0"/>
              <a:t>Supply curve(upward</a:t>
            </a:r>
            <a:r>
              <a:rPr lang="ko-KR" altLang="en-US" sz="1300" dirty="0" smtClean="0"/>
              <a:t> </a:t>
            </a:r>
            <a:r>
              <a:rPr lang="en-US" altLang="ko-KR" sz="1300" dirty="0"/>
              <a:t>sloping)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Individual </a:t>
            </a:r>
            <a:r>
              <a:rPr lang="en-US" altLang="ko-KR" sz="1300" dirty="0" err="1" smtClean="0"/>
              <a:t>suppy</a:t>
            </a:r>
            <a:r>
              <a:rPr lang="en-US" altLang="ko-KR" sz="1300" dirty="0" smtClean="0"/>
              <a:t> </a:t>
            </a:r>
            <a:r>
              <a:rPr lang="en-US" altLang="ko-KR" sz="1300" dirty="0"/>
              <a:t>vs. Market </a:t>
            </a:r>
            <a:r>
              <a:rPr lang="en-US" altLang="ko-KR" sz="1300" dirty="0" smtClean="0"/>
              <a:t>supply</a:t>
            </a:r>
            <a:endParaRPr lang="en-US" altLang="ko-KR" sz="1300" dirty="0"/>
          </a:p>
          <a:p>
            <a:pPr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en-US" altLang="ko-KR" sz="1300" b="1" u="sng" dirty="0" smtClean="0"/>
              <a:t>Supply </a:t>
            </a:r>
            <a:r>
              <a:rPr lang="en-US" altLang="ko-KR" sz="1300" b="1" u="sng" dirty="0"/>
              <a:t>curve shifters </a:t>
            </a:r>
            <a:r>
              <a:rPr lang="en-US" altLang="ko-KR" sz="1300" b="1" dirty="0"/>
              <a:t>: Non-price determinants of </a:t>
            </a:r>
            <a:r>
              <a:rPr lang="en-US" altLang="ko-KR" sz="1300" b="1" dirty="0" smtClean="0"/>
              <a:t>supply</a:t>
            </a:r>
            <a:endParaRPr lang="en-US" altLang="ko-KR" sz="1300" b="1" dirty="0"/>
          </a:p>
          <a:p>
            <a:pPr lvl="1">
              <a:lnSpc>
                <a:spcPct val="160000"/>
              </a:lnSpc>
            </a:pPr>
            <a:r>
              <a:rPr lang="en-US" altLang="ko-KR" sz="1300" dirty="0"/>
              <a:t>Changes in them shift the </a:t>
            </a:r>
            <a:r>
              <a:rPr lang="en-US" altLang="ko-KR" sz="1300" dirty="0" smtClean="0"/>
              <a:t>S curve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1. </a:t>
            </a:r>
            <a:r>
              <a:rPr lang="en-US" altLang="ko-KR" sz="1300" b="1" dirty="0" smtClean="0"/>
              <a:t>Input prices</a:t>
            </a:r>
          </a:p>
          <a:p>
            <a:pPr lvl="1">
              <a:lnSpc>
                <a:spcPct val="160000"/>
              </a:lnSpc>
            </a:pPr>
            <a:r>
              <a:rPr lang="en-US" altLang="ko-KR" sz="1300" dirty="0"/>
              <a:t>Supply is negatively related to prices of inputs. </a:t>
            </a:r>
            <a:r>
              <a:rPr lang="en-US" altLang="ko-KR" sz="1300" dirty="0" smtClean="0"/>
              <a:t>A </a:t>
            </a:r>
            <a:r>
              <a:rPr lang="en-US" altLang="ko-KR" sz="1300" dirty="0"/>
              <a:t>fall in input prices makes production </a:t>
            </a:r>
            <a:r>
              <a:rPr lang="en-US" altLang="ko-KR" sz="1300" dirty="0" smtClean="0"/>
              <a:t>more </a:t>
            </a:r>
            <a:r>
              <a:rPr lang="en-US" altLang="ko-KR" sz="1300" dirty="0"/>
              <a:t>profitable at each output </a:t>
            </a:r>
            <a:r>
              <a:rPr lang="en-US" altLang="ko-KR" sz="1300" dirty="0" smtClean="0"/>
              <a:t>price</a:t>
            </a:r>
            <a:endParaRPr lang="en-US" altLang="ko-KR" sz="1075" b="1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2. </a:t>
            </a:r>
            <a:r>
              <a:rPr lang="en-US" altLang="ko-KR" sz="1300" b="1" dirty="0" smtClean="0"/>
              <a:t>Technology</a:t>
            </a:r>
            <a:endParaRPr lang="en-US" altLang="ko-KR" sz="1300" b="1" dirty="0"/>
          </a:p>
          <a:p>
            <a:pPr lvl="1">
              <a:lnSpc>
                <a:spcPct val="160000"/>
              </a:lnSpc>
            </a:pPr>
            <a:r>
              <a:rPr lang="en-US" altLang="ko-KR" sz="1300" dirty="0" smtClean="0"/>
              <a:t>A </a:t>
            </a:r>
            <a:r>
              <a:rPr lang="en-US" altLang="ko-KR" sz="1300" dirty="0"/>
              <a:t>cost-saving technological improvement </a:t>
            </a:r>
            <a:r>
              <a:rPr lang="en-US" altLang="ko-KR" sz="1300" dirty="0" smtClean="0"/>
              <a:t>has </a:t>
            </a:r>
            <a:r>
              <a:rPr lang="en-US" altLang="ko-KR" sz="1300" dirty="0"/>
              <a:t>the same effect as a fall in input </a:t>
            </a:r>
            <a:r>
              <a:rPr lang="en-US" altLang="ko-KR" sz="1300" dirty="0" smtClean="0"/>
              <a:t>prices</a:t>
            </a:r>
            <a:r>
              <a:rPr lang="en-US" altLang="ko-KR" sz="1300" dirty="0"/>
              <a:t>, shifts S curve to the right </a:t>
            </a:r>
            <a:endParaRPr lang="en-US" altLang="ko-KR" sz="1300" dirty="0" smtClean="0"/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3</a:t>
            </a:r>
            <a:r>
              <a:rPr lang="en-US" altLang="ko-KR" sz="1300" b="1" dirty="0"/>
              <a:t>. </a:t>
            </a:r>
            <a:r>
              <a:rPr lang="en-US" altLang="ko-KR" sz="1300" b="1" dirty="0" smtClean="0"/>
              <a:t>Number of sellers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4. Expectation about future</a:t>
            </a:r>
          </a:p>
          <a:p>
            <a:pPr lvl="1">
              <a:lnSpc>
                <a:spcPct val="160000"/>
              </a:lnSpc>
            </a:pPr>
            <a:r>
              <a:rPr lang="en-US" altLang="ko-KR" sz="1300" dirty="0"/>
              <a:t>Sellers may adjust </a:t>
            </a:r>
            <a:r>
              <a:rPr lang="en-US" altLang="ko-KR" sz="1300" dirty="0" smtClean="0"/>
              <a:t>supply </a:t>
            </a:r>
            <a:r>
              <a:rPr lang="en-US" altLang="ko-KR" sz="1300" dirty="0"/>
              <a:t>when their </a:t>
            </a:r>
            <a:r>
              <a:rPr lang="en-US" altLang="ko-KR" sz="1300" dirty="0" smtClean="0"/>
              <a:t>expectations </a:t>
            </a:r>
            <a:r>
              <a:rPr lang="en-US" altLang="ko-KR" sz="1300" dirty="0"/>
              <a:t>of future prices </a:t>
            </a:r>
            <a:r>
              <a:rPr lang="en-US" altLang="ko-KR" sz="1300" dirty="0" smtClean="0"/>
              <a:t>change</a:t>
            </a:r>
          </a:p>
          <a:p>
            <a:pPr lvl="1"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en-US" altLang="ko-KR" sz="1525" b="1" dirty="0" smtClean="0"/>
              <a:t>Supply and demand together </a:t>
            </a:r>
          </a:p>
          <a:p>
            <a:pPr>
              <a:lnSpc>
                <a:spcPct val="160000"/>
              </a:lnSpc>
            </a:pPr>
            <a:r>
              <a:rPr lang="en-US" altLang="ko-KR" sz="1525" dirty="0" smtClean="0"/>
              <a:t>Equilibrium: </a:t>
            </a:r>
          </a:p>
          <a:p>
            <a:pPr lvl="1">
              <a:lnSpc>
                <a:spcPct val="160000"/>
              </a:lnSpc>
            </a:pPr>
            <a:r>
              <a:rPr lang="en-US" altLang="ko-KR" sz="1300" dirty="0" smtClean="0"/>
              <a:t>Price and Quantity</a:t>
            </a:r>
          </a:p>
          <a:p>
            <a:pPr lvl="1">
              <a:lnSpc>
                <a:spcPct val="160000"/>
              </a:lnSpc>
            </a:pPr>
            <a:r>
              <a:rPr lang="en-US" altLang="ko-KR" sz="1300" dirty="0" smtClean="0"/>
              <a:t>Surplus</a:t>
            </a:r>
          </a:p>
          <a:p>
            <a:pPr lvl="1">
              <a:lnSpc>
                <a:spcPct val="160000"/>
              </a:lnSpc>
            </a:pPr>
            <a:r>
              <a:rPr lang="en-US" altLang="ko-KR" sz="1300" dirty="0" smtClean="0"/>
              <a:t>Shortage</a:t>
            </a:r>
            <a:endParaRPr lang="en-US" altLang="ko-KR" sz="1300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88" y="9176963"/>
            <a:ext cx="3049582" cy="268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979170"/>
            <a:ext cx="5915025" cy="1027938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ko-KR" sz="1300" b="1" dirty="0" smtClean="0"/>
              <a:t>Three steps to analyzing changes in equilibrium</a:t>
            </a:r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Decide which curve shifts, </a:t>
            </a:r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and where to (right or left)</a:t>
            </a:r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Use the diagram and compare the initial and the new equilibrium</a:t>
            </a:r>
          </a:p>
          <a:p>
            <a:pPr>
              <a:lnSpc>
                <a:spcPct val="160000"/>
              </a:lnSpc>
            </a:pPr>
            <a:endParaRPr lang="en-US" altLang="ko-KR" sz="1300" b="1" dirty="0"/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Case study : Hybrid Cars Market 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1. Increase in the price of gas </a:t>
            </a:r>
            <a:r>
              <a:rPr lang="en-US" altLang="ko-KR" sz="1300" b="1" dirty="0" smtClean="0">
                <a:sym typeface="Wingdings" panose="05000000000000000000" pitchFamily="2" charset="2"/>
              </a:rPr>
              <a:t> demand curve shifts</a:t>
            </a:r>
            <a:endParaRPr lang="en-US" altLang="ko-KR" sz="1300" b="1" dirty="0" smtClean="0"/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2. New hybrid cars technology </a:t>
            </a:r>
            <a:r>
              <a:rPr lang="en-US" altLang="ko-KR" sz="1300" b="1" dirty="0" smtClean="0">
                <a:sym typeface="Wingdings" panose="05000000000000000000" pitchFamily="2" charset="2"/>
              </a:rPr>
              <a:t> Supply curve shifts</a:t>
            </a:r>
            <a:r>
              <a:rPr lang="en-US" altLang="ko-KR" sz="1300" b="1" dirty="0" smtClean="0"/>
              <a:t> </a:t>
            </a:r>
            <a:endParaRPr lang="en-US" altLang="ko-KR" sz="1300" b="1" dirty="0" smtClean="0"/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3. If, both</a:t>
            </a:r>
            <a:r>
              <a:rPr lang="ko-KR" altLang="en-US" sz="1300" b="1" dirty="0" smtClean="0"/>
              <a:t> </a:t>
            </a:r>
            <a:r>
              <a:rPr lang="en-US" altLang="ko-KR" sz="1300" b="1" dirty="0" smtClean="0"/>
              <a:t>of </a:t>
            </a:r>
            <a:r>
              <a:rPr lang="en-US" altLang="ko-KR" sz="1300" b="1" smtClean="0"/>
              <a:t>them change </a:t>
            </a:r>
            <a:r>
              <a:rPr lang="en-US" altLang="ko-KR" sz="1300" b="1" dirty="0" smtClean="0"/>
              <a:t>at the same time </a:t>
            </a:r>
            <a:r>
              <a:rPr lang="en-US" altLang="ko-KR" sz="1300" b="1" dirty="0" smtClean="0">
                <a:sym typeface="Wingdings" panose="05000000000000000000" pitchFamily="2" charset="2"/>
              </a:rPr>
              <a:t> ??</a:t>
            </a:r>
            <a:endParaRPr lang="en-US" altLang="ko-KR" sz="1300" b="1" dirty="0" smtClean="0"/>
          </a:p>
          <a:p>
            <a:pPr>
              <a:lnSpc>
                <a:spcPct val="160000"/>
              </a:lnSpc>
            </a:pPr>
            <a:endParaRPr lang="en-US" altLang="ko-KR" sz="1300" b="1" dirty="0" smtClean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AACF2-4E8D-444E-8FEB-7FAF57A63B4E}" type="slidenum">
              <a:rPr kumimoji="0" lang="ko-KR" altLang="en-US" sz="6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6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4926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</TotalTime>
  <Words>475</Words>
  <Application>Microsoft Office PowerPoint</Application>
  <PresentationFormat>와이드스크린</PresentationFormat>
  <Paragraphs>57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Wingdings</vt:lpstr>
      <vt:lpstr>Office 테마</vt:lpstr>
      <vt:lpstr>Ch 4. The Market forces of Supply and Demand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user</cp:lastModifiedBy>
  <cp:revision>41</cp:revision>
  <dcterms:created xsi:type="dcterms:W3CDTF">2021-06-28T02:08:57Z</dcterms:created>
  <dcterms:modified xsi:type="dcterms:W3CDTF">2021-09-12T11:47:53Z</dcterms:modified>
</cp:coreProperties>
</file>