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4"/>
  </p:notesMasterIdLst>
  <p:sldIdLst>
    <p:sldId id="257" r:id="rId2"/>
    <p:sldId id="258" r:id="rId3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6" d="100"/>
          <a:sy n="66" d="100"/>
        </p:scale>
        <p:origin x="33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Ch 8. The Costs of Taxation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19"/>
            <a:ext cx="5915025" cy="9744567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altLang="ko-KR" sz="1300" b="1" dirty="0"/>
              <a:t>The effects of Tax</a:t>
            </a:r>
            <a:r>
              <a:rPr lang="en-US" altLang="ko-KR" sz="1300" dirty="0"/>
              <a:t>: If government impose tax, what happen to CS, PS, and TS?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A tax – Raises the price buyers pay and lowers the price sellers receive 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Reduces the quantity bought and </a:t>
            </a:r>
            <a:r>
              <a:rPr lang="en-US" altLang="ko-KR" sz="1300" dirty="0" smtClean="0"/>
              <a:t>sold</a:t>
            </a:r>
            <a:endParaRPr lang="en-US" altLang="ko-KR" sz="1300" dirty="0"/>
          </a:p>
          <a:p>
            <a:pPr>
              <a:lnSpc>
                <a:spcPct val="160000"/>
              </a:lnSpc>
            </a:pPr>
            <a:r>
              <a:rPr lang="en-US" altLang="ko-KR" sz="1300" dirty="0"/>
              <a:t>Without a tax, TS = (A+B+C) + (D+E+F)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With a tax, TS</a:t>
            </a:r>
            <a:r>
              <a:rPr lang="ko-KR" altLang="en-US" sz="1300" dirty="0"/>
              <a:t> </a:t>
            </a:r>
            <a:r>
              <a:rPr lang="en-US" altLang="ko-KR" sz="1300" dirty="0"/>
              <a:t>= CS(A)+ PS(F) + Tax revenue (B+D)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The tax reduces total surplus by C + </a:t>
            </a:r>
            <a:r>
              <a:rPr lang="en-US" altLang="ko-KR" sz="1300" dirty="0" smtClean="0"/>
              <a:t>E</a:t>
            </a:r>
          </a:p>
          <a:p>
            <a:pPr>
              <a:lnSpc>
                <a:spcPct val="160000"/>
              </a:lnSpc>
            </a:pPr>
            <a:endParaRPr lang="en-US" altLang="ko-KR" sz="1300" dirty="0"/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‘</a:t>
            </a:r>
            <a:r>
              <a:rPr lang="en-US" altLang="ko-KR" sz="1300" b="1" u="sng" dirty="0"/>
              <a:t>Deadweight loss, DWL</a:t>
            </a:r>
            <a:r>
              <a:rPr lang="en-US" altLang="ko-KR" sz="1300" b="1" dirty="0"/>
              <a:t>’</a:t>
            </a:r>
            <a:endParaRPr lang="en-US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 smtClean="0"/>
              <a:t>The </a:t>
            </a:r>
            <a:r>
              <a:rPr lang="en-US" altLang="ko-KR" sz="1300" dirty="0"/>
              <a:t>fall in total surplus that results from a market distortion, such as a tax. </a:t>
            </a:r>
          </a:p>
          <a:p>
            <a:pPr>
              <a:lnSpc>
                <a:spcPct val="160000"/>
              </a:lnSpc>
            </a:pPr>
            <a:endParaRPr lang="en-US" altLang="ko-KR" sz="1300" b="1" u="sng" dirty="0" smtClean="0"/>
          </a:p>
          <a:p>
            <a:pPr>
              <a:lnSpc>
                <a:spcPct val="160000"/>
              </a:lnSpc>
            </a:pPr>
            <a:r>
              <a:rPr lang="en-US" altLang="ko-KR" sz="1300" b="1" u="sng" dirty="0" smtClean="0"/>
              <a:t>Determinants </a:t>
            </a:r>
            <a:r>
              <a:rPr lang="en-US" altLang="ko-KR" sz="1300" b="1" u="sng" dirty="0"/>
              <a:t>of Deadweight Loss</a:t>
            </a:r>
            <a:endParaRPr lang="en-US" altLang="ko-KR" sz="1300" u="sng" dirty="0"/>
          </a:p>
          <a:p>
            <a:pPr>
              <a:lnSpc>
                <a:spcPct val="160000"/>
              </a:lnSpc>
            </a:pPr>
            <a:r>
              <a:rPr lang="en-US" altLang="ko-KR" sz="1300" dirty="0"/>
              <a:t>The greater the elasticities of supply and demand, the greater the deadweight loss of a tax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 smtClean="0"/>
              <a:t>(</a:t>
            </a:r>
            <a:r>
              <a:rPr lang="en-US" altLang="ko-KR" sz="1300" dirty="0"/>
              <a:t>With a given demand curve) The more elastic is supply, the easier for firms to leave the market when the tax reduces Ps, the greater Q falls below the surplus maximizing quantity, the greater the DWL. </a:t>
            </a:r>
            <a:endParaRPr lang="en-US" altLang="ko-KR" sz="1300" dirty="0" smtClean="0"/>
          </a:p>
          <a:p>
            <a:pPr lvl="1">
              <a:lnSpc>
                <a:spcPct val="160000"/>
              </a:lnSpc>
              <a:buFontTx/>
              <a:buChar char="-"/>
            </a:pPr>
            <a:endParaRPr lang="en-US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 smtClean="0"/>
              <a:t>(</a:t>
            </a:r>
            <a:r>
              <a:rPr lang="en-US" altLang="ko-KR" sz="1300" dirty="0"/>
              <a:t>With a given supply curve) The more elastic is demand, the easier for buyers to leave the market when the tax increases P</a:t>
            </a:r>
            <a:r>
              <a:rPr lang="en-US" altLang="ko-KR" sz="1300" baseline="-25000" dirty="0"/>
              <a:t>B, </a:t>
            </a:r>
            <a:r>
              <a:rPr lang="en-US" altLang="ko-KR" sz="1300" dirty="0"/>
              <a:t>the more Q falls below the surplus-maximizing quantity, and the greater the DWL. </a:t>
            </a:r>
            <a:endParaRPr lang="ko-KR" altLang="en-US" sz="13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500063" y="893443"/>
            <a:ext cx="5915025" cy="10406735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altLang="ko-KR" sz="1300" u="sng" dirty="0"/>
              <a:t>Examples</a:t>
            </a:r>
            <a:r>
              <a:rPr lang="en-US" altLang="ko-KR" sz="1300" dirty="0"/>
              <a:t>: Would the DWL of a tax be larger if the tax were on: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 smtClean="0"/>
              <a:t>A</a:t>
            </a:r>
            <a:r>
              <a:rPr lang="en-US" altLang="ko-KR" sz="1300" dirty="0"/>
              <a:t>. </a:t>
            </a:r>
            <a:r>
              <a:rPr lang="en-US" altLang="ko-KR" sz="1300" b="1" dirty="0"/>
              <a:t>Breakfast cereal </a:t>
            </a:r>
            <a:r>
              <a:rPr lang="en-US" altLang="ko-KR" sz="1300" dirty="0"/>
              <a:t>or </a:t>
            </a:r>
            <a:r>
              <a:rPr lang="en-US" altLang="ko-KR" sz="1300" dirty="0" smtClean="0"/>
              <a:t>sunscreen?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 smtClean="0"/>
              <a:t>B</a:t>
            </a:r>
            <a:r>
              <a:rPr lang="en-US" altLang="ko-KR" sz="1300" dirty="0"/>
              <a:t>. Hotel rooms in the short run or hotel rooms </a:t>
            </a:r>
            <a:r>
              <a:rPr lang="en-US" altLang="ko-KR" sz="1300" b="1" dirty="0"/>
              <a:t>in the long </a:t>
            </a:r>
            <a:r>
              <a:rPr lang="en-US" altLang="ko-KR" sz="1300" b="1" dirty="0" smtClean="0"/>
              <a:t>run</a:t>
            </a:r>
            <a:r>
              <a:rPr lang="en-US" altLang="ko-KR" sz="1300" dirty="0" smtClean="0"/>
              <a:t>?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 smtClean="0"/>
              <a:t>C</a:t>
            </a:r>
            <a:r>
              <a:rPr lang="en-US" altLang="ko-KR" sz="1300" dirty="0"/>
              <a:t>. Groceries or </a:t>
            </a:r>
            <a:r>
              <a:rPr lang="en-US" altLang="ko-KR" sz="1300" b="1" dirty="0"/>
              <a:t>meals at fancy restaurants</a:t>
            </a:r>
            <a:r>
              <a:rPr lang="en-US" altLang="ko-KR" sz="1300" dirty="0"/>
              <a:t>?</a:t>
            </a:r>
            <a:endParaRPr lang="en-US" altLang="ko-KR" sz="1300" b="1" dirty="0"/>
          </a:p>
          <a:p>
            <a:pPr>
              <a:lnSpc>
                <a:spcPct val="160000"/>
              </a:lnSpc>
            </a:pPr>
            <a:endParaRPr lang="en-US" altLang="ko-KR" sz="1300" b="1" dirty="0" smtClean="0"/>
          </a:p>
          <a:p>
            <a:pPr>
              <a:lnSpc>
                <a:spcPct val="160000"/>
              </a:lnSpc>
            </a:pPr>
            <a:r>
              <a:rPr lang="en-US" altLang="ko-KR" sz="1300" b="1" dirty="0" smtClean="0"/>
              <a:t>Tax </a:t>
            </a:r>
            <a:r>
              <a:rPr lang="en-US" altLang="ko-KR" sz="1300" b="1" dirty="0"/>
              <a:t>size and DWL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 smtClean="0"/>
              <a:t>As </a:t>
            </a:r>
            <a:r>
              <a:rPr lang="en-US" altLang="ko-KR" sz="1300" dirty="0"/>
              <a:t>the tax increases, Deadweight loss increases even more rapidly than the size of the </a:t>
            </a:r>
            <a:r>
              <a:rPr lang="en-US" altLang="ko-KR" sz="1300" dirty="0" smtClean="0"/>
              <a:t>tax.</a:t>
            </a:r>
          </a:p>
          <a:p>
            <a:pPr lvl="1">
              <a:lnSpc>
                <a:spcPct val="160000"/>
              </a:lnSpc>
              <a:buFontTx/>
              <a:buChar char="-"/>
            </a:pPr>
            <a:endParaRPr lang="en-US" altLang="ko-KR" sz="1300" dirty="0"/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Tax size and Tax revenue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 smtClean="0"/>
              <a:t>Tax </a:t>
            </a:r>
            <a:r>
              <a:rPr lang="en-US" altLang="ko-KR" sz="1300" dirty="0"/>
              <a:t>revenue increases initially, then decreases </a:t>
            </a:r>
            <a:endParaRPr lang="en-US" altLang="ko-KR" sz="13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 smtClean="0"/>
              <a:t>When </a:t>
            </a:r>
            <a:r>
              <a:rPr lang="en-US" altLang="ko-KR" sz="1300" dirty="0"/>
              <a:t>tax rates are low, raising them doesn’t cause much harm, and lowering them doesn’t bring much benefit. </a:t>
            </a:r>
            <a:endParaRPr lang="en-US" altLang="ko-KR" sz="13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 smtClean="0"/>
              <a:t>When </a:t>
            </a:r>
            <a:r>
              <a:rPr lang="en-US" altLang="ko-KR" sz="1300" dirty="0"/>
              <a:t>tax rates are high, raising them is very harmful, and cutting them is very beneficial. </a:t>
            </a:r>
            <a:endParaRPr lang="en-US" altLang="ko-KR" sz="1300" b="1" u="sng" dirty="0"/>
          </a:p>
          <a:p>
            <a:pPr marL="257175" lvl="1" indent="0">
              <a:lnSpc>
                <a:spcPct val="160000"/>
              </a:lnSpc>
              <a:buNone/>
            </a:pPr>
            <a:endParaRPr lang="en-US" altLang="ko-KR" sz="1300" b="1" u="sng" dirty="0"/>
          </a:p>
          <a:p>
            <a:pPr marL="128588" lvl="1">
              <a:lnSpc>
                <a:spcPct val="160000"/>
              </a:lnSpc>
              <a:spcBef>
                <a:spcPts val="563"/>
              </a:spcBef>
            </a:pPr>
            <a:r>
              <a:rPr lang="en-US" altLang="ko-KR" sz="1300" b="1" dirty="0" err="1"/>
              <a:t>Laffer</a:t>
            </a:r>
            <a:r>
              <a:rPr lang="en-US" altLang="ko-KR" sz="1300" b="1" dirty="0"/>
              <a:t> </a:t>
            </a:r>
            <a:r>
              <a:rPr lang="en-US" altLang="ko-KR" sz="1300" b="1" dirty="0"/>
              <a:t>Curve: Relationship between the size of the tax and tax revenue. </a:t>
            </a:r>
          </a:p>
          <a:p>
            <a:pPr>
              <a:lnSpc>
                <a:spcPct val="160000"/>
              </a:lnSpc>
            </a:pPr>
            <a:endParaRPr lang="en-US" altLang="ko-KR" sz="1300" b="1" dirty="0"/>
          </a:p>
          <a:p>
            <a:pPr marL="257175" lvl="1" indent="0">
              <a:lnSpc>
                <a:spcPct val="160000"/>
              </a:lnSpc>
              <a:buNone/>
            </a:pPr>
            <a:endParaRPr lang="ko-KR" altLang="en-US" sz="1300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35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848</TotalTime>
  <Words>351</Words>
  <Application>Microsoft Office PowerPoint</Application>
  <PresentationFormat>와이드스크린</PresentationFormat>
  <Paragraphs>32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Ch 8. The Costs of Taxation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mainlibinfo11</cp:lastModifiedBy>
  <cp:revision>78</cp:revision>
  <dcterms:created xsi:type="dcterms:W3CDTF">2021-06-28T02:08:57Z</dcterms:created>
  <dcterms:modified xsi:type="dcterms:W3CDTF">2023-03-13T05:43:48Z</dcterms:modified>
</cp:coreProperties>
</file>