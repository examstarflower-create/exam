
<file path=[Content_Types].xml><?xml version="1.0" encoding="utf-8"?>
<Types xmlns="http://schemas.openxmlformats.org/package/2006/content-types"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Default Extension="package" ContentType="application/vnd.openxmlformats-officedocument.package"/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mf" ContentType="image/x-wmf"/>
  <Default Extension="gif" ContentType="image/gif"/>
  <Default Extension="bmp" ContentType="image/png"/>
  <Default Extension="tif" ContentType="image/tiff"/>
  <Default Extension="tiff" ContentType="image/tiff"/>
  <Default Extension="emf" ContentType="image/x-emf"/>
  <Default Extension="xlsx" ContentType="application/vnd.openxmlformats-officedocument.spreadsheetml.sheet"/>
  <Default Extension="xls" ContentType="application/vnd.ms-excel"/>
  <Default Extension="doc" ContentType="application/msword"/>
  <Default Extension="vml" ContentType="application/vnd.openxmlformats-officedocument.vmlDrawing"/>
  <Default Extension="bin" ContentType="application/vnd.openxmlformats-officedocument.oleObject"/>
  <Default Extension="wav" ContentType="audio/wav"/>
  <Default Extension="pdf" ContentType="application/pdf"/>
  <Default Extension="pict" ContentType="image/pict"/>
</Types>
</file>

<file path=_rels/.rels><?xml version="1.0" encoding="UTF-8"?>
<Relationships xmlns="http://schemas.openxmlformats.org/package/2006/relationships"><Relationship Target="ppt/presentation.xml" Type="http://schemas.openxmlformats.org/officeDocument/2006/relationships/officeDocument" Id="rId1"/><Relationship Target="docProps/core.xml" Type="http://schemas.openxmlformats.org/package/2006/relationships/metadata/core-properties" Id="rId2"/><Relationship Target="docProps/app.xml" Type="http://schemas.openxmlformats.org/officeDocument/2006/relationships/extended-properties" Id="rId3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firstSlideNum="1">
  <p:sldMasterIdLst>
    <p:sldMasterId id="2147483649" r:id="rId1"/>
  </p:sldMasterIdLst>
  <p:sldIdLst>
    <p:sldId id="256" r:id="rId2"/>
    <p:sldId id="257" r:id="rId3"/>
  </p:sldIdLst>
  <p:sldSz cx="6858000" cy="12192000" type="custom"/>
  <p:notesSz cx="6858000" cy="9144000"/>
  <p:defaultTextStyle>
    <a:defPPr>
      <a:defRPr lang="ko-KR"/>
    </a:defPPr>
    <a:lvl1pPr algn="l" marL="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marL="4572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marL="9144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marL="13716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marL="18288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marL="22860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marL="27432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marL="32004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marL="36576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3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
<Relationships xmlns="http://schemas.openxmlformats.org/package/2006/relationships"><Relationship Id="rId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tableStyles" Target="tableStyles.xml"/><Relationship Id="rId7" Type="http://schemas.openxmlformats.org/officeDocument/2006/relationships/theme" Target="theme/theme1.xml"/><Relationship Id="rId5" Type="http://schemas.openxmlformats.org/officeDocument/2006/relationships/viewProps" Target="viewProps.xml"/></Relationships>
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_shape1"/>
          <p:cNvSpPr/>
          <p:nvPr>
            <p:ph type="ctrTitle"/>
          </p:nvPr>
        </p:nvSpPr>
        <p:spPr>
          <a:xfrm>
            <a:off x="857250" y="1995312"/>
            <a:ext cx="5143500" cy="4244622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ctr">
              <a:defRPr sz="3375"/>
            </a:lvl1pPr>
          </a:lstStyle>
          <a:p>
            <a:pPr algn="ctr"/>
            <a:r>
              <a:rPr lang="ko-KR" altLang="en-US" sz="3375"/>
              <a:t>마스터</a:t>
            </a:r>
            <a:r>
              <a:rPr lang="en-US" altLang="en-US" sz="3375"/>
              <a:t> </a:t>
            </a:r>
            <a:r>
              <a:rPr lang="ko-KR" altLang="en-US" sz="3375"/>
              <a:t>제목</a:t>
            </a:r>
            <a:r>
              <a:rPr lang="en-US" altLang="en-US" sz="3375"/>
              <a:t> </a:t>
            </a:r>
            <a:r>
              <a:rPr lang="ko-KR" altLang="en-US" sz="3375"/>
              <a:t>스타일</a:t>
            </a:r>
            <a:r>
              <a:rPr lang="en-US" altLang="en-US" sz="3375"/>
              <a:t> </a:t>
            </a:r>
            <a:r>
              <a:rPr lang="ko-KR" altLang="en-US" sz="3375"/>
              <a:t>편집</a:t>
            </a:r>
          </a:p>
        </p:txBody>
      </p:sp>
      <p:sp>
        <p:nvSpPr>
          <p:cNvPr id="4" name="layout1_shape2"/>
          <p:cNvSpPr/>
          <p:nvPr>
            <p:ph type="subTitle" idx="1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</p:spPr>
        <p:txBody>
          <a:bodyPr lIns="91440" tIns="45720" rIns="91440" bIns="45720"/>
          <a:lstStyle>
            <a:lvl1pPr algn="ctr" marL="0" indent="0">
              <a:buNone/>
              <a:defRPr sz="1350"/>
            </a:lvl1pPr>
            <a:lvl2pPr algn="ctr" marL="257175" indent="0">
              <a:buNone/>
              <a:defRPr sz="1125"/>
            </a:lvl2pPr>
            <a:lvl3pPr algn="ctr" marL="514350" indent="0">
              <a:buNone/>
              <a:defRPr sz="1013"/>
            </a:lvl3pPr>
            <a:lvl4pPr algn="ctr" marL="771525" indent="0">
              <a:buNone/>
              <a:defRPr sz="900"/>
            </a:lvl4pPr>
            <a:lvl5pPr algn="ctr" marL="1028700" indent="0">
              <a:buNone/>
              <a:defRPr sz="900"/>
            </a:lvl5pPr>
            <a:lvl6pPr algn="ctr" marL="1285875" indent="0">
              <a:buNone/>
              <a:defRPr sz="900"/>
            </a:lvl6pPr>
            <a:lvl7pPr algn="ctr" marL="1543050" indent="0">
              <a:buNone/>
              <a:defRPr sz="900"/>
            </a:lvl7pPr>
            <a:lvl8pPr algn="ctr" marL="1800225" indent="0">
              <a:buNone/>
              <a:defRPr sz="900"/>
            </a:lvl8pPr>
            <a:lvl9pPr algn="ctr" marL="2057400" indent="0">
              <a:buNone/>
              <a:defRPr sz="900"/>
            </a:lvl9pPr>
          </a:lstStyle>
          <a:p>
            <a:pPr algn="ctr" marL="0" indent="0" lvl="0">
              <a:buNone/>
            </a:pPr>
            <a:r>
              <a:rPr lang="ko-KR" altLang="en-US" sz="1350"/>
              <a:t>클릭하여</a:t>
            </a:r>
            <a:r>
              <a:rPr lang="en-US" altLang="en-US" sz="1350"/>
              <a:t> </a:t>
            </a:r>
            <a:r>
              <a:rPr lang="ko-KR" altLang="en-US" sz="1350"/>
              <a:t>마스터</a:t>
            </a:r>
            <a:r>
              <a:rPr lang="en-US" altLang="en-US" sz="1350"/>
              <a:t> </a:t>
            </a:r>
            <a:r>
              <a:rPr lang="ko-KR" altLang="en-US" sz="1350"/>
              <a:t>부제목</a:t>
            </a:r>
            <a:r>
              <a:rPr lang="en-US" altLang="en-US" sz="1350"/>
              <a:t> </a:t>
            </a:r>
            <a:r>
              <a:rPr lang="ko-KR" altLang="en-US" sz="1350"/>
              <a:t>스타일</a:t>
            </a:r>
            <a:r>
              <a:rPr lang="en-US" altLang="en-US" sz="1350"/>
              <a:t> </a:t>
            </a:r>
            <a:r>
              <a:rPr lang="ko-KR" altLang="en-US" sz="1350"/>
              <a:t>편집</a:t>
            </a:r>
          </a:p>
        </p:txBody>
      </p:sp>
      <p:sp>
        <p:nvSpPr>
          <p:cNvPr id="5" name="layout1_shape3"/>
          <p:cNvSpPr/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2021-08-19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1_shape4"/>
          <p:cNvSpPr/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1_shape5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2_shape1"/>
          <p:cNvSpPr/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2_shape2"/>
          <p:cNvSpPr/>
          <p:nvPr>
            <p:ph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2_shape3"/>
          <p:cNvSpPr/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2021-08-19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2_shape4"/>
          <p:cNvSpPr/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2_shape5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3_shape1"/>
          <p:cNvSpPr/>
          <p:nvPr>
            <p:ph type="title"/>
          </p:nvPr>
        </p:nvSpPr>
        <p:spPr>
          <a:xfrm>
            <a:off x="467916" y="3039535"/>
            <a:ext cx="5915025" cy="5071532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3_shape2"/>
          <p:cNvSpPr/>
          <p:nvPr>
            <p:ph type="body" idx="1"/>
          </p:nvPr>
        </p:nvSpPr>
        <p:spPr>
          <a:xfrm>
            <a:off x="467916" y="8159046"/>
            <a:ext cx="5915025" cy="266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3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6" name="layout3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3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4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4_shape2"/>
          <p:cNvSpPr/>
          <p:nvPr>
            <p:ph sz="half" idx="1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4_shape3"/>
          <p:cNvSpPr/>
          <p:nvPr>
            <p:ph sz="half" idx="2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4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7" name="layout4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4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5_shape1"/>
          <p:cNvSpPr/>
          <p:nvPr>
            <p:ph type="title"/>
          </p:nvPr>
        </p:nvSpPr>
        <p:spPr>
          <a:xfrm>
            <a:off x="472381" y="649112"/>
            <a:ext cx="5915025" cy="2356556"/>
          </a:xfrm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5_shape2"/>
          <p:cNvSpPr/>
          <p:nvPr>
            <p:ph type="body" idx="1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5_shape3"/>
          <p:cNvSpPr/>
          <p:nvPr>
            <p:ph sz="half" idx="2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5_shape4"/>
          <p:cNvSpPr/>
          <p:nvPr>
            <p:ph type="body" sz="quarter" idx="3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7" name="layout5_shape5"/>
          <p:cNvSpPr/>
          <p:nvPr>
            <p:ph sz="quarter" idx="4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8" name="layout5_shape6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9" name="layout5_shape7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10" name="layout5_shape8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6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6_shape2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5" name="layout6_shape3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layout6_shape4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7_shape1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4" name="layout7_shape2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layout7_shape3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8_shape1"/>
          <p:cNvSpPr/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8_shape2"/>
          <p:cNvSpPr/>
          <p:nvPr>
            <p:ph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8_shape3"/>
          <p:cNvSpPr/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8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7" name="layout8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8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9_shape1"/>
          <p:cNvSpPr/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9_shape2"/>
          <p:cNvSpPr/>
          <p:nvPr>
            <p:ph type="pic"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/>
            <a:endParaRPr/>
          </a:p>
        </p:txBody>
      </p:sp>
      <p:sp>
        <p:nvSpPr>
          <p:cNvPr id="5" name="layout9_shape3"/>
          <p:cNvSpPr/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9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7" name="layout9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9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0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0_shape2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0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6" name="layout10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10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1_shape1"/>
          <p:cNvSpPr/>
          <p:nvPr>
            <p:ph type="title"/>
          </p:nvPr>
        </p:nvSpPr>
        <p:spPr>
          <a:xfrm>
            <a:off x="4907756" y="649111"/>
            <a:ext cx="1478756" cy="10332156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1_shape2"/>
          <p:cNvSpPr/>
          <p:nvPr>
            <p:ph type="body" idx="1"/>
          </p:nvPr>
        </p:nvSpPr>
        <p:spPr>
          <a:xfrm>
            <a:off x="471487" y="649111"/>
            <a:ext cx="4350544" cy="103321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1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2021-08-19</a:t>
            </a:fld>
            <a:endParaRPr/>
          </a:p>
        </p:txBody>
      </p:sp>
      <p:sp>
        <p:nvSpPr>
          <p:cNvPr id="6" name="layout11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11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/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master1_shape2"/>
          <p:cNvSpPr/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master1_shape3"/>
          <p:cNvSpPr/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2021-08-19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master1_shape4"/>
          <p:cNvSpPr/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master1_shape5"/>
          <p:cNvSpPr/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 bg1="lt1" bg2="lt2" tx1="dk1" tx2="dk2" hlink="hlink" accent1="accent1" accent2="accent2" accent3="accent3" accent4="accent4" accent5="accent5" accent6="accent6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514350" latinLnBrk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128588" indent="-128588" defTabSz="514350" latinLnBrk="1">
        <a:lnSpc>
          <a:spcPct val="90000"/>
        </a:lnSpc>
        <a:spcBef>
          <a:spcPts val="563"/>
        </a:spcBef>
        <a:buFont typeface="Arial" pitchFamily="2" charset="2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algn="l" marL="38576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algn="l" marL="64293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algn="l" marL="90011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algn="l" marL="115728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algn="l" marL="141446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algn="l" marL="167163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algn="l" marL="192881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algn="l" marL="218598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marL="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algn="l" marL="25717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algn="l" marL="51435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algn="l" marL="77152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algn="l" marL="102870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algn="l" marL="128587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algn="l" marL="154305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algn="l" marL="180022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algn="l" marL="205740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2_shape1"/>
          <p:cNvSpPr/>
          <p:nvPr>
            <p:ph type="title"/>
          </p:nvPr>
        </p:nvSpPr>
        <p:spPr>
          <a:xfrm>
            <a:off x="471488" y="649114"/>
            <a:ext cx="5915025" cy="114920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algn="l" marL="0">
              <a:lnSpc>
                <a:spcPct val="150000"/>
              </a:lnSpc>
              <a:buNone/>
            </a:pPr>
            <a:r>
              <a:rPr lang="en-US" altLang="ko-KR" sz="2475">
                <a:solidFill>
                  <a:schemeClr val="tx1">
                    <a:alpha val="100000"/>
                  </a:schemeClr>
                </a:solidFill>
                <a:latin typeface="+mj-cs"/>
              </a:rPr>
              <a:t>Ch. 21</a:t>
            </a:r>
            <a:r>
              <a:rPr lang="en-US" altLang="ko-KR" sz="2475">
                <a:solidFill>
                  <a:schemeClr val="tx1">
                    <a:alpha val="100000"/>
                  </a:schemeClr>
                </a:solidFill>
                <a:latin typeface="+mj-cs"/>
              </a:rPr>
              <a:t> The Theory of Consumer Choice</a:t>
            </a:r>
            <a:r>
              <a:rPr lang="en-US" altLang="ko-KR" sz="2475">
                <a:solidFill>
                  <a:schemeClr val="tx1">
                    <a:alpha val="100000"/>
                  </a:schemeClr>
                </a:solidFill>
                <a:latin typeface="+mj-cs"/>
              </a:rPr>
              <a:t> </a:t>
            </a:r>
          </a:p>
        </p:txBody>
      </p:sp>
      <p:sp>
        <p:nvSpPr>
          <p:cNvPr id="4" name="slide2_shape2"/>
          <p:cNvSpPr/>
          <p:nvPr>
            <p:ph idx="1"/>
          </p:nvPr>
        </p:nvSpPr>
        <p:spPr>
          <a:xfrm>
            <a:off x="471488" y="1798319"/>
            <a:ext cx="5915025" cy="9744567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Budget Constraint: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The limit on the consumption bundles that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 consumer can afford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300" b="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300" b="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The slope of the </a:t>
            </a:r>
            <a:r>
              <a:rPr altLang="ko-KR" sz="1300" b="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budget constraint </a:t>
            </a:r>
            <a:r>
              <a:rPr altLang="ko-KR" sz="1300" b="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equals the </a:t>
            </a:r>
            <a:r>
              <a:rPr altLang="ko-KR" sz="1300" b="1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relative </a:t>
            </a:r>
            <a:r>
              <a:rPr altLang="ko-KR" sz="1300" b="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price of the good </a:t>
            </a:r>
            <a:r>
              <a:rPr altLang="ko-KR" sz="1300" b="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on the X axis.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A fall in income </a:t>
            </a: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shifts the budget constraint</a:t>
            </a: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 down.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An increase in the </a:t>
            </a: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price of one good </a:t>
            </a: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pivots the budget</a:t>
            </a: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constraint  inward.</a:t>
            </a:r>
          </a:p>
          <a:p>
            <a:pPr algn="l" marL="0" lvl="0">
              <a:lnSpc>
                <a:spcPct val="160000"/>
              </a:lnSpc>
              <a:spcBef>
                <a:spcPts val="275"/>
              </a:spcBef>
              <a:buNone/>
            </a:pPr>
            <a:r>
              <a:rPr altLang="ko-KR" sz="1100">
                <a:latin typeface="+mn-ea"/>
                <a:ea typeface="+mn-ea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Preferences and</a:t>
            </a: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Indifference curve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 b="1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Indifference curve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: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shows consumption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bundles that give the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consumer the same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level of satisfaction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latin typeface="+mn-cs"/>
              </a:rPr>
              <a:t>Consumer is indifferent between them.</a:t>
            </a:r>
          </a:p>
          <a:p>
            <a:pPr algn="l" marL="0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300" b="1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Four Properties of Indifference Curves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sym typeface="+mn-cs"/>
              </a:rPr>
              <a:t>①</a:t>
            </a: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Indifference curves are downwardsloping.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sym typeface="+mn-cs"/>
              </a:rPr>
              <a:t>②</a:t>
            </a: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Higher indifference curves are preferred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to lower ones.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sym typeface="+mn-cs"/>
              </a:rPr>
              <a:t>③</a:t>
            </a:r>
            <a:r>
              <a:rPr lang="en-US" altLang="ko-KR" sz="1100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Indifference curves cannot cross.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en-US" altLang="ko-KR" sz="1100" b="1">
                <a:solidFill>
                  <a:schemeClr val="tx1">
                    <a:alpha val="100000"/>
                  </a:schemeClr>
                </a:solidFill>
                <a:sym typeface="+mn-cs"/>
              </a:rPr>
              <a:t>④</a:t>
            </a:r>
            <a:r>
              <a:rPr lang="en-US" altLang="ko-KR" sz="1100" b="1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  <a:r>
              <a:rPr altLang="ko-KR" sz="1100" b="1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Indifference curves are bowed inward.</a:t>
            </a:r>
          </a:p>
          <a:p>
            <a:pPr algn="l" marL="0" lvl="0">
              <a:lnSpc>
                <a:spcPct val="160000"/>
              </a:lnSpc>
              <a:spcBef>
                <a:spcPts val="275"/>
              </a:spcBef>
              <a:buNone/>
            </a:pPr>
            <a:r>
              <a:rPr altLang="ko-KR" sz="875">
                <a:latin typeface="+mn-ea"/>
                <a:ea typeface="+mn-ea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300" b="1">
                <a:solidFill>
                  <a:schemeClr val="tx1">
                    <a:alpha val="100000"/>
                  </a:schemeClr>
                </a:solidFill>
                <a:latin typeface="+mn-cs"/>
              </a:rPr>
              <a:t>Marginal Rate of Substitution, MRS = </a:t>
            </a:r>
            <a:r>
              <a:rPr altLang="ko-KR" sz="1300" b="1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Slope of </a:t>
            </a:r>
            <a:r>
              <a:rPr altLang="ko-KR" sz="1300" b="1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indifference curve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the rate at which a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consumer is willing to t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rade one good for another.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MRS falls as you </a:t>
            </a: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move down along</a:t>
            </a: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an indifference curve.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>Perfect substitute vs. Perfect complements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/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/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rgbClr val="000000"/>
                </a:solidFill>
                <a:latin typeface="Arial"/>
                <a:ea typeface="Arial"/>
              </a:rPr>
              <a:t/>
            </a:r>
          </a:p>
        </p:txBody>
      </p:sp>
      <p:sp>
        <p:nvSpPr>
          <p:cNvPr id="5" name="slide2_shape3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marL="0" defTabSz="914400" latinLnBrk="1">
              <a:lnSpc>
                <a:spcPct val="100000"/>
              </a:lnSpc>
            </a:pPr>
            <a:fld type="slidenum" id="{4BEDD84E-25D4-4983-8AA1-2863C96F08D9}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3_shape1"/>
          <p:cNvSpPr/>
          <p:nvPr>
            <p:ph idx="1"/>
          </p:nvPr>
        </p:nvSpPr>
        <p:spPr>
          <a:xfrm>
            <a:off x="500063" y="893443"/>
            <a:ext cx="5915025" cy="10708007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Extreme Cases</a:t>
            </a:r>
          </a:p>
          <a:p>
            <a:pPr algn="l" marL="38735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075" b="0">
                <a:solidFill>
                  <a:schemeClr val="tx1">
                    <a:alpha val="100000"/>
                  </a:schemeClr>
                </a:solidFill>
                <a:ea typeface="+mn-cs"/>
              </a:rPr>
              <a:t>Perfect substitutes</a:t>
            </a:r>
          </a:p>
          <a:p>
            <a:pPr algn="l" marL="38735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075">
                <a:latin typeface="+mn-ea"/>
                <a:ea typeface="+mn-ea"/>
              </a:rPr>
              <a:t>Perfect complements</a:t>
            </a:r>
          </a:p>
          <a:p>
            <a:pPr algn="l" marL="38735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075">
                <a:solidFill>
                  <a:schemeClr val="tx1">
                    <a:alpha val="100000"/>
                  </a:schemeClr>
                </a:solidFill>
                <a:ea typeface="+mn-cs"/>
              </a:rPr>
              <a:t>Close substitutes and close complements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300" b="1">
                <a:solidFill>
                  <a:schemeClr val="tx1">
                    <a:alpha val="100000"/>
                  </a:schemeClr>
                </a:solidFill>
                <a:latin typeface="+mn-cs"/>
              </a:rPr>
              <a:t>Optimization</a:t>
            </a: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: What the consumer chooses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The optimum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is the bundle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Hurley most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prefers out of </a:t>
            </a: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all the bundles</a:t>
            </a:r>
            <a:br>
              <a:rPr lang="en-US" altLang="ko-KR"/>
            </a:br>
            <a:r>
              <a:rPr altLang="ko-KR" sz="11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he can afford.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At the optimum, </a:t>
            </a: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slope of the </a:t>
            </a: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indifference curve </a:t>
            </a: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equals slope of the</a:t>
            </a:r>
            <a:br>
              <a:rPr lang="en-US" altLang="ko-KR"/>
            </a:b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budget constraint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en-US" altLang="ko-KR" sz="1300" b="1">
                <a:solidFill>
                  <a:schemeClr val="tx1">
                    <a:alpha val="100000"/>
                  </a:schemeClr>
                </a:solidFill>
                <a:latin typeface="+mn-cs"/>
              </a:rPr>
              <a:t>MRS = P</a:t>
            </a:r>
            <a:r>
              <a:rPr lang="en-US" altLang="ko-KR" sz="1300" b="1" baseline="-25000">
                <a:solidFill>
                  <a:schemeClr val="tx1">
                    <a:alpha val="100000"/>
                  </a:schemeClr>
                </a:solidFill>
                <a:latin typeface="+mn-cs"/>
              </a:rPr>
              <a:t>F </a:t>
            </a:r>
            <a:r>
              <a:rPr lang="en-US" altLang="ko-KR" sz="1300" b="1">
                <a:solidFill>
                  <a:schemeClr val="tx1">
                    <a:alpha val="100000"/>
                  </a:schemeClr>
                </a:solidFill>
                <a:latin typeface="+mn-cs"/>
              </a:rPr>
              <a:t>/ P</a:t>
            </a:r>
            <a:r>
              <a:rPr lang="en-US" altLang="ko-KR" sz="1300" b="1" baseline="-25000">
                <a:solidFill>
                  <a:schemeClr val="tx1">
                    <a:alpha val="100000"/>
                  </a:schemeClr>
                </a:solidFill>
                <a:latin typeface="+mn-cs"/>
              </a:rPr>
              <a:t>M 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00">
                <a:latin typeface="+mn-ea"/>
                <a:ea typeface="+mn-ea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 b="1">
                <a:solidFill>
                  <a:schemeClr val="tx1">
                    <a:alpha val="100000"/>
                  </a:schemeClr>
                </a:solidFill>
                <a:ea typeface="+mn-cs"/>
              </a:rPr>
              <a:t>Effects of an increase in income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100">
                <a:solidFill>
                  <a:schemeClr val="tx1">
                    <a:alpha val="100000"/>
                  </a:schemeClr>
                </a:solidFill>
                <a:ea typeface="+mn-cs"/>
              </a:rPr>
              <a:t>Normal goods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100">
                <a:solidFill>
                  <a:schemeClr val="tx1">
                    <a:alpha val="100000"/>
                  </a:schemeClr>
                </a:solidFill>
                <a:ea typeface="+mn-cs"/>
              </a:rPr>
              <a:t>Inferior goods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 b="1">
                <a:solidFill>
                  <a:schemeClr val="tx1">
                    <a:alpha val="100000"/>
                  </a:schemeClr>
                </a:solidFill>
                <a:ea typeface="+mn-cs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 b="1">
                <a:solidFill>
                  <a:schemeClr val="tx1">
                    <a:alpha val="100000"/>
                  </a:schemeClr>
                </a:solidFill>
                <a:ea typeface="+mn-cs"/>
              </a:rPr>
              <a:t>Effects of a price change </a:t>
            </a:r>
          </a:p>
          <a:p>
            <a:pPr algn="l" marL="708025" indent="-234950" lvl="1">
              <a:lnSpc>
                <a:spcPct val="160000"/>
              </a:lnSpc>
              <a:spcBef>
                <a:spcPts val="500"/>
              </a:spcBef>
              <a:buFont typeface="Arial" pitchFamily="2" charset="2"/>
              <a:buChar char="•"/>
            </a:pPr>
            <a:r>
              <a:rPr lang="ko-KR" altLang="ko-KR" sz="1200">
                <a:solidFill>
                  <a:srgbClr val="000000"/>
                </a:solidFill>
                <a:ea typeface="맑은 고딕"/>
              </a:rPr>
              <a:t>Income effects</a:t>
            </a:r>
          </a:p>
          <a:p>
            <a:pPr algn="l" marL="708025" indent="-234950" lvl="1">
              <a:lnSpc>
                <a:spcPct val="160000"/>
              </a:lnSpc>
              <a:spcBef>
                <a:spcPts val="500"/>
              </a:spcBef>
              <a:buFont typeface="Arial" pitchFamily="2" charset="2"/>
              <a:buChar char="•"/>
            </a:pPr>
            <a:r>
              <a:rPr lang="ko-KR" altLang="ko-KR" sz="1200">
                <a:solidFill>
                  <a:srgbClr val="000000"/>
                </a:solidFill>
                <a:ea typeface="맑은 고딕"/>
              </a:rPr>
              <a:t>Substitution effect</a:t>
            </a:r>
          </a:p>
          <a:p>
            <a:pPr algn="l" marL="708025" indent="-234950" lvl="1">
              <a:lnSpc>
                <a:spcPct val="160000"/>
              </a:lnSpc>
              <a:spcBef>
                <a:spcPts val="500"/>
              </a:spcBef>
              <a:buFont typeface="Arial" pitchFamily="2" charset="2"/>
              <a:buChar char="•"/>
            </a:pPr>
            <a:r>
              <a:rPr lang="ko-KR" altLang="ko-KR" sz="1200">
                <a:solidFill>
                  <a:srgbClr val="000000"/>
                </a:solidFill>
                <a:ea typeface="맑은 고딕"/>
              </a:rPr>
              <a:t/>
            </a:r>
          </a:p>
          <a:p>
            <a:pPr algn="l" marL="288925" indent="-288925" lvl="0">
              <a:lnSpc>
                <a:spcPct val="160000"/>
              </a:lnSpc>
              <a:spcBef>
                <a:spcPts val="1200"/>
              </a:spcBef>
              <a:buFont typeface="Arial" pitchFamily="2" charset="2"/>
              <a:buChar char="•"/>
            </a:pPr>
            <a:r>
              <a:rPr lang="ko-KR" altLang="ko-KR" sz="1200" b="1">
                <a:solidFill>
                  <a:srgbClr val="000000"/>
                </a:solidFill>
                <a:ea typeface="맑은 고딕"/>
              </a:rPr>
              <a:t>Application 1: Giffen goods</a:t>
            </a:r>
          </a:p>
          <a:p>
            <a:pPr algn="l" marL="288925" indent="-288925" lvl="0">
              <a:lnSpc>
                <a:spcPct val="160000"/>
              </a:lnSpc>
              <a:spcBef>
                <a:spcPts val="1200"/>
              </a:spcBef>
              <a:buFont typeface="Arial" pitchFamily="2" charset="2"/>
              <a:buChar char="•"/>
            </a:pPr>
            <a:r>
              <a:rPr lang="ko-KR" altLang="ko-KR" sz="1200" b="1">
                <a:solidFill>
                  <a:srgbClr val="000000"/>
                </a:solidFill>
                <a:ea typeface="맑은 고딕"/>
              </a:rPr>
              <a:t>Application 2: Wages and labor supply</a:t>
            </a:r>
          </a:p>
          <a:p>
            <a:pPr algn="l" marL="288925" indent="-288925" lvl="0">
              <a:lnSpc>
                <a:spcPct val="160000"/>
              </a:lnSpc>
              <a:spcBef>
                <a:spcPts val="1200"/>
              </a:spcBef>
              <a:buFont typeface="Arial" pitchFamily="2" charset="2"/>
              <a:buChar char="•"/>
            </a:pPr>
            <a:r>
              <a:rPr lang="ko-KR" altLang="ko-KR" sz="1200" b="1">
                <a:solidFill>
                  <a:srgbClr val="000000"/>
                </a:solidFill>
                <a:ea typeface="맑은 고딕"/>
              </a:rPr>
              <a:t>Application 3: Interest rates and saving</a:t>
            </a:r>
          </a:p>
          <a:p>
            <a:pPr marL="0" lvl="0">
              <a:lnSpc>
                <a:spcPct val="100000"/>
              </a:lnSpc>
              <a:buNone/>
            </a:pPr>
            <a:endParaRPr lang="ko-KR" altLang="en-US"/>
          </a:p>
          <a:p>
            <a:pPr algn="l" marL="0" lvl="0">
              <a:lnSpc>
                <a:spcPct val="100000"/>
              </a:lnSpc>
              <a:buFont typeface="Arial" pitchFamily="2" charset="2"/>
              <a:buChar char="•"/>
            </a:pPr>
            <a:r>
              <a:rPr altLang="ko-KR" sz="1200">
                <a:latin typeface="+mn-ea"/>
                <a:ea typeface="+mn-ea"/>
              </a:rPr>
              <a:t/>
            </a:r>
          </a:p>
          <a:p>
            <a:pPr algn="l" marL="257175" lvl="0">
              <a:lnSpc>
                <a:spcPct val="160000"/>
              </a:lnSpc>
              <a:spcBef>
                <a:spcPts val="275"/>
              </a:spcBef>
              <a:buNone/>
            </a:pPr>
            <a:endParaRPr lang="ko-KR" altLang="en-US"/>
          </a:p>
          <a:p>
            <a:pPr algn="l" marL="285750" lvl="0">
              <a:lnSpc>
                <a:spcPct val="160000"/>
              </a:lnSpc>
              <a:spcBef>
                <a:spcPts val="300"/>
              </a:spcBef>
              <a:buNone/>
            </a:pPr>
            <a:r>
              <a:rPr lang="en-US" altLang="ko-KR" sz="12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257175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075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257175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075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257175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075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257175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075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</p:txBody>
      </p:sp>
      <p:sp>
        <p:nvSpPr>
          <p:cNvPr id="4" name="slide3_shape2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marL="0" defTabSz="914400" latinLnBrk="1">
              <a:lnSpc>
                <a:spcPct val="100000"/>
              </a:lnSpc>
            </a:pPr>
            <a:fld type="slidenum" id="{4BEDD84E-25D4-4983-8AA1-2863C96F08D9}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3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 xmlns:a="http://schemas.openxmlformats.org/drawingml/2006/main">
          <a:effectLst/>
        </a:effectStyle>
        <a:effectStyle xmlns:a="http://schemas.openxmlformats.org/drawingml/2006/main">
          <a:effectLst/>
        </a:effectStyle>
        <a:effectStyle xmlns:a="http://schemas.openxmlformats.org/drawingml/2006/main"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</a:theme>
</file>

<file path=ppt/theme/theme2.xml><?xml version="1.0" encoding="utf-8"?>
<a:theme xmlns:a="http://schemas.openxmlformats.org/drawingml/2006/main" name="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 xmlns:a="http://schemas.openxmlformats.org/drawingml/2006/main">
          <a:effectLst/>
        </a:effectStyle>
        <a:effectStyle xmlns:a="http://schemas.openxmlformats.org/drawingml/2006/main">
          <a:effectLst/>
        </a:effectStyle>
        <a:effectStyle xmlns:a="http://schemas.openxmlformats.org/drawingml/2006/main"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Company>사이냅소프트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choyong4(choyong4)</cp:lastModifiedBy>
  <dcterms:modified xsi:type="dcterms:W3CDTF">2021-11-16T09:49:56Z</dcterms:modified>
</cp:coreProperties>
</file>