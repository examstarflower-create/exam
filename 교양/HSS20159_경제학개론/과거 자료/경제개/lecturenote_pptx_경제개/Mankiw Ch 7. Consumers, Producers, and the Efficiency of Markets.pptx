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</p:sldIdLst>
  <p:sldSz cx="6858000" cy="12192000"/>
  <p:notesSz cx="6858000" cy="9144000"/>
  <p:defaultTextStyle>
    <a:defPPr>
      <a:defRPr lang="ko-KR"/>
    </a:defPPr>
    <a:lvl1pPr marL="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latinLnBrk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346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_shape1"/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  <a:prstGeom prst="rect">
            <a:avLst/>
          </a:prstGeom>
        </p:spPr>
        <p:txBody>
          <a:bodyPr anchor="b"/>
          <a:lstStyle>
            <a:lvl1pPr algn="ctr">
              <a:defRPr sz="3375"/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1_shape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ko-KR" altLang="en-US"/>
              <a:t>클릭하여</a:t>
            </a:r>
            <a:r>
              <a:rPr lang="en-US" altLang="en-US"/>
              <a:t> </a:t>
            </a:r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부제목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1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2023-03-13</a:t>
            </a:fld>
            <a:endParaRPr/>
          </a:p>
        </p:txBody>
      </p:sp>
      <p:sp>
        <p:nvSpPr>
          <p:cNvPr id="6" name="layout1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layout1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2_shape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2_shape2"/>
          <p:cNvSpPr>
            <a:spLocks noGrp="1"/>
          </p:cNvSpPr>
          <p:nvPr>
            <p:ph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2_shape3"/>
          <p:cNvSpPr>
            <a:spLocks noGrp="1"/>
          </p:cNvSpPr>
          <p:nvPr>
            <p:ph type="dt" sz="half" idx="10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A658C7C3-8D3A-4C0D-B60E-240C4DE6BC36}" type="datetime1">
              <a:rPr lang="en-US" altLang="ko-KR" sz="675">
                <a:solidFill>
                  <a:schemeClr val="tx1">
                    <a:tint val="75000"/>
                  </a:schemeClr>
                </a:solidFill>
              </a:rPr>
              <a:t>2023-03-13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layout2_shape4"/>
          <p:cNvSpPr>
            <a:spLocks noGrp="1"/>
          </p:cNvSpPr>
          <p:nvPr>
            <p:ph type="ftr" sz="quarter" idx="11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layout2_shape5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4BEDD84E-25D4-4983-8AA1-2863C96F08D9}" type="slidenum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3_shape1"/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  <a:prstGeom prst="rect">
            <a:avLst/>
          </a:prstGeom>
        </p:spPr>
        <p:txBody>
          <a:bodyPr anchor="b"/>
          <a:lstStyle>
            <a:lvl1pPr>
              <a:defRPr sz="3375"/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3_shape2"/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3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2023-03-13</a:t>
            </a:fld>
            <a:endParaRPr/>
          </a:p>
        </p:txBody>
      </p:sp>
      <p:sp>
        <p:nvSpPr>
          <p:cNvPr id="6" name="layout3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layout3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4_shape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4_shape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4_shape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6" name="layout4_shape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2023-03-13</a:t>
            </a:fld>
            <a:endParaRPr/>
          </a:p>
        </p:txBody>
      </p:sp>
      <p:sp>
        <p:nvSpPr>
          <p:cNvPr id="7" name="layout4_shape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layout4_shape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5_shape1"/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5_shape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5" name="layout5_shape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6" name="layout5_shape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7" name="layout5_shape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8" name="layout5_shape6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2023-03-13</a:t>
            </a:fld>
            <a:endParaRPr/>
          </a:p>
        </p:txBody>
      </p:sp>
      <p:sp>
        <p:nvSpPr>
          <p:cNvPr id="9" name="layout5_shape7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" name="layout5_shape8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6_shape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6_shape2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2023-03-13</a:t>
            </a:fld>
            <a:endParaRPr/>
          </a:p>
        </p:txBody>
      </p:sp>
      <p:sp>
        <p:nvSpPr>
          <p:cNvPr id="5" name="layout6_shape3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layout6_shape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7_shape1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2023-03-13</a:t>
            </a:fld>
            <a:endParaRPr/>
          </a:p>
        </p:txBody>
      </p:sp>
      <p:sp>
        <p:nvSpPr>
          <p:cNvPr id="4" name="layout7_shape2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layout7_shape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8_shape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8_shape2"/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8_shape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8_shape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2023-03-13</a:t>
            </a:fld>
            <a:endParaRPr/>
          </a:p>
        </p:txBody>
      </p:sp>
      <p:sp>
        <p:nvSpPr>
          <p:cNvPr id="7" name="layout8_shape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layout8_shape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9_shape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  <a:prstGeom prst="rect">
            <a:avLst/>
          </a:prstGeom>
        </p:spPr>
        <p:txBody>
          <a:bodyPr anchor="b"/>
          <a:lstStyle>
            <a:lvl1pPr>
              <a:defRPr sz="1800"/>
            </a:lvl1pPr>
          </a:lstStyle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9_shape2"/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/>
          </a:p>
        </p:txBody>
      </p:sp>
      <p:sp>
        <p:nvSpPr>
          <p:cNvPr id="5" name="layout9_shape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6" name="layout9_shape4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2023-03-13</a:t>
            </a:fld>
            <a:endParaRPr/>
          </a:p>
        </p:txBody>
      </p:sp>
      <p:sp>
        <p:nvSpPr>
          <p:cNvPr id="7" name="layout9_shape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layout9_shape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0_shape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10_shape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10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2023-03-13</a:t>
            </a:fld>
            <a:endParaRPr/>
          </a:p>
        </p:txBody>
      </p:sp>
      <p:sp>
        <p:nvSpPr>
          <p:cNvPr id="6" name="layout10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layout10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ayout11_shape1"/>
          <p:cNvSpPr>
            <a:spLocks noGrp="1"/>
          </p:cNvSpPr>
          <p:nvPr>
            <p:ph type="title"/>
          </p:nvPr>
        </p:nvSpPr>
        <p:spPr>
          <a:xfrm>
            <a:off x="4907756" y="649111"/>
            <a:ext cx="1478756" cy="10332156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layout11_shape2"/>
          <p:cNvSpPr>
            <a:spLocks noGrp="1"/>
          </p:cNvSpPr>
          <p:nvPr>
            <p:ph type="body" idx="1"/>
          </p:nvPr>
        </p:nvSpPr>
        <p:spPr>
          <a:xfrm>
            <a:off x="471487" y="649111"/>
            <a:ext cx="4350544" cy="1033215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layout11_shape3"/>
          <p:cNvSpPr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/>
          <a:lstStyle/>
          <a:p>
            <a:fld id="{A658C7C3-8D3A-4C0D-B60E-240C4DE6BC36}" type="datetime1">
              <a:rPr lang="en-US" altLang="ko-KR"/>
              <a:t>2023-03-13</a:t>
            </a:fld>
            <a:endParaRPr/>
          </a:p>
        </p:txBody>
      </p:sp>
      <p:sp>
        <p:nvSpPr>
          <p:cNvPr id="6" name="layout11_shape4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layout11_shape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4BEDD84E-25D4-4983-8AA1-2863C96F08D9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ster1_shape1"/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제목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</p:txBody>
      </p:sp>
      <p:sp>
        <p:nvSpPr>
          <p:cNvPr id="4" name="master1_shape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ko-KR" altLang="en-US"/>
              <a:t>마스터</a:t>
            </a:r>
            <a:r>
              <a:rPr lang="en-US" altLang="en-US"/>
              <a:t> </a:t>
            </a:r>
            <a:r>
              <a:rPr lang="ko-KR" altLang="en-US"/>
              <a:t>텍스트</a:t>
            </a:r>
            <a:r>
              <a:rPr lang="en-US" altLang="en-US"/>
              <a:t> </a:t>
            </a:r>
            <a:r>
              <a:rPr lang="ko-KR" altLang="en-US"/>
              <a:t>스타일</a:t>
            </a:r>
            <a:r>
              <a:rPr lang="en-US" altLang="en-US"/>
              <a:t> </a:t>
            </a:r>
            <a:r>
              <a:rPr lang="ko-KR" altLang="en-US"/>
              <a:t>편집</a:t>
            </a:r>
          </a:p>
          <a:p>
            <a:pPr lvl="1"/>
            <a:r>
              <a:rPr lang="ko-KR" altLang="en-US"/>
              <a:t>둘째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2"/>
            <a:r>
              <a:rPr lang="ko-KR" altLang="en-US"/>
              <a:t>셋째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3"/>
            <a:r>
              <a:rPr lang="ko-KR" altLang="en-US"/>
              <a:t>넷째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  <a:p>
            <a:pPr lvl="4"/>
            <a:r>
              <a:rPr lang="ko-KR" altLang="en-US"/>
              <a:t>다섯째</a:t>
            </a:r>
            <a:r>
              <a:rPr lang="en-US" altLang="en-US"/>
              <a:t> </a:t>
            </a:r>
            <a:r>
              <a:rPr lang="ko-KR" altLang="en-US"/>
              <a:t>수준</a:t>
            </a:r>
          </a:p>
        </p:txBody>
      </p:sp>
      <p:sp>
        <p:nvSpPr>
          <p:cNvPr id="5" name="master1_shape3"/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A658C7C3-8D3A-4C0D-B60E-240C4DE6BC36}" type="datetime1">
              <a:rPr lang="en-US" altLang="ko-KR" sz="675">
                <a:solidFill>
                  <a:schemeClr val="tx1">
                    <a:tint val="75000"/>
                  </a:schemeClr>
                </a:solidFill>
              </a:rPr>
              <a:t>2023-03-13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6" name="master1_shape4"/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7" name="master1_shape5"/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4BEDD84E-25D4-4983-8AA1-2863C96F08D9}" type="slidenum">
              <a:rPr lang="ko-KR" sz="675">
                <a:solidFill>
                  <a:schemeClr val="tx1">
                    <a:tint val="75000"/>
                  </a:schemeClr>
                </a:solidFill>
              </a:rPr>
              <a:t>‹#›</a:t>
            </a:fld>
            <a:endParaRPr sz="675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defTabSz="514350" latinLnBrk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latinLnBrk="1">
        <a:lnSpc>
          <a:spcPct val="90000"/>
        </a:lnSpc>
        <a:spcBef>
          <a:spcPts val="563"/>
        </a:spcBef>
        <a:buFont typeface="Arial" pitchFamily="2" charset="2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latinLnBrk="1">
        <a:lnSpc>
          <a:spcPct val="90000"/>
        </a:lnSpc>
        <a:spcBef>
          <a:spcPts val="281"/>
        </a:spcBef>
        <a:buFont typeface="Arial" pitchFamily="2" charset="2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latinLnBrk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1_shape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1149206"/>
          </a:xfrm>
          <a:prstGeom prst="rect">
            <a:avLst/>
          </a:prstGeom>
        </p:spPr>
        <p:txBody>
          <a:bodyPr lIns="91440" tIns="45720" rIns="91440" bIns="45720" anchor="ctr"/>
          <a:lstStyle/>
          <a:p>
            <a:pPr algn="l" defTabSz="514350" latinLnBrk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2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</a:t>
            </a:r>
            <a:r>
              <a:rPr lang="en-US" altLang="ko-KR" sz="2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7. Consumers, Producers, and the Efficiency of Markets</a:t>
            </a:r>
            <a:endParaRPr sz="2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1_shape2"/>
          <p:cNvSpPr>
            <a:spLocks noGrp="1"/>
          </p:cNvSpPr>
          <p:nvPr>
            <p:ph idx="1"/>
          </p:nvPr>
        </p:nvSpPr>
        <p:spPr>
          <a:xfrm>
            <a:off x="471488" y="1887481"/>
            <a:ext cx="5915025" cy="989715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marL="139700" lvl="0" indent="-139700" algn="l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lang="en-US" altLang="ko-KR" sz="1300" u="sng" dirty="0" smtClean="0">
                <a:solidFill>
                  <a:schemeClr val="tx1">
                    <a:alpha val="100000"/>
                  </a:schemeClr>
                </a:solidFill>
              </a:rPr>
              <a:t>Willingness </a:t>
            </a:r>
            <a:r>
              <a:rPr lang="en-US" altLang="ko-KR" sz="1300" u="sng" dirty="0">
                <a:solidFill>
                  <a:schemeClr val="tx1">
                    <a:alpha val="100000"/>
                  </a:schemeClr>
                </a:solidFill>
              </a:rPr>
              <a:t>to Pay(WTP)</a:t>
            </a:r>
          </a:p>
          <a:p>
            <a:pPr lvl="0" algn="l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FontTx/>
              <a:buChar char="-"/>
            </a:pP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Maximum </a:t>
            </a:r>
            <a:r>
              <a:rPr altLang="ko-KR" sz="1300" dirty="0">
                <a:solidFill>
                  <a:schemeClr val="tx1">
                    <a:alpha val="100000"/>
                  </a:schemeClr>
                </a:solidFill>
                <a:ea typeface="Arial"/>
              </a:rPr>
              <a:t>amount the buyer will pay for that </a:t>
            </a: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good</a:t>
            </a:r>
            <a:endParaRPr lang="en-US" altLang="ko-KR" sz="1300" dirty="0" smtClean="0">
              <a:solidFill>
                <a:schemeClr val="tx1">
                  <a:alpha val="100000"/>
                </a:schemeClr>
              </a:solidFill>
              <a:ea typeface="Arial"/>
            </a:endParaRPr>
          </a:p>
          <a:p>
            <a:pPr lvl="0" algn="l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FontTx/>
              <a:buChar char="-"/>
            </a:pP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How </a:t>
            </a:r>
            <a:r>
              <a:rPr altLang="ko-KR" sz="1300" dirty="0">
                <a:solidFill>
                  <a:schemeClr val="tx1">
                    <a:alpha val="100000"/>
                  </a:schemeClr>
                </a:solidFill>
                <a:ea typeface="Arial"/>
              </a:rPr>
              <a:t>much the buyer values the </a:t>
            </a: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good</a:t>
            </a:r>
            <a:endParaRPr lang="en-US" altLang="ko-KR" sz="1300" dirty="0" smtClean="0">
              <a:solidFill>
                <a:schemeClr val="tx1">
                  <a:alpha val="100000"/>
                </a:schemeClr>
              </a:solidFill>
              <a:ea typeface="Arial"/>
            </a:endParaRPr>
          </a:p>
          <a:p>
            <a:pPr lvl="0" algn="l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FontTx/>
              <a:buChar char="-"/>
            </a:pP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WTP </a:t>
            </a:r>
            <a:r>
              <a:rPr altLang="ko-KR" sz="1300" dirty="0">
                <a:solidFill>
                  <a:schemeClr val="tx1">
                    <a:alpha val="100000"/>
                  </a:schemeClr>
                </a:solidFill>
                <a:ea typeface="Arial"/>
              </a:rPr>
              <a:t>and demand curve : If there were a huge # of buyers, as in a competitive market, there would be a huge # of very tiny steps, and it would look more like a smooth </a:t>
            </a: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curve.</a:t>
            </a:r>
            <a:endParaRPr lang="en-US" altLang="ko-KR" sz="1300" dirty="0" smtClean="0">
              <a:solidFill>
                <a:schemeClr val="tx1">
                  <a:alpha val="100000"/>
                </a:schemeClr>
              </a:solidFill>
              <a:ea typeface="Arial"/>
            </a:endParaRPr>
          </a:p>
          <a:p>
            <a:pPr lvl="0" algn="l"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FontTx/>
              <a:buChar char="-"/>
            </a:pP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At </a:t>
            </a:r>
            <a:r>
              <a:rPr altLang="ko-KR" sz="1300" dirty="0">
                <a:solidFill>
                  <a:schemeClr val="tx1">
                    <a:alpha val="100000"/>
                  </a:schemeClr>
                </a:solidFill>
                <a:ea typeface="Arial"/>
              </a:rPr>
              <a:t>any Q, the height of the D curve is the WTP of the marginal buyer, the buyer who would leave the market if P were any higher.</a:t>
            </a:r>
          </a:p>
          <a:p>
            <a:pPr marL="139700" lvl="0" indent="-139700" algn="l">
              <a:lnSpc>
                <a:spcPct val="150000"/>
              </a:lnSpc>
              <a:spcBef>
                <a:spcPts val="600"/>
              </a:spcBef>
              <a:buFont typeface="Arial" pitchFamily="2" charset="2"/>
              <a:buChar char="•"/>
            </a:pPr>
            <a:r>
              <a:rPr lang="en-US" altLang="ko-KR" sz="1300" u="sng" dirty="0" smtClean="0">
                <a:solidFill>
                  <a:schemeClr val="tx1">
                    <a:alpha val="100000"/>
                  </a:schemeClr>
                </a:solidFill>
              </a:rPr>
              <a:t>Consumer </a:t>
            </a:r>
            <a:r>
              <a:rPr lang="en-US" altLang="ko-KR" sz="1300" u="sng" dirty="0">
                <a:solidFill>
                  <a:schemeClr val="tx1">
                    <a:alpha val="100000"/>
                  </a:schemeClr>
                </a:solidFill>
              </a:rPr>
              <a:t>Surplus CS = WTP - P</a:t>
            </a:r>
          </a:p>
          <a:p>
            <a:pPr lvl="0" algn="l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Amount </a:t>
            </a:r>
            <a:r>
              <a:rPr altLang="ko-KR" sz="1300" dirty="0">
                <a:solidFill>
                  <a:schemeClr val="tx1">
                    <a:alpha val="100000"/>
                  </a:schemeClr>
                </a:solidFill>
                <a:ea typeface="Arial"/>
              </a:rPr>
              <a:t>a buyer is willing to pay minus the amount the buyer actually pays... Buyers' gains from participating in the </a:t>
            </a: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market</a:t>
            </a:r>
            <a:endParaRPr lang="en-US" altLang="ko-KR" sz="1300" dirty="0" smtClean="0">
              <a:solidFill>
                <a:schemeClr val="tx1">
                  <a:alpha val="100000"/>
                </a:schemeClr>
              </a:solidFill>
              <a:ea typeface="Arial"/>
            </a:endParaRPr>
          </a:p>
          <a:p>
            <a:pPr lvl="0" algn="l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CS </a:t>
            </a:r>
            <a:r>
              <a:rPr altLang="ko-KR" sz="1300" dirty="0">
                <a:solidFill>
                  <a:schemeClr val="tx1">
                    <a:alpha val="100000"/>
                  </a:schemeClr>
                </a:solidFill>
                <a:ea typeface="Arial"/>
              </a:rPr>
              <a:t>is the area between P and the D </a:t>
            </a: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curve</a:t>
            </a:r>
            <a:endParaRPr lang="en-US" altLang="ko-KR" sz="1300" dirty="0" smtClean="0">
              <a:solidFill>
                <a:schemeClr val="tx1">
                  <a:alpha val="100000"/>
                </a:schemeClr>
              </a:solidFill>
              <a:ea typeface="Arial"/>
            </a:endParaRPr>
          </a:p>
          <a:p>
            <a:pPr lvl="0" algn="l"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A </a:t>
            </a:r>
            <a:r>
              <a:rPr altLang="ko-KR" sz="1300" dirty="0">
                <a:solidFill>
                  <a:schemeClr val="tx1">
                    <a:alpha val="100000"/>
                  </a:schemeClr>
                </a:solidFill>
                <a:ea typeface="Arial"/>
              </a:rPr>
              <a:t>higher price reduces Consumer surplus. </a:t>
            </a:r>
          </a:p>
          <a:p>
            <a:pPr marL="0" lvl="0" indent="0"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- </a:t>
            </a: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Two </a:t>
            </a:r>
            <a:r>
              <a:rPr altLang="ko-KR" sz="1300" dirty="0">
                <a:solidFill>
                  <a:schemeClr val="tx1">
                    <a:alpha val="100000"/>
                  </a:schemeClr>
                </a:solidFill>
                <a:ea typeface="Arial"/>
              </a:rPr>
              <a:t>reasons for the fall in CS. </a:t>
            </a:r>
          </a:p>
          <a:p>
            <a:pPr marL="0" lvl="0" indent="0"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   </a:t>
            </a: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1</a:t>
            </a:r>
            <a:r>
              <a:rPr altLang="ko-KR" sz="1300" dirty="0">
                <a:solidFill>
                  <a:schemeClr val="tx1">
                    <a:alpha val="100000"/>
                  </a:schemeClr>
                </a:solidFill>
                <a:ea typeface="Arial"/>
              </a:rPr>
              <a:t>. Fall in CS due to buyers leaving the market </a:t>
            </a:r>
          </a:p>
          <a:p>
            <a:pPr marL="0" lvl="0" indent="0" algn="l">
              <a:lnSpc>
                <a:spcPct val="150000"/>
              </a:lnSpc>
              <a:spcBef>
                <a:spcPts val="600"/>
              </a:spcBef>
              <a:buNone/>
            </a:pPr>
            <a:r>
              <a:rPr lang="en-US"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   </a:t>
            </a:r>
            <a:r>
              <a:rPr altLang="ko-KR" sz="1300" dirty="0" smtClean="0">
                <a:solidFill>
                  <a:schemeClr val="tx1">
                    <a:alpha val="100000"/>
                  </a:schemeClr>
                </a:solidFill>
                <a:ea typeface="Arial"/>
              </a:rPr>
              <a:t>2</a:t>
            </a:r>
            <a:r>
              <a:rPr altLang="ko-KR" sz="1300" dirty="0">
                <a:solidFill>
                  <a:schemeClr val="tx1">
                    <a:alpha val="100000"/>
                  </a:schemeClr>
                </a:solidFill>
                <a:ea typeface="Arial"/>
              </a:rPr>
              <a:t>. Fall in CS due to remaining buyers paying higher P</a:t>
            </a:r>
          </a:p>
          <a:p>
            <a:pPr marL="130175" lvl="0" indent="-130175" algn="l">
              <a:lnSpc>
                <a:spcPct val="150000"/>
              </a:lnSpc>
              <a:spcBef>
                <a:spcPts val="550"/>
              </a:spcBef>
              <a:buFont typeface="Arial" pitchFamily="2" charset="2"/>
              <a:buChar char="•"/>
            </a:pPr>
            <a:endParaRPr altLang="ko-KR" sz="1300" dirty="0">
              <a:solidFill>
                <a:schemeClr val="tx1">
                  <a:alpha val="100000"/>
                </a:schemeClr>
              </a:solidFill>
              <a:latin typeface="Arial"/>
              <a:ea typeface="Arial"/>
            </a:endParaRPr>
          </a:p>
          <a:p>
            <a:pPr marL="244475" lvl="0" indent="-244475" algn="l">
              <a:lnSpc>
                <a:spcPct val="150000"/>
              </a:lnSpc>
              <a:spcBef>
                <a:spcPts val="1025"/>
              </a:spcBef>
              <a:buFont typeface="Arial" pitchFamily="2" charset="2"/>
              <a:buChar char="•"/>
            </a:pPr>
            <a:r>
              <a:rPr altLang="ko-KR" sz="1300" u="sng" dirty="0">
                <a:solidFill>
                  <a:srgbClr val="000000"/>
                </a:solidFill>
                <a:latin typeface="+mn-ea"/>
              </a:rPr>
              <a:t>Cost:</a:t>
            </a:r>
            <a:r>
              <a:rPr altLang="ko-KR" sz="1300" dirty="0">
                <a:solidFill>
                  <a:srgbClr val="000000"/>
                </a:solidFill>
                <a:latin typeface="+mn-ea"/>
              </a:rPr>
              <a:t> Value of everything a seller must give up to produce a good... Measure of willingness to </a:t>
            </a:r>
            <a:r>
              <a:rPr altLang="ko-KR" sz="1300" dirty="0" smtClean="0">
                <a:solidFill>
                  <a:srgbClr val="000000"/>
                </a:solidFill>
                <a:latin typeface="+mn-ea"/>
              </a:rPr>
              <a:t>sell</a:t>
            </a:r>
            <a:endParaRPr lang="en-US" altLang="ko-KR" sz="1300" dirty="0" smtClean="0">
              <a:solidFill>
                <a:srgbClr val="000000"/>
              </a:solidFill>
              <a:latin typeface="+mn-ea"/>
            </a:endParaRPr>
          </a:p>
          <a:p>
            <a:pPr marL="244475" lvl="0" indent="-244475" algn="l">
              <a:lnSpc>
                <a:spcPct val="150000"/>
              </a:lnSpc>
              <a:spcBef>
                <a:spcPts val="1025"/>
              </a:spcBef>
              <a:buFont typeface="Arial" pitchFamily="2" charset="2"/>
              <a:buChar char="•"/>
            </a:pPr>
            <a:r>
              <a:rPr altLang="ko-KR" sz="1300" u="sng" dirty="0" smtClean="0">
                <a:solidFill>
                  <a:srgbClr val="000000"/>
                </a:solidFill>
                <a:latin typeface="+mn-ea"/>
              </a:rPr>
              <a:t>Produce </a:t>
            </a:r>
            <a:r>
              <a:rPr altLang="ko-KR" sz="1300" u="sng" dirty="0">
                <a:solidFill>
                  <a:srgbClr val="000000"/>
                </a:solidFill>
                <a:latin typeface="+mn-ea"/>
              </a:rPr>
              <a:t>Surplus PS = P - Cost</a:t>
            </a:r>
          </a:p>
          <a:p>
            <a:pPr lvl="0" algn="l">
              <a:lnSpc>
                <a:spcPct val="150000"/>
              </a:lnSpc>
              <a:spcBef>
                <a:spcPts val="1025"/>
              </a:spcBef>
              <a:buFontTx/>
              <a:buChar char="-"/>
            </a:pPr>
            <a:r>
              <a:rPr altLang="ko-KR" sz="1300" dirty="0" smtClean="0">
                <a:ea typeface="Arial"/>
              </a:rPr>
              <a:t>Amount </a:t>
            </a:r>
            <a:r>
              <a:rPr altLang="ko-KR" sz="1300" dirty="0">
                <a:ea typeface="Arial"/>
              </a:rPr>
              <a:t>a seller is paid for a good minus seller’s cost of providing it... Price received minus </a:t>
            </a:r>
            <a:r>
              <a:rPr altLang="ko-KR" sz="1300" dirty="0" smtClean="0">
                <a:ea typeface="Arial"/>
              </a:rPr>
              <a:t>willingness</a:t>
            </a:r>
            <a:endParaRPr lang="en-US" altLang="ko-KR" sz="1300" dirty="0" smtClean="0">
              <a:ea typeface="Arial"/>
            </a:endParaRPr>
          </a:p>
          <a:p>
            <a:pPr lvl="0" algn="l">
              <a:lnSpc>
                <a:spcPct val="150000"/>
              </a:lnSpc>
              <a:spcBef>
                <a:spcPts val="1025"/>
              </a:spcBef>
              <a:buFontTx/>
              <a:buChar char="-"/>
            </a:pPr>
            <a:r>
              <a:rPr lang="en-US" altLang="ko-KR" sz="1300" dirty="0" smtClean="0">
                <a:solidFill>
                  <a:srgbClr val="000000"/>
                </a:solidFill>
                <a:ea typeface="Arial"/>
              </a:rPr>
              <a:t>A </a:t>
            </a:r>
            <a:r>
              <a:rPr lang="en-US" altLang="ko-KR" sz="1300" dirty="0">
                <a:solidFill>
                  <a:srgbClr val="000000"/>
                </a:solidFill>
                <a:ea typeface="Arial"/>
              </a:rPr>
              <a:t>lower price reduces Producer surplus. </a:t>
            </a:r>
            <a:endParaRPr lang="en-US" altLang="ko-KR" sz="1300" dirty="0" smtClean="0">
              <a:solidFill>
                <a:srgbClr val="000000"/>
              </a:solidFill>
              <a:ea typeface="Arial"/>
            </a:endParaRPr>
          </a:p>
          <a:p>
            <a:pPr lvl="0" algn="l">
              <a:lnSpc>
                <a:spcPct val="150000"/>
              </a:lnSpc>
              <a:spcBef>
                <a:spcPts val="1025"/>
              </a:spcBef>
              <a:buFontTx/>
              <a:buChar char="-"/>
            </a:pPr>
            <a:r>
              <a:rPr lang="en-US" altLang="ko-KR" sz="1300" dirty="0" smtClean="0">
                <a:solidFill>
                  <a:srgbClr val="000000"/>
                </a:solidFill>
                <a:ea typeface="Arial"/>
              </a:rPr>
              <a:t>Two </a:t>
            </a:r>
            <a:r>
              <a:rPr lang="en-US" altLang="ko-KR" sz="1300" dirty="0">
                <a:solidFill>
                  <a:srgbClr val="000000"/>
                </a:solidFill>
                <a:ea typeface="Arial"/>
              </a:rPr>
              <a:t>reasons for the fall in PS. </a:t>
            </a:r>
          </a:p>
          <a:p>
            <a:pPr marL="0" lvl="0" indent="0">
              <a:lnSpc>
                <a:spcPct val="150000"/>
              </a:lnSpc>
              <a:spcBef>
                <a:spcPts val="975"/>
              </a:spcBef>
              <a:buNone/>
            </a:pPr>
            <a:r>
              <a:rPr lang="en-US" altLang="ko-KR" sz="1300" dirty="0" smtClean="0">
                <a:solidFill>
                  <a:srgbClr val="000000"/>
                </a:solidFill>
                <a:ea typeface="Arial"/>
              </a:rPr>
              <a:t>  1</a:t>
            </a:r>
            <a:r>
              <a:rPr lang="en-US" altLang="ko-KR" sz="1300" dirty="0">
                <a:solidFill>
                  <a:srgbClr val="000000"/>
                </a:solidFill>
                <a:ea typeface="Arial"/>
              </a:rPr>
              <a:t>. Fall in PS due to sellers leaving the market </a:t>
            </a:r>
          </a:p>
          <a:p>
            <a:pPr marL="0" lvl="0" indent="0">
              <a:lnSpc>
                <a:spcPct val="150000"/>
              </a:lnSpc>
              <a:spcBef>
                <a:spcPts val="975"/>
              </a:spcBef>
              <a:buNone/>
            </a:pPr>
            <a:r>
              <a:rPr lang="en-US" altLang="ko-KR" sz="1300" dirty="0" smtClean="0">
                <a:solidFill>
                  <a:srgbClr val="000000"/>
                </a:solidFill>
                <a:ea typeface="Arial"/>
              </a:rPr>
              <a:t>  2</a:t>
            </a:r>
            <a:r>
              <a:rPr lang="en-US" altLang="ko-KR" sz="1300" dirty="0">
                <a:solidFill>
                  <a:srgbClr val="000000"/>
                </a:solidFill>
                <a:ea typeface="Arial"/>
              </a:rPr>
              <a:t>. Fall in PS due to remaining sellers getting lower P</a:t>
            </a:r>
          </a:p>
          <a:p>
            <a:pPr lvl="0" algn="l">
              <a:lnSpc>
                <a:spcPct val="150000"/>
              </a:lnSpc>
              <a:spcBef>
                <a:spcPts val="1025"/>
              </a:spcBef>
              <a:buFontTx/>
              <a:buChar char="-"/>
            </a:pPr>
            <a:endParaRPr altLang="ko-KR" sz="1300" dirty="0">
              <a:latin typeface="Arial"/>
              <a:ea typeface="Arial"/>
            </a:endParaRPr>
          </a:p>
        </p:txBody>
      </p:sp>
      <p:sp>
        <p:nvSpPr>
          <p:cNvPr id="5" name="slide1_shape3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algn="r" defTabSz="914400" latinLnBrk="1">
              <a:lnSpc>
                <a:spcPct val="100000"/>
              </a:lnSpc>
            </a:pPr>
            <a:fld id="{4BEDD84E-25D4-4983-8AA1-2863C96F08D9}" type="slidenum">
              <a:rPr 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1</a:t>
            </a:fld>
            <a:endParaRPr sz="675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2_shape2"/>
          <p:cNvSpPr>
            <a:spLocks noGrp="1"/>
          </p:cNvSpPr>
          <p:nvPr>
            <p:ph type="sldNum" sz="quarter" idx="12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algn="r" defTabSz="914400" latinLnBrk="1">
              <a:lnSpc>
                <a:spcPct val="100000"/>
              </a:lnSpc>
            </a:pPr>
            <a:fld id="{4BEDD84E-25D4-4983-8AA1-2863C96F08D9}" type="slidenum">
              <a:rPr lang="ko-KR" sz="675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2</a:t>
            </a:fld>
            <a:endParaRPr sz="675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nppt_1634531568648368"/>
          <p:cNvSpPr>
            <a:spLocks noGrp="1"/>
          </p:cNvSpPr>
          <p:nvPr>
            <p:ph idx="1"/>
          </p:nvPr>
        </p:nvSpPr>
        <p:spPr>
          <a:xfrm>
            <a:off x="471488" y="1127448"/>
            <a:ext cx="5915025" cy="9897151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/>
          <a:p>
            <a:pPr marL="244475" lvl="0" indent="-244475" algn="l">
              <a:lnSpc>
                <a:spcPct val="150000"/>
              </a:lnSpc>
              <a:spcBef>
                <a:spcPts val="1025"/>
              </a:spcBef>
              <a:buFont typeface="Arial" pitchFamily="2" charset="2"/>
              <a:buChar char="•"/>
            </a:pPr>
            <a:r>
              <a:rPr altLang="ko-KR" sz="1400" u="sng" dirty="0" smtClean="0">
                <a:solidFill>
                  <a:srgbClr val="000000"/>
                </a:solidFill>
                <a:latin typeface="맑은 고딕"/>
                <a:ea typeface="맑은 고딕"/>
              </a:rPr>
              <a:t>Total </a:t>
            </a:r>
            <a:r>
              <a:rPr altLang="ko-KR" sz="1400" u="sng" dirty="0">
                <a:solidFill>
                  <a:srgbClr val="000000"/>
                </a:solidFill>
                <a:latin typeface="맑은 고딕"/>
                <a:ea typeface="맑은 고딕"/>
              </a:rPr>
              <a:t>Surplus = CS + PS</a:t>
            </a:r>
          </a:p>
          <a:p>
            <a:pPr lvl="0" algn="l">
              <a:lnSpc>
                <a:spcPct val="150000"/>
              </a:lnSpc>
              <a:spcBef>
                <a:spcPts val="1025"/>
              </a:spcBef>
              <a:buFontTx/>
              <a:buChar char="-"/>
            </a:pPr>
            <a:r>
              <a:rPr altLang="ko-KR" sz="1400" dirty="0" smtClean="0">
                <a:solidFill>
                  <a:srgbClr val="000000"/>
                </a:solidFill>
                <a:latin typeface="맑은 고딕"/>
                <a:ea typeface="맑은 고딕"/>
              </a:rPr>
              <a:t>Value </a:t>
            </a:r>
            <a:r>
              <a:rPr altLang="ko-KR" sz="1400" dirty="0">
                <a:solidFill>
                  <a:srgbClr val="000000"/>
                </a:solidFill>
                <a:latin typeface="맑은 고딕"/>
                <a:ea typeface="맑은 고딕"/>
              </a:rPr>
              <a:t>to buyers - Cost to </a:t>
            </a:r>
            <a:r>
              <a:rPr altLang="ko-KR" sz="1400" dirty="0" smtClean="0">
                <a:solidFill>
                  <a:srgbClr val="000000"/>
                </a:solidFill>
                <a:latin typeface="맑은 고딕"/>
                <a:ea typeface="맑은 고딕"/>
              </a:rPr>
              <a:t>sellers</a:t>
            </a:r>
            <a:endParaRPr lang="en-US" altLang="ko-KR" sz="1400" dirty="0" smtClean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l">
              <a:lnSpc>
                <a:spcPct val="150000"/>
              </a:lnSpc>
              <a:spcBef>
                <a:spcPts val="1025"/>
              </a:spcBef>
              <a:buFontTx/>
              <a:buChar char="-"/>
            </a:pPr>
            <a:r>
              <a:rPr altLang="ko-KR" sz="1400" dirty="0" smtClean="0">
                <a:solidFill>
                  <a:srgbClr val="000000"/>
                </a:solidFill>
                <a:latin typeface="맑은 고딕"/>
                <a:ea typeface="맑은 고딕"/>
              </a:rPr>
              <a:t>Market's </a:t>
            </a:r>
            <a:r>
              <a:rPr altLang="ko-KR" sz="1400" dirty="0">
                <a:solidFill>
                  <a:srgbClr val="000000"/>
                </a:solidFill>
                <a:latin typeface="맑은 고딕"/>
                <a:ea typeface="맑은 고딕"/>
              </a:rPr>
              <a:t>efficient allocation of resources maximizes total </a:t>
            </a:r>
            <a:r>
              <a:rPr altLang="ko-KR" sz="1400" dirty="0" smtClean="0">
                <a:solidFill>
                  <a:srgbClr val="000000"/>
                </a:solidFill>
                <a:latin typeface="맑은 고딕"/>
                <a:ea typeface="맑은 고딕"/>
              </a:rPr>
              <a:t>surplus(TS)</a:t>
            </a:r>
            <a:endParaRPr lang="en-US" altLang="ko-KR" sz="1400" dirty="0" smtClean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l">
              <a:lnSpc>
                <a:spcPct val="150000"/>
              </a:lnSpc>
              <a:spcBef>
                <a:spcPts val="1025"/>
              </a:spcBef>
              <a:buFontTx/>
              <a:buChar char="-"/>
            </a:pPr>
            <a:r>
              <a:rPr altLang="ko-KR" sz="1400" dirty="0" smtClean="0">
                <a:solidFill>
                  <a:srgbClr val="000000"/>
                </a:solidFill>
                <a:latin typeface="맑은 고딕"/>
                <a:ea typeface="맑은 고딕"/>
              </a:rPr>
              <a:t>The </a:t>
            </a:r>
            <a:r>
              <a:rPr altLang="ko-KR" sz="1400" dirty="0">
                <a:solidFill>
                  <a:srgbClr val="000000"/>
                </a:solidFill>
                <a:latin typeface="맑은 고딕"/>
                <a:ea typeface="맑은 고딕"/>
              </a:rPr>
              <a:t>goods are consumed by the buyers who value them most highly </a:t>
            </a:r>
            <a:endParaRPr lang="en-US" altLang="ko-KR" sz="1400" dirty="0" smtClean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l">
              <a:lnSpc>
                <a:spcPct val="150000"/>
              </a:lnSpc>
              <a:spcBef>
                <a:spcPts val="1025"/>
              </a:spcBef>
              <a:buFontTx/>
              <a:buChar char="-"/>
            </a:pPr>
            <a:r>
              <a:rPr altLang="ko-KR" sz="1400" dirty="0" smtClean="0">
                <a:solidFill>
                  <a:srgbClr val="000000"/>
                </a:solidFill>
                <a:latin typeface="맑은 고딕"/>
                <a:ea typeface="맑은 고딕"/>
              </a:rPr>
              <a:t>The </a:t>
            </a:r>
            <a:r>
              <a:rPr altLang="ko-KR" sz="1400" dirty="0">
                <a:solidFill>
                  <a:srgbClr val="000000"/>
                </a:solidFill>
                <a:latin typeface="맑은 고딕"/>
                <a:ea typeface="맑은 고딕"/>
              </a:rPr>
              <a:t>goods are produced by </a:t>
            </a:r>
            <a:r>
              <a:rPr altLang="ko-KR" sz="1400" dirty="0" err="1">
                <a:solidFill>
                  <a:srgbClr val="000000"/>
                </a:solidFill>
                <a:latin typeface="맑은 고딕"/>
                <a:ea typeface="맑은 고딕"/>
              </a:rPr>
              <a:t>theproducers</a:t>
            </a:r>
            <a:r>
              <a:rPr altLang="ko-KR" sz="1400" dirty="0">
                <a:solidFill>
                  <a:srgbClr val="000000"/>
                </a:solidFill>
                <a:latin typeface="맑은 고딕"/>
                <a:ea typeface="맑은 고딕"/>
              </a:rPr>
              <a:t> with the lowest </a:t>
            </a:r>
            <a:r>
              <a:rPr altLang="ko-KR" sz="1400" dirty="0" smtClean="0">
                <a:solidFill>
                  <a:srgbClr val="000000"/>
                </a:solidFill>
                <a:latin typeface="맑은 고딕"/>
                <a:ea typeface="맑은 고딕"/>
              </a:rPr>
              <a:t>costs</a:t>
            </a:r>
            <a:endParaRPr lang="en-US" altLang="ko-KR" sz="1400" dirty="0" smtClean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lvl="0" algn="l">
              <a:lnSpc>
                <a:spcPct val="150000"/>
              </a:lnSpc>
              <a:spcBef>
                <a:spcPts val="1025"/>
              </a:spcBef>
              <a:buFontTx/>
              <a:buChar char="-"/>
            </a:pPr>
            <a:r>
              <a:rPr altLang="ko-KR" sz="1400" dirty="0" smtClean="0">
                <a:solidFill>
                  <a:srgbClr val="000000"/>
                </a:solidFill>
                <a:latin typeface="맑은 고딕"/>
                <a:ea typeface="맑은 고딕"/>
              </a:rPr>
              <a:t>Raising </a:t>
            </a:r>
            <a:r>
              <a:rPr altLang="ko-KR" sz="1400" dirty="0">
                <a:solidFill>
                  <a:srgbClr val="000000"/>
                </a:solidFill>
                <a:latin typeface="맑은 고딕"/>
                <a:ea typeface="맑은 고딕"/>
              </a:rPr>
              <a:t>or lowering the quantity of </a:t>
            </a:r>
            <a:r>
              <a:rPr altLang="ko-KR" sz="1400" dirty="0" err="1">
                <a:solidFill>
                  <a:srgbClr val="000000"/>
                </a:solidFill>
                <a:latin typeface="맑은 고딕"/>
                <a:ea typeface="맑은 고딕"/>
              </a:rPr>
              <a:t>agood</a:t>
            </a:r>
            <a:r>
              <a:rPr altLang="ko-KR" sz="1400" dirty="0">
                <a:solidFill>
                  <a:srgbClr val="000000"/>
                </a:solidFill>
                <a:latin typeface="맑은 고딕"/>
                <a:ea typeface="맑은 고딕"/>
              </a:rPr>
              <a:t> would not increase total surplus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맑은 고딕"/>
        <a:ea typeface=""/>
        <a:cs typeface=""/>
        <a:font script="Arab" typeface="Times New Roman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 Light"/>
        <a:font script="Hant" typeface="新細明體"/>
        <a:font script="Hebr" typeface="Times New Roman"/>
        <a:font script="Jpan" typeface="游ゴシック Light"/>
        <a:font script="Khmr" typeface="MoolBoran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Uigh" typeface="Microsoft Uighur"/>
        <a:font script="Viet" typeface="Times New Roman"/>
        <a:font script="Yiii" typeface="Microsoft Yi Baiti"/>
      </a:majorFont>
      <a:minorFont>
        <a:latin typeface="맑은 고딕"/>
        <a:ea typeface=""/>
        <a:cs typeface=""/>
        <a:font script="Arab" typeface="Arial"/>
        <a:font script="Beng" typeface="Vrinda"/>
        <a:font script="Cans" typeface="Euphemia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ans" typeface="等线"/>
        <a:font script="Hant" typeface="新細明體"/>
        <a:font script="Hebr" typeface="Arial"/>
        <a:font script="Jpan" typeface="游ゴシック"/>
        <a:font script="Khmr" typeface="DaunPenh"/>
        <a:font script="Knda" typeface="Tunga"/>
        <a:font script="Laoo" typeface="DokChampa"/>
        <a:font script="Mlym" typeface="Kartika"/>
        <a:font script="Mong" typeface="Mongolian Baiti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Uigh" typeface="Microsoft Uighur"/>
        <a:font script="Viet" typeface="Arial"/>
        <a:font script="Yiii" typeface="Microsoft Yi Baiti"/>
      </a:minorFont>
    </a:fontScheme>
    <a:fmtScheme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  <a:satMod val="105000"/>
              </a:schemeClr>
            </a:gs>
            <a:gs pos="50000">
              <a:schemeClr val="phClr">
                <a:lumMod val="105000"/>
                <a:tint val="73000"/>
                <a:satMod val="103000"/>
              </a:schemeClr>
            </a:gs>
            <a:gs pos="100000">
              <a:schemeClr val="phClr">
                <a:lumMod val="105000"/>
                <a:tint val="81000"/>
                <a:satMod val="10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lumMod val="102000"/>
                <a:tint val="94000"/>
                <a:satMod val="103000"/>
              </a:schemeClr>
            </a:gs>
            <a:gs pos="50000">
              <a:schemeClr val="phClr">
                <a:lumMod val="100000"/>
                <a:shade val="100000"/>
                <a:satMod val="110000"/>
              </a:schemeClr>
            </a:gs>
            <a:gs pos="100000">
              <a:schemeClr val="phClr">
                <a:lumMod val="99000"/>
                <a:shade val="78000"/>
                <a:satMod val="120000"/>
              </a:schemeClr>
            </a:gs>
          </a:gsLst>
          <a:lin ang="5400000" scaled="1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tint val="93000"/>
                <a:shade val="98000"/>
                <a:satMod val="150000"/>
              </a:schemeClr>
            </a:gs>
            <a:gs pos="50000">
              <a:schemeClr val="phClr">
                <a:lumMod val="103000"/>
                <a:tint val="98000"/>
                <a:shade val="90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1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137</Words>
  <Application>Microsoft Office PowerPoint</Application>
  <PresentationFormat>와이드스크린</PresentationFormat>
  <Paragraphs>29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/>
      <vt:lpstr>Ch 7. Consumers, Producers, and the Efficiency of Markets</vt:lpstr>
      <vt:lpstr>PowerPoint 프레젠테이션</vt:lpstr>
    </vt:vector>
  </TitlesOfParts>
  <Company>사이냅소프트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현대경제분석   강의노트</dc:title>
  <dc:creator>User</dc:creator>
  <cp:lastModifiedBy>mainlibinfo11</cp:lastModifiedBy>
  <cp:revision>2</cp:revision>
  <dcterms:modified xsi:type="dcterms:W3CDTF">2023-03-13T05:37:31Z</dcterms:modified>
</cp:coreProperties>
</file>