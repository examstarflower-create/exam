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5"/>
  </p:notesMasterIdLst>
  <p:sldIdLst>
    <p:sldId id="257" r:id="rId2"/>
    <p:sldId id="258" r:id="rId3"/>
    <p:sldId id="259" r:id="rId4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9" autoAdjust="0"/>
    <p:restoredTop sz="94660"/>
  </p:normalViewPr>
  <p:slideViewPr>
    <p:cSldViewPr snapToGrid="0">
      <p:cViewPr>
        <p:scale>
          <a:sx n="100" d="100"/>
          <a:sy n="100" d="100"/>
        </p:scale>
        <p:origin x="276" y="-27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ko-KR" altLang="de-DE" dirty="0"/>
              <a:t>Chapter</a:t>
            </a:r>
            <a:r>
              <a:rPr lang="de-DE" altLang="ko-KR" dirty="0"/>
              <a:t> 23. </a:t>
            </a:r>
            <a:r>
              <a:rPr lang="de-DE" altLang="ko-KR" dirty="0" smtClean="0"/>
              <a:t>Measuring a Nation‘s </a:t>
            </a:r>
            <a:r>
              <a:rPr lang="de-DE" altLang="ko-KR" dirty="0"/>
              <a:t>Income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57453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de-DE" altLang="ko-KR" sz="1300" b="1" dirty="0"/>
              <a:t>Gross Domestic Product, GDP</a:t>
            </a:r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Measures the value of all final </a:t>
            </a:r>
            <a:r>
              <a:rPr lang="ko-KR" altLang="de-DE" sz="1300" dirty="0" err="1" smtClean="0"/>
              <a:t>goods</a:t>
            </a:r>
            <a:r>
              <a:rPr lang="de-DE" altLang="ko-KR" sz="1300" dirty="0" smtClean="0"/>
              <a:t> </a:t>
            </a:r>
            <a:r>
              <a:rPr lang="de-DE" altLang="ko-KR" sz="1300" dirty="0"/>
              <a:t>and services </a:t>
            </a:r>
            <a:r>
              <a:rPr lang="de-DE" altLang="ko-KR" sz="1300" dirty="0" smtClean="0"/>
              <a:t>produced within </a:t>
            </a:r>
            <a:r>
              <a:rPr lang="ko-KR" altLang="de-DE" sz="1300" dirty="0" err="1" smtClean="0"/>
              <a:t>the</a:t>
            </a:r>
            <a:r>
              <a:rPr lang="ko-KR" altLang="de-DE" sz="1300" dirty="0" smtClean="0"/>
              <a:t> </a:t>
            </a:r>
            <a:r>
              <a:rPr lang="ko-KR" altLang="de-DE" sz="1300" dirty="0"/>
              <a:t>economy = </a:t>
            </a:r>
            <a:r>
              <a:rPr lang="en-US" altLang="ko-KR" sz="1300" dirty="0" smtClean="0"/>
              <a:t>Measures the </a:t>
            </a:r>
            <a:r>
              <a:rPr lang="de-DE" altLang="ko-KR" sz="1300" dirty="0" smtClean="0"/>
              <a:t>total </a:t>
            </a:r>
            <a:r>
              <a:rPr lang="de-DE" altLang="ko-KR" sz="1300" dirty="0"/>
              <a:t>income of </a:t>
            </a:r>
            <a:r>
              <a:rPr lang="de-DE" altLang="ko-KR" sz="1300" dirty="0" smtClean="0"/>
              <a:t>everyone </a:t>
            </a:r>
            <a:r>
              <a:rPr lang="ko-KR" altLang="de-DE" sz="1300" dirty="0" err="1" smtClean="0"/>
              <a:t>in</a:t>
            </a:r>
            <a:r>
              <a:rPr lang="ko-KR" altLang="de-DE" sz="1300" dirty="0" smtClean="0"/>
              <a:t> </a:t>
            </a:r>
            <a:r>
              <a:rPr lang="ko-KR" altLang="de-DE" sz="1300" dirty="0"/>
              <a:t>the economy = </a:t>
            </a:r>
            <a:r>
              <a:rPr lang="en-US" altLang="ko-KR" sz="1300" dirty="0" smtClean="0"/>
              <a:t>Measures the </a:t>
            </a:r>
            <a:r>
              <a:rPr lang="ko-KR" altLang="de-DE" sz="1300" dirty="0" err="1" smtClean="0"/>
              <a:t>total</a:t>
            </a:r>
            <a:r>
              <a:rPr lang="ko-KR" altLang="de-DE" sz="1300" dirty="0" smtClean="0"/>
              <a:t> </a:t>
            </a:r>
            <a:r>
              <a:rPr lang="ko-KR" altLang="de-DE" sz="1300" dirty="0" err="1"/>
              <a:t>expenditure</a:t>
            </a:r>
            <a:r>
              <a:rPr lang="ko-KR" altLang="de-DE" sz="1300" dirty="0"/>
              <a:t> </a:t>
            </a:r>
            <a:r>
              <a:rPr lang="ko-KR" altLang="de-DE" sz="1300" dirty="0" err="1" smtClean="0"/>
              <a:t>on</a:t>
            </a:r>
            <a:r>
              <a:rPr lang="ko-KR" altLang="de-DE" sz="1300" dirty="0" smtClean="0"/>
              <a:t> </a:t>
            </a:r>
            <a:r>
              <a:rPr lang="en-US" altLang="ko-KR" sz="1300" dirty="0" smtClean="0"/>
              <a:t>the economy’s</a:t>
            </a:r>
            <a:r>
              <a:rPr lang="ko-KR" altLang="de-DE" sz="1300" dirty="0" smtClean="0"/>
              <a:t> </a:t>
            </a:r>
            <a:r>
              <a:rPr lang="en-US" altLang="ko-KR" sz="1300" dirty="0" smtClean="0"/>
              <a:t>output of </a:t>
            </a:r>
            <a:r>
              <a:rPr lang="ko-KR" altLang="de-DE" sz="1300" dirty="0" err="1" smtClean="0"/>
              <a:t>goods</a:t>
            </a:r>
            <a:r>
              <a:rPr lang="ko-KR" altLang="de-DE" sz="1300" dirty="0" smtClean="0"/>
              <a:t> </a:t>
            </a:r>
            <a:r>
              <a:rPr lang="ko-KR" altLang="de-DE" sz="1300" dirty="0"/>
              <a:t>and </a:t>
            </a:r>
            <a:r>
              <a:rPr lang="ko-KR" altLang="de-DE" sz="1300" dirty="0" err="1" smtClean="0"/>
              <a:t>services</a:t>
            </a:r>
            <a:endParaRPr lang="ko-KR" altLang="de-DE" sz="1300" dirty="0"/>
          </a:p>
          <a:p>
            <a:pPr>
              <a:lnSpc>
                <a:spcPct val="160000"/>
              </a:lnSpc>
            </a:pPr>
            <a:r>
              <a:rPr lang="de-DE" altLang="ko-KR" sz="1300" dirty="0" smtClean="0"/>
              <a:t>Fore an economy as a whole,</a:t>
            </a:r>
            <a:r>
              <a:rPr lang="ko-KR" altLang="de-DE" sz="1300" dirty="0" smtClean="0"/>
              <a:t> </a:t>
            </a:r>
            <a:r>
              <a:rPr lang="ko-KR" altLang="de-DE" sz="1300" dirty="0" err="1" smtClean="0"/>
              <a:t>income</a:t>
            </a:r>
            <a:r>
              <a:rPr lang="ko-KR" altLang="de-DE" sz="1300" dirty="0" smtClean="0"/>
              <a:t> </a:t>
            </a:r>
            <a:r>
              <a:rPr lang="en-US" altLang="ko-KR" sz="1300" dirty="0" smtClean="0"/>
              <a:t>must equal </a:t>
            </a:r>
            <a:r>
              <a:rPr lang="de-DE" altLang="ko-KR" sz="1300" dirty="0" smtClean="0"/>
              <a:t>expenditure.</a:t>
            </a:r>
            <a:endParaRPr lang="de-DE" altLang="ko-KR" sz="1300" dirty="0"/>
          </a:p>
          <a:p>
            <a:pPr>
              <a:lnSpc>
                <a:spcPct val="160000"/>
              </a:lnSpc>
            </a:pPr>
            <a:endParaRPr lang="de-DE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Circular-Flow Diagram</a:t>
            </a:r>
            <a:r>
              <a:rPr lang="ko-KR" altLang="de-DE" sz="1300" dirty="0" smtClean="0"/>
              <a:t>: </a:t>
            </a:r>
            <a:r>
              <a:rPr lang="ko-KR" altLang="de-DE" sz="1300" dirty="0"/>
              <a:t>A Simple Description of Macroeconomy</a:t>
            </a:r>
            <a:endParaRPr lang="de-DE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Firms</a:t>
            </a:r>
            <a:r>
              <a:rPr lang="de-DE" altLang="ko-KR" sz="1300" dirty="0" smtClean="0"/>
              <a:t>,</a:t>
            </a:r>
            <a:r>
              <a:rPr lang="ko-KR" altLang="de-DE" sz="1300" dirty="0" smtClean="0"/>
              <a:t> </a:t>
            </a:r>
            <a:r>
              <a:rPr lang="ko-KR" altLang="de-DE" sz="1300" dirty="0"/>
              <a:t>households, </a:t>
            </a:r>
            <a:r>
              <a:rPr lang="ko-KR" altLang="de-DE" sz="1300" dirty="0" err="1" smtClean="0"/>
              <a:t>markets</a:t>
            </a:r>
            <a:r>
              <a:rPr lang="ko-KR" altLang="de-DE" sz="1300" dirty="0" smtClean="0"/>
              <a:t>(</a:t>
            </a:r>
            <a:r>
              <a:rPr lang="ko-KR" altLang="de-DE" sz="1300" dirty="0" err="1" smtClean="0"/>
              <a:t>goods</a:t>
            </a:r>
            <a:r>
              <a:rPr lang="de-DE" altLang="ko-KR" sz="1300" dirty="0" smtClean="0"/>
              <a:t> </a:t>
            </a:r>
            <a:r>
              <a:rPr lang="de-DE" altLang="ko-KR" sz="1300" dirty="0"/>
              <a:t>and services markets, </a:t>
            </a:r>
            <a:r>
              <a:rPr lang="de-DE" altLang="ko-KR" sz="1300" dirty="0"/>
              <a:t>factors of production </a:t>
            </a:r>
            <a:r>
              <a:rPr lang="de-DE" altLang="ko-KR" sz="1300" dirty="0"/>
              <a:t>markets)</a:t>
            </a:r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G</a:t>
            </a:r>
            <a:r>
              <a:rPr lang="ko-KR" altLang="de-DE" sz="1300" dirty="0" err="1" smtClean="0"/>
              <a:t>overnment</a:t>
            </a:r>
            <a:r>
              <a:rPr lang="de-DE" altLang="ko-KR" sz="1300" dirty="0"/>
              <a:t>, </a:t>
            </a:r>
            <a:r>
              <a:rPr lang="de-DE" altLang="ko-KR" sz="1300" dirty="0" smtClean="0"/>
              <a:t>financial </a:t>
            </a:r>
            <a:r>
              <a:rPr lang="de-DE" altLang="ko-KR" sz="1300" dirty="0"/>
              <a:t>system, and the </a:t>
            </a:r>
            <a:r>
              <a:rPr lang="ko-KR" altLang="de-DE" sz="1300" dirty="0" err="1" smtClean="0"/>
              <a:t>foreign</a:t>
            </a:r>
            <a:r>
              <a:rPr lang="ko-KR" altLang="de-DE" sz="1300" dirty="0" smtClean="0"/>
              <a:t> </a:t>
            </a:r>
            <a:r>
              <a:rPr lang="ko-KR" altLang="de-DE" sz="1300" dirty="0"/>
              <a:t>sector</a:t>
            </a:r>
            <a:r>
              <a:rPr lang="de-DE" altLang="ko-KR" sz="1300" dirty="0"/>
              <a:t>.</a:t>
            </a:r>
          </a:p>
          <a:p>
            <a:pPr>
              <a:lnSpc>
                <a:spcPct val="160000"/>
              </a:lnSpc>
            </a:pPr>
            <a:endParaRPr lang="de-DE" altLang="ko-KR" sz="1300" dirty="0"/>
          </a:p>
          <a:p>
            <a:pPr>
              <a:lnSpc>
                <a:spcPct val="160000"/>
              </a:lnSpc>
            </a:pPr>
            <a:r>
              <a:rPr lang="de-DE" altLang="ko-KR" sz="1300" dirty="0"/>
              <a:t>Gross </a:t>
            </a:r>
            <a:r>
              <a:rPr lang="de-DE" altLang="ko-KR" sz="1300" dirty="0" smtClean="0"/>
              <a:t>domestic</a:t>
            </a:r>
            <a:r>
              <a:rPr lang="ko-KR" altLang="de-DE" sz="1300" b="1" dirty="0" smtClean="0"/>
              <a:t> </a:t>
            </a:r>
            <a:r>
              <a:rPr lang="ko-KR" altLang="de-DE" sz="1300" dirty="0" err="1"/>
              <a:t>product</a:t>
            </a:r>
            <a:r>
              <a:rPr lang="ko-KR" altLang="de-DE" sz="1300" dirty="0"/>
              <a:t> </a:t>
            </a:r>
            <a:r>
              <a:rPr lang="ko-KR" altLang="de-DE" sz="1300" dirty="0" smtClean="0"/>
              <a:t>GDP </a:t>
            </a:r>
            <a:r>
              <a:rPr lang="en-US" altLang="ko-KR" sz="1300" dirty="0" smtClean="0"/>
              <a:t>is </a:t>
            </a:r>
            <a:r>
              <a:rPr lang="de-DE" altLang="ko-KR" sz="1300" dirty="0" smtClean="0"/>
              <a:t>the</a:t>
            </a:r>
            <a:r>
              <a:rPr lang="ko-KR" altLang="de-DE" sz="1300" b="1" dirty="0" smtClean="0"/>
              <a:t> </a:t>
            </a:r>
            <a:r>
              <a:rPr lang="de-DE" altLang="ko-KR" sz="1300" dirty="0"/>
              <a:t>market value of </a:t>
            </a:r>
            <a:r>
              <a:rPr lang="ko-KR" altLang="de-DE" sz="1300" dirty="0" err="1" smtClean="0"/>
              <a:t>all</a:t>
            </a:r>
            <a:r>
              <a:rPr lang="ko-KR" altLang="de-DE" sz="1300" dirty="0" smtClean="0"/>
              <a:t> </a:t>
            </a:r>
            <a:r>
              <a:rPr lang="ko-KR" altLang="de-DE" sz="1300" dirty="0"/>
              <a:t>final goods and services </a:t>
            </a:r>
            <a:r>
              <a:rPr lang="ko-KR" altLang="de-DE" sz="1300" dirty="0" err="1"/>
              <a:t>produced</a:t>
            </a:r>
            <a:r>
              <a:rPr lang="ko-KR" altLang="de-DE" sz="1300" dirty="0"/>
              <a:t> </a:t>
            </a:r>
            <a:r>
              <a:rPr lang="en-US" altLang="ko-KR" sz="1300" dirty="0" smtClean="0"/>
              <a:t>within </a:t>
            </a:r>
            <a:r>
              <a:rPr lang="ko-KR" altLang="de-DE" sz="1300" dirty="0" err="1" smtClean="0"/>
              <a:t>a</a:t>
            </a:r>
            <a:r>
              <a:rPr lang="ko-KR" altLang="de-DE" sz="1300" dirty="0" smtClean="0"/>
              <a:t> </a:t>
            </a:r>
            <a:r>
              <a:rPr lang="ko-KR" altLang="de-DE" sz="1300" dirty="0" err="1"/>
              <a:t>country</a:t>
            </a:r>
            <a:r>
              <a:rPr lang="ko-KR" altLang="de-DE" sz="1300" dirty="0"/>
              <a:t> </a:t>
            </a:r>
            <a:r>
              <a:rPr lang="en-US" altLang="ko-KR" sz="1300" dirty="0" smtClean="0"/>
              <a:t>in a given</a:t>
            </a:r>
            <a:r>
              <a:rPr lang="ko-KR" altLang="de-DE" sz="1300" dirty="0" smtClean="0"/>
              <a:t> </a:t>
            </a:r>
            <a:r>
              <a:rPr lang="ko-KR" altLang="de-DE" sz="1300" dirty="0" err="1" smtClean="0"/>
              <a:t>period</a:t>
            </a:r>
            <a:r>
              <a:rPr lang="ko-KR" altLang="de-DE" sz="1300" b="1" dirty="0" smtClean="0"/>
              <a:t> </a:t>
            </a:r>
            <a:r>
              <a:rPr lang="ko-KR" altLang="de-DE" sz="1300" dirty="0" smtClean="0"/>
              <a:t>of </a:t>
            </a:r>
            <a:r>
              <a:rPr lang="ko-KR" altLang="de-DE" sz="1300" dirty="0" err="1" smtClean="0"/>
              <a:t>time</a:t>
            </a:r>
            <a:r>
              <a:rPr lang="en-US" altLang="ko-KR" sz="1300" dirty="0" smtClean="0"/>
              <a:t>.</a:t>
            </a:r>
            <a:endParaRPr lang="ko-KR" altLang="de-DE" sz="1300" dirty="0"/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1) </a:t>
            </a:r>
            <a:r>
              <a:rPr lang="ko-KR" altLang="de-DE" sz="1300" dirty="0" smtClean="0"/>
              <a:t>Market </a:t>
            </a:r>
            <a:r>
              <a:rPr lang="ko-KR" altLang="de-DE" sz="1300" dirty="0" err="1" smtClean="0"/>
              <a:t>value</a:t>
            </a:r>
            <a:r>
              <a:rPr lang="en-US" altLang="ko-KR" sz="1300" dirty="0" smtClean="0"/>
              <a:t>…</a:t>
            </a:r>
            <a:r>
              <a:rPr lang="ko-KR" altLang="de-DE" sz="1300" dirty="0" smtClean="0"/>
              <a:t> </a:t>
            </a:r>
            <a:r>
              <a:rPr lang="en-US" altLang="ko-KR" sz="1300" dirty="0" smtClean="0"/>
              <a:t>t</a:t>
            </a:r>
            <a:r>
              <a:rPr lang="ko-KR" altLang="de-DE" sz="1300" dirty="0" err="1" smtClean="0"/>
              <a:t>hose</a:t>
            </a:r>
            <a:r>
              <a:rPr lang="ko-KR" altLang="de-DE" sz="1300" dirty="0" smtClean="0"/>
              <a:t> </a:t>
            </a:r>
            <a:r>
              <a:rPr lang="ko-KR" altLang="de-DE" sz="1300" dirty="0" err="1"/>
              <a:t>without</a:t>
            </a:r>
            <a:r>
              <a:rPr lang="ko-KR" altLang="de-DE" sz="1300" dirty="0"/>
              <a:t> </a:t>
            </a:r>
            <a:r>
              <a:rPr lang="ko-KR" altLang="de-DE" sz="1300" dirty="0" err="1"/>
              <a:t>market</a:t>
            </a:r>
            <a:r>
              <a:rPr lang="de-DE" altLang="ko-KR" sz="1300" dirty="0"/>
              <a:t> price are excluded. Ex.</a:t>
            </a:r>
            <a:r>
              <a:rPr lang="ko-KR" altLang="de-DE" sz="1300" dirty="0"/>
              <a:t> </a:t>
            </a:r>
            <a:r>
              <a:rPr lang="ko-KR" altLang="de-DE" sz="1300" dirty="0" err="1"/>
              <a:t>Housewife's</a:t>
            </a:r>
            <a:r>
              <a:rPr lang="ko-KR" altLang="de-DE" sz="1300" dirty="0"/>
              <a:t> </a:t>
            </a:r>
            <a:r>
              <a:rPr lang="ko-KR" altLang="de-DE" sz="1300" dirty="0" err="1"/>
              <a:t>domestic</a:t>
            </a:r>
            <a:r>
              <a:rPr lang="ko-KR" altLang="de-DE" sz="1300" dirty="0"/>
              <a:t> </a:t>
            </a:r>
            <a:r>
              <a:rPr lang="ko-KR" altLang="de-DE" sz="1300" dirty="0" err="1"/>
              <a:t>work</a:t>
            </a:r>
            <a:endParaRPr lang="de-DE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2) </a:t>
            </a:r>
            <a:r>
              <a:rPr lang="ko-KR" altLang="de-DE" sz="1300" dirty="0" smtClean="0"/>
              <a:t>All </a:t>
            </a:r>
            <a:r>
              <a:rPr lang="ko-KR" altLang="de-DE" sz="1300" dirty="0" err="1"/>
              <a:t>final</a:t>
            </a:r>
            <a:r>
              <a:rPr lang="ko-KR" altLang="de-DE" sz="1300" dirty="0"/>
              <a:t> </a:t>
            </a:r>
            <a:r>
              <a:rPr lang="ko-KR" altLang="de-DE" sz="1300" dirty="0" err="1"/>
              <a:t>goods</a:t>
            </a:r>
            <a:r>
              <a:rPr lang="ko-KR" altLang="de-DE" sz="1300" dirty="0"/>
              <a:t> and </a:t>
            </a:r>
            <a:r>
              <a:rPr lang="ko-KR" altLang="de-DE" sz="1300" dirty="0" err="1"/>
              <a:t>services</a:t>
            </a:r>
            <a:endParaRPr lang="de-DE" altLang="ko-KR" sz="1300" dirty="0"/>
          </a:p>
          <a:p>
            <a:pPr lvl="1">
              <a:lnSpc>
                <a:spcPct val="160000"/>
              </a:lnSpc>
            </a:pPr>
            <a:r>
              <a:rPr lang="en-US" altLang="en-US" sz="1100" dirty="0"/>
              <a:t>All items </a:t>
            </a:r>
            <a:r>
              <a:rPr lang="en-US" altLang="en-US" sz="1100" dirty="0" smtClean="0"/>
              <a:t>produced and sold legally in markets</a:t>
            </a:r>
            <a:endParaRPr lang="en-US" altLang="en-US" dirty="0" smtClean="0"/>
          </a:p>
          <a:p>
            <a:pPr lvl="1">
              <a:lnSpc>
                <a:spcPct val="160000"/>
              </a:lnSpc>
            </a:pPr>
            <a:r>
              <a:rPr lang="en-US" altLang="en-US" sz="1100" dirty="0" smtClean="0"/>
              <a:t>Excludes </a:t>
            </a:r>
            <a:r>
              <a:rPr lang="en-US" altLang="en-US" sz="1100" dirty="0"/>
              <a:t>most </a:t>
            </a:r>
            <a:r>
              <a:rPr lang="en-US" altLang="en-US" sz="1100" dirty="0" smtClean="0"/>
              <a:t>items Produced </a:t>
            </a:r>
            <a:r>
              <a:rPr lang="en-US" altLang="en-US" sz="1100" dirty="0"/>
              <a:t>and sold </a:t>
            </a:r>
            <a:r>
              <a:rPr lang="en-US" altLang="en-US" sz="1100" dirty="0" smtClean="0"/>
              <a:t>illicitly, also Produced </a:t>
            </a:r>
            <a:r>
              <a:rPr lang="en-US" altLang="en-US" sz="1100" dirty="0"/>
              <a:t>and consumed at </a:t>
            </a:r>
            <a:r>
              <a:rPr lang="en-US" altLang="en-US" sz="1100" dirty="0" smtClean="0"/>
              <a:t>home</a:t>
            </a:r>
          </a:p>
          <a:p>
            <a:pPr lvl="1">
              <a:lnSpc>
                <a:spcPct val="170000"/>
              </a:lnSpc>
            </a:pPr>
            <a:r>
              <a:rPr lang="en-US" altLang="en-US" sz="1100" dirty="0"/>
              <a:t>Value of intermediate goods is already included in the prices of the final </a:t>
            </a:r>
            <a:r>
              <a:rPr lang="en-US" altLang="en-US" sz="1100" dirty="0"/>
              <a:t>goods</a:t>
            </a:r>
          </a:p>
          <a:p>
            <a:pPr lvl="1">
              <a:lnSpc>
                <a:spcPct val="170000"/>
              </a:lnSpc>
            </a:pPr>
            <a:r>
              <a:rPr lang="en-US" altLang="en-US" sz="1100" dirty="0"/>
              <a:t>Tangible goods &amp; intangible services</a:t>
            </a:r>
          </a:p>
          <a:p>
            <a:pPr lvl="1">
              <a:lnSpc>
                <a:spcPct val="170000"/>
              </a:lnSpc>
            </a:pPr>
            <a:r>
              <a:rPr lang="en-US" altLang="en-US" sz="1100" dirty="0"/>
              <a:t>Goods and services currently produced</a:t>
            </a:r>
          </a:p>
          <a:p>
            <a:pPr lvl="2"/>
            <a:endParaRPr lang="en-US" altLang="en-US" dirty="0" smtClean="0"/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3) Within</a:t>
            </a:r>
            <a:r>
              <a:rPr lang="de-DE" altLang="ko-KR" sz="1300" dirty="0" smtClean="0"/>
              <a:t> </a:t>
            </a:r>
            <a:r>
              <a:rPr lang="de-DE" altLang="ko-KR" sz="1300" dirty="0"/>
              <a:t>a </a:t>
            </a:r>
            <a:r>
              <a:rPr lang="ko-KR" altLang="de-DE" sz="1300" dirty="0"/>
              <a:t>country: </a:t>
            </a:r>
            <a:r>
              <a:rPr lang="en-US" altLang="ko-KR" sz="1300" dirty="0"/>
              <a:t>Goods</a:t>
            </a:r>
            <a:r>
              <a:rPr lang="en-US" altLang="ko-KR" sz="1300" dirty="0"/>
              <a:t> and services produced domestically</a:t>
            </a:r>
          </a:p>
          <a:p>
            <a:pPr lvl="1"/>
            <a:r>
              <a:rPr lang="en-US" altLang="ko-KR" sz="1100" dirty="0" smtClean="0"/>
              <a:t>Regardless of the nationality of the producer</a:t>
            </a:r>
            <a:endParaRPr lang="de-DE" altLang="ko-KR" sz="1100" dirty="0"/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4) In </a:t>
            </a:r>
            <a:r>
              <a:rPr lang="de-DE" altLang="ko-KR" sz="1300" dirty="0" smtClean="0"/>
              <a:t>given </a:t>
            </a:r>
            <a:r>
              <a:rPr lang="ko-KR" altLang="de-DE" sz="1300" dirty="0" err="1" smtClean="0"/>
              <a:t>period</a:t>
            </a:r>
            <a:r>
              <a:rPr lang="ko-KR" altLang="de-DE" sz="1300" dirty="0" smtClean="0"/>
              <a:t> </a:t>
            </a:r>
            <a:r>
              <a:rPr lang="ko-KR" altLang="de-DE" sz="1300" dirty="0"/>
              <a:t>of time: measured on a yearly or quarterly basis</a:t>
            </a:r>
            <a:endParaRPr lang="de-DE" altLang="ko-KR" sz="1300" dirty="0"/>
          </a:p>
          <a:p>
            <a:pPr lvl="1">
              <a:lnSpc>
                <a:spcPct val="160000"/>
              </a:lnSpc>
            </a:pPr>
            <a:r>
              <a:rPr lang="ko-KR" altLang="de-DE" sz="1075" dirty="0"/>
              <a:t>Usually includes goods and services produced during the year</a:t>
            </a:r>
            <a:r>
              <a:rPr lang="de-DE" altLang="ko-KR" sz="1075" dirty="0"/>
              <a:t>. </a:t>
            </a:r>
          </a:p>
          <a:p>
            <a:pPr lvl="1">
              <a:lnSpc>
                <a:spcPct val="160000"/>
              </a:lnSpc>
            </a:pPr>
            <a:r>
              <a:rPr lang="ko-KR" altLang="de-DE" sz="1075" dirty="0"/>
              <a:t>Does not include those produced</a:t>
            </a:r>
            <a:r>
              <a:rPr lang="de-DE" altLang="ko-KR" sz="1075" dirty="0"/>
              <a:t> in </a:t>
            </a:r>
            <a:r>
              <a:rPr lang="ko-KR" altLang="de-DE" sz="1075" dirty="0"/>
              <a:t>the past. ex. Excluding</a:t>
            </a:r>
            <a:r>
              <a:rPr lang="de-DE" altLang="ko-KR" sz="1075" dirty="0"/>
              <a:t> </a:t>
            </a:r>
            <a:r>
              <a:rPr lang="ko-KR" altLang="de-DE" sz="1075" dirty="0"/>
              <a:t>used car transactions, existing housing transactions, etc.</a:t>
            </a:r>
            <a:endParaRPr lang="de-DE" altLang="ko-KR" sz="1075" dirty="0"/>
          </a:p>
          <a:p>
            <a:pPr lvl="1">
              <a:lnSpc>
                <a:spcPct val="160000"/>
              </a:lnSpc>
            </a:pPr>
            <a:r>
              <a:rPr lang="ko-KR" altLang="de-DE" sz="1075" dirty="0"/>
              <a:t>Those that were made </a:t>
            </a:r>
            <a:r>
              <a:rPr lang="ko-KR" altLang="de-DE" sz="1075" dirty="0" err="1"/>
              <a:t>that</a:t>
            </a:r>
            <a:r>
              <a:rPr lang="ko-KR" altLang="de-DE" sz="1075" dirty="0"/>
              <a:t> </a:t>
            </a:r>
            <a:r>
              <a:rPr lang="ko-KR" altLang="de-DE" sz="1075" dirty="0" err="1" smtClean="0"/>
              <a:t>year</a:t>
            </a:r>
            <a:r>
              <a:rPr lang="ko-KR" altLang="de-DE" sz="1075" dirty="0" smtClean="0"/>
              <a:t> </a:t>
            </a:r>
            <a:r>
              <a:rPr lang="en-US" altLang="ko-KR" sz="1075" dirty="0" smtClean="0"/>
              <a:t>but</a:t>
            </a:r>
            <a:r>
              <a:rPr lang="de-DE" altLang="ko-KR" sz="1075" dirty="0" smtClean="0"/>
              <a:t> </a:t>
            </a:r>
            <a:r>
              <a:rPr lang="ko-KR" altLang="de-DE" sz="1075" dirty="0"/>
              <a:t>not sold </a:t>
            </a:r>
            <a:r>
              <a:rPr lang="de-DE" altLang="ko-KR" sz="1075" dirty="0"/>
              <a:t>were included in GDP as inventory investments.</a:t>
            </a:r>
          </a:p>
          <a:p>
            <a:pPr>
              <a:lnSpc>
                <a:spcPct val="160000"/>
              </a:lnSpc>
            </a:pPr>
            <a:endParaRPr lang="de-DE" altLang="ko-KR" sz="1000" dirty="0"/>
          </a:p>
          <a:p>
            <a:pPr>
              <a:lnSpc>
                <a:spcPct val="160000"/>
              </a:lnSpc>
            </a:pPr>
            <a:r>
              <a:rPr lang="ko-KR" altLang="de-DE" sz="1300" dirty="0" smtClean="0"/>
              <a:t>GDP </a:t>
            </a:r>
            <a:r>
              <a:rPr lang="ko-KR" altLang="de-DE" sz="1300" dirty="0"/>
              <a:t>in terms of </a:t>
            </a:r>
            <a:r>
              <a:rPr lang="en-US" altLang="ko-KR" sz="1300" dirty="0" smtClean="0"/>
              <a:t>E</a:t>
            </a:r>
            <a:r>
              <a:rPr lang="ko-KR" altLang="de-DE" sz="1300" dirty="0" err="1" smtClean="0"/>
              <a:t>xpenditure</a:t>
            </a:r>
            <a:endParaRPr lang="de-DE" altLang="ko-KR" sz="1300" dirty="0"/>
          </a:p>
          <a:p>
            <a:pPr lvl="1">
              <a:lnSpc>
                <a:spcPct val="160000"/>
              </a:lnSpc>
            </a:pPr>
            <a:r>
              <a:rPr lang="de-DE" altLang="ko-KR" sz="1100" dirty="0"/>
              <a:t>Consumption (</a:t>
            </a:r>
            <a:r>
              <a:rPr lang="ko-KR" altLang="de-DE" sz="1100" dirty="0"/>
              <a:t>C</a:t>
            </a:r>
            <a:r>
              <a:rPr lang="de-DE" altLang="ko-KR" sz="1100" dirty="0"/>
              <a:t>),</a:t>
            </a:r>
            <a:r>
              <a:rPr lang="ko-KR" altLang="de-DE" sz="1100" dirty="0"/>
              <a:t> </a:t>
            </a:r>
            <a:r>
              <a:rPr lang="en-US" altLang="ko-KR" sz="1100" dirty="0" smtClean="0"/>
              <a:t>I</a:t>
            </a:r>
            <a:r>
              <a:rPr lang="de-DE" altLang="ko-KR" sz="1100" dirty="0" smtClean="0"/>
              <a:t>nvestment </a:t>
            </a:r>
            <a:r>
              <a:rPr lang="de-DE" altLang="ko-KR" sz="1100" dirty="0"/>
              <a:t>(</a:t>
            </a:r>
            <a:r>
              <a:rPr lang="ko-KR" altLang="de-DE" sz="1100" dirty="0" err="1"/>
              <a:t>I</a:t>
            </a:r>
            <a:r>
              <a:rPr lang="ko-KR" altLang="de-DE" sz="1100" dirty="0" smtClean="0"/>
              <a:t>)</a:t>
            </a:r>
            <a:r>
              <a:rPr lang="en-US" altLang="ko-KR" sz="1100" dirty="0" smtClean="0"/>
              <a:t>,</a:t>
            </a:r>
            <a:r>
              <a:rPr lang="de-DE" altLang="ko-KR" sz="1100" dirty="0" smtClean="0"/>
              <a:t> </a:t>
            </a:r>
            <a:r>
              <a:rPr lang="en-US" altLang="ko-KR" sz="1100" dirty="0" smtClean="0"/>
              <a:t>G</a:t>
            </a:r>
            <a:r>
              <a:rPr lang="ko-KR" altLang="de-DE" sz="1100" dirty="0" err="1" smtClean="0"/>
              <a:t>overnment</a:t>
            </a:r>
            <a:r>
              <a:rPr lang="ko-KR" altLang="de-DE" sz="1100" dirty="0" smtClean="0"/>
              <a:t> </a:t>
            </a:r>
            <a:r>
              <a:rPr lang="de-DE" altLang="ko-KR" sz="1100" dirty="0" smtClean="0"/>
              <a:t>purchases </a:t>
            </a:r>
            <a:r>
              <a:rPr lang="de-DE" altLang="ko-KR" sz="1100" dirty="0"/>
              <a:t>(G), </a:t>
            </a:r>
            <a:r>
              <a:rPr lang="ko-KR" altLang="de-DE" sz="1100" dirty="0"/>
              <a:t>and </a:t>
            </a:r>
            <a:r>
              <a:rPr lang="en-US" altLang="ko-KR" sz="1100" dirty="0" smtClean="0"/>
              <a:t>N</a:t>
            </a:r>
            <a:r>
              <a:rPr lang="ko-KR" altLang="de-DE" sz="1100" dirty="0" err="1" smtClean="0"/>
              <a:t>et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export (NX</a:t>
            </a:r>
            <a:r>
              <a:rPr lang="ko-KR" altLang="de-DE" sz="1100" dirty="0" smtClean="0"/>
              <a:t>)</a:t>
            </a:r>
            <a:endParaRPr lang="de-DE" altLang="ko-KR" sz="1100" dirty="0"/>
          </a:p>
          <a:p>
            <a:pPr lvl="1">
              <a:lnSpc>
                <a:spcPct val="160000"/>
              </a:lnSpc>
            </a:pPr>
            <a:r>
              <a:rPr lang="de-DE" altLang="ko-KR" sz="1300" b="1" dirty="0" smtClean="0"/>
              <a:t>Identity: Y </a:t>
            </a:r>
            <a:r>
              <a:rPr lang="de-DE" altLang="ko-KR" sz="1300" b="1" dirty="0"/>
              <a:t>= C + I + G +  </a:t>
            </a:r>
            <a:r>
              <a:rPr lang="de-DE" altLang="ko-KR" sz="1300" b="1" dirty="0" smtClean="0"/>
              <a:t>NX</a:t>
            </a:r>
            <a:endParaRPr lang="de-DE" altLang="ko-KR" sz="1300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71488" y="702944"/>
            <a:ext cx="5915025" cy="1070800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de-DE" altLang="ko-KR" sz="1300" dirty="0">
                <a:sym typeface="Wingdings" panose="05000000000000000000" pitchFamily="2" charset="2"/>
              </a:rPr>
              <a:t>Consumption (</a:t>
            </a:r>
            <a:r>
              <a:rPr lang="ko-KR" altLang="de-DE" sz="1300" dirty="0">
                <a:sym typeface="Wingdings" panose="05000000000000000000" pitchFamily="2" charset="2"/>
              </a:rPr>
              <a:t>C</a:t>
            </a:r>
            <a:r>
              <a:rPr lang="de-DE" altLang="ko-KR" sz="1300" dirty="0">
                <a:sym typeface="Wingdings" panose="05000000000000000000" pitchFamily="2" charset="2"/>
              </a:rPr>
              <a:t>): </a:t>
            </a:r>
            <a:r>
              <a:rPr lang="de-DE" altLang="ko-KR" sz="1300" dirty="0" smtClean="0">
                <a:sym typeface="Wingdings" panose="05000000000000000000" pitchFamily="2" charset="2"/>
              </a:rPr>
              <a:t>Spending by household on </a:t>
            </a:r>
            <a:r>
              <a:rPr lang="ko-KR" altLang="de-DE" sz="1300" dirty="0">
                <a:sym typeface="Wingdings" panose="05000000000000000000" pitchFamily="2" charset="2"/>
              </a:rPr>
              <a:t>goods and services</a:t>
            </a:r>
            <a:endParaRPr lang="de-DE" altLang="ko-KR" sz="13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r>
              <a:rPr lang="en-US" altLang="ko-KR" sz="1100" dirty="0" smtClean="0">
                <a:sym typeface="Wingdings" panose="05000000000000000000" pitchFamily="2" charset="2"/>
              </a:rPr>
              <a:t>Exception: purchases of new house </a:t>
            </a:r>
            <a:r>
              <a:rPr lang="de-DE" altLang="ko-KR" sz="1100" dirty="0" smtClean="0">
                <a:sym typeface="Wingdings" panose="05000000000000000000" pitchFamily="2" charset="2"/>
              </a:rPr>
              <a:t> </a:t>
            </a:r>
            <a:r>
              <a:rPr lang="de-DE" altLang="ko-KR" sz="1100" dirty="0">
                <a:sym typeface="Wingdings" panose="05000000000000000000" pitchFamily="2" charset="2"/>
              </a:rPr>
              <a:t>investment, not consumption. </a:t>
            </a:r>
          </a:p>
          <a:p>
            <a:pPr>
              <a:lnSpc>
                <a:spcPct val="160000"/>
              </a:lnSpc>
            </a:pPr>
            <a:r>
              <a:rPr lang="de-DE" altLang="ko-KR" sz="1325" dirty="0">
                <a:sym typeface="Wingdings" panose="05000000000000000000" pitchFamily="2" charset="2"/>
              </a:rPr>
              <a:t>Investment (</a:t>
            </a:r>
            <a:r>
              <a:rPr lang="ko-KR" altLang="de-DE" sz="1325" dirty="0">
                <a:sym typeface="Wingdings" panose="05000000000000000000" pitchFamily="2" charset="2"/>
              </a:rPr>
              <a:t>I): </a:t>
            </a:r>
            <a:r>
              <a:rPr lang="en-US" altLang="ko-KR" sz="1325" dirty="0" smtClean="0">
                <a:sym typeface="Wingdings" panose="05000000000000000000" pitchFamily="2" charset="2"/>
              </a:rPr>
              <a:t>P</a:t>
            </a:r>
            <a:r>
              <a:rPr lang="ko-KR" altLang="de-DE" sz="1325" dirty="0" err="1" smtClean="0">
                <a:sym typeface="Wingdings" panose="05000000000000000000" pitchFamily="2" charset="2"/>
              </a:rPr>
              <a:t>urchas</a:t>
            </a:r>
            <a:r>
              <a:rPr lang="en-US" altLang="ko-KR" sz="1325" dirty="0" smtClean="0">
                <a:sym typeface="Wingdings" panose="05000000000000000000" pitchFamily="2" charset="2"/>
              </a:rPr>
              <a:t>e of </a:t>
            </a:r>
            <a:r>
              <a:rPr lang="ko-KR" altLang="de-DE" sz="1325" dirty="0" err="1" smtClean="0">
                <a:sym typeface="Wingdings" panose="05000000000000000000" pitchFamily="2" charset="2"/>
              </a:rPr>
              <a:t>goods</a:t>
            </a:r>
            <a:r>
              <a:rPr lang="ko-KR" altLang="de-DE" sz="1325" dirty="0" smtClean="0">
                <a:sym typeface="Wingdings" panose="05000000000000000000" pitchFamily="2" charset="2"/>
              </a:rPr>
              <a:t> </a:t>
            </a:r>
            <a:r>
              <a:rPr lang="ko-KR" altLang="de-DE" sz="1325" dirty="0">
                <a:sym typeface="Wingdings" panose="05000000000000000000" pitchFamily="2" charset="2"/>
              </a:rPr>
              <a:t>used to </a:t>
            </a:r>
            <a:r>
              <a:rPr lang="ko-KR" altLang="de-DE" sz="1325" dirty="0" err="1">
                <a:sym typeface="Wingdings" panose="05000000000000000000" pitchFamily="2" charset="2"/>
              </a:rPr>
              <a:t>produce</a:t>
            </a:r>
            <a:r>
              <a:rPr lang="ko-KR" altLang="de-DE" sz="1325" dirty="0">
                <a:sym typeface="Wingdings" panose="05000000000000000000" pitchFamily="2" charset="2"/>
              </a:rPr>
              <a:t> </a:t>
            </a:r>
            <a:r>
              <a:rPr lang="en-US" altLang="ko-KR" sz="1325" dirty="0" smtClean="0">
                <a:sym typeface="Wingdings" panose="05000000000000000000" pitchFamily="2" charset="2"/>
              </a:rPr>
              <a:t>other </a:t>
            </a:r>
            <a:r>
              <a:rPr lang="ko-KR" altLang="de-DE" sz="1325" dirty="0" err="1" smtClean="0">
                <a:sym typeface="Wingdings" panose="05000000000000000000" pitchFamily="2" charset="2"/>
              </a:rPr>
              <a:t>goods</a:t>
            </a:r>
            <a:r>
              <a:rPr lang="ko-KR" altLang="de-DE" sz="1325" dirty="0" smtClean="0">
                <a:sym typeface="Wingdings" panose="05000000000000000000" pitchFamily="2" charset="2"/>
              </a:rPr>
              <a:t> </a:t>
            </a:r>
            <a:r>
              <a:rPr lang="ko-KR" altLang="de-DE" sz="1325" dirty="0">
                <a:sym typeface="Wingdings" panose="05000000000000000000" pitchFamily="2" charset="2"/>
              </a:rPr>
              <a:t>or services</a:t>
            </a:r>
            <a:r>
              <a:rPr lang="de-DE" altLang="ko-KR" sz="1325" dirty="0">
                <a:sym typeface="Wingdings" panose="05000000000000000000" pitchFamily="2" charset="2"/>
              </a:rPr>
              <a:t> in the future, total expenditure on capital goods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 smtClean="0">
                <a:sym typeface="Wingdings" panose="05000000000000000000" pitchFamily="2" charset="2"/>
              </a:rPr>
              <a:t>Business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capital</a:t>
            </a:r>
            <a:r>
              <a:rPr lang="de-DE" altLang="ko-KR" sz="1100" dirty="0">
                <a:sym typeface="Wingdings" panose="05000000000000000000" pitchFamily="2" charset="2"/>
              </a:rPr>
              <a:t>: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business</a:t>
            </a:r>
            <a:r>
              <a:rPr lang="en-US" altLang="ko-KR" sz="1100" dirty="0" smtClean="0">
                <a:sym typeface="Wingdings" panose="05000000000000000000" pitchFamily="2" charset="2"/>
              </a:rPr>
              <a:t>structures</a:t>
            </a:r>
            <a:r>
              <a:rPr lang="ko-KR" altLang="de-DE" sz="1100" dirty="0" smtClean="0">
                <a:sym typeface="Wingdings" panose="05000000000000000000" pitchFamily="2" charset="2"/>
              </a:rPr>
              <a:t>, </a:t>
            </a:r>
            <a:r>
              <a:rPr lang="ko-KR" altLang="de-DE" sz="1100" dirty="0">
                <a:sym typeface="Wingdings" panose="05000000000000000000" pitchFamily="2" charset="2"/>
              </a:rPr>
              <a:t>equipment, </a:t>
            </a:r>
            <a:r>
              <a:rPr lang="ko-KR" altLang="de-DE" sz="1100" dirty="0" err="1">
                <a:sym typeface="Wingdings" panose="05000000000000000000" pitchFamily="2" charset="2"/>
              </a:rPr>
              <a:t>intellectual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property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en-US" altLang="ko-KR" sz="1100" dirty="0" smtClean="0">
                <a:sym typeface="Wingdings" panose="05000000000000000000" pitchFamily="2" charset="2"/>
              </a:rPr>
              <a:t>products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r>
              <a:rPr lang="ko-KR" altLang="de-DE" sz="1100" dirty="0" err="1">
                <a:sym typeface="Wingdings" panose="05000000000000000000" pitchFamily="2" charset="2"/>
              </a:rPr>
              <a:t>Residential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 err="1">
                <a:sym typeface="Wingdings" panose="05000000000000000000" pitchFamily="2" charset="2"/>
              </a:rPr>
              <a:t>capital</a:t>
            </a:r>
            <a:r>
              <a:rPr lang="de-DE" altLang="ko-KR" sz="1100" dirty="0" smtClean="0">
                <a:sym typeface="Wingdings" panose="05000000000000000000" pitchFamily="2" charset="2"/>
              </a:rPr>
              <a:t>: landlord‘s apartment buildiing, a homeowner‘s personal residence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r>
              <a:rPr lang="ko-KR" altLang="de-DE" sz="1100" dirty="0">
                <a:sym typeface="Wingdings" panose="05000000000000000000" pitchFamily="2" charset="2"/>
              </a:rPr>
              <a:t>Inventory accumulation</a:t>
            </a:r>
            <a:r>
              <a:rPr lang="de-DE" altLang="ko-KR" sz="1100" dirty="0">
                <a:sym typeface="Wingdings" panose="05000000000000000000" pitchFamily="2" charset="2"/>
              </a:rPr>
              <a:t>:</a:t>
            </a:r>
            <a:r>
              <a:rPr lang="ko-KR" altLang="de-DE" sz="1100" dirty="0">
                <a:sym typeface="Wingdings" panose="05000000000000000000" pitchFamily="2" charset="2"/>
              </a:rPr>
              <a:t> goods produced but not yet sold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de-DE" altLang="ko-KR" sz="1325" dirty="0" smtClean="0">
                <a:sym typeface="Wingdings" panose="05000000000000000000" pitchFamily="2" charset="2"/>
              </a:rPr>
              <a:t>Government </a:t>
            </a:r>
            <a:r>
              <a:rPr lang="de-DE" altLang="ko-KR" sz="1325" dirty="0">
                <a:sym typeface="Wingdings" panose="05000000000000000000" pitchFamily="2" charset="2"/>
              </a:rPr>
              <a:t>purchases (</a:t>
            </a:r>
            <a:r>
              <a:rPr lang="ko-KR" altLang="de-DE" sz="1325" dirty="0">
                <a:sym typeface="Wingdings" panose="05000000000000000000" pitchFamily="2" charset="2"/>
              </a:rPr>
              <a:t>G): </a:t>
            </a:r>
            <a:r>
              <a:rPr lang="ko-KR" altLang="de-DE" sz="1325" dirty="0" err="1">
                <a:sym typeface="Wingdings" panose="05000000000000000000" pitchFamily="2" charset="2"/>
              </a:rPr>
              <a:t>Government</a:t>
            </a:r>
            <a:r>
              <a:rPr lang="ko-KR" altLang="de-DE" sz="1325" dirty="0">
                <a:sym typeface="Wingdings" panose="05000000000000000000" pitchFamily="2" charset="2"/>
              </a:rPr>
              <a:t> </a:t>
            </a:r>
            <a:r>
              <a:rPr lang="en-US" altLang="ko-KR" sz="1325" dirty="0" err="1" smtClean="0">
                <a:sym typeface="Wingdings" panose="05000000000000000000" pitchFamily="2" charset="2"/>
              </a:rPr>
              <a:t>comsumption</a:t>
            </a:r>
            <a:r>
              <a:rPr lang="en-US" altLang="ko-KR" sz="1325" dirty="0" smtClean="0">
                <a:sym typeface="Wingdings" panose="05000000000000000000" pitchFamily="2" charset="2"/>
              </a:rPr>
              <a:t> expenditure and gross investment on goods and services</a:t>
            </a:r>
            <a:endParaRPr lang="de-DE" altLang="ko-KR" sz="1325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r>
              <a:rPr lang="ko-KR" altLang="de-DE" sz="1100" dirty="0" smtClean="0">
                <a:sym typeface="Wingdings" panose="05000000000000000000" pitchFamily="2" charset="2"/>
              </a:rPr>
              <a:t>Transfer </a:t>
            </a:r>
            <a:r>
              <a:rPr lang="ko-KR" altLang="de-DE" sz="1100" dirty="0">
                <a:sym typeface="Wingdings" panose="05000000000000000000" pitchFamily="2" charset="2"/>
              </a:rPr>
              <a:t>expenditure</a:t>
            </a:r>
            <a:r>
              <a:rPr lang="de-DE" altLang="ko-KR" sz="1100" dirty="0">
                <a:sym typeface="Wingdings" panose="05000000000000000000" pitchFamily="2" charset="2"/>
              </a:rPr>
              <a:t> (</a:t>
            </a:r>
            <a:r>
              <a:rPr lang="ko-KR" altLang="de-DE" sz="1100" dirty="0">
                <a:sym typeface="Wingdings" panose="05000000000000000000" pitchFamily="2" charset="2"/>
              </a:rPr>
              <a:t>money given</a:t>
            </a:r>
            <a:r>
              <a:rPr lang="de-DE" altLang="ko-KR" sz="1100" dirty="0">
                <a:sym typeface="Wingdings" panose="05000000000000000000" pitchFamily="2" charset="2"/>
              </a:rPr>
              <a:t> to the </a:t>
            </a:r>
            <a:r>
              <a:rPr lang="ko-KR" altLang="de-DE" sz="1100" dirty="0">
                <a:sym typeface="Wingdings" panose="05000000000000000000" pitchFamily="2" charset="2"/>
              </a:rPr>
              <a:t> people </a:t>
            </a:r>
            <a:r>
              <a:rPr lang="ko-KR" altLang="de-DE" sz="1100" dirty="0" err="1">
                <a:sym typeface="Wingdings" panose="05000000000000000000" pitchFamily="2" charset="2"/>
              </a:rPr>
              <a:t>by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law</a:t>
            </a:r>
            <a:r>
              <a:rPr lang="de-DE" altLang="ko-KR" sz="1100" dirty="0" smtClean="0">
                <a:sym typeface="Wingdings" panose="05000000000000000000" pitchFamily="2" charset="2"/>
              </a:rPr>
              <a:t>, </a:t>
            </a:r>
            <a:r>
              <a:rPr lang="de-DE" altLang="ko-KR" sz="1100" dirty="0">
                <a:sym typeface="Wingdings" panose="05000000000000000000" pitchFamily="2" charset="2"/>
              </a:rPr>
              <a:t>not at the cost of purchasing goods or services</a:t>
            </a:r>
            <a:r>
              <a:rPr lang="de-DE" altLang="ko-KR" sz="1100" dirty="0" smtClean="0">
                <a:sym typeface="Wingdings" panose="05000000000000000000" pitchFamily="2" charset="2"/>
              </a:rPr>
              <a:t>) </a:t>
            </a:r>
            <a:r>
              <a:rPr lang="en-US" altLang="ko-KR" sz="1100" dirty="0" smtClean="0">
                <a:sym typeface="Wingdings" panose="05000000000000000000" pitchFamily="2" charset="2"/>
              </a:rPr>
              <a:t>not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en-US" altLang="ko-KR" sz="1100" dirty="0" smtClean="0">
                <a:sym typeface="Wingdings" panose="05000000000000000000" pitchFamily="2" charset="2"/>
              </a:rPr>
              <a:t>included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de-DE" altLang="ko-KR" sz="1325" dirty="0">
                <a:sym typeface="Wingdings" panose="05000000000000000000" pitchFamily="2" charset="2"/>
              </a:rPr>
              <a:t>Net</a:t>
            </a:r>
            <a:r>
              <a:rPr lang="ko-KR" altLang="de-DE" sz="1325" dirty="0" err="1">
                <a:sym typeface="Wingdings" panose="05000000000000000000" pitchFamily="2" charset="2"/>
              </a:rPr>
              <a:t> </a:t>
            </a:r>
            <a:r>
              <a:rPr lang="de-DE" altLang="ko-KR" sz="1325" dirty="0">
                <a:sym typeface="Wingdings" panose="05000000000000000000" pitchFamily="2" charset="2"/>
              </a:rPr>
              <a:t>export (</a:t>
            </a:r>
            <a:r>
              <a:rPr lang="ko-KR" altLang="de-DE" sz="1325" dirty="0">
                <a:sym typeface="Wingdings" panose="05000000000000000000" pitchFamily="2" charset="2"/>
              </a:rPr>
              <a:t>NX): </a:t>
            </a:r>
            <a:r>
              <a:rPr lang="de-DE" altLang="ko-KR" sz="1325" dirty="0">
                <a:sym typeface="Wingdings" panose="05000000000000000000" pitchFamily="2" charset="2"/>
              </a:rPr>
              <a:t> </a:t>
            </a:r>
            <a:r>
              <a:rPr lang="de-DE" altLang="ko-KR" sz="1325" dirty="0" smtClean="0">
                <a:sym typeface="Wingdings" panose="05000000000000000000" pitchFamily="2" charset="2"/>
              </a:rPr>
              <a:t>Export(</a:t>
            </a:r>
            <a:r>
              <a:rPr lang="en-US" altLang="ko-KR" sz="1325" dirty="0" smtClean="0">
                <a:sym typeface="Wingdings" panose="05000000000000000000" pitchFamily="2" charset="2"/>
              </a:rPr>
              <a:t>X)</a:t>
            </a:r>
            <a:r>
              <a:rPr lang="ko-KR" altLang="de-DE" sz="1325" dirty="0" smtClean="0">
                <a:sym typeface="Wingdings" panose="05000000000000000000" pitchFamily="2" charset="2"/>
              </a:rPr>
              <a:t> </a:t>
            </a:r>
            <a:r>
              <a:rPr lang="de-DE" altLang="ko-KR" sz="1325" dirty="0" smtClean="0">
                <a:sym typeface="Wingdings" panose="05000000000000000000" pitchFamily="2" charset="2"/>
              </a:rPr>
              <a:t>– Import(IM)</a:t>
            </a:r>
            <a:endParaRPr lang="de-DE" altLang="ko-KR" sz="1325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endParaRPr lang="de-DE" altLang="ko-KR" sz="9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de-DE" altLang="ko-KR" sz="1325" dirty="0">
                <a:sym typeface="Wingdings" panose="05000000000000000000" pitchFamily="2" charset="2"/>
              </a:rPr>
              <a:t>Y = C + I + G + NX </a:t>
            </a:r>
          </a:p>
          <a:p>
            <a:pPr lvl="1">
              <a:lnSpc>
                <a:spcPct val="160000"/>
              </a:lnSpc>
            </a:pPr>
            <a:r>
              <a:rPr lang="ko-KR" altLang="de-DE" sz="1100" dirty="0">
                <a:sym typeface="Wingdings" panose="05000000000000000000" pitchFamily="2" charset="2"/>
              </a:rPr>
              <a:t>Korea</a:t>
            </a:r>
            <a:r>
              <a:rPr lang="de-DE" altLang="ko-KR" sz="1100" dirty="0">
                <a:sym typeface="Wingdings" panose="05000000000000000000" pitchFamily="2" charset="2"/>
              </a:rPr>
              <a:t>'</a:t>
            </a:r>
            <a:r>
              <a:rPr lang="ko-KR" altLang="de-DE" sz="1100" dirty="0">
                <a:sym typeface="Wingdings" panose="05000000000000000000" pitchFamily="2" charset="2"/>
              </a:rPr>
              <a:t>s GDP components: </a:t>
            </a:r>
            <a:r>
              <a:rPr lang="en-US" altLang="ko-KR" sz="1100" dirty="0" smtClean="0">
                <a:sym typeface="Wingdings" panose="05000000000000000000" pitchFamily="2" charset="2"/>
              </a:rPr>
              <a:t>Share of c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onsumption</a:t>
            </a:r>
            <a:r>
              <a:rPr lang="de-DE" altLang="ko-KR" sz="1100" dirty="0" smtClean="0">
                <a:sym typeface="Wingdings" panose="05000000000000000000" pitchFamily="2" charset="2"/>
              </a:rPr>
              <a:t> </a:t>
            </a:r>
            <a:r>
              <a:rPr lang="de-DE" altLang="ko-KR" sz="1100" dirty="0">
                <a:sym typeface="Wingdings" panose="05000000000000000000" pitchFamily="2" charset="2"/>
              </a:rPr>
              <a:t>is relatively small and </a:t>
            </a:r>
            <a:r>
              <a:rPr lang="de-DE" altLang="ko-KR" sz="1100" dirty="0" smtClean="0">
                <a:sym typeface="Wingdings" panose="05000000000000000000" pitchFamily="2" charset="2"/>
              </a:rPr>
              <a:t>that of Investment </a:t>
            </a:r>
            <a:r>
              <a:rPr lang="de-DE" altLang="ko-KR" sz="1100" dirty="0">
                <a:sym typeface="Wingdings" panose="05000000000000000000" pitchFamily="2" charset="2"/>
              </a:rPr>
              <a:t>is high. Focus on </a:t>
            </a:r>
            <a:r>
              <a:rPr lang="ko-KR" altLang="de-DE" sz="1100" dirty="0">
                <a:sym typeface="Wingdings" panose="05000000000000000000" pitchFamily="2" charset="2"/>
              </a:rPr>
              <a:t>corporate investment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r>
              <a:rPr lang="ko-KR" altLang="de-DE" sz="1100" dirty="0">
                <a:sym typeface="Wingdings" panose="05000000000000000000" pitchFamily="2" charset="2"/>
              </a:rPr>
              <a:t>US</a:t>
            </a:r>
            <a:r>
              <a:rPr lang="de-DE" altLang="ko-KR" sz="1100" dirty="0">
                <a:sym typeface="Wingdings" panose="05000000000000000000" pitchFamily="2" charset="2"/>
              </a:rPr>
              <a:t>:</a:t>
            </a:r>
            <a:r>
              <a:rPr lang="ko-KR" altLang="de-DE" sz="1100" dirty="0">
                <a:sym typeface="Wingdings" panose="05000000000000000000" pitchFamily="2" charset="2"/>
              </a:rPr>
              <a:t> The share of consumption </a:t>
            </a:r>
            <a:r>
              <a:rPr lang="ko-KR" altLang="de-DE" sz="1100" dirty="0" err="1">
                <a:sym typeface="Wingdings" panose="05000000000000000000" pitchFamily="2" charset="2"/>
              </a:rPr>
              <a:t>is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overwhelming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endParaRPr lang="de-DE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de-DE" altLang="ko-KR" sz="1325" dirty="0">
                <a:sym typeface="Wingdings" panose="05000000000000000000" pitchFamily="2" charset="2"/>
              </a:rPr>
              <a:t>Example of </a:t>
            </a:r>
            <a:r>
              <a:rPr lang="ko-KR" altLang="de-DE" sz="1325" dirty="0">
                <a:sym typeface="Wingdings" panose="05000000000000000000" pitchFamily="2" charset="2"/>
              </a:rPr>
              <a:t>GDP configuration items </a:t>
            </a:r>
            <a:r>
              <a:rPr lang="de-DE" altLang="ko-KR" sz="1325" dirty="0">
                <a:sym typeface="Wingdings" panose="05000000000000000000" pitchFamily="2" charset="2"/>
              </a:rPr>
              <a:t>(caution!!) ☆☆</a:t>
            </a:r>
          </a:p>
          <a:p>
            <a:pPr lvl="1">
              <a:lnSpc>
                <a:spcPct val="160000"/>
              </a:lnSpc>
            </a:pPr>
            <a:r>
              <a:rPr lang="ko-KR" altLang="de-DE" sz="1100" dirty="0">
                <a:sym typeface="Wingdings" panose="05000000000000000000" pitchFamily="2" charset="2"/>
              </a:rPr>
              <a:t>When</a:t>
            </a:r>
            <a:r>
              <a:rPr lang="de-DE" altLang="ko-KR" sz="1100" dirty="0">
                <a:sym typeface="Wingdings" panose="05000000000000000000" pitchFamily="2" charset="2"/>
              </a:rPr>
              <a:t> a </a:t>
            </a:r>
            <a:r>
              <a:rPr lang="de-DE" altLang="ko-KR" sz="1100" dirty="0" smtClean="0">
                <a:sym typeface="Wingdings" panose="05000000000000000000" pitchFamily="2" charset="2"/>
              </a:rPr>
              <a:t>domestic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company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purchases</a:t>
            </a:r>
            <a:r>
              <a:rPr lang="de-DE" altLang="ko-KR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foreign</a:t>
            </a:r>
            <a:r>
              <a:rPr lang="de-DE" altLang="ko-KR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products (equipment, machinery) for</a:t>
            </a:r>
            <a:r>
              <a:rPr lang="de-DE" altLang="ko-KR" sz="1100" dirty="0">
                <a:sym typeface="Wingdings" panose="05000000000000000000" pitchFamily="2" charset="2"/>
              </a:rPr>
              <a:t> business</a:t>
            </a:r>
            <a:r>
              <a:rPr lang="ko-KR" altLang="de-DE" sz="1100" dirty="0">
                <a:sym typeface="Wingdings" panose="05000000000000000000" pitchFamily="2" charset="2"/>
              </a:rPr>
              <a:t>  purposes, </a:t>
            </a:r>
            <a:r>
              <a:rPr lang="en-US" altLang="ko-KR" sz="1100" dirty="0" smtClean="0">
                <a:sym typeface="Wingdings" panose="05000000000000000000" pitchFamily="2" charset="2"/>
              </a:rPr>
              <a:t>I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nvestment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increases, </a:t>
            </a:r>
            <a:r>
              <a:rPr lang="ko-KR" altLang="de-DE" sz="1100" dirty="0" err="1">
                <a:sym typeface="Wingdings" panose="05000000000000000000" pitchFamily="2" charset="2"/>
              </a:rPr>
              <a:t>but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en-US" altLang="ko-KR" sz="1100" dirty="0" smtClean="0">
                <a:sym typeface="Wingdings" panose="05000000000000000000" pitchFamily="2" charset="2"/>
              </a:rPr>
              <a:t>N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et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exports decrease, and GDP remains unchanged.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r>
              <a:rPr lang="ko-KR" altLang="de-DE" sz="1100" dirty="0">
                <a:sym typeface="Wingdings" panose="05000000000000000000" pitchFamily="2" charset="2"/>
              </a:rPr>
              <a:t>Used products</a:t>
            </a:r>
            <a:r>
              <a:rPr lang="de-DE" altLang="ko-KR" sz="1100" dirty="0">
                <a:sym typeface="Wingdings" panose="05000000000000000000" pitchFamily="2" charset="2"/>
              </a:rPr>
              <a:t>,</a:t>
            </a:r>
            <a:r>
              <a:rPr lang="ko-KR" altLang="de-DE" sz="1100" dirty="0">
                <a:sym typeface="Wingdings" panose="05000000000000000000" pitchFamily="2" charset="2"/>
              </a:rPr>
              <a:t> and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inventories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 err="1">
                <a:sym typeface="Wingdings" panose="05000000000000000000" pitchFamily="2" charset="2"/>
              </a:rPr>
              <a:t>made</a:t>
            </a:r>
            <a:r>
              <a:rPr lang="ko-KR" altLang="de-DE" sz="1100" dirty="0">
                <a:sym typeface="Wingdings" panose="05000000000000000000" pitchFamily="2" charset="2"/>
              </a:rPr>
              <a:t> before the current year,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do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not affect GDP and its components no matter how much they are bought and sold.</a:t>
            </a:r>
            <a:r>
              <a:rPr lang="de-DE" altLang="ko-KR" sz="1100" dirty="0">
                <a:sym typeface="Wingdings" panose="05000000000000000000" pitchFamily="2" charset="2"/>
              </a:rPr>
              <a:t> </a:t>
            </a:r>
          </a:p>
          <a:p>
            <a:pPr>
              <a:lnSpc>
                <a:spcPct val="160000"/>
              </a:lnSpc>
            </a:pPr>
            <a:endParaRPr lang="de-DE" altLang="ko-KR" sz="1325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de-DE" altLang="ko-KR" sz="1325" dirty="0" smtClean="0">
                <a:sym typeface="Wingdings" panose="05000000000000000000" pitchFamily="2" charset="2"/>
              </a:rPr>
              <a:t>Real</a:t>
            </a:r>
            <a:r>
              <a:rPr lang="ko-KR" altLang="de-DE" sz="1325" dirty="0" smtClean="0">
                <a:sym typeface="Wingdings" panose="05000000000000000000" pitchFamily="2" charset="2"/>
              </a:rPr>
              <a:t> </a:t>
            </a:r>
            <a:r>
              <a:rPr lang="de-DE" altLang="ko-KR" sz="1325" dirty="0">
                <a:sym typeface="Wingdings" panose="05000000000000000000" pitchFamily="2" charset="2"/>
              </a:rPr>
              <a:t>GDP and nominal GDP</a:t>
            </a:r>
          </a:p>
          <a:p>
            <a:pPr lvl="1">
              <a:lnSpc>
                <a:spcPct val="160000"/>
              </a:lnSpc>
            </a:pPr>
            <a:r>
              <a:rPr lang="ko-KR" altLang="de-DE" sz="1100" dirty="0">
                <a:sym typeface="Wingdings" panose="05000000000000000000" pitchFamily="2" charset="2"/>
              </a:rPr>
              <a:t>Nominal</a:t>
            </a:r>
            <a:r>
              <a:rPr lang="de-DE" altLang="ko-KR" sz="1100" dirty="0">
                <a:sym typeface="Wingdings" panose="05000000000000000000" pitchFamily="2" charset="2"/>
              </a:rPr>
              <a:t> GDP: </a:t>
            </a:r>
            <a:r>
              <a:rPr lang="ko-KR" altLang="de-DE" sz="1100" dirty="0">
                <a:sym typeface="Wingdings" panose="05000000000000000000" pitchFamily="2" charset="2"/>
              </a:rPr>
              <a:t>Value of</a:t>
            </a:r>
            <a:r>
              <a:rPr lang="de-DE" altLang="ko-KR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output calculated at current prices, not taking inflation </a:t>
            </a:r>
            <a:r>
              <a:rPr lang="ko-KR" altLang="de-DE" sz="1100" dirty="0" err="1">
                <a:sym typeface="Wingdings" panose="05000000000000000000" pitchFamily="2" charset="2"/>
              </a:rPr>
              <a:t>into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account</a:t>
            </a:r>
            <a:endParaRPr lang="ko-KR" altLang="de-DE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r>
              <a:rPr lang="de-DE" altLang="ko-KR" sz="1100" dirty="0">
                <a:sym typeface="Wingdings" panose="05000000000000000000" pitchFamily="2" charset="2"/>
              </a:rPr>
              <a:t>Real </a:t>
            </a:r>
            <a:r>
              <a:rPr lang="ko-KR" altLang="de-DE" sz="1100" dirty="0">
                <a:sym typeface="Wingdings" panose="05000000000000000000" pitchFamily="2" charset="2"/>
              </a:rPr>
              <a:t>GDP: Value</a:t>
            </a:r>
            <a:r>
              <a:rPr lang="de-DE" altLang="ko-KR" sz="1100" dirty="0">
                <a:sym typeface="Wingdings" panose="05000000000000000000" pitchFamily="2" charset="2"/>
              </a:rPr>
              <a:t> of output </a:t>
            </a:r>
            <a:r>
              <a:rPr lang="ko-KR" altLang="de-DE" sz="1100" dirty="0">
                <a:sym typeface="Wingdings" panose="05000000000000000000" pitchFamily="2" charset="2"/>
              </a:rPr>
              <a:t>using</a:t>
            </a:r>
            <a:r>
              <a:rPr lang="de-DE" altLang="ko-KR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base </a:t>
            </a:r>
            <a:r>
              <a:rPr lang="ko-KR" altLang="de-DE" sz="1100" dirty="0" err="1">
                <a:sym typeface="Wingdings" panose="05000000000000000000" pitchFamily="2" charset="2"/>
              </a:rPr>
              <a:t>year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prices</a:t>
            </a:r>
            <a:r>
              <a:rPr lang="en-US" altLang="ko-KR" sz="1100" dirty="0" smtClean="0">
                <a:sym typeface="Wingdings" panose="05000000000000000000" pitchFamily="2" charset="2"/>
              </a:rPr>
              <a:t>(=valued at constant prices)</a:t>
            </a:r>
            <a:r>
              <a:rPr lang="de-DE" altLang="ko-KR" sz="1100" dirty="0" smtClean="0">
                <a:sym typeface="Wingdings" panose="05000000000000000000" pitchFamily="2" charset="2"/>
              </a:rPr>
              <a:t>, not affected by change s in prices</a:t>
            </a:r>
            <a:endParaRPr lang="de-DE" altLang="ko-KR" sz="875" dirty="0">
              <a:sym typeface="Wingdings" panose="05000000000000000000" pitchFamily="2" charset="2"/>
            </a:endParaRPr>
          </a:p>
          <a:p>
            <a:pPr marL="257175" lvl="1" indent="0">
              <a:lnSpc>
                <a:spcPct val="160000"/>
              </a:lnSpc>
              <a:buNone/>
            </a:pPr>
            <a:endParaRPr lang="de-DE" altLang="ko-KR" sz="1100" dirty="0">
              <a:sym typeface="Wingdings" panose="05000000000000000000" pitchFamily="2" charset="2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960120"/>
            <a:ext cx="5915025" cy="957453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de-DE" sz="1300" dirty="0"/>
              <a:t>The rate</a:t>
            </a:r>
            <a:r>
              <a:rPr lang="de-DE" altLang="ko-KR" sz="1300" dirty="0"/>
              <a:t> of </a:t>
            </a:r>
            <a:r>
              <a:rPr lang="ko-KR" altLang="de-DE" sz="1300" dirty="0"/>
              <a:t>change in nominal</a:t>
            </a:r>
            <a:r>
              <a:rPr lang="de-DE" altLang="ko-KR" sz="1300" dirty="0"/>
              <a:t> </a:t>
            </a:r>
            <a:r>
              <a:rPr lang="ko-KR" altLang="de-DE" sz="1300" dirty="0"/>
              <a:t>GDP (= nominal growth rate) reflects both price and production changes.</a:t>
            </a:r>
            <a:endParaRPr lang="de-DE" altLang="ko-KR" sz="1300" dirty="0"/>
          </a:p>
          <a:p>
            <a:pPr>
              <a:lnSpc>
                <a:spcPct val="160000"/>
              </a:lnSpc>
            </a:pPr>
            <a:r>
              <a:rPr lang="ko-KR" altLang="de-DE" sz="1300" dirty="0"/>
              <a:t>The rate of change</a:t>
            </a:r>
            <a:r>
              <a:rPr lang="de-DE" altLang="ko-KR" sz="1300" dirty="0"/>
              <a:t> in </a:t>
            </a:r>
            <a:r>
              <a:rPr lang="ko-KR" altLang="de-DE" sz="1300" dirty="0"/>
              <a:t>real</a:t>
            </a:r>
            <a:r>
              <a:rPr lang="de-DE" altLang="ko-KR" sz="1300" dirty="0"/>
              <a:t> </a:t>
            </a:r>
            <a:r>
              <a:rPr lang="ko-KR" altLang="de-DE" sz="1300" dirty="0"/>
              <a:t>GDP </a:t>
            </a:r>
            <a:r>
              <a:rPr lang="de-DE" altLang="ko-KR" sz="1300" dirty="0"/>
              <a:t>(=</a:t>
            </a:r>
            <a:r>
              <a:rPr lang="ko-KR" altLang="de-DE" sz="1300" dirty="0"/>
              <a:t>real growth rate) </a:t>
            </a:r>
            <a:r>
              <a:rPr lang="en-US" altLang="ko-KR" sz="1300" dirty="0" smtClean="0"/>
              <a:t>measures </a:t>
            </a:r>
            <a:r>
              <a:rPr lang="ko-KR" altLang="de-DE" sz="1300" dirty="0" err="1" smtClean="0"/>
              <a:t>changes</a:t>
            </a:r>
            <a:r>
              <a:rPr lang="ko-KR" altLang="de-DE" sz="1300" dirty="0" smtClean="0"/>
              <a:t> </a:t>
            </a:r>
            <a:r>
              <a:rPr lang="ko-KR" altLang="de-DE" sz="1300" dirty="0" err="1"/>
              <a:t>in</a:t>
            </a:r>
            <a:r>
              <a:rPr lang="ko-KR" altLang="de-DE" sz="1300" dirty="0"/>
              <a:t> </a:t>
            </a:r>
            <a:r>
              <a:rPr lang="ko-KR" altLang="de-DE" sz="1300" dirty="0" err="1" smtClean="0"/>
              <a:t>output</a:t>
            </a:r>
            <a:r>
              <a:rPr lang="en-US" altLang="ko-KR" sz="1300" dirty="0" smtClean="0"/>
              <a:t>.</a:t>
            </a:r>
            <a:endParaRPr lang="de-DE" altLang="ko-KR" sz="1300" dirty="0"/>
          </a:p>
          <a:p>
            <a:pPr lvl="1">
              <a:lnSpc>
                <a:spcPct val="160000"/>
              </a:lnSpc>
            </a:pPr>
            <a:r>
              <a:rPr lang="ko-KR" altLang="de-DE" sz="1100" dirty="0"/>
              <a:t>Real GDP eliminates the effects of inflation.</a:t>
            </a:r>
          </a:p>
          <a:p>
            <a:pPr>
              <a:lnSpc>
                <a:spcPct val="160000"/>
              </a:lnSpc>
            </a:pPr>
            <a:endParaRPr lang="de-DE" altLang="ko-KR" sz="900" dirty="0"/>
          </a:p>
          <a:p>
            <a:pPr>
              <a:lnSpc>
                <a:spcPct val="160000"/>
              </a:lnSpc>
            </a:pPr>
            <a:r>
              <a:rPr lang="ko-KR" altLang="de-DE" sz="1300" dirty="0"/>
              <a:t>GDP</a:t>
            </a:r>
            <a:r>
              <a:rPr lang="de-DE" altLang="ko-KR" sz="1300" dirty="0"/>
              <a:t> </a:t>
            </a:r>
            <a:r>
              <a:rPr lang="en-US" altLang="ko-KR" sz="1300" dirty="0" smtClean="0"/>
              <a:t>deflator</a:t>
            </a:r>
            <a:r>
              <a:rPr lang="de-DE" altLang="ko-KR" sz="1300" dirty="0" smtClean="0"/>
              <a:t>: </a:t>
            </a:r>
            <a:r>
              <a:rPr lang="ko-KR" altLang="de-DE" sz="1300" dirty="0"/>
              <a:t>one measure of overall </a:t>
            </a:r>
            <a:r>
              <a:rPr lang="ko-KR" altLang="de-DE" sz="1300" dirty="0" err="1"/>
              <a:t>price</a:t>
            </a:r>
            <a:r>
              <a:rPr lang="ko-KR" altLang="de-DE" sz="1300" dirty="0"/>
              <a:t> </a:t>
            </a:r>
            <a:r>
              <a:rPr lang="ko-KR" altLang="de-DE" sz="1300" dirty="0" err="1" smtClean="0"/>
              <a:t>level</a:t>
            </a:r>
            <a:endParaRPr lang="de-DE" altLang="ko-KR" sz="1300" dirty="0"/>
          </a:p>
          <a:p>
            <a:pPr lvl="1">
              <a:lnSpc>
                <a:spcPct val="160000"/>
              </a:lnSpc>
            </a:pPr>
            <a:r>
              <a:rPr lang="de-DE" altLang="ko-KR" sz="1100" b="1" dirty="0"/>
              <a:t>(nominal </a:t>
            </a:r>
            <a:r>
              <a:rPr lang="ko-KR" altLang="de-DE" sz="1100" b="1" dirty="0"/>
              <a:t>GDP /</a:t>
            </a:r>
            <a:r>
              <a:rPr lang="de-DE" altLang="ko-KR" sz="1100" b="1" dirty="0"/>
              <a:t> real GDP) X 100</a:t>
            </a:r>
          </a:p>
          <a:p>
            <a:pPr lvl="1">
              <a:lnSpc>
                <a:spcPct val="160000"/>
              </a:lnSpc>
            </a:pPr>
            <a:r>
              <a:rPr lang="ko-KR" altLang="de-DE" sz="1100" dirty="0"/>
              <a:t>Indicate the proportion of nominal GDP </a:t>
            </a:r>
            <a:r>
              <a:rPr lang="de-DE" altLang="ko-KR" sz="1100" dirty="0"/>
              <a:t>growth that has nothing to do with real GDP growth</a:t>
            </a:r>
          </a:p>
          <a:p>
            <a:pPr lvl="1">
              <a:lnSpc>
                <a:spcPct val="160000"/>
              </a:lnSpc>
            </a:pPr>
            <a:r>
              <a:rPr lang="ko-KR" altLang="de-DE" sz="1100" dirty="0"/>
              <a:t>Measurement of the</a:t>
            </a:r>
            <a:r>
              <a:rPr lang="de-DE" altLang="ko-KR" sz="1100" dirty="0"/>
              <a:t> </a:t>
            </a:r>
            <a:r>
              <a:rPr lang="ko-KR" altLang="de-DE" sz="1100" dirty="0"/>
              <a:t>current price level compared</a:t>
            </a:r>
            <a:r>
              <a:rPr lang="de-DE" altLang="ko-KR" sz="1100" dirty="0"/>
              <a:t> to the </a:t>
            </a:r>
            <a:r>
              <a:rPr lang="ko-KR" altLang="de-DE" sz="1100" dirty="0"/>
              <a:t>base year (=inflation rate of the entire economy)</a:t>
            </a:r>
          </a:p>
          <a:p>
            <a:pPr lvl="1">
              <a:lnSpc>
                <a:spcPct val="160000"/>
              </a:lnSpc>
            </a:pPr>
            <a:r>
              <a:rPr lang="de-DE" altLang="ko-KR" sz="1100" dirty="0"/>
              <a:t>The </a:t>
            </a:r>
            <a:r>
              <a:rPr lang="ko-KR" altLang="de-DE" sz="1100" dirty="0"/>
              <a:t>GDP deflator displays the price fluctuations of goods</a:t>
            </a:r>
            <a:r>
              <a:rPr lang="de-DE" altLang="ko-KR" sz="1100" dirty="0"/>
              <a:t> and services produced in the country </a:t>
            </a:r>
            <a:endParaRPr lang="de-DE" altLang="ko-KR" sz="1100" dirty="0" smtClean="0"/>
          </a:p>
          <a:p>
            <a:pPr lvl="1">
              <a:lnSpc>
                <a:spcPct val="160000"/>
              </a:lnSpc>
            </a:pPr>
            <a:endParaRPr lang="de-DE" altLang="ko-KR" sz="1325" dirty="0"/>
          </a:p>
          <a:p>
            <a:pPr>
              <a:lnSpc>
                <a:spcPct val="160000"/>
              </a:lnSpc>
            </a:pPr>
            <a:r>
              <a:rPr lang="de-DE" altLang="ko-KR" sz="1325" dirty="0"/>
              <a:t>GDP</a:t>
            </a:r>
            <a:r>
              <a:rPr lang="ko-KR" altLang="en-US" sz="1325" dirty="0"/>
              <a:t> and</a:t>
            </a:r>
            <a:r>
              <a:rPr lang="de-DE" altLang="ko-KR" sz="1325" dirty="0"/>
              <a:t> </a:t>
            </a:r>
            <a:r>
              <a:rPr lang="ko-KR" altLang="de-DE" sz="1325" dirty="0"/>
              <a:t>economic</a:t>
            </a:r>
            <a:r>
              <a:rPr lang="de-DE" altLang="ko-KR" sz="1325" dirty="0"/>
              <a:t> well-being: </a:t>
            </a:r>
            <a:r>
              <a:rPr lang="ko-KR" altLang="de-DE" sz="1325" dirty="0"/>
              <a:t>GDP per capita shows the</a:t>
            </a:r>
            <a:r>
              <a:rPr lang="de-DE" altLang="ko-KR" sz="1325" dirty="0"/>
              <a:t> </a:t>
            </a:r>
            <a:r>
              <a:rPr lang="ko-KR" altLang="de-DE" sz="1325" dirty="0"/>
              <a:t>average standard of living in the country</a:t>
            </a:r>
            <a:r>
              <a:rPr lang="de-DE" altLang="ko-KR" sz="1325" dirty="0"/>
              <a:t>, but it is not a perfect measure of well-being. </a:t>
            </a:r>
          </a:p>
          <a:p>
            <a:pPr lvl="1">
              <a:lnSpc>
                <a:spcPct val="160000"/>
              </a:lnSpc>
            </a:pPr>
            <a:r>
              <a:rPr lang="ko-KR" altLang="de-DE" sz="1100" dirty="0"/>
              <a:t>Robert </a:t>
            </a:r>
            <a:r>
              <a:rPr lang="de-DE" altLang="ko-KR" sz="1100" dirty="0"/>
              <a:t>Kennedy: "</a:t>
            </a:r>
            <a:r>
              <a:rPr lang="ko-KR" altLang="de-DE" sz="1100" dirty="0"/>
              <a:t>GDP measures everything but the very thing that makes our lives worthwhile</a:t>
            </a:r>
            <a:r>
              <a:rPr lang="de-DE" altLang="ko-KR" sz="1100" dirty="0"/>
              <a:t>.“</a:t>
            </a:r>
          </a:p>
          <a:p>
            <a:pPr>
              <a:lnSpc>
                <a:spcPct val="160000"/>
              </a:lnSpc>
            </a:pPr>
            <a:r>
              <a:rPr lang="de-DE" altLang="ko-KR" sz="1325" dirty="0"/>
              <a:t>Things GDP </a:t>
            </a:r>
            <a:r>
              <a:rPr lang="ko-KR" altLang="de-DE" sz="1325" dirty="0"/>
              <a:t>doesn't consider.</a:t>
            </a:r>
            <a:endParaRPr lang="de-DE" altLang="ko-KR" sz="1325" dirty="0"/>
          </a:p>
          <a:p>
            <a:pPr lvl="1">
              <a:lnSpc>
                <a:spcPct val="160000"/>
              </a:lnSpc>
            </a:pPr>
            <a:r>
              <a:rPr lang="en-US" altLang="ko-KR" sz="1100" smtClean="0"/>
              <a:t>Value</a:t>
            </a:r>
            <a:r>
              <a:rPr lang="de-DE" altLang="ko-KR" sz="1100" smtClean="0"/>
              <a:t> </a:t>
            </a:r>
            <a:r>
              <a:rPr lang="ko-KR" altLang="de-DE" sz="1100" dirty="0"/>
              <a:t>of the </a:t>
            </a:r>
            <a:r>
              <a:rPr lang="ko-KR" altLang="de-DE" sz="1100" dirty="0" err="1"/>
              <a:t>environment, </a:t>
            </a:r>
            <a:r>
              <a:rPr lang="ko-KR" altLang="de-DE" sz="1100" dirty="0"/>
              <a:t>leisure time</a:t>
            </a:r>
            <a:r>
              <a:rPr lang="de-DE" altLang="ko-KR" sz="1100" dirty="0"/>
              <a:t>,</a:t>
            </a:r>
            <a:r>
              <a:rPr lang="ko-KR" altLang="de-DE" sz="1100" dirty="0"/>
              <a:t> various non-market activities (many things happening at home, such as childcare</a:t>
            </a:r>
            <a:r>
              <a:rPr lang="de-DE" altLang="ko-KR" sz="1100" dirty="0"/>
              <a:t>, rest, </a:t>
            </a:r>
            <a:r>
              <a:rPr lang="ko-KR" altLang="de-DE" sz="1100" dirty="0"/>
              <a:t> and </a:t>
            </a:r>
            <a:r>
              <a:rPr lang="ko-KR" altLang="de-DE" sz="1100" dirty="0" err="1"/>
              <a:t>housework), distribution of income, etc.</a:t>
            </a:r>
            <a:endParaRPr lang="de-DE" altLang="ko-KR" sz="1100" dirty="0"/>
          </a:p>
          <a:p>
            <a:pPr lvl="1">
              <a:lnSpc>
                <a:spcPct val="160000"/>
              </a:lnSpc>
            </a:pPr>
            <a:r>
              <a:rPr lang="ko-KR" altLang="de-DE" sz="1100" dirty="0"/>
              <a:t>Nevertheless</a:t>
            </a:r>
            <a:r>
              <a:rPr lang="de-DE" altLang="ko-KR" sz="1100" dirty="0"/>
              <a:t>, as </a:t>
            </a:r>
            <a:r>
              <a:rPr lang="ko-KR" altLang="de-DE" sz="1100" dirty="0"/>
              <a:t>GDP increases</a:t>
            </a:r>
            <a:r>
              <a:rPr lang="de-DE" altLang="ko-KR" sz="1100" dirty="0"/>
              <a:t>, there is more to be done, such as education, </a:t>
            </a:r>
            <a:r>
              <a:rPr lang="ko-KR" altLang="de-DE" sz="1100" dirty="0"/>
              <a:t>environment</a:t>
            </a:r>
            <a:r>
              <a:rPr lang="de-DE" altLang="ko-KR" sz="1100" dirty="0"/>
              <a:t>, medical care, and welfare. </a:t>
            </a:r>
          </a:p>
          <a:p>
            <a:pPr lvl="1">
              <a:lnSpc>
                <a:spcPct val="160000"/>
              </a:lnSpc>
            </a:pPr>
            <a:r>
              <a:rPr lang="ko-KR" altLang="de-DE" sz="1100" dirty="0"/>
              <a:t>Indicators</a:t>
            </a:r>
            <a:r>
              <a:rPr lang="de-DE" altLang="ko-KR" sz="1100" dirty="0"/>
              <a:t> </a:t>
            </a:r>
            <a:r>
              <a:rPr lang="ko-KR" altLang="de-DE" sz="1100" dirty="0"/>
              <a:t>of </a:t>
            </a:r>
            <a:r>
              <a:rPr lang="de-DE" altLang="ko-KR" sz="1100" dirty="0"/>
              <a:t>quality of </a:t>
            </a:r>
            <a:r>
              <a:rPr lang="ko-KR" altLang="de-DE" sz="1100" dirty="0"/>
              <a:t>life have a positive (+) correlation with GDP</a:t>
            </a:r>
            <a:r>
              <a:rPr lang="de-DE" altLang="ko-KR" sz="1100" dirty="0"/>
              <a:t>. </a:t>
            </a:r>
          </a:p>
          <a:p>
            <a:pPr lvl="1">
              <a:lnSpc>
                <a:spcPct val="160000"/>
              </a:lnSpc>
            </a:pPr>
            <a:r>
              <a:rPr lang="de-DE" altLang="ko-KR" sz="1100" dirty="0"/>
              <a:t>What is the alternative to the </a:t>
            </a:r>
            <a:r>
              <a:rPr lang="ko-KR" altLang="de-DE" sz="1100" dirty="0"/>
              <a:t>metric</a:t>
            </a:r>
            <a:r>
              <a:rPr lang="de-DE" altLang="ko-KR" sz="1100" dirty="0"/>
              <a:t> of </a:t>
            </a:r>
            <a:r>
              <a:rPr lang="ko-KR" altLang="de-DE" sz="1100" dirty="0"/>
              <a:t>GDP?</a:t>
            </a:r>
          </a:p>
          <a:p>
            <a:pPr>
              <a:lnSpc>
                <a:spcPct val="160000"/>
              </a:lnSpc>
            </a:pPr>
            <a:endParaRPr lang="de-DE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AACF2-4E8D-444E-8FEB-7FAF57A63B4E}" type="slidenum">
              <a:rPr kumimoji="0" lang="ko-KR" altLang="en-US" sz="6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6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02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839</Words>
  <Application>Microsoft Office PowerPoint</Application>
  <PresentationFormat>와이드스크린</PresentationFormat>
  <Paragraphs>69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Office 테마</vt:lpstr>
      <vt:lpstr>Chapter 23. Measuring a Nation‘s Income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51</cp:revision>
  <dcterms:created xsi:type="dcterms:W3CDTF">2021-06-28T02:08:57Z</dcterms:created>
  <dcterms:modified xsi:type="dcterms:W3CDTF">2023-05-09T08:22:27Z</dcterms:modified>
</cp:coreProperties>
</file>