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1" r:id="rId1"/>
  </p:sldMasterIdLst>
  <p:notesMasterIdLst>
    <p:notesMasterId r:id="rId5"/>
  </p:notesMasterIdLst>
  <p:sldIdLst>
    <p:sldId id="257" r:id="rId2"/>
    <p:sldId id="258" r:id="rId3"/>
    <p:sldId id="259" r:id="rId4"/>
  </p:sldIdLst>
  <p:sldSz cx="6858000" cy="12192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89" autoAdjust="0"/>
    <p:restoredTop sz="94660"/>
  </p:normalViewPr>
  <p:slideViewPr>
    <p:cSldViewPr snapToGrid="0">
      <p:cViewPr>
        <p:scale>
          <a:sx n="66" d="100"/>
          <a:sy n="66" d="100"/>
        </p:scale>
        <p:origin x="360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ACC92-CB11-4036-ADF7-E0BC6A6A1264}" type="datetimeFigureOut">
              <a:rPr lang="ko-KR" altLang="en-US" smtClean="0"/>
              <a:t>2023-05-23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E10A1-D3FC-451D-B227-50AB5FD54F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385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8940-2C76-495C-8FB7-F4A9D28239AA}" type="datetime1">
              <a:rPr lang="ko-KR" altLang="en-US" smtClean="0"/>
              <a:t>2023-05-23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84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3A891-E498-4678-8D06-486FCC2BADEF}" type="datetime1">
              <a:rPr lang="ko-KR" altLang="en-US" smtClean="0"/>
              <a:t>2023-05-23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67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4FA93-A02B-42D6-A8B3-8681C853C7B8}" type="datetime1">
              <a:rPr lang="ko-KR" altLang="en-US" smtClean="0"/>
              <a:t>2023-05-23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94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1E48-2200-4646-B2AF-8A65E8AA4025}" type="datetime1">
              <a:rPr lang="ko-KR" altLang="en-US" smtClean="0"/>
              <a:t>2023-05-23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45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0A6E-CDCA-463B-AB9C-2AD65F7DC7CE}" type="datetime1">
              <a:rPr lang="ko-KR" altLang="en-US" smtClean="0"/>
              <a:t>2023-05-23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918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2F37D-F6B4-429A-93F0-670EB34C6EF1}" type="datetime1">
              <a:rPr lang="ko-KR" altLang="en-US" smtClean="0"/>
              <a:t>2023-05-23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35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75B21-6647-4787-AAB5-A8BA543A8A03}" type="datetime1">
              <a:rPr lang="ko-KR" altLang="en-US" smtClean="0"/>
              <a:t>2023-05-23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13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1AC2-CEA2-4AD0-9EED-9798843472E1}" type="datetime1">
              <a:rPr lang="ko-KR" altLang="en-US" smtClean="0"/>
              <a:t>2023-05-23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768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37C7C-8297-41A4-AED2-93F81127B44B}" type="datetime1">
              <a:rPr lang="ko-KR" altLang="en-US" smtClean="0"/>
              <a:t>2023-05-23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45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448E2-EAB7-4DB0-B809-DCB379E8731B}" type="datetime1">
              <a:rPr lang="ko-KR" altLang="en-US" smtClean="0"/>
              <a:t>2023-05-23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1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3C7-C7FA-46F0-BB19-A2462D02B89C}" type="datetime1">
              <a:rPr lang="ko-KR" altLang="en-US" smtClean="0"/>
              <a:t>2023-05-23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09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6E84B-CCB9-4E10-8C0E-8C6664F6450B}" type="datetime1">
              <a:rPr lang="ko-KR" altLang="en-US" smtClean="0"/>
              <a:t>2023-05-23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19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hf hdr="0" ftr="0" dt="0"/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14920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de-DE" dirty="0" smtClean="0"/>
              <a:t>Chapter</a:t>
            </a:r>
            <a:r>
              <a:rPr lang="de-DE" altLang="ko-KR" dirty="0" smtClean="0"/>
              <a:t> 25. Production and Growth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1488" y="1798320"/>
            <a:ext cx="5915025" cy="9298305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US" altLang="ko-KR" sz="1100" dirty="0" smtClean="0"/>
              <a:t>S</a:t>
            </a:r>
            <a:r>
              <a:rPr lang="ko-KR" altLang="de-DE" sz="1100" dirty="0" err="1" smtClean="0"/>
              <a:t>tandard</a:t>
            </a:r>
            <a:r>
              <a:rPr lang="de-DE" altLang="ko-KR" sz="1100" dirty="0" smtClean="0"/>
              <a:t> </a:t>
            </a:r>
            <a:r>
              <a:rPr lang="de-DE" altLang="ko-KR" sz="1100" dirty="0" smtClean="0"/>
              <a:t>of </a:t>
            </a:r>
            <a:r>
              <a:rPr lang="ko-KR" altLang="de-DE" sz="1100" dirty="0" err="1" smtClean="0"/>
              <a:t>living</a:t>
            </a:r>
            <a:r>
              <a:rPr lang="ko-KR" altLang="de-DE" sz="1100" dirty="0" smtClean="0"/>
              <a:t> </a:t>
            </a:r>
            <a:r>
              <a:rPr lang="en-US" altLang="ko-KR" sz="1100" dirty="0" smtClean="0"/>
              <a:t>of </a:t>
            </a:r>
            <a:r>
              <a:rPr lang="ko-KR" altLang="de-DE" sz="1100" dirty="0" err="1" smtClean="0"/>
              <a:t>a</a:t>
            </a:r>
            <a:r>
              <a:rPr lang="ko-KR" altLang="de-DE" sz="1100" dirty="0" smtClean="0"/>
              <a:t> </a:t>
            </a:r>
            <a:r>
              <a:rPr lang="de-DE" altLang="ko-KR" sz="1100" dirty="0" smtClean="0"/>
              <a:t>country</a:t>
            </a:r>
            <a:endParaRPr lang="de-DE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de-DE" sz="1100" dirty="0" smtClean="0"/>
              <a:t>Why are some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countries</a:t>
            </a:r>
            <a:r>
              <a:rPr lang="ko-KR" altLang="de-DE" sz="1100" dirty="0" smtClean="0"/>
              <a:t> living well</a:t>
            </a:r>
            <a:r>
              <a:rPr lang="en-US" altLang="ko-KR" sz="1100" dirty="0" smtClean="0"/>
              <a:t>,</a:t>
            </a:r>
            <a:r>
              <a:rPr lang="ko-KR" altLang="de-DE" sz="1100" dirty="0" smtClean="0"/>
              <a:t> and </a:t>
            </a:r>
            <a:r>
              <a:rPr lang="ko-KR" altLang="en-US" sz="1100" dirty="0" smtClean="0"/>
              <a:t>some countries mired in poverty?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de-DE" sz="1100" dirty="0" smtClean="0"/>
              <a:t>What policies encourage growth</a:t>
            </a:r>
            <a:r>
              <a:rPr lang="de-DE" altLang="ko-KR" sz="1100" dirty="0" smtClean="0"/>
              <a:t> and raise living standards in the long run?</a:t>
            </a:r>
          </a:p>
          <a:p>
            <a:pPr>
              <a:lnSpc>
                <a:spcPct val="160000"/>
              </a:lnSpc>
            </a:pPr>
            <a:endParaRPr lang="de-DE" altLang="ko-KR" sz="1100" dirty="0" smtClean="0"/>
          </a:p>
          <a:p>
            <a:pPr>
              <a:lnSpc>
                <a:spcPct val="160000"/>
              </a:lnSpc>
            </a:pPr>
            <a:r>
              <a:rPr lang="de-DE" altLang="ko-KR" sz="1100" dirty="0" smtClean="0"/>
              <a:t>Productivity (Y/L)</a:t>
            </a:r>
            <a:endParaRPr lang="de-DE" altLang="ko-KR" sz="1100" dirty="0"/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100" dirty="0"/>
              <a:t>Amount of goods and services produced </a:t>
            </a:r>
            <a:r>
              <a:rPr lang="de-DE" altLang="ko-KR" sz="1100" dirty="0"/>
              <a:t>by a </a:t>
            </a:r>
            <a:r>
              <a:rPr lang="ko-KR" altLang="de-DE" sz="1100" dirty="0" err="1" smtClean="0"/>
              <a:t>unit</a:t>
            </a:r>
            <a:r>
              <a:rPr lang="de-DE" altLang="ko-KR" sz="1100" dirty="0" smtClean="0"/>
              <a:t> </a:t>
            </a:r>
            <a:r>
              <a:rPr lang="de-DE" altLang="ko-KR" sz="1100" dirty="0"/>
              <a:t>of labor </a:t>
            </a:r>
            <a:r>
              <a:rPr lang="ko-KR" altLang="de-DE" sz="1100" dirty="0" err="1" smtClean="0"/>
              <a:t>input</a:t>
            </a:r>
            <a:r>
              <a:rPr lang="ko-KR" altLang="de-DE" sz="1100" dirty="0" smtClean="0"/>
              <a:t> </a:t>
            </a:r>
            <a:r>
              <a:rPr lang="en-US" altLang="ko-KR" sz="1100" dirty="0" smtClean="0"/>
              <a:t>(L)</a:t>
            </a: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de-DE" altLang="ko-KR" sz="1100" dirty="0" smtClean="0"/>
              <a:t>Y </a:t>
            </a:r>
            <a:r>
              <a:rPr lang="de-DE" altLang="ko-KR" sz="1100" dirty="0"/>
              <a:t>is GDP, L is </a:t>
            </a:r>
            <a:r>
              <a:rPr lang="ko-KR" altLang="de-DE" sz="1100" dirty="0"/>
              <a:t>the amount of labor.</a:t>
            </a:r>
            <a:endParaRPr lang="de-DE" altLang="ko-KR" sz="1100" dirty="0"/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100" dirty="0"/>
              <a:t>the most important factor</a:t>
            </a:r>
            <a:r>
              <a:rPr lang="de-DE" altLang="ko-KR" sz="1100" dirty="0"/>
              <a:t> in </a:t>
            </a:r>
            <a:r>
              <a:rPr lang="ko-KR" altLang="de-DE" sz="1100" dirty="0" err="1" smtClean="0"/>
              <a:t>the</a:t>
            </a:r>
            <a:r>
              <a:rPr lang="ko-KR" altLang="de-DE" sz="1100" dirty="0" smtClean="0"/>
              <a:t> </a:t>
            </a:r>
            <a:r>
              <a:rPr lang="ko-KR" altLang="de-DE" sz="1100" dirty="0"/>
              <a:t>standard of </a:t>
            </a:r>
            <a:r>
              <a:rPr lang="ko-KR" altLang="de-DE" sz="1100" dirty="0" err="1"/>
              <a:t>living</a:t>
            </a:r>
            <a:r>
              <a:rPr lang="ko-KR" altLang="de-DE" sz="1100" dirty="0"/>
              <a:t> </a:t>
            </a:r>
            <a:endParaRPr lang="en-US" altLang="ko-KR" sz="1100" dirty="0" smtClean="0"/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100" dirty="0" err="1" smtClean="0"/>
              <a:t>Increasing</a:t>
            </a:r>
            <a:r>
              <a:rPr lang="ko-KR" altLang="de-DE" sz="1100" dirty="0" smtClean="0"/>
              <a:t> </a:t>
            </a:r>
            <a:r>
              <a:rPr lang="ko-KR" altLang="de-DE" sz="1100" dirty="0"/>
              <a:t>productivity is </a:t>
            </a:r>
            <a:r>
              <a:rPr lang="de-DE" altLang="ko-KR" sz="1100" dirty="0"/>
              <a:t>key to improving living standards.</a:t>
            </a:r>
          </a:p>
          <a:p>
            <a:pPr>
              <a:lnSpc>
                <a:spcPct val="160000"/>
              </a:lnSpc>
            </a:pPr>
            <a:endParaRPr lang="de-DE" altLang="ko-KR" sz="1100" dirty="0"/>
          </a:p>
          <a:p>
            <a:pPr marL="0" indent="0">
              <a:lnSpc>
                <a:spcPct val="160000"/>
              </a:lnSpc>
              <a:buNone/>
            </a:pPr>
            <a:r>
              <a:rPr lang="ko-KR" altLang="de-DE" sz="1100" u="sng" dirty="0" smtClean="0"/>
              <a:t>Determinants of productivity</a:t>
            </a:r>
            <a:endParaRPr lang="de-DE" altLang="ko-KR" sz="1100" dirty="0" smtClean="0"/>
          </a:p>
          <a:p>
            <a:pPr>
              <a:lnSpc>
                <a:spcPct val="160000"/>
              </a:lnSpc>
            </a:pPr>
            <a:r>
              <a:rPr lang="de-DE" altLang="ko-KR" sz="1100" dirty="0" smtClean="0"/>
              <a:t>Production function : Y = A*f (L, K, H, N)</a:t>
            </a: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100" dirty="0"/>
              <a:t>A</a:t>
            </a:r>
            <a:r>
              <a:rPr lang="de-DE" altLang="ko-KR" sz="1100" dirty="0"/>
              <a:t> is the level of </a:t>
            </a:r>
            <a:r>
              <a:rPr lang="ko-KR" altLang="de-DE" sz="1100" dirty="0"/>
              <a:t>technology</a:t>
            </a:r>
            <a:r>
              <a:rPr lang="de-DE" altLang="ko-KR" sz="1100" dirty="0"/>
              <a:t>, L is </a:t>
            </a:r>
            <a:r>
              <a:rPr lang="ko-KR" altLang="de-DE" sz="1100" dirty="0" err="1" smtClean="0"/>
              <a:t>the</a:t>
            </a:r>
            <a:r>
              <a:rPr lang="ko-KR" altLang="de-DE" sz="1100" dirty="0" smtClean="0"/>
              <a:t> </a:t>
            </a:r>
            <a:r>
              <a:rPr lang="de-DE" altLang="ko-KR" sz="1100" dirty="0"/>
              <a:t>amount of </a:t>
            </a:r>
            <a:r>
              <a:rPr lang="ko-KR" altLang="de-DE" sz="1100" dirty="0" smtClean="0"/>
              <a:t>labor</a:t>
            </a:r>
            <a:r>
              <a:rPr lang="de-DE" altLang="ko-KR" sz="1100" dirty="0"/>
              <a:t>, K is the </a:t>
            </a:r>
            <a:r>
              <a:rPr lang="de-DE" altLang="ko-KR" sz="1100" dirty="0"/>
              <a:t>amount of physical </a:t>
            </a:r>
            <a:r>
              <a:rPr lang="de-DE" altLang="ko-KR" sz="1100" dirty="0"/>
              <a:t>capital, H is </a:t>
            </a:r>
            <a:r>
              <a:rPr lang="de-DE" altLang="ko-KR" sz="1100" dirty="0"/>
              <a:t>the amount of </a:t>
            </a:r>
            <a:r>
              <a:rPr lang="de-DE" altLang="ko-KR" sz="1100" dirty="0"/>
              <a:t>human capital, and N is the amount of natural resources.</a:t>
            </a:r>
            <a:endParaRPr lang="en-US" altLang="ko-KR" sz="1100" dirty="0" smtClean="0"/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de-DE" altLang="ko-KR" sz="1100" dirty="0" smtClean="0"/>
              <a:t>Assume</a:t>
            </a:r>
            <a:r>
              <a:rPr lang="en-US" altLang="ko-KR" sz="1100" dirty="0" smtClean="0"/>
              <a:t> </a:t>
            </a:r>
            <a:r>
              <a:rPr lang="en-US" altLang="ko-KR" sz="1100" dirty="0" smtClean="0"/>
              <a:t>C</a:t>
            </a:r>
            <a:r>
              <a:rPr lang="ko-KR" altLang="de-DE" sz="1100" dirty="0" err="1" smtClean="0"/>
              <a:t>onstant</a:t>
            </a:r>
            <a:r>
              <a:rPr lang="ko-KR" altLang="de-DE" sz="1100" dirty="0" smtClean="0"/>
              <a:t> </a:t>
            </a:r>
            <a:r>
              <a:rPr lang="en-US" altLang="ko-KR" sz="1100" dirty="0" smtClean="0"/>
              <a:t>R</a:t>
            </a:r>
            <a:r>
              <a:rPr lang="ko-KR" altLang="de-DE" sz="1100" dirty="0" err="1" smtClean="0"/>
              <a:t>eturn</a:t>
            </a:r>
            <a:r>
              <a:rPr lang="ko-KR" altLang="de-DE" sz="1100" dirty="0" smtClean="0"/>
              <a:t> </a:t>
            </a:r>
            <a:r>
              <a:rPr lang="ko-KR" altLang="de-DE" sz="1100" dirty="0" err="1"/>
              <a:t>to</a:t>
            </a:r>
            <a:r>
              <a:rPr lang="ko-KR" altLang="de-DE" sz="1100" dirty="0"/>
              <a:t> </a:t>
            </a:r>
            <a:r>
              <a:rPr lang="en-US" altLang="ko-KR" sz="1100" dirty="0" smtClean="0"/>
              <a:t>S</a:t>
            </a:r>
            <a:r>
              <a:rPr lang="ko-KR" altLang="de-DE" sz="1100" dirty="0" err="1" smtClean="0"/>
              <a:t>cale</a:t>
            </a:r>
            <a:r>
              <a:rPr lang="ko-KR" altLang="de-DE" sz="1100" dirty="0" smtClean="0"/>
              <a:t>: </a:t>
            </a:r>
            <a:r>
              <a:rPr lang="ko-KR" altLang="de-DE" sz="1100" dirty="0"/>
              <a:t> </a:t>
            </a:r>
            <a:r>
              <a:rPr lang="ko-KR" altLang="de-DE" sz="1100" dirty="0" err="1"/>
              <a:t>Changing</a:t>
            </a:r>
            <a:r>
              <a:rPr lang="ko-KR" altLang="de-DE" sz="1100" dirty="0"/>
              <a:t> </a:t>
            </a:r>
            <a:r>
              <a:rPr lang="en-US" altLang="ko-KR" sz="1100" dirty="0" smtClean="0"/>
              <a:t>the amount of </a:t>
            </a:r>
            <a:r>
              <a:rPr lang="ko-KR" altLang="de-DE" sz="1100" dirty="0" err="1" smtClean="0"/>
              <a:t>all</a:t>
            </a:r>
            <a:r>
              <a:rPr lang="ko-KR" altLang="de-DE" sz="1100" dirty="0" smtClean="0"/>
              <a:t> </a:t>
            </a:r>
            <a:r>
              <a:rPr lang="ko-KR" altLang="de-DE" sz="1100" dirty="0" err="1" smtClean="0"/>
              <a:t>inputs</a:t>
            </a:r>
            <a:r>
              <a:rPr lang="ko-KR" altLang="de-DE" sz="1100" dirty="0" smtClean="0"/>
              <a:t> </a:t>
            </a:r>
            <a:r>
              <a:rPr lang="ko-KR" altLang="de-DE" sz="1100" dirty="0" err="1" smtClean="0"/>
              <a:t>results</a:t>
            </a:r>
            <a:r>
              <a:rPr lang="ko-KR" altLang="de-DE" sz="1100" dirty="0" smtClean="0"/>
              <a:t> </a:t>
            </a:r>
            <a:r>
              <a:rPr lang="ko-KR" altLang="de-DE" sz="1100" dirty="0" smtClean="0"/>
              <a:t>in the same percentage change in output.</a:t>
            </a:r>
            <a:endParaRPr lang="de-DE" altLang="ko-KR" sz="1100" dirty="0"/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en-US" altLang="ko-KR" sz="1100" dirty="0" smtClean="0"/>
              <a:t>M</a:t>
            </a:r>
            <a:r>
              <a:rPr lang="ko-KR" altLang="de-DE" sz="1100" dirty="0" err="1" smtClean="0"/>
              <a:t>ultiply</a:t>
            </a:r>
            <a:r>
              <a:rPr lang="ko-KR" altLang="de-DE" sz="1100" dirty="0" smtClean="0"/>
              <a:t> </a:t>
            </a:r>
            <a:r>
              <a:rPr lang="ko-KR" altLang="de-DE" sz="1100" dirty="0" err="1"/>
              <a:t>both</a:t>
            </a:r>
            <a:r>
              <a:rPr lang="de-DE" altLang="ko-KR" sz="1100" dirty="0"/>
              <a:t> </a:t>
            </a:r>
            <a:r>
              <a:rPr lang="ko-KR" altLang="de-DE" sz="1100" dirty="0"/>
              <a:t>sides of</a:t>
            </a:r>
            <a:r>
              <a:rPr lang="de-DE" altLang="ko-KR" sz="1100" dirty="0"/>
              <a:t> </a:t>
            </a:r>
            <a:r>
              <a:rPr lang="ko-KR" altLang="de-DE" sz="1100" dirty="0" err="1"/>
              <a:t>the </a:t>
            </a:r>
            <a:r>
              <a:rPr lang="de-DE" altLang="ko-KR" sz="1100" dirty="0"/>
              <a:t>production function by 1/</a:t>
            </a:r>
            <a:r>
              <a:rPr lang="ko-KR" altLang="de-DE" sz="1100" dirty="0" err="1" smtClean="0"/>
              <a:t>L</a:t>
            </a:r>
            <a:r>
              <a:rPr lang="en-US" altLang="ko-KR" sz="1100" dirty="0" smtClean="0"/>
              <a:t>, then we get</a:t>
            </a:r>
            <a:endParaRPr lang="en-US" altLang="ko-KR" sz="1100" dirty="0"/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de-DE" altLang="ko-KR" sz="1100" dirty="0" smtClean="0"/>
              <a:t>Y/L = A*f(1, K/L, H/L, N/ L)</a:t>
            </a:r>
          </a:p>
          <a:p>
            <a:pPr lvl="1">
              <a:lnSpc>
                <a:spcPct val="160000"/>
              </a:lnSpc>
            </a:pPr>
            <a:endParaRPr lang="de-DE" altLang="ko-KR" sz="1100" dirty="0" smtClean="0"/>
          </a:p>
          <a:p>
            <a:pPr>
              <a:lnSpc>
                <a:spcPct val="160000"/>
              </a:lnSpc>
            </a:pPr>
            <a:r>
              <a:rPr lang="ko-KR" altLang="de-DE" sz="1100" dirty="0" err="1" smtClean="0"/>
              <a:t>A</a:t>
            </a:r>
            <a:r>
              <a:rPr lang="de-DE" altLang="ko-KR" sz="1100" dirty="0" smtClean="0"/>
              <a:t> </a:t>
            </a:r>
            <a:r>
              <a:rPr lang="de-DE" altLang="ko-KR" sz="1100" dirty="0" smtClean="0"/>
              <a:t>country'</a:t>
            </a:r>
            <a:r>
              <a:rPr lang="ko-KR" altLang="de-DE" sz="1100" dirty="0" smtClean="0"/>
              <a:t>s productivity</a:t>
            </a:r>
            <a:r>
              <a:rPr lang="de-DE" altLang="ko-KR" sz="1100" dirty="0" smtClean="0"/>
              <a:t> is determined by technology </a:t>
            </a:r>
            <a:r>
              <a:rPr lang="ko-KR" altLang="de-DE" sz="1100" dirty="0" smtClean="0"/>
              <a:t>level A, physical capital</a:t>
            </a:r>
            <a:r>
              <a:rPr lang="de-DE" altLang="ko-KR" sz="1100" dirty="0" smtClean="0"/>
              <a:t> </a:t>
            </a:r>
            <a:r>
              <a:rPr lang="ko-KR" altLang="de-DE" sz="1100" dirty="0" smtClean="0"/>
              <a:t>per </a:t>
            </a:r>
            <a:r>
              <a:rPr lang="de-DE" altLang="ko-KR" sz="1100" dirty="0" smtClean="0"/>
              <a:t>worker</a:t>
            </a:r>
            <a:r>
              <a:rPr lang="ko-KR" altLang="de-DE" sz="1100" dirty="0" smtClean="0"/>
              <a:t> </a:t>
            </a:r>
            <a:r>
              <a:rPr lang="de-DE" altLang="ko-KR" sz="1100" dirty="0" smtClean="0"/>
              <a:t>(K/L),</a:t>
            </a:r>
            <a:r>
              <a:rPr lang="ko-KR" altLang="de-DE" sz="1100" dirty="0" smtClean="0"/>
              <a:t> human capital per worker</a:t>
            </a:r>
            <a:r>
              <a:rPr lang="de-DE" altLang="ko-KR" sz="1100" dirty="0" smtClean="0"/>
              <a:t> (H/L), and natural resources per worker (N/L). </a:t>
            </a: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en-US" altLang="ko-KR" sz="1100" dirty="0" smtClean="0"/>
              <a:t>The best way t</a:t>
            </a:r>
            <a:r>
              <a:rPr lang="ko-KR" altLang="de-DE" sz="1100" dirty="0" err="1" smtClean="0"/>
              <a:t>o</a:t>
            </a:r>
            <a:r>
              <a:rPr lang="ko-KR" altLang="de-DE" sz="1100" dirty="0" smtClean="0"/>
              <a:t> </a:t>
            </a:r>
            <a:r>
              <a:rPr lang="ko-KR" altLang="de-DE" sz="1100" dirty="0" err="1"/>
              <a:t>increase</a:t>
            </a:r>
            <a:r>
              <a:rPr lang="ko-KR" altLang="en-US" sz="1100" dirty="0"/>
              <a:t> </a:t>
            </a:r>
            <a:r>
              <a:rPr lang="en-US" altLang="ko-KR" sz="1100" dirty="0" smtClean="0"/>
              <a:t>the </a:t>
            </a:r>
            <a:r>
              <a:rPr lang="ko-KR" altLang="en-US" sz="1100" dirty="0" err="1" smtClean="0"/>
              <a:t>productivity</a:t>
            </a:r>
            <a:r>
              <a:rPr lang="de-DE" altLang="ko-KR" sz="1100" dirty="0" smtClean="0"/>
              <a:t> (= </a:t>
            </a:r>
            <a:r>
              <a:rPr lang="ko-KR" altLang="de-DE" sz="1100" dirty="0" err="1" smtClean="0"/>
              <a:t>to</a:t>
            </a:r>
            <a:r>
              <a:rPr lang="ko-KR" altLang="de-DE" sz="1100" dirty="0" smtClean="0"/>
              <a:t> </a:t>
            </a:r>
            <a:r>
              <a:rPr lang="ko-KR" altLang="de-DE" sz="1100" dirty="0"/>
              <a:t>grow the economy and </a:t>
            </a:r>
            <a:r>
              <a:rPr lang="en-US" altLang="ko-KR" sz="1100" dirty="0" smtClean="0"/>
              <a:t>to </a:t>
            </a:r>
            <a:r>
              <a:rPr lang="ko-KR" altLang="de-DE" sz="1100" dirty="0" err="1" smtClean="0"/>
              <a:t>improve</a:t>
            </a:r>
            <a:r>
              <a:rPr lang="ko-KR" altLang="de-DE" sz="1100" dirty="0" smtClean="0"/>
              <a:t> </a:t>
            </a:r>
            <a:r>
              <a:rPr lang="ko-KR" altLang="de-DE" sz="1100" dirty="0"/>
              <a:t>living standards) is to make </a:t>
            </a:r>
            <a:r>
              <a:rPr lang="ko-KR" altLang="de-DE" sz="1100" dirty="0" err="1"/>
              <a:t>these</a:t>
            </a:r>
            <a:r>
              <a:rPr lang="ko-KR" altLang="de-DE" sz="1100" dirty="0"/>
              <a:t> </a:t>
            </a:r>
            <a:r>
              <a:rPr lang="ko-KR" altLang="de-DE" sz="1100" dirty="0" err="1" smtClean="0"/>
              <a:t>four</a:t>
            </a:r>
            <a:r>
              <a:rPr lang="ko-KR" altLang="de-DE" sz="1100" dirty="0" smtClean="0"/>
              <a:t> </a:t>
            </a:r>
            <a:r>
              <a:rPr lang="en-US" altLang="ko-KR" sz="1100" dirty="0" smtClean="0"/>
              <a:t>factors</a:t>
            </a:r>
            <a:r>
              <a:rPr lang="ko-KR" altLang="de-DE" sz="1100" dirty="0" smtClean="0"/>
              <a:t> </a:t>
            </a:r>
            <a:r>
              <a:rPr lang="ko-KR" altLang="de-DE" sz="1100" dirty="0"/>
              <a:t>bigger.</a:t>
            </a:r>
            <a:endParaRPr lang="de-DE" altLang="ko-KR" sz="1100" dirty="0"/>
          </a:p>
          <a:p>
            <a:pPr marL="257175" lvl="1" indent="0">
              <a:lnSpc>
                <a:spcPct val="160000"/>
              </a:lnSpc>
              <a:buNone/>
            </a:pPr>
            <a:endParaRPr lang="de-DE" altLang="ko-KR" sz="1100" dirty="0" smtClean="0"/>
          </a:p>
          <a:p>
            <a:pPr>
              <a:lnSpc>
                <a:spcPct val="160000"/>
              </a:lnSpc>
            </a:pPr>
            <a:r>
              <a:rPr lang="de-DE" altLang="ko-KR" sz="1100" dirty="0" smtClean="0"/>
              <a:t>Physical</a:t>
            </a:r>
            <a:r>
              <a:rPr lang="en-US" altLang="ko-KR" sz="1100" dirty="0" smtClean="0"/>
              <a:t> </a:t>
            </a:r>
            <a:r>
              <a:rPr lang="de-DE" altLang="ko-KR" sz="1100" dirty="0" smtClean="0"/>
              <a:t>Capital </a:t>
            </a:r>
            <a:r>
              <a:rPr lang="de-DE" altLang="ko-KR" sz="1100" dirty="0" smtClean="0"/>
              <a:t>per </a:t>
            </a:r>
            <a:r>
              <a:rPr lang="de-DE" altLang="ko-KR" sz="1100" dirty="0" smtClean="0"/>
              <a:t>Worker</a:t>
            </a:r>
            <a:r>
              <a:rPr lang="de-DE" altLang="ko-KR" sz="1100" dirty="0" smtClean="0"/>
              <a:t>, K</a:t>
            </a: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de-DE" sz="1100" dirty="0"/>
              <a:t>Stock stock of equipment and buildings </a:t>
            </a:r>
            <a:r>
              <a:rPr lang="de-DE" altLang="ko-KR" sz="1100" dirty="0"/>
              <a:t>used to </a:t>
            </a:r>
            <a:r>
              <a:rPr lang="ko-KR" altLang="de-DE" sz="1100" dirty="0" err="1" smtClean="0"/>
              <a:t>produce</a:t>
            </a:r>
            <a:r>
              <a:rPr lang="ko-KR" altLang="de-DE" sz="1100" dirty="0" smtClean="0"/>
              <a:t> </a:t>
            </a:r>
            <a:r>
              <a:rPr lang="ko-KR" altLang="de-DE" sz="1100" dirty="0"/>
              <a:t>goods and services</a:t>
            </a: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de-DE" sz="1100" dirty="0"/>
              <a:t>Productivity increases when </a:t>
            </a:r>
            <a:r>
              <a:rPr lang="ko-KR" altLang="de-DE" sz="1100" dirty="0" err="1"/>
              <a:t>the</a:t>
            </a:r>
            <a:r>
              <a:rPr lang="ko-KR" altLang="de-DE" sz="1100" dirty="0"/>
              <a:t> </a:t>
            </a:r>
            <a:r>
              <a:rPr lang="ko-KR" altLang="de-DE" sz="1100" dirty="0" err="1" smtClean="0"/>
              <a:t>average</a:t>
            </a:r>
            <a:r>
              <a:rPr lang="ko-KR" altLang="de-DE" sz="1100" dirty="0" smtClean="0"/>
              <a:t> </a:t>
            </a:r>
            <a:r>
              <a:rPr lang="ko-KR" altLang="de-DE" sz="1100" dirty="0"/>
              <a:t>worker </a:t>
            </a:r>
            <a:r>
              <a:rPr lang="ko-KR" altLang="de-DE" sz="1100" dirty="0" err="1"/>
              <a:t>has</a:t>
            </a:r>
            <a:r>
              <a:rPr lang="de-DE" altLang="ko-KR" sz="1100" dirty="0"/>
              <a:t> </a:t>
            </a:r>
            <a:r>
              <a:rPr lang="de-DE" altLang="ko-KR" sz="1100" dirty="0" smtClean="0"/>
              <a:t>more </a:t>
            </a:r>
            <a:r>
              <a:rPr lang="de-DE" altLang="ko-KR" sz="1100" dirty="0"/>
              <a:t>physical capital.</a:t>
            </a:r>
          </a:p>
          <a:p>
            <a:pPr>
              <a:lnSpc>
                <a:spcPct val="160000"/>
              </a:lnSpc>
            </a:pPr>
            <a:endParaRPr lang="de-DE" altLang="ko-KR" sz="1100" dirty="0" smtClean="0"/>
          </a:p>
          <a:p>
            <a:pPr>
              <a:lnSpc>
                <a:spcPct val="160000"/>
              </a:lnSpc>
            </a:pPr>
            <a:endParaRPr lang="de-DE" altLang="ko-KR" sz="11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060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71488" y="702945"/>
            <a:ext cx="5915025" cy="10460356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de-DE" altLang="ko-KR" sz="1100" dirty="0"/>
              <a:t>Human</a:t>
            </a:r>
            <a:r>
              <a:rPr lang="en-US" altLang="ko-KR" sz="1100" dirty="0"/>
              <a:t> </a:t>
            </a:r>
            <a:r>
              <a:rPr lang="de-DE" altLang="ko-KR" sz="1100" dirty="0"/>
              <a:t>Capital</a:t>
            </a:r>
            <a:r>
              <a:rPr lang="en-US" altLang="ko-KR" sz="1100" dirty="0"/>
              <a:t> p</a:t>
            </a:r>
            <a:r>
              <a:rPr lang="de-DE" altLang="ko-KR" sz="1100" dirty="0"/>
              <a:t>er</a:t>
            </a:r>
            <a:r>
              <a:rPr lang="en-US" altLang="ko-KR" sz="1100" dirty="0"/>
              <a:t> </a:t>
            </a:r>
            <a:r>
              <a:rPr lang="ko-KR" altLang="de-DE" sz="1100" dirty="0" err="1"/>
              <a:t>Worker</a:t>
            </a:r>
            <a:r>
              <a:rPr lang="de-DE" altLang="ko-KR" sz="1100" dirty="0"/>
              <a:t>, H</a:t>
            </a: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de-DE" sz="1100" dirty="0" err="1"/>
              <a:t>the</a:t>
            </a:r>
            <a:r>
              <a:rPr lang="ko-KR" altLang="de-DE" sz="1100" dirty="0"/>
              <a:t> </a:t>
            </a:r>
            <a:r>
              <a:rPr lang="ko-KR" altLang="de-DE" sz="1100" dirty="0" err="1"/>
              <a:t>knowledge</a:t>
            </a:r>
            <a:r>
              <a:rPr lang="ko-KR" altLang="de-DE" sz="1100" dirty="0"/>
              <a:t> and </a:t>
            </a:r>
            <a:r>
              <a:rPr lang="ko-KR" altLang="de-DE" sz="1100" dirty="0" err="1"/>
              <a:t>skills</a:t>
            </a:r>
            <a:r>
              <a:rPr lang="ko-KR" altLang="de-DE" sz="1100" dirty="0"/>
              <a:t> </a:t>
            </a:r>
            <a:r>
              <a:rPr lang="ko-KR" altLang="de-DE" sz="1100" dirty="0" err="1"/>
              <a:t>that</a:t>
            </a:r>
            <a:r>
              <a:rPr lang="ko-KR" altLang="de-DE" sz="1100" dirty="0"/>
              <a:t> </a:t>
            </a:r>
            <a:r>
              <a:rPr lang="ko-KR" altLang="de-DE" sz="1100" dirty="0" err="1"/>
              <a:t>workers</a:t>
            </a:r>
            <a:r>
              <a:rPr lang="ko-KR" altLang="de-DE" sz="1100" dirty="0"/>
              <a:t> </a:t>
            </a:r>
            <a:r>
              <a:rPr lang="ko-KR" altLang="de-DE" sz="1100" dirty="0" err="1"/>
              <a:t>acquire</a:t>
            </a:r>
            <a:r>
              <a:rPr lang="ko-KR" altLang="de-DE" sz="1100" dirty="0"/>
              <a:t> </a:t>
            </a:r>
            <a:r>
              <a:rPr lang="ko-KR" altLang="de-DE" sz="1100" dirty="0" err="1"/>
              <a:t>through</a:t>
            </a:r>
            <a:r>
              <a:rPr lang="ko-KR" altLang="de-DE" sz="1100" dirty="0"/>
              <a:t> </a:t>
            </a:r>
            <a:r>
              <a:rPr lang="ko-KR" altLang="de-DE" sz="1100" dirty="0" err="1"/>
              <a:t>education</a:t>
            </a:r>
            <a:r>
              <a:rPr lang="ko-KR" altLang="de-DE" sz="1100" dirty="0"/>
              <a:t>, </a:t>
            </a:r>
            <a:r>
              <a:rPr lang="ko-KR" altLang="de-DE" sz="1100" dirty="0" err="1"/>
              <a:t>training</a:t>
            </a:r>
            <a:r>
              <a:rPr lang="de-DE" altLang="ko-KR" sz="1100" dirty="0"/>
              <a:t>, </a:t>
            </a:r>
            <a:r>
              <a:rPr lang="ko-KR" altLang="de-DE" sz="1100" dirty="0"/>
              <a:t>and </a:t>
            </a:r>
            <a:r>
              <a:rPr lang="ko-KR" altLang="de-DE" sz="1100" dirty="0" err="1"/>
              <a:t>experience</a:t>
            </a:r>
            <a:r>
              <a:rPr lang="de-DE" altLang="ko-KR" sz="1100" dirty="0"/>
              <a:t>.</a:t>
            </a: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de-DE" sz="1100" dirty="0" err="1"/>
              <a:t>Productivity</a:t>
            </a:r>
            <a:r>
              <a:rPr lang="ko-KR" altLang="de-DE" sz="1100" dirty="0"/>
              <a:t> </a:t>
            </a:r>
            <a:r>
              <a:rPr lang="ko-KR" altLang="de-DE" sz="1100" dirty="0" err="1"/>
              <a:t>increases</a:t>
            </a:r>
            <a:r>
              <a:rPr lang="ko-KR" altLang="de-DE" sz="1100" dirty="0"/>
              <a:t> </a:t>
            </a:r>
            <a:r>
              <a:rPr lang="en-US" altLang="ko-KR" sz="1100" dirty="0"/>
              <a:t>as </a:t>
            </a:r>
            <a:r>
              <a:rPr lang="ko-KR" altLang="de-DE" sz="1100" dirty="0" err="1"/>
              <a:t>average</a:t>
            </a:r>
            <a:r>
              <a:rPr lang="ko-KR" altLang="de-DE" sz="1100" dirty="0"/>
              <a:t> </a:t>
            </a:r>
            <a:r>
              <a:rPr lang="ko-KR" altLang="de-DE" sz="1100" dirty="0" err="1"/>
              <a:t>worker</a:t>
            </a:r>
            <a:r>
              <a:rPr lang="ko-KR" altLang="de-DE" sz="1100" dirty="0"/>
              <a:t> </a:t>
            </a:r>
            <a:r>
              <a:rPr lang="ko-KR" altLang="de-DE" sz="1100" dirty="0" err="1"/>
              <a:t>has</a:t>
            </a:r>
            <a:r>
              <a:rPr lang="de-DE" altLang="ko-KR" sz="1100" dirty="0"/>
              <a:t> more human capital. </a:t>
            </a:r>
          </a:p>
          <a:p>
            <a:pPr>
              <a:lnSpc>
                <a:spcPct val="160000"/>
              </a:lnSpc>
            </a:pPr>
            <a:r>
              <a:rPr lang="de-DE" altLang="ko-KR" sz="1100" dirty="0" smtClean="0"/>
              <a:t>Natural </a:t>
            </a:r>
            <a:r>
              <a:rPr lang="de-DE" altLang="ko-KR" sz="1100" dirty="0" smtClean="0"/>
              <a:t>Resources per</a:t>
            </a:r>
            <a:r>
              <a:rPr lang="en-US" altLang="ko-KR" sz="1100" dirty="0" smtClean="0"/>
              <a:t> </a:t>
            </a:r>
            <a:r>
              <a:rPr lang="ko-KR" altLang="de-DE" sz="1100" dirty="0" smtClean="0"/>
              <a:t>Worker</a:t>
            </a:r>
            <a:r>
              <a:rPr lang="de-DE" altLang="ko-KR" sz="1100" dirty="0" smtClean="0"/>
              <a:t>, N</a:t>
            </a: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de-DE" altLang="ko-KR" sz="1100" dirty="0" smtClean="0"/>
              <a:t>Inputs </a:t>
            </a:r>
            <a:r>
              <a:rPr lang="ko-KR" altLang="de-DE" sz="1100" dirty="0"/>
              <a:t>provided</a:t>
            </a:r>
            <a:r>
              <a:rPr lang="de-DE" altLang="ko-KR" sz="1100" dirty="0"/>
              <a:t> by a country's nature (land, sea, </a:t>
            </a:r>
            <a:r>
              <a:rPr lang="ko-KR" altLang="de-DE" sz="1100" dirty="0"/>
              <a:t>mineral </a:t>
            </a:r>
            <a:r>
              <a:rPr lang="ko-KR" altLang="de-DE" sz="1100" dirty="0" err="1"/>
              <a:t>resources, climate, etc.)</a:t>
            </a:r>
            <a:endParaRPr lang="de-DE" altLang="ko-KR" sz="1100" dirty="0"/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de-DE" sz="1100" dirty="0"/>
              <a:t>If the average worker </a:t>
            </a:r>
            <a:r>
              <a:rPr lang="ko-KR" altLang="de-DE" sz="1100" dirty="0" err="1"/>
              <a:t>has</a:t>
            </a:r>
            <a:r>
              <a:rPr lang="ko-KR" altLang="de-DE" sz="1100" dirty="0"/>
              <a:t> </a:t>
            </a:r>
            <a:r>
              <a:rPr lang="ko-KR" altLang="de-DE" sz="1100" dirty="0" err="1" smtClean="0"/>
              <a:t>more</a:t>
            </a:r>
            <a:r>
              <a:rPr lang="ko-KR" altLang="de-DE" sz="1100" dirty="0" smtClean="0"/>
              <a:t> </a:t>
            </a:r>
            <a:r>
              <a:rPr lang="ko-KR" altLang="de-DE" sz="1100" dirty="0"/>
              <a:t>natural resources</a:t>
            </a:r>
            <a:r>
              <a:rPr lang="de-DE" altLang="ko-KR" sz="1100" dirty="0"/>
              <a:t>, he or she can produce more Y.</a:t>
            </a:r>
          </a:p>
          <a:p>
            <a:pPr>
              <a:lnSpc>
                <a:spcPct val="160000"/>
              </a:lnSpc>
            </a:pPr>
            <a:r>
              <a:rPr lang="en-US" altLang="ko-KR" sz="1100" dirty="0" smtClean="0"/>
              <a:t>Technology, A</a:t>
            </a:r>
            <a:endParaRPr lang="de-DE" altLang="ko-KR" sz="1100" dirty="0" smtClean="0"/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en-US" altLang="ko-KR" sz="1100" dirty="0" smtClean="0"/>
              <a:t>T</a:t>
            </a:r>
            <a:r>
              <a:rPr lang="ko-KR" altLang="de-DE" sz="1100" dirty="0" err="1" smtClean="0"/>
              <a:t>he</a:t>
            </a:r>
            <a:r>
              <a:rPr lang="ko-KR" altLang="de-DE" sz="1100" dirty="0" smtClean="0"/>
              <a:t> </a:t>
            </a:r>
            <a:r>
              <a:rPr lang="ko-KR" altLang="de-DE" sz="1100" dirty="0"/>
              <a:t>degree of understanding of how goods and  services are  produced.</a:t>
            </a:r>
            <a:endParaRPr lang="de-DE" altLang="ko-KR" sz="1100" dirty="0"/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de-DE" altLang="ko-KR" sz="1100" dirty="0"/>
              <a:t>H</a:t>
            </a:r>
            <a:r>
              <a:rPr lang="de-DE" altLang="ko-KR" sz="1100" dirty="0" smtClean="0"/>
              <a:t>.</a:t>
            </a:r>
            <a:r>
              <a:rPr lang="ko-KR" altLang="de-DE" sz="1100" dirty="0" smtClean="0"/>
              <a:t> </a:t>
            </a:r>
            <a:r>
              <a:rPr lang="ko-KR" altLang="de-DE" sz="1100" dirty="0" err="1"/>
              <a:t>Ford's</a:t>
            </a:r>
            <a:r>
              <a:rPr lang="ko-KR" altLang="de-DE" sz="1100" dirty="0"/>
              <a:t> </a:t>
            </a:r>
            <a:r>
              <a:rPr lang="en-US" altLang="ko-KR" sz="1100" dirty="0" smtClean="0"/>
              <a:t>a</a:t>
            </a:r>
            <a:r>
              <a:rPr lang="ko-KR" altLang="de-DE" sz="1100" dirty="0" err="1" smtClean="0"/>
              <a:t>ssembly</a:t>
            </a:r>
            <a:r>
              <a:rPr lang="ko-KR" altLang="de-DE" sz="1100" dirty="0" smtClean="0"/>
              <a:t> </a:t>
            </a:r>
            <a:r>
              <a:rPr lang="en-US" altLang="ko-KR" sz="1100" dirty="0" smtClean="0"/>
              <a:t>l</a:t>
            </a:r>
            <a:r>
              <a:rPr lang="ko-KR" altLang="de-DE" sz="1100" dirty="0" err="1" smtClean="0"/>
              <a:t>ine</a:t>
            </a:r>
            <a:endParaRPr lang="en-US" altLang="ko-KR" sz="1100" dirty="0" smtClean="0"/>
          </a:p>
          <a:p>
            <a:pPr lvl="1">
              <a:lnSpc>
                <a:spcPct val="180000"/>
              </a:lnSpc>
              <a:buFontTx/>
              <a:buChar char="-"/>
            </a:pPr>
            <a:endParaRPr lang="de-DE" altLang="ko-KR" sz="1100" dirty="0" smtClean="0">
              <a:sym typeface="Wingdings" panose="05000000000000000000" pitchFamily="2" charset="2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ko-KR" altLang="de-DE" sz="1100" u="sng" dirty="0" err="1" smtClean="0">
                <a:sym typeface="Wingdings" panose="05000000000000000000" pitchFamily="2" charset="2"/>
              </a:rPr>
              <a:t>Growth</a:t>
            </a:r>
            <a:r>
              <a:rPr lang="ko-KR" altLang="de-DE" sz="1100" u="sng" dirty="0" smtClean="0">
                <a:sym typeface="Wingdings" panose="05000000000000000000" pitchFamily="2" charset="2"/>
              </a:rPr>
              <a:t> </a:t>
            </a:r>
            <a:r>
              <a:rPr lang="ko-KR" altLang="de-DE" sz="1100" u="sng" dirty="0" err="1" smtClean="0">
                <a:sym typeface="Wingdings" panose="05000000000000000000" pitchFamily="2" charset="2"/>
              </a:rPr>
              <a:t>Policy</a:t>
            </a:r>
            <a:endParaRPr lang="en-US" altLang="ko-KR" sz="1100" u="sng" dirty="0" smtClean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en-US" altLang="ko-KR" sz="1100" dirty="0" smtClean="0">
                <a:sym typeface="Wingdings" panose="05000000000000000000" pitchFamily="2" charset="2"/>
              </a:rPr>
              <a:t>P</a:t>
            </a:r>
            <a:r>
              <a:rPr lang="ko-KR" altLang="de-DE" sz="1100" dirty="0" err="1" smtClean="0">
                <a:sym typeface="Wingdings" panose="05000000000000000000" pitchFamily="2" charset="2"/>
              </a:rPr>
              <a:t>olic</a:t>
            </a:r>
            <a:r>
              <a:rPr lang="en-US" altLang="ko-KR" sz="1100" dirty="0" err="1" smtClean="0">
                <a:sym typeface="Wingdings" panose="05000000000000000000" pitchFamily="2" charset="2"/>
              </a:rPr>
              <a:t>ies</a:t>
            </a:r>
            <a:r>
              <a:rPr lang="ko-KR" altLang="de-DE" sz="1100" dirty="0" smtClean="0">
                <a:sym typeface="Wingdings" panose="05000000000000000000" pitchFamily="2" charset="2"/>
              </a:rPr>
              <a:t> </a:t>
            </a:r>
            <a:r>
              <a:rPr lang="ko-KR" altLang="de-DE" sz="1100" dirty="0" err="1" smtClean="0">
                <a:sym typeface="Wingdings" panose="05000000000000000000" pitchFamily="2" charset="2"/>
              </a:rPr>
              <a:t>that</a:t>
            </a:r>
            <a:r>
              <a:rPr lang="ko-KR" altLang="de-DE" sz="1100" dirty="0" smtClean="0">
                <a:sym typeface="Wingdings" panose="05000000000000000000" pitchFamily="2" charset="2"/>
              </a:rPr>
              <a:t> </a:t>
            </a:r>
            <a:r>
              <a:rPr lang="ko-KR" altLang="de-DE" sz="1100" dirty="0" smtClean="0">
                <a:sym typeface="Wingdings" panose="05000000000000000000" pitchFamily="2" charset="2"/>
              </a:rPr>
              <a:t>can affect the long-term growth of a country's productivity and living standards</a:t>
            </a:r>
            <a:endParaRPr lang="de-DE" altLang="ko-KR" sz="1100" dirty="0" smtClean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en-US" altLang="ko-KR" sz="1100" dirty="0" smtClean="0">
                <a:sym typeface="Wingdings" panose="05000000000000000000" pitchFamily="2" charset="2"/>
              </a:rPr>
              <a:t>S</a:t>
            </a:r>
            <a:r>
              <a:rPr lang="ko-KR" altLang="de-DE" sz="1100" dirty="0" err="1" smtClean="0">
                <a:sym typeface="Wingdings" panose="05000000000000000000" pitchFamily="2" charset="2"/>
              </a:rPr>
              <a:t>avings</a:t>
            </a:r>
            <a:r>
              <a:rPr lang="ko-KR" altLang="de-DE" sz="1100" dirty="0" smtClean="0">
                <a:sym typeface="Wingdings" panose="05000000000000000000" pitchFamily="2" charset="2"/>
              </a:rPr>
              <a:t> </a:t>
            </a:r>
            <a:r>
              <a:rPr lang="ko-KR" altLang="de-DE" sz="1100" dirty="0" smtClean="0">
                <a:sym typeface="Wingdings" panose="05000000000000000000" pitchFamily="2" charset="2"/>
              </a:rPr>
              <a:t>and </a:t>
            </a:r>
            <a:r>
              <a:rPr lang="ko-KR" altLang="de-DE" sz="1100" dirty="0" err="1" smtClean="0">
                <a:sym typeface="Wingdings" panose="05000000000000000000" pitchFamily="2" charset="2"/>
              </a:rPr>
              <a:t>investment</a:t>
            </a:r>
            <a:endParaRPr lang="de-DE" altLang="ko-KR" sz="1100" dirty="0" smtClean="0">
              <a:sym typeface="Wingdings" panose="05000000000000000000" pitchFamily="2" charset="2"/>
            </a:endParaRP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de-DE" sz="1100" dirty="0">
                <a:sym typeface="Wingdings" panose="05000000000000000000" pitchFamily="2" charset="2"/>
              </a:rPr>
              <a:t>Investment </a:t>
            </a:r>
            <a:r>
              <a:rPr lang="ko-KR" altLang="de-DE" sz="1100" dirty="0" err="1">
                <a:sym typeface="Wingdings" panose="05000000000000000000" pitchFamily="2" charset="2"/>
              </a:rPr>
              <a:t>is</a:t>
            </a:r>
            <a:r>
              <a:rPr lang="ko-KR" altLang="de-DE" sz="1100" dirty="0">
                <a:sym typeface="Wingdings" panose="05000000000000000000" pitchFamily="2" charset="2"/>
              </a:rPr>
              <a:t> </a:t>
            </a:r>
            <a:r>
              <a:rPr lang="ko-KR" altLang="de-DE" sz="1100" dirty="0" err="1" smtClean="0">
                <a:sym typeface="Wingdings" panose="05000000000000000000" pitchFamily="2" charset="2"/>
              </a:rPr>
              <a:t>necessary</a:t>
            </a:r>
            <a:r>
              <a:rPr lang="ko-KR" altLang="de-DE" sz="1100" dirty="0" smtClean="0">
                <a:sym typeface="Wingdings" panose="05000000000000000000" pitchFamily="2" charset="2"/>
              </a:rPr>
              <a:t> </a:t>
            </a:r>
            <a:r>
              <a:rPr lang="ko-KR" altLang="de-DE" sz="1100" dirty="0" err="1" smtClean="0">
                <a:sym typeface="Wingdings" panose="05000000000000000000" pitchFamily="2" charset="2"/>
              </a:rPr>
              <a:t>to</a:t>
            </a:r>
            <a:r>
              <a:rPr lang="ko-KR" altLang="de-DE" sz="1100" dirty="0" smtClean="0">
                <a:sym typeface="Wingdings" panose="05000000000000000000" pitchFamily="2" charset="2"/>
              </a:rPr>
              <a:t> </a:t>
            </a:r>
            <a:r>
              <a:rPr lang="ko-KR" altLang="de-DE" sz="1100" dirty="0">
                <a:sym typeface="Wingdings" panose="05000000000000000000" pitchFamily="2" charset="2"/>
              </a:rPr>
              <a:t>improve productivity </a:t>
            </a:r>
            <a:r>
              <a:rPr lang="ko-KR" altLang="de-DE" sz="1100" dirty="0" err="1">
                <a:sym typeface="Wingdings" panose="05000000000000000000" pitchFamily="2" charset="2"/>
              </a:rPr>
              <a:t>in</a:t>
            </a:r>
            <a:r>
              <a:rPr lang="ko-KR" altLang="de-DE" sz="1100" dirty="0">
                <a:sym typeface="Wingdings" panose="05000000000000000000" pitchFamily="2" charset="2"/>
              </a:rPr>
              <a:t> </a:t>
            </a:r>
            <a:r>
              <a:rPr lang="ko-KR" altLang="de-DE" sz="1100" dirty="0" err="1" smtClean="0">
                <a:sym typeface="Wingdings" panose="05000000000000000000" pitchFamily="2" charset="2"/>
              </a:rPr>
              <a:t>the</a:t>
            </a:r>
            <a:r>
              <a:rPr lang="ko-KR" altLang="de-DE" sz="1100" dirty="0" smtClean="0">
                <a:sym typeface="Wingdings" panose="05000000000000000000" pitchFamily="2" charset="2"/>
              </a:rPr>
              <a:t> </a:t>
            </a:r>
            <a:r>
              <a:rPr lang="ko-KR" altLang="de-DE" sz="1100" dirty="0">
                <a:sym typeface="Wingdings" panose="05000000000000000000" pitchFamily="2" charset="2"/>
              </a:rPr>
              <a:t>future.</a:t>
            </a:r>
            <a:endParaRPr lang="de-DE" altLang="ko-KR" sz="1100" dirty="0">
              <a:sym typeface="Wingdings" panose="05000000000000000000" pitchFamily="2" charset="2"/>
            </a:endParaRP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de-DE" sz="1100" dirty="0">
                <a:sym typeface="Wingdings" panose="05000000000000000000" pitchFamily="2" charset="2"/>
              </a:rPr>
              <a:t>Creating physical </a:t>
            </a:r>
            <a:r>
              <a:rPr lang="ko-KR" altLang="de-DE" sz="1100" dirty="0" err="1">
                <a:sym typeface="Wingdings" panose="05000000000000000000" pitchFamily="2" charset="2"/>
              </a:rPr>
              <a:t>capital</a:t>
            </a:r>
            <a:r>
              <a:rPr lang="ko-KR" altLang="de-DE" sz="1100" dirty="0">
                <a:sym typeface="Wingdings" panose="05000000000000000000" pitchFamily="2" charset="2"/>
              </a:rPr>
              <a:t> </a:t>
            </a:r>
            <a:r>
              <a:rPr lang="ko-KR" altLang="de-DE" sz="1100" dirty="0" smtClean="0">
                <a:sym typeface="Wingdings" panose="05000000000000000000" pitchFamily="2" charset="2"/>
              </a:rPr>
              <a:t>(K</a:t>
            </a:r>
            <a:r>
              <a:rPr lang="de-DE" altLang="ko-KR" sz="1100" dirty="0" smtClean="0">
                <a:sym typeface="Wingdings" panose="05000000000000000000" pitchFamily="2" charset="2"/>
              </a:rPr>
              <a:t>) with </a:t>
            </a:r>
            <a:r>
              <a:rPr lang="de-DE" altLang="ko-KR" sz="1100" dirty="0" smtClean="0">
                <a:sym typeface="Wingdings" panose="05000000000000000000" pitchFamily="2" charset="2"/>
              </a:rPr>
              <a:t>s</a:t>
            </a:r>
            <a:r>
              <a:rPr lang="ko-KR" altLang="de-DE" sz="1100" dirty="0" err="1" smtClean="0">
                <a:sym typeface="Wingdings" panose="05000000000000000000" pitchFamily="2" charset="2"/>
              </a:rPr>
              <a:t>avings</a:t>
            </a:r>
            <a:r>
              <a:rPr lang="ko-KR" altLang="de-DE" sz="1100" dirty="0" smtClean="0">
                <a:sym typeface="Wingdings" panose="05000000000000000000" pitchFamily="2" charset="2"/>
              </a:rPr>
              <a:t> </a:t>
            </a:r>
            <a:r>
              <a:rPr lang="ko-KR" altLang="de-DE" sz="1100" dirty="0" smtClean="0">
                <a:sym typeface="Wingdings" panose="05000000000000000000" pitchFamily="2" charset="2"/>
              </a:rPr>
              <a:t>is an 'investment'</a:t>
            </a:r>
            <a:endParaRPr lang="de-DE" altLang="ko-KR" sz="11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ko-KR" altLang="de-DE" sz="1100" dirty="0" smtClean="0">
                <a:sym typeface="Wingdings" panose="05000000000000000000" pitchFamily="2" charset="2"/>
              </a:rPr>
              <a:t>The increase</a:t>
            </a:r>
            <a:r>
              <a:rPr lang="de-DE" altLang="ko-KR" sz="1100" dirty="0" smtClean="0">
                <a:sym typeface="Wingdings" panose="05000000000000000000" pitchFamily="2" charset="2"/>
              </a:rPr>
              <a:t> in </a:t>
            </a:r>
            <a:r>
              <a:rPr lang="de-DE" altLang="ko-KR" sz="1100" dirty="0" smtClean="0">
                <a:sym typeface="Wingdings" panose="05000000000000000000" pitchFamily="2" charset="2"/>
              </a:rPr>
              <a:t>Physical </a:t>
            </a:r>
            <a:r>
              <a:rPr lang="ko-KR" altLang="de-DE" sz="1100" dirty="0" err="1" smtClean="0">
                <a:sym typeface="Wingdings" panose="05000000000000000000" pitchFamily="2" charset="2"/>
              </a:rPr>
              <a:t>capital</a:t>
            </a:r>
            <a:r>
              <a:rPr lang="ko-KR" altLang="de-DE" sz="1100" dirty="0" smtClean="0">
                <a:sym typeface="Wingdings" panose="05000000000000000000" pitchFamily="2" charset="2"/>
              </a:rPr>
              <a:t> </a:t>
            </a:r>
            <a:r>
              <a:rPr lang="ko-KR" altLang="de-DE" sz="1100" dirty="0" smtClean="0">
                <a:sym typeface="Wingdings" panose="05000000000000000000" pitchFamily="2" charset="2"/>
              </a:rPr>
              <a:t>enables rapid growth</a:t>
            </a:r>
            <a:r>
              <a:rPr lang="de-DE" altLang="ko-KR" sz="1100" dirty="0" smtClean="0">
                <a:sym typeface="Wingdings" panose="05000000000000000000" pitchFamily="2" charset="2"/>
              </a:rPr>
              <a:t>. </a:t>
            </a:r>
            <a:r>
              <a:rPr lang="ko-KR" altLang="de-DE" sz="1100" dirty="0" smtClean="0">
                <a:sym typeface="Wingdings" panose="05000000000000000000" pitchFamily="2" charset="2"/>
              </a:rPr>
              <a:t>But the effect is temporary.</a:t>
            </a:r>
            <a:endParaRPr lang="de-DE" altLang="ko-KR" sz="1100" dirty="0" smtClean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de-DE" altLang="ko-KR" sz="1100" dirty="0" smtClean="0">
                <a:sym typeface="Wingdings" panose="05000000000000000000" pitchFamily="2" charset="2"/>
              </a:rPr>
              <a:t>Diminishing </a:t>
            </a:r>
            <a:r>
              <a:rPr lang="de-DE" altLang="ko-KR" sz="1100" dirty="0" smtClean="0">
                <a:sym typeface="Wingdings" panose="05000000000000000000" pitchFamily="2" charset="2"/>
              </a:rPr>
              <a:t>Returns </a:t>
            </a:r>
            <a:r>
              <a:rPr lang="ko-KR" altLang="en-US" sz="1100" dirty="0" err="1" smtClean="0">
                <a:sym typeface="Wingdings" panose="05000000000000000000" pitchFamily="2" charset="2"/>
              </a:rPr>
              <a:t>to</a:t>
            </a:r>
            <a:r>
              <a:rPr lang="ko-KR" altLang="en-US" sz="1100" dirty="0" smtClean="0">
                <a:sym typeface="Wingdings" panose="05000000000000000000" pitchFamily="2" charset="2"/>
              </a:rPr>
              <a:t> </a:t>
            </a:r>
            <a:r>
              <a:rPr lang="ko-KR" altLang="en-US" sz="1100" dirty="0" smtClean="0">
                <a:sym typeface="Wingdings" panose="05000000000000000000" pitchFamily="2" charset="2"/>
              </a:rPr>
              <a:t>Capital</a:t>
            </a:r>
            <a:endParaRPr lang="de-DE" altLang="ko-KR" sz="1100" dirty="0" smtClean="0">
              <a:sym typeface="Wingdings" panose="05000000000000000000" pitchFamily="2" charset="2"/>
            </a:endParaRPr>
          </a:p>
          <a:p>
            <a:pPr lvl="1">
              <a:lnSpc>
                <a:spcPct val="190000"/>
              </a:lnSpc>
              <a:buFontTx/>
              <a:buChar char="-"/>
            </a:pPr>
            <a:r>
              <a:rPr lang="ko-KR" altLang="de-DE" sz="1100" dirty="0">
                <a:sym typeface="Wingdings" panose="05000000000000000000" pitchFamily="2" charset="2"/>
              </a:rPr>
              <a:t>a reduction </a:t>
            </a:r>
            <a:r>
              <a:rPr lang="ko-KR" altLang="de-DE" sz="1100" dirty="0" err="1">
                <a:sym typeface="Wingdings" panose="05000000000000000000" pitchFamily="2" charset="2"/>
              </a:rPr>
              <a:t>in</a:t>
            </a:r>
            <a:r>
              <a:rPr lang="ko-KR" altLang="de-DE" sz="1100" dirty="0">
                <a:sym typeface="Wingdings" panose="05000000000000000000" pitchFamily="2" charset="2"/>
              </a:rPr>
              <a:t> </a:t>
            </a:r>
            <a:r>
              <a:rPr lang="en-US" altLang="ko-KR" sz="1100" dirty="0" smtClean="0">
                <a:sym typeface="Wingdings" panose="05000000000000000000" pitchFamily="2" charset="2"/>
              </a:rPr>
              <a:t>extra </a:t>
            </a:r>
            <a:r>
              <a:rPr lang="ko-KR" altLang="de-DE" sz="1100" dirty="0" err="1" smtClean="0">
                <a:sym typeface="Wingdings" panose="05000000000000000000" pitchFamily="2" charset="2"/>
              </a:rPr>
              <a:t>output</a:t>
            </a:r>
            <a:r>
              <a:rPr lang="ko-KR" altLang="de-DE" sz="1100" dirty="0" smtClean="0">
                <a:sym typeface="Wingdings" panose="05000000000000000000" pitchFamily="2" charset="2"/>
              </a:rPr>
              <a:t> </a:t>
            </a:r>
            <a:r>
              <a:rPr lang="ko-KR" altLang="de-DE" sz="1100" dirty="0">
                <a:sym typeface="Wingdings" panose="05000000000000000000" pitchFamily="2" charset="2"/>
              </a:rPr>
              <a:t>produced</a:t>
            </a:r>
            <a:r>
              <a:rPr lang="de-DE" altLang="ko-KR" sz="1100" dirty="0" smtClean="0">
                <a:sym typeface="Wingdings" panose="05000000000000000000" pitchFamily="2" charset="2"/>
              </a:rPr>
              <a:t> by</a:t>
            </a:r>
            <a:r>
              <a:rPr lang="de-DE" altLang="ko-KR" sz="1100" dirty="0">
                <a:sym typeface="Wingdings" panose="05000000000000000000" pitchFamily="2" charset="2"/>
              </a:rPr>
              <a:t> </a:t>
            </a:r>
            <a:r>
              <a:rPr lang="ko-KR" altLang="de-DE" sz="1100" dirty="0" err="1" smtClean="0">
                <a:sym typeface="Wingdings" panose="05000000000000000000" pitchFamily="2" charset="2"/>
              </a:rPr>
              <a:t>a</a:t>
            </a:r>
            <a:r>
              <a:rPr lang="ko-KR" altLang="de-DE" sz="1100" dirty="0" smtClean="0">
                <a:sym typeface="Wingdings" panose="05000000000000000000" pitchFamily="2" charset="2"/>
              </a:rPr>
              <a:t> </a:t>
            </a:r>
            <a:r>
              <a:rPr lang="de-DE" altLang="ko-KR" sz="1100" dirty="0">
                <a:sym typeface="Wingdings" panose="05000000000000000000" pitchFamily="2" charset="2"/>
              </a:rPr>
              <a:t>unit of </a:t>
            </a:r>
            <a:r>
              <a:rPr lang="ko-KR" altLang="de-DE" sz="1100" dirty="0" err="1">
                <a:sym typeface="Wingdings" panose="05000000000000000000" pitchFamily="2" charset="2"/>
              </a:rPr>
              <a:t>additional</a:t>
            </a:r>
            <a:r>
              <a:rPr lang="ko-KR" altLang="de-DE" sz="1100" dirty="0">
                <a:sym typeface="Wingdings" panose="05000000000000000000" pitchFamily="2" charset="2"/>
              </a:rPr>
              <a:t> </a:t>
            </a:r>
            <a:r>
              <a:rPr lang="en-US" altLang="ko-KR" sz="1100" dirty="0" smtClean="0">
                <a:sym typeface="Wingdings" panose="05000000000000000000" pitchFamily="2" charset="2"/>
              </a:rPr>
              <a:t>physical</a:t>
            </a:r>
            <a:r>
              <a:rPr lang="ko-KR" altLang="de-DE" sz="1100" dirty="0" smtClean="0">
                <a:sym typeface="Wingdings" panose="05000000000000000000" pitchFamily="2" charset="2"/>
              </a:rPr>
              <a:t> </a:t>
            </a:r>
            <a:r>
              <a:rPr lang="ko-KR" altLang="de-DE" sz="1100" dirty="0" err="1" smtClean="0">
                <a:sym typeface="Wingdings" panose="05000000000000000000" pitchFamily="2" charset="2"/>
              </a:rPr>
              <a:t>capital</a:t>
            </a:r>
            <a:r>
              <a:rPr lang="en-US" altLang="ko-KR" sz="1100" dirty="0" smtClean="0">
                <a:sym typeface="Wingdings" panose="05000000000000000000" pitchFamily="2" charset="2"/>
              </a:rPr>
              <a:t>.</a:t>
            </a:r>
            <a:endParaRPr lang="ko-KR" altLang="de-DE" sz="1100" dirty="0">
              <a:sym typeface="Wingdings" panose="05000000000000000000" pitchFamily="2" charset="2"/>
            </a:endParaRPr>
          </a:p>
          <a:p>
            <a:pPr lvl="1">
              <a:lnSpc>
                <a:spcPct val="190000"/>
              </a:lnSpc>
              <a:buFontTx/>
              <a:buChar char="-"/>
            </a:pPr>
            <a:r>
              <a:rPr lang="de-DE" altLang="ko-KR" sz="1100" dirty="0" smtClean="0">
                <a:sym typeface="Wingdings" panose="05000000000000000000" pitchFamily="2" charset="2"/>
              </a:rPr>
              <a:t>Catch-up </a:t>
            </a:r>
            <a:r>
              <a:rPr lang="ko-KR" altLang="de-DE" sz="1100" dirty="0" smtClean="0">
                <a:sym typeface="Wingdings" panose="05000000000000000000" pitchFamily="2" charset="2"/>
              </a:rPr>
              <a:t>effect</a:t>
            </a:r>
            <a:r>
              <a:rPr lang="de-DE" altLang="ko-KR" sz="1100" dirty="0" smtClean="0">
                <a:sym typeface="Wingdings" panose="05000000000000000000" pitchFamily="2" charset="2"/>
              </a:rPr>
              <a:t>:</a:t>
            </a:r>
            <a:r>
              <a:rPr lang="ko-KR" altLang="de-DE" sz="1100" dirty="0" smtClean="0">
                <a:sym typeface="Wingdings" panose="05000000000000000000" pitchFamily="2" charset="2"/>
              </a:rPr>
              <a:t> Poor countries tend to grow faster.</a:t>
            </a:r>
            <a:endParaRPr lang="de-DE" altLang="ko-KR" sz="1100" dirty="0" smtClean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</a:pPr>
            <a:endParaRPr lang="de-DE" altLang="ko-KR" sz="11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de-DE" altLang="ko-KR" sz="1100" dirty="0" smtClean="0">
                <a:sym typeface="Wingdings" panose="05000000000000000000" pitchFamily="2" charset="2"/>
              </a:rPr>
              <a:t>Investment from </a:t>
            </a:r>
            <a:r>
              <a:rPr lang="ko-KR" altLang="de-DE" sz="1100" dirty="0" smtClean="0">
                <a:sym typeface="Wingdings" panose="05000000000000000000" pitchFamily="2" charset="2"/>
              </a:rPr>
              <a:t>abroad</a:t>
            </a:r>
            <a:endParaRPr lang="de-DE" altLang="ko-KR" sz="1100" dirty="0" smtClean="0">
              <a:sym typeface="Wingdings" panose="05000000000000000000" pitchFamily="2" charset="2"/>
            </a:endParaRPr>
          </a:p>
          <a:p>
            <a:pPr lvl="1">
              <a:lnSpc>
                <a:spcPct val="190000"/>
              </a:lnSpc>
              <a:buFontTx/>
              <a:buChar char="-"/>
            </a:pPr>
            <a:r>
              <a:rPr lang="de-DE" altLang="ko-KR" sz="1100" dirty="0" smtClean="0">
                <a:sym typeface="Wingdings" panose="05000000000000000000" pitchFamily="2" charset="2"/>
              </a:rPr>
              <a:t>Foreign </a:t>
            </a:r>
            <a:r>
              <a:rPr lang="de-DE" altLang="ko-KR" sz="1100" dirty="0">
                <a:sym typeface="Wingdings" panose="05000000000000000000" pitchFamily="2" charset="2"/>
              </a:rPr>
              <a:t>Direct Investment  FDI, </a:t>
            </a:r>
            <a:r>
              <a:rPr lang="de-DE" altLang="ko-KR" sz="1100" dirty="0" smtClean="0">
                <a:sym typeface="Wingdings" panose="05000000000000000000" pitchFamily="2" charset="2"/>
              </a:rPr>
              <a:t>Foreign Direct Investment vs.</a:t>
            </a:r>
            <a:r>
              <a:rPr lang="en-US" altLang="ko-KR" sz="1100" dirty="0" smtClean="0">
                <a:sym typeface="Wingdings" panose="05000000000000000000" pitchFamily="2" charset="2"/>
              </a:rPr>
              <a:t> </a:t>
            </a:r>
            <a:r>
              <a:rPr lang="ko-KR" altLang="de-DE" sz="1100" dirty="0" smtClean="0">
                <a:sym typeface="Wingdings" panose="05000000000000000000" pitchFamily="2" charset="2"/>
              </a:rPr>
              <a:t>Foreign portfolio investment</a:t>
            </a:r>
            <a:endParaRPr lang="de-DE" altLang="ko-KR" sz="11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ko-KR" altLang="de-DE" sz="1100" dirty="0" smtClean="0">
                <a:sym typeface="Wingdings" panose="05000000000000000000" pitchFamily="2" charset="2"/>
              </a:rPr>
              <a:t>Pros and cons of foreign investment inflow</a:t>
            </a:r>
            <a:endParaRPr lang="de-DE" altLang="ko-KR" sz="11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endParaRPr lang="de-DE" altLang="ko-KR" sz="11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ko-KR" altLang="de-DE" sz="1100" dirty="0" smtClean="0">
                <a:sym typeface="Wingdings" panose="05000000000000000000" pitchFamily="2" charset="2"/>
              </a:rPr>
              <a:t>Education</a:t>
            </a:r>
            <a:r>
              <a:rPr lang="de-DE" altLang="ko-KR" sz="1100" dirty="0" smtClean="0">
                <a:sym typeface="Wingdings" panose="05000000000000000000" pitchFamily="2" charset="2"/>
              </a:rPr>
              <a:t>: Investment in </a:t>
            </a:r>
            <a:r>
              <a:rPr lang="ko-KR" altLang="de-DE" sz="1100" dirty="0" smtClean="0">
                <a:sym typeface="Wingdings" panose="05000000000000000000" pitchFamily="2" charset="2"/>
              </a:rPr>
              <a:t>Public Education</a:t>
            </a:r>
            <a:endParaRPr lang="de-DE" altLang="ko-KR" sz="1100" dirty="0" smtClean="0">
              <a:sym typeface="Wingdings" panose="05000000000000000000" pitchFamily="2" charset="2"/>
            </a:endParaRP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de-DE" sz="1100" dirty="0" err="1" smtClean="0">
                <a:sym typeface="Wingdings" panose="05000000000000000000" pitchFamily="2" charset="2"/>
              </a:rPr>
              <a:t>More</a:t>
            </a:r>
            <a:r>
              <a:rPr lang="ko-KR" altLang="de-DE" sz="1100" dirty="0" smtClean="0">
                <a:sym typeface="Wingdings" panose="05000000000000000000" pitchFamily="2" charset="2"/>
              </a:rPr>
              <a:t> </a:t>
            </a:r>
            <a:r>
              <a:rPr lang="ko-KR" altLang="de-DE" sz="1100" dirty="0">
                <a:sym typeface="Wingdings" panose="05000000000000000000" pitchFamily="2" charset="2"/>
              </a:rPr>
              <a:t>education </a:t>
            </a:r>
            <a:r>
              <a:rPr lang="ko-KR" altLang="de-DE" sz="1100" dirty="0" err="1">
                <a:sym typeface="Wingdings" panose="05000000000000000000" pitchFamily="2" charset="2"/>
              </a:rPr>
              <a:t>increases</a:t>
            </a:r>
            <a:r>
              <a:rPr lang="ko-KR" altLang="de-DE" sz="1100" dirty="0">
                <a:sym typeface="Wingdings" panose="05000000000000000000" pitchFamily="2" charset="2"/>
              </a:rPr>
              <a:t> </a:t>
            </a:r>
            <a:r>
              <a:rPr lang="ko-KR" altLang="de-DE" sz="1100" dirty="0" err="1" smtClean="0">
                <a:sym typeface="Wingdings" panose="05000000000000000000" pitchFamily="2" charset="2"/>
              </a:rPr>
              <a:t>productivity</a:t>
            </a:r>
            <a:r>
              <a:rPr lang="en-US" altLang="ko-KR" sz="1100" dirty="0" smtClean="0">
                <a:sym typeface="Wingdings" panose="05000000000000000000" pitchFamily="2" charset="2"/>
              </a:rPr>
              <a:t>. </a:t>
            </a:r>
            <a:endParaRPr lang="de-DE" altLang="ko-KR" sz="1100" dirty="0">
              <a:sym typeface="Wingdings" panose="05000000000000000000" pitchFamily="2" charset="2"/>
            </a:endParaRP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de-DE" altLang="ko-KR" sz="1100" dirty="0">
                <a:sym typeface="Wingdings" panose="05000000000000000000" pitchFamily="2" charset="2"/>
              </a:rPr>
              <a:t>Brain </a:t>
            </a:r>
            <a:r>
              <a:rPr lang="ko-KR" altLang="de-DE" sz="1100" dirty="0">
                <a:sym typeface="Wingdings" panose="05000000000000000000" pitchFamily="2" charset="2"/>
              </a:rPr>
              <a:t>drain problems in poor</a:t>
            </a:r>
            <a:r>
              <a:rPr lang="de-DE" altLang="ko-KR" sz="1100" dirty="0" smtClean="0">
                <a:sym typeface="Wingdings" panose="05000000000000000000" pitchFamily="2" charset="2"/>
              </a:rPr>
              <a:t> </a:t>
            </a:r>
            <a:r>
              <a:rPr lang="de-DE" altLang="ko-KR" sz="1100" dirty="0">
                <a:sym typeface="Wingdings" panose="05000000000000000000" pitchFamily="2" charset="2"/>
              </a:rPr>
              <a:t>countries</a:t>
            </a:r>
          </a:p>
          <a:p>
            <a:pPr marL="257175" lvl="1" indent="0">
              <a:lnSpc>
                <a:spcPct val="160000"/>
              </a:lnSpc>
              <a:buNone/>
            </a:pPr>
            <a:endParaRPr lang="de-DE" altLang="ko-KR" sz="1100" dirty="0">
              <a:sym typeface="Wingdings" panose="05000000000000000000" pitchFamily="2" charset="2"/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35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71488" y="702944"/>
            <a:ext cx="5915025" cy="10708005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altLang="ko-KR" sz="1100" dirty="0" smtClean="0"/>
              <a:t>I</a:t>
            </a:r>
            <a:r>
              <a:rPr lang="ko-KR" altLang="en-US" sz="1100" dirty="0" err="1" smtClean="0"/>
              <a:t>mprovement</a:t>
            </a:r>
            <a:r>
              <a:rPr lang="ko-KR" altLang="en-US" sz="1100" dirty="0" smtClean="0"/>
              <a:t> </a:t>
            </a:r>
            <a:r>
              <a:rPr lang="ko-KR" altLang="en-US" sz="1100" dirty="0" smtClean="0"/>
              <a:t>in health and nutrition</a:t>
            </a:r>
            <a:endParaRPr lang="en-US" altLang="ko-KR" sz="1100" dirty="0" smtClean="0"/>
          </a:p>
          <a:p>
            <a:pPr lvl="1">
              <a:lnSpc>
                <a:spcPct val="190000"/>
              </a:lnSpc>
              <a:buFontTx/>
              <a:buChar char="-"/>
            </a:pPr>
            <a:r>
              <a:rPr lang="en-US" altLang="ko-KR" sz="1100" dirty="0" smtClean="0"/>
              <a:t>Human </a:t>
            </a:r>
            <a:r>
              <a:rPr lang="ko-KR" altLang="en-US" sz="1100" dirty="0" err="1"/>
              <a:t>capital</a:t>
            </a:r>
            <a:r>
              <a:rPr lang="ko-KR" altLang="en-US" sz="1100" dirty="0"/>
              <a:t> </a:t>
            </a:r>
            <a:r>
              <a:rPr lang="ko-KR" altLang="en-US" sz="1100" dirty="0" smtClean="0"/>
              <a:t>(</a:t>
            </a:r>
            <a:r>
              <a:rPr lang="ko-KR" altLang="en-US" sz="1100" dirty="0" err="1" smtClean="0"/>
              <a:t>H</a:t>
            </a:r>
            <a:r>
              <a:rPr lang="en-US" altLang="ko-KR" sz="1100" dirty="0"/>
              <a:t>) investment policy.</a:t>
            </a:r>
            <a:r>
              <a:rPr lang="ko-KR" altLang="en-US" sz="1100" dirty="0"/>
              <a:t> </a:t>
            </a:r>
            <a:endParaRPr lang="en-US" altLang="ko-KR" sz="1100" dirty="0" smtClean="0"/>
          </a:p>
          <a:p>
            <a:pPr lvl="1">
              <a:lnSpc>
                <a:spcPct val="190000"/>
              </a:lnSpc>
              <a:buFontTx/>
              <a:buChar char="-"/>
            </a:pPr>
            <a:r>
              <a:rPr lang="ko-KR" altLang="en-US" sz="1100" dirty="0" err="1" smtClean="0"/>
              <a:t>Healthier</a:t>
            </a:r>
            <a:r>
              <a:rPr lang="en-US" altLang="ko-KR" sz="1100" dirty="0" smtClean="0"/>
              <a:t> </a:t>
            </a:r>
            <a:r>
              <a:rPr lang="ko-KR" altLang="en-US" sz="1100" dirty="0"/>
              <a:t>workers are more productive.</a:t>
            </a:r>
            <a:endParaRPr lang="en-US" altLang="ko-KR" sz="1100" dirty="0"/>
          </a:p>
          <a:p>
            <a:pPr>
              <a:lnSpc>
                <a:spcPct val="160000"/>
              </a:lnSpc>
            </a:pPr>
            <a:endParaRPr lang="en-US" altLang="ko-KR" sz="1100" dirty="0" smtClean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ko-KR" altLang="en-US" sz="1100" dirty="0" smtClean="0">
                <a:sym typeface="Wingdings" panose="05000000000000000000" pitchFamily="2" charset="2"/>
              </a:rPr>
              <a:t> </a:t>
            </a:r>
            <a:r>
              <a:rPr lang="ko-KR" altLang="en-US" sz="1100" dirty="0">
                <a:sym typeface="Wingdings" panose="05000000000000000000" pitchFamily="2" charset="2"/>
              </a:rPr>
              <a:t>Protection of </a:t>
            </a:r>
            <a:r>
              <a:rPr lang="ko-KR" altLang="en-US" sz="1100" dirty="0" err="1" smtClean="0">
                <a:sym typeface="Wingdings" panose="05000000000000000000" pitchFamily="2" charset="2"/>
              </a:rPr>
              <a:t>property</a:t>
            </a:r>
            <a:r>
              <a:rPr lang="ko-KR" altLang="en-US" sz="1100" dirty="0" smtClean="0">
                <a:sym typeface="Wingdings" panose="05000000000000000000" pitchFamily="2" charset="2"/>
              </a:rPr>
              <a:t> </a:t>
            </a:r>
            <a:r>
              <a:rPr lang="ko-KR" altLang="en-US" sz="1100" dirty="0">
                <a:sym typeface="Wingdings" panose="05000000000000000000" pitchFamily="2" charset="2"/>
              </a:rPr>
              <a:t>rights and political stability</a:t>
            </a:r>
            <a:endParaRPr lang="en-US" altLang="ko-KR" sz="1100" dirty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</a:pPr>
            <a:endParaRPr lang="en-US" altLang="ko-KR" sz="11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ko-KR" altLang="en-US" sz="1100" dirty="0" err="1">
                <a:sym typeface="Wingdings" panose="05000000000000000000" pitchFamily="2" charset="2"/>
              </a:rPr>
              <a:t>Free</a:t>
            </a:r>
            <a:r>
              <a:rPr lang="en-US" altLang="ko-KR" sz="1100" dirty="0">
                <a:sym typeface="Wingdings" panose="05000000000000000000" pitchFamily="2" charset="2"/>
              </a:rPr>
              <a:t> </a:t>
            </a:r>
            <a:r>
              <a:rPr lang="ko-KR" altLang="en-US" sz="1100" dirty="0" err="1" smtClean="0">
                <a:sym typeface="Wingdings" panose="05000000000000000000" pitchFamily="2" charset="2"/>
              </a:rPr>
              <a:t>Trade</a:t>
            </a:r>
            <a:r>
              <a:rPr lang="ko-KR" altLang="en-US" sz="1100" dirty="0" smtClean="0">
                <a:sym typeface="Wingdings" panose="05000000000000000000" pitchFamily="2" charset="2"/>
              </a:rPr>
              <a:t> </a:t>
            </a:r>
            <a:r>
              <a:rPr lang="ko-KR" altLang="en-US" sz="1100" dirty="0" err="1" smtClean="0">
                <a:sym typeface="Wingdings" panose="05000000000000000000" pitchFamily="2" charset="2"/>
              </a:rPr>
              <a:t>Policy</a:t>
            </a:r>
            <a:endParaRPr lang="en-US" altLang="ko-KR" sz="1100" dirty="0">
              <a:sym typeface="Wingdings" panose="05000000000000000000" pitchFamily="2" charset="2"/>
            </a:endParaRP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en-US" sz="1100" dirty="0">
                <a:sym typeface="Wingdings" panose="05000000000000000000" pitchFamily="2" charset="2"/>
              </a:rPr>
              <a:t>Trade has</a:t>
            </a:r>
            <a:r>
              <a:rPr lang="en-US" altLang="ko-KR" sz="1100" dirty="0" smtClean="0">
                <a:sym typeface="Wingdings" panose="05000000000000000000" pitchFamily="2" charset="2"/>
              </a:rPr>
              <a:t> a similar effect to </a:t>
            </a:r>
            <a:r>
              <a:rPr lang="en-US" altLang="ko-KR" sz="1100" dirty="0">
                <a:sym typeface="Wingdings" panose="05000000000000000000" pitchFamily="2" charset="2"/>
              </a:rPr>
              <a:t>inventing</a:t>
            </a:r>
            <a:r>
              <a:rPr lang="en-US" altLang="ko-KR" sz="1100" dirty="0" smtClean="0">
                <a:sym typeface="Wingdings" panose="05000000000000000000" pitchFamily="2" charset="2"/>
              </a:rPr>
              <a:t> </a:t>
            </a:r>
            <a:r>
              <a:rPr lang="ko-KR" altLang="en-US" sz="1100" dirty="0" err="1" smtClean="0">
                <a:sym typeface="Wingdings" panose="05000000000000000000" pitchFamily="2" charset="2"/>
              </a:rPr>
              <a:t>new</a:t>
            </a:r>
            <a:r>
              <a:rPr lang="ko-KR" altLang="en-US" sz="1100" dirty="0" smtClean="0">
                <a:sym typeface="Wingdings" panose="05000000000000000000" pitchFamily="2" charset="2"/>
              </a:rPr>
              <a:t> </a:t>
            </a:r>
            <a:r>
              <a:rPr lang="ko-KR" altLang="en-US" sz="1100" dirty="0" err="1" smtClean="0">
                <a:sym typeface="Wingdings" panose="05000000000000000000" pitchFamily="2" charset="2"/>
              </a:rPr>
              <a:t>technologies</a:t>
            </a:r>
            <a:r>
              <a:rPr lang="ko-KR" altLang="en-US" sz="1100" dirty="0" smtClean="0">
                <a:sym typeface="Wingdings" panose="05000000000000000000" pitchFamily="2" charset="2"/>
              </a:rPr>
              <a:t>.</a:t>
            </a:r>
            <a:endParaRPr lang="en-US" altLang="ko-KR" sz="1100" dirty="0">
              <a:sym typeface="Wingdings" panose="05000000000000000000" pitchFamily="2" charset="2"/>
            </a:endParaRP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en-US" sz="1100" dirty="0">
                <a:sym typeface="Wingdings" panose="05000000000000000000" pitchFamily="2" charset="2"/>
              </a:rPr>
              <a:t>Countries that</a:t>
            </a:r>
            <a:r>
              <a:rPr lang="en-US" altLang="ko-KR" sz="1100" dirty="0">
                <a:sym typeface="Wingdings" panose="05000000000000000000" pitchFamily="2" charset="2"/>
              </a:rPr>
              <a:t> used</a:t>
            </a:r>
            <a:r>
              <a:rPr lang="ko-KR" altLang="en-US" sz="1100" dirty="0">
                <a:sym typeface="Wingdings" panose="05000000000000000000" pitchFamily="2" charset="2"/>
              </a:rPr>
              <a:t> </a:t>
            </a:r>
            <a:r>
              <a:rPr lang="en-US" altLang="ko-KR" sz="1100" dirty="0" smtClean="0">
                <a:sym typeface="Wingdings" panose="05000000000000000000" pitchFamily="2" charset="2"/>
              </a:rPr>
              <a:t>free trade </a:t>
            </a:r>
            <a:r>
              <a:rPr lang="en-US" altLang="ko-KR" sz="1100" dirty="0">
                <a:sym typeface="Wingdings" panose="05000000000000000000" pitchFamily="2" charset="2"/>
              </a:rPr>
              <a:t>policies, such </a:t>
            </a:r>
            <a:r>
              <a:rPr lang="en-US" altLang="ko-KR" sz="1100" dirty="0" smtClean="0">
                <a:sym typeface="Wingdings" panose="05000000000000000000" pitchFamily="2" charset="2"/>
              </a:rPr>
              <a:t>as </a:t>
            </a:r>
            <a:r>
              <a:rPr lang="en-US" altLang="ko-KR" sz="1100" dirty="0">
                <a:sym typeface="Wingdings" panose="05000000000000000000" pitchFamily="2" charset="2"/>
              </a:rPr>
              <a:t>Korea, Singapore, and Taiwan, </a:t>
            </a:r>
            <a:r>
              <a:rPr lang="en-US" altLang="ko-KR" sz="1100" dirty="0" smtClean="0">
                <a:sym typeface="Wingdings" panose="05000000000000000000" pitchFamily="2" charset="2"/>
              </a:rPr>
              <a:t>succeeded </a:t>
            </a:r>
            <a:r>
              <a:rPr lang="en-US" altLang="ko-KR" sz="1100" dirty="0">
                <a:sym typeface="Wingdings" panose="05000000000000000000" pitchFamily="2" charset="2"/>
              </a:rPr>
              <a:t>in growing.</a:t>
            </a:r>
          </a:p>
          <a:p>
            <a:pPr lvl="1">
              <a:lnSpc>
                <a:spcPct val="160000"/>
              </a:lnSpc>
            </a:pPr>
            <a:endParaRPr lang="en-US" altLang="ko-KR" sz="11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ko-KR" altLang="en-US" sz="1100" dirty="0">
                <a:sym typeface="Wingdings" panose="05000000000000000000" pitchFamily="2" charset="2"/>
              </a:rPr>
              <a:t>R&amp;D </a:t>
            </a:r>
            <a:r>
              <a:rPr lang="ko-KR" altLang="en-US" sz="1100" dirty="0" err="1" smtClean="0">
                <a:sym typeface="Wingdings" panose="05000000000000000000" pitchFamily="2" charset="2"/>
              </a:rPr>
              <a:t>Policy</a:t>
            </a:r>
            <a:r>
              <a:rPr lang="ko-KR" altLang="en-US" sz="1100" dirty="0" smtClean="0">
                <a:sym typeface="Wingdings" panose="05000000000000000000" pitchFamily="2" charset="2"/>
              </a:rPr>
              <a:t> </a:t>
            </a:r>
            <a:r>
              <a:rPr lang="ko-KR" altLang="en-US" sz="1100" dirty="0" err="1" smtClean="0">
                <a:sym typeface="Wingdings" panose="05000000000000000000" pitchFamily="2" charset="2"/>
              </a:rPr>
              <a:t>for</a:t>
            </a:r>
            <a:r>
              <a:rPr lang="ko-KR" altLang="en-US" sz="1100" dirty="0" smtClean="0">
                <a:sym typeface="Wingdings" panose="05000000000000000000" pitchFamily="2" charset="2"/>
              </a:rPr>
              <a:t> </a:t>
            </a:r>
            <a:r>
              <a:rPr lang="ko-KR" altLang="en-US" sz="1100" dirty="0">
                <a:sym typeface="Wingdings" panose="05000000000000000000" pitchFamily="2" charset="2"/>
              </a:rPr>
              <a:t>Technological Progress</a:t>
            </a:r>
            <a:endParaRPr lang="en-US" altLang="ko-KR" sz="1100" dirty="0">
              <a:sym typeface="Wingdings" panose="05000000000000000000" pitchFamily="2" charset="2"/>
            </a:endParaRP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en-US" altLang="ko-KR" sz="1100" dirty="0" smtClean="0">
                <a:sym typeface="Wingdings" panose="05000000000000000000" pitchFamily="2" charset="2"/>
              </a:rPr>
              <a:t>P</a:t>
            </a:r>
            <a:r>
              <a:rPr lang="ko-KR" altLang="en-US" sz="1100" dirty="0" err="1" smtClean="0">
                <a:sym typeface="Wingdings" panose="05000000000000000000" pitchFamily="2" charset="2"/>
              </a:rPr>
              <a:t>atent-related</a:t>
            </a:r>
            <a:r>
              <a:rPr lang="ko-KR" altLang="en-US" sz="1100" dirty="0" smtClean="0">
                <a:sym typeface="Wingdings" panose="05000000000000000000" pitchFamily="2" charset="2"/>
              </a:rPr>
              <a:t> </a:t>
            </a:r>
            <a:r>
              <a:rPr lang="en-US" altLang="ko-KR" sz="1100" dirty="0">
                <a:sym typeface="Wingdings" panose="05000000000000000000" pitchFamily="2" charset="2"/>
              </a:rPr>
              <a:t>laws,</a:t>
            </a:r>
            <a:r>
              <a:rPr lang="ko-KR" altLang="en-US" sz="1100" dirty="0" smtClean="0">
                <a:sym typeface="Wingdings" panose="05000000000000000000" pitchFamily="2" charset="2"/>
              </a:rPr>
              <a:t> </a:t>
            </a:r>
            <a:r>
              <a:rPr lang="ko-KR" altLang="en-US" sz="1100" dirty="0" err="1">
                <a:sym typeface="Wingdings" panose="05000000000000000000" pitchFamily="2" charset="2"/>
              </a:rPr>
              <a:t>tax</a:t>
            </a:r>
            <a:r>
              <a:rPr lang="ko-KR" altLang="en-US" sz="1100" dirty="0">
                <a:sym typeface="Wingdings" panose="05000000000000000000" pitchFamily="2" charset="2"/>
              </a:rPr>
              <a:t> </a:t>
            </a:r>
            <a:r>
              <a:rPr lang="ko-KR" altLang="en-US" sz="1100" dirty="0" err="1" smtClean="0">
                <a:sym typeface="Wingdings" panose="05000000000000000000" pitchFamily="2" charset="2"/>
              </a:rPr>
              <a:t>incentives</a:t>
            </a:r>
            <a:r>
              <a:rPr lang="en-US" altLang="ko-KR" sz="1100" dirty="0" smtClean="0">
                <a:sym typeface="Wingdings" panose="05000000000000000000" pitchFamily="2" charset="2"/>
              </a:rPr>
              <a:t>,</a:t>
            </a:r>
            <a:r>
              <a:rPr lang="ko-KR" altLang="en-US" sz="1100" dirty="0" smtClean="0">
                <a:sym typeface="Wingdings" panose="05000000000000000000" pitchFamily="2" charset="2"/>
              </a:rPr>
              <a:t> </a:t>
            </a:r>
            <a:r>
              <a:rPr lang="en-US" altLang="ko-KR" sz="1100" dirty="0" smtClean="0">
                <a:sym typeface="Wingdings" panose="05000000000000000000" pitchFamily="2" charset="2"/>
              </a:rPr>
              <a:t>f</a:t>
            </a:r>
            <a:r>
              <a:rPr lang="ko-KR" altLang="en-US" sz="1100" dirty="0" err="1" smtClean="0">
                <a:sym typeface="Wingdings" panose="05000000000000000000" pitchFamily="2" charset="2"/>
              </a:rPr>
              <a:t>unding</a:t>
            </a:r>
            <a:r>
              <a:rPr lang="ko-KR" altLang="en-US" sz="1100" dirty="0" smtClean="0">
                <a:sym typeface="Wingdings" panose="05000000000000000000" pitchFamily="2" charset="2"/>
              </a:rPr>
              <a:t> </a:t>
            </a:r>
            <a:r>
              <a:rPr lang="ko-KR" altLang="en-US" sz="1100" dirty="0" err="1">
                <a:sym typeface="Wingdings" panose="05000000000000000000" pitchFamily="2" charset="2"/>
              </a:rPr>
              <a:t>for</a:t>
            </a:r>
            <a:r>
              <a:rPr lang="ko-KR" altLang="en-US" sz="1100" dirty="0">
                <a:sym typeface="Wingdings" panose="05000000000000000000" pitchFamily="2" charset="2"/>
              </a:rPr>
              <a:t> </a:t>
            </a:r>
            <a:r>
              <a:rPr lang="en-US" altLang="ko-KR" sz="1100" dirty="0" smtClean="0">
                <a:sym typeface="Wingdings" panose="05000000000000000000" pitchFamily="2" charset="2"/>
              </a:rPr>
              <a:t>private sector </a:t>
            </a:r>
            <a:r>
              <a:rPr lang="en-US" altLang="ko-KR" sz="1100" dirty="0" smtClean="0">
                <a:sym typeface="Wingdings" panose="05000000000000000000" pitchFamily="2" charset="2"/>
              </a:rPr>
              <a:t>R&amp;D</a:t>
            </a:r>
            <a:r>
              <a:rPr lang="en-US" altLang="ko-KR" sz="1100" dirty="0" smtClean="0">
                <a:sym typeface="Wingdings" panose="05000000000000000000" pitchFamily="2" charset="2"/>
              </a:rPr>
              <a:t>, </a:t>
            </a:r>
            <a:r>
              <a:rPr lang="en-US" altLang="ko-KR" sz="1100" dirty="0">
                <a:sym typeface="Wingdings" panose="05000000000000000000" pitchFamily="2" charset="2"/>
              </a:rPr>
              <a:t>provision of basic research funds at universities, etc.</a:t>
            </a:r>
          </a:p>
          <a:p>
            <a:pPr lvl="1">
              <a:lnSpc>
                <a:spcPct val="160000"/>
              </a:lnSpc>
            </a:pPr>
            <a:endParaRPr lang="en-US" altLang="ko-KR" sz="1100" dirty="0">
              <a:sym typeface="Wingdings" panose="05000000000000000000" pitchFamily="2" charset="2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altLang="ko-KR" sz="1100" dirty="0" smtClean="0">
                <a:sym typeface="Wingdings" panose="05000000000000000000" pitchFamily="2" charset="2"/>
              </a:rPr>
              <a:t>P</a:t>
            </a:r>
            <a:r>
              <a:rPr lang="ko-KR" altLang="en-US" sz="1100" dirty="0" err="1" smtClean="0">
                <a:sym typeface="Wingdings" panose="05000000000000000000" pitchFamily="2" charset="2"/>
              </a:rPr>
              <a:t>opulation</a:t>
            </a:r>
            <a:r>
              <a:rPr lang="ko-KR" altLang="en-US" sz="1100" dirty="0" smtClean="0">
                <a:sym typeface="Wingdings" panose="05000000000000000000" pitchFamily="2" charset="2"/>
              </a:rPr>
              <a:t> </a:t>
            </a:r>
            <a:r>
              <a:rPr lang="ko-KR" altLang="en-US" sz="1100" dirty="0" smtClean="0">
                <a:sym typeface="Wingdings" panose="05000000000000000000" pitchFamily="2" charset="2"/>
              </a:rPr>
              <a:t>and economic growth</a:t>
            </a:r>
            <a:endParaRPr lang="en-US" altLang="ko-KR" sz="1100" dirty="0" smtClean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en-US" altLang="ko-KR" sz="1100" dirty="0" smtClean="0">
                <a:sym typeface="Wingdings" panose="05000000000000000000" pitchFamily="2" charset="2"/>
              </a:rPr>
              <a:t>Pressure </a:t>
            </a:r>
            <a:r>
              <a:rPr lang="en-US" altLang="ko-KR" sz="1100" dirty="0">
                <a:sym typeface="Wingdings" panose="05000000000000000000" pitchFamily="2" charset="2"/>
              </a:rPr>
              <a:t>on </a:t>
            </a:r>
            <a:r>
              <a:rPr lang="ko-KR" altLang="en-US" sz="1100" dirty="0" err="1">
                <a:sym typeface="Wingdings" panose="05000000000000000000" pitchFamily="2" charset="2"/>
              </a:rPr>
              <a:t>natural</a:t>
            </a:r>
            <a:r>
              <a:rPr lang="ko-KR" altLang="en-US" sz="1100" dirty="0">
                <a:sym typeface="Wingdings" panose="05000000000000000000" pitchFamily="2" charset="2"/>
              </a:rPr>
              <a:t> </a:t>
            </a:r>
            <a:r>
              <a:rPr lang="ko-KR" altLang="en-US" sz="1100" dirty="0" err="1" smtClean="0">
                <a:sym typeface="Wingdings" panose="05000000000000000000" pitchFamily="2" charset="2"/>
              </a:rPr>
              <a:t>resources</a:t>
            </a:r>
            <a:endParaRPr lang="en-US" altLang="ko-KR" sz="1100" dirty="0">
              <a:sym typeface="Wingdings" panose="05000000000000000000" pitchFamily="2" charset="2"/>
            </a:endParaRPr>
          </a:p>
          <a:p>
            <a:pPr lvl="1">
              <a:lnSpc>
                <a:spcPct val="190000"/>
              </a:lnSpc>
              <a:buFontTx/>
              <a:buChar char="-"/>
            </a:pPr>
            <a:r>
              <a:rPr lang="en-US" altLang="ko-KR" sz="1100" dirty="0" smtClean="0">
                <a:sym typeface="Wingdings" panose="05000000000000000000" pitchFamily="2" charset="2"/>
              </a:rPr>
              <a:t>T. </a:t>
            </a:r>
            <a:r>
              <a:rPr lang="ko-KR" altLang="en-US" sz="1100" dirty="0" err="1" smtClean="0">
                <a:sym typeface="Wingdings" panose="05000000000000000000" pitchFamily="2" charset="2"/>
              </a:rPr>
              <a:t>Malthus</a:t>
            </a:r>
            <a:endParaRPr lang="en-US" altLang="ko-KR" sz="11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ko-KR" altLang="en-US" sz="1100" dirty="0">
                <a:sym typeface="Wingdings" panose="05000000000000000000" pitchFamily="2" charset="2"/>
              </a:rPr>
              <a:t> Capital stock per capita </a:t>
            </a:r>
            <a:r>
              <a:rPr lang="en-US" altLang="ko-KR" sz="1100" dirty="0">
                <a:sym typeface="Wingdings" panose="05000000000000000000" pitchFamily="2" charset="2"/>
              </a:rPr>
              <a:t>(K/L) dilution</a:t>
            </a:r>
          </a:p>
          <a:p>
            <a:pPr lvl="1">
              <a:lnSpc>
                <a:spcPct val="200000"/>
              </a:lnSpc>
              <a:buFontTx/>
              <a:buChar char="-"/>
            </a:pPr>
            <a:r>
              <a:rPr lang="ko-KR" altLang="en-US" sz="1100" dirty="0" err="1" smtClean="0">
                <a:sym typeface="Wingdings" panose="05000000000000000000" pitchFamily="2" charset="2"/>
              </a:rPr>
              <a:t>The reason why </a:t>
            </a:r>
            <a:r>
              <a:rPr lang="ko-KR" altLang="en-US" sz="1100" dirty="0">
                <a:sym typeface="Wingdings" panose="05000000000000000000" pitchFamily="2" charset="2"/>
              </a:rPr>
              <a:t>many </a:t>
            </a:r>
            <a:r>
              <a:rPr lang="en-US" altLang="ko-KR" sz="1100" dirty="0">
                <a:sym typeface="Wingdings" panose="05000000000000000000" pitchFamily="2" charset="2"/>
              </a:rPr>
              <a:t>countries in </a:t>
            </a:r>
            <a:r>
              <a:rPr lang="ko-KR" altLang="en-US" sz="1100" dirty="0">
                <a:sym typeface="Wingdings" panose="05000000000000000000" pitchFamily="2" charset="2"/>
              </a:rPr>
              <a:t>the  early stages of  growth use</a:t>
            </a:r>
            <a:r>
              <a:rPr lang="en-US" altLang="ko-KR" sz="1100" dirty="0">
                <a:sym typeface="Wingdings" panose="05000000000000000000" pitchFamily="2" charset="2"/>
              </a:rPr>
              <a:t> </a:t>
            </a:r>
            <a:r>
              <a:rPr lang="ko-KR" altLang="en-US" sz="1100" dirty="0" err="1" smtClean="0">
                <a:sym typeface="Wingdings" panose="05000000000000000000" pitchFamily="2" charset="2"/>
              </a:rPr>
              <a:t>population control policies (ex. China's one-child policy)</a:t>
            </a:r>
          </a:p>
          <a:p>
            <a:pPr>
              <a:lnSpc>
                <a:spcPct val="160000"/>
              </a:lnSpc>
            </a:pPr>
            <a:r>
              <a:rPr lang="en-US" altLang="ko-KR" sz="1100" dirty="0" smtClean="0">
                <a:sym typeface="Wingdings" panose="05000000000000000000" pitchFamily="2" charset="2"/>
              </a:rPr>
              <a:t>Population and </a:t>
            </a:r>
            <a:r>
              <a:rPr lang="ko-KR" altLang="en-US" sz="1100" dirty="0" err="1" smtClean="0">
                <a:sym typeface="Wingdings" panose="05000000000000000000" pitchFamily="2" charset="2"/>
              </a:rPr>
              <a:t>technological</a:t>
            </a:r>
            <a:r>
              <a:rPr lang="ko-KR" altLang="en-US" sz="1100" dirty="0" smtClean="0">
                <a:sym typeface="Wingdings" panose="05000000000000000000" pitchFamily="2" charset="2"/>
              </a:rPr>
              <a:t> </a:t>
            </a:r>
            <a:r>
              <a:rPr lang="ko-KR" altLang="en-US" sz="1100" dirty="0">
                <a:sym typeface="Wingdings" panose="05000000000000000000" pitchFamily="2" charset="2"/>
              </a:rPr>
              <a:t>progress</a:t>
            </a:r>
            <a:endParaRPr lang="en-US" altLang="ko-KR" sz="1100" dirty="0">
              <a:sym typeface="Wingdings" panose="05000000000000000000" pitchFamily="2" charset="2"/>
            </a:endParaRPr>
          </a:p>
          <a:p>
            <a:pPr lvl="1">
              <a:lnSpc>
                <a:spcPct val="200000"/>
              </a:lnSpc>
              <a:buFontTx/>
              <a:buChar char="-"/>
            </a:pPr>
            <a:r>
              <a:rPr lang="ko-KR" altLang="en-US" sz="1100" dirty="0" err="1">
                <a:sym typeface="Wingdings" panose="05000000000000000000" pitchFamily="2" charset="2"/>
              </a:rPr>
              <a:t>Michael</a:t>
            </a:r>
            <a:r>
              <a:rPr lang="ko-KR" altLang="en-US" sz="1100" dirty="0" smtClean="0">
                <a:sym typeface="Wingdings" panose="05000000000000000000" pitchFamily="2" charset="2"/>
              </a:rPr>
              <a:t> Kremer's findings</a:t>
            </a:r>
            <a:endParaRPr lang="en-US" altLang="ko-KR" sz="1100" dirty="0" smtClean="0">
              <a:sym typeface="Wingdings" panose="05000000000000000000" pitchFamily="2" charset="2"/>
            </a:endParaRPr>
          </a:p>
          <a:p>
            <a:pPr lvl="1">
              <a:lnSpc>
                <a:spcPct val="200000"/>
              </a:lnSpc>
              <a:buFontTx/>
              <a:buChar char="-"/>
            </a:pPr>
            <a:r>
              <a:rPr lang="en-US" altLang="ko-KR" sz="1100" dirty="0" smtClean="0">
                <a:sym typeface="Wingdings" panose="05000000000000000000" pitchFamily="2" charset="2"/>
              </a:rPr>
              <a:t>Populated</a:t>
            </a:r>
            <a:r>
              <a:rPr lang="en-US" altLang="ko-KR" sz="1100" dirty="0">
                <a:sym typeface="Wingdings" panose="05000000000000000000" pitchFamily="2" charset="2"/>
              </a:rPr>
              <a:t> </a:t>
            </a:r>
            <a:r>
              <a:rPr lang="ko-KR" altLang="en-US" sz="1100" dirty="0">
                <a:sym typeface="Wingdings" panose="05000000000000000000" pitchFamily="2" charset="2"/>
              </a:rPr>
              <a:t>areas</a:t>
            </a:r>
            <a:r>
              <a:rPr lang="en-US" altLang="ko-KR" sz="1100" dirty="0">
                <a:sym typeface="Wingdings" panose="05000000000000000000" pitchFamily="2" charset="2"/>
              </a:rPr>
              <a:t> (</a:t>
            </a:r>
            <a:r>
              <a:rPr lang="ko-KR" altLang="en-US" sz="1100" dirty="0">
                <a:sym typeface="Wingdings" panose="05000000000000000000" pitchFamily="2" charset="2"/>
              </a:rPr>
              <a:t>ex</a:t>
            </a:r>
            <a:r>
              <a:rPr lang="en-US" altLang="ko-KR" sz="1100" dirty="0">
                <a:sym typeface="Wingdings" panose="05000000000000000000" pitchFamily="2" charset="2"/>
              </a:rPr>
              <a:t>,</a:t>
            </a:r>
            <a:r>
              <a:rPr lang="ko-KR" altLang="en-US" sz="1100" dirty="0" smtClean="0">
                <a:sym typeface="Wingdings" panose="05000000000000000000" pitchFamily="2" charset="2"/>
              </a:rPr>
              <a:t> </a:t>
            </a:r>
            <a:r>
              <a:rPr lang="ko-KR" altLang="en-US" sz="1100" dirty="0" err="1" smtClean="0">
                <a:sym typeface="Wingdings" panose="05000000000000000000" pitchFamily="2" charset="2"/>
              </a:rPr>
              <a:t>East</a:t>
            </a:r>
            <a:r>
              <a:rPr lang="ko-KR" altLang="en-US" sz="1100" dirty="0" smtClean="0">
                <a:sym typeface="Wingdings" panose="05000000000000000000" pitchFamily="2" charset="2"/>
              </a:rPr>
              <a:t> </a:t>
            </a:r>
            <a:r>
              <a:rPr lang="ko-KR" altLang="en-US" sz="1100" dirty="0" err="1" smtClean="0">
                <a:sym typeface="Wingdings" panose="05000000000000000000" pitchFamily="2" charset="2"/>
              </a:rPr>
              <a:t>Asia</a:t>
            </a:r>
            <a:r>
              <a:rPr lang="en-US" altLang="ko-KR" sz="1100" dirty="0" smtClean="0">
                <a:sym typeface="Wingdings" panose="05000000000000000000" pitchFamily="2" charset="2"/>
              </a:rPr>
              <a:t>,</a:t>
            </a:r>
            <a:r>
              <a:rPr lang="ko-KR" altLang="en-US" sz="1100" dirty="0" smtClean="0">
                <a:sym typeface="Wingdings" panose="05000000000000000000" pitchFamily="2" charset="2"/>
              </a:rPr>
              <a:t> Western Europe, </a:t>
            </a:r>
            <a:r>
              <a:rPr lang="ko-KR" altLang="en-US" sz="1100" dirty="0">
                <a:sym typeface="Wingdings" panose="05000000000000000000" pitchFamily="2" charset="2"/>
              </a:rPr>
              <a:t>and the east-west coast of the United States</a:t>
            </a:r>
            <a:r>
              <a:rPr lang="en-US" altLang="ko-KR" sz="1100" dirty="0">
                <a:sym typeface="Wingdings" panose="05000000000000000000" pitchFamily="2" charset="2"/>
              </a:rPr>
              <a:t>) have relatively higher growth rates. </a:t>
            </a:r>
          </a:p>
          <a:p>
            <a:pPr lvl="1">
              <a:lnSpc>
                <a:spcPct val="200000"/>
              </a:lnSpc>
              <a:buFontTx/>
              <a:buChar char="-"/>
            </a:pPr>
            <a:endParaRPr lang="en-US" altLang="ko-KR" sz="1100" dirty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</a:pPr>
            <a:endParaRPr lang="en-US" altLang="ko-KR" sz="1100" dirty="0" smtClean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</a:pPr>
            <a:endParaRPr lang="en-US" altLang="ko-KR" sz="1100" dirty="0" smtClean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endParaRPr lang="en-US" altLang="ko-KR" sz="1100" dirty="0" smtClean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</a:pPr>
            <a:endParaRPr lang="de-DE" altLang="ko-KR" sz="1100" dirty="0" smtClean="0">
              <a:sym typeface="Wingdings" panose="05000000000000000000" pitchFamily="2" charset="2"/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2128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678</Words>
  <Application>Microsoft Office PowerPoint</Application>
  <PresentationFormat>와이드스크린</PresentationFormat>
  <Paragraphs>78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Wingdings</vt:lpstr>
      <vt:lpstr>Office 테마</vt:lpstr>
      <vt:lpstr>Chapter 25. Production and Growth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현대경제분석   강의노트</dc:title>
  <dc:creator>User</dc:creator>
  <cp:lastModifiedBy>User</cp:lastModifiedBy>
  <cp:revision>66</cp:revision>
  <dcterms:created xsi:type="dcterms:W3CDTF">2021-06-28T02:08:57Z</dcterms:created>
  <dcterms:modified xsi:type="dcterms:W3CDTF">2023-05-23T08:03:44Z</dcterms:modified>
</cp:coreProperties>
</file>