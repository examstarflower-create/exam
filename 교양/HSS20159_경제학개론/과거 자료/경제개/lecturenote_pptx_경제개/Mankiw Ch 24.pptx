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4131" r:id="rId1"/>
  </p:sldMasterIdLst>
  <p:notesMasterIdLst>
    <p:notesMasterId r:id="rId4"/>
  </p:notesMasterIdLst>
  <p:sldIdLst>
    <p:sldId id="257" r:id="rId2"/>
    <p:sldId id="258" r:id="rId3"/>
  </p:sldIdLst>
  <p:sldSz cx="6858000" cy="12192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0189" autoAdjust="0"/>
    <p:restoredTop sz="94660"/>
  </p:normalViewPr>
  <p:slideViewPr>
    <p:cSldViewPr snapToGrid="0">
      <p:cViewPr>
        <p:scale>
          <a:sx n="100" d="100"/>
          <a:sy n="100" d="100"/>
        </p:scale>
        <p:origin x="276" y="-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53ACC92-CB11-4036-ADF7-E0BC6A6A1264}" type="datetimeFigureOut">
              <a:rPr lang="ko-KR" altLang="en-US" smtClean="0"/>
              <a:t>2023-05-09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2560638" y="1143000"/>
            <a:ext cx="1736725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DEE10A1-D3FC-451D-B227-50AB5FD54FC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3038523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857250" y="1995312"/>
            <a:ext cx="5143500" cy="4244622"/>
          </a:xfrm>
        </p:spPr>
        <p:txBody>
          <a:bodyPr anchor="b"/>
          <a:lstStyle>
            <a:lvl1pPr algn="ctr">
              <a:defRPr sz="3375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857250" y="6403623"/>
            <a:ext cx="5143500" cy="2943577"/>
          </a:xfrm>
        </p:spPr>
        <p:txBody>
          <a:bodyPr/>
          <a:lstStyle>
            <a:lvl1pPr marL="0" indent="0" algn="ctr">
              <a:buNone/>
              <a:defRPr sz="1350"/>
            </a:lvl1pPr>
            <a:lvl2pPr marL="257175" indent="0" algn="ctr">
              <a:buNone/>
              <a:defRPr sz="1125"/>
            </a:lvl2pPr>
            <a:lvl3pPr marL="514350" indent="0" algn="ctr">
              <a:buNone/>
              <a:defRPr sz="1013"/>
            </a:lvl3pPr>
            <a:lvl4pPr marL="771525" indent="0" algn="ctr">
              <a:buNone/>
              <a:defRPr sz="900"/>
            </a:lvl4pPr>
            <a:lvl5pPr marL="1028700" indent="0" algn="ctr">
              <a:buNone/>
              <a:defRPr sz="900"/>
            </a:lvl5pPr>
            <a:lvl6pPr marL="1285875" indent="0" algn="ctr">
              <a:buNone/>
              <a:defRPr sz="900"/>
            </a:lvl6pPr>
            <a:lvl7pPr marL="1543050" indent="0" algn="ctr">
              <a:buNone/>
              <a:defRPr sz="900"/>
            </a:lvl7pPr>
            <a:lvl8pPr marL="1800225" indent="0" algn="ctr">
              <a:buNone/>
              <a:defRPr sz="900"/>
            </a:lvl8pPr>
            <a:lvl9pPr marL="2057400" indent="0" algn="ctr">
              <a:buNone/>
              <a:defRPr sz="9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968940-2C76-495C-8FB7-F4A9D28239AA}" type="datetime1">
              <a:rPr lang="ko-KR" altLang="en-US" smtClean="0"/>
              <a:t>2023-05-09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7AACF2-4E8D-444E-8FEB-7FAF57A63B4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1484577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B3A891-E498-4678-8D06-486FCC2BADEF}" type="datetime1">
              <a:rPr lang="ko-KR" altLang="en-US" smtClean="0"/>
              <a:t>2023-05-09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7AACF2-4E8D-444E-8FEB-7FAF57A63B4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2567843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67916" y="3039535"/>
            <a:ext cx="5915025" cy="5071532"/>
          </a:xfrm>
        </p:spPr>
        <p:txBody>
          <a:bodyPr anchor="b"/>
          <a:lstStyle>
            <a:lvl1pPr>
              <a:defRPr sz="3375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67916" y="8159046"/>
            <a:ext cx="5915025" cy="2666999"/>
          </a:xfrm>
        </p:spPr>
        <p:txBody>
          <a:bodyPr/>
          <a:lstStyle>
            <a:lvl1pPr marL="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1pPr>
            <a:lvl2pPr marL="257175" indent="0">
              <a:buNone/>
              <a:defRPr sz="1125">
                <a:solidFill>
                  <a:schemeClr val="tx1">
                    <a:tint val="75000"/>
                  </a:schemeClr>
                </a:solidFill>
              </a:defRPr>
            </a:lvl2pPr>
            <a:lvl3pPr marL="514350" indent="0">
              <a:buNone/>
              <a:defRPr sz="1013">
                <a:solidFill>
                  <a:schemeClr val="tx1">
                    <a:tint val="75000"/>
                  </a:schemeClr>
                </a:solidFill>
              </a:defRPr>
            </a:lvl3pPr>
            <a:lvl4pPr marL="771525" indent="0">
              <a:buNone/>
              <a:defRPr sz="900">
                <a:solidFill>
                  <a:schemeClr val="tx1">
                    <a:tint val="75000"/>
                  </a:schemeClr>
                </a:solidFill>
              </a:defRPr>
            </a:lvl4pPr>
            <a:lvl5pPr marL="1028700" indent="0">
              <a:buNone/>
              <a:defRPr sz="900">
                <a:solidFill>
                  <a:schemeClr val="tx1">
                    <a:tint val="75000"/>
                  </a:schemeClr>
                </a:solidFill>
              </a:defRPr>
            </a:lvl5pPr>
            <a:lvl6pPr marL="1285875" indent="0">
              <a:buNone/>
              <a:defRPr sz="900">
                <a:solidFill>
                  <a:schemeClr val="tx1">
                    <a:tint val="75000"/>
                  </a:schemeClr>
                </a:solidFill>
              </a:defRPr>
            </a:lvl6pPr>
            <a:lvl7pPr marL="1543050" indent="0">
              <a:buNone/>
              <a:defRPr sz="900">
                <a:solidFill>
                  <a:schemeClr val="tx1">
                    <a:tint val="75000"/>
                  </a:schemeClr>
                </a:solidFill>
              </a:defRPr>
            </a:lvl7pPr>
            <a:lvl8pPr marL="1800225" indent="0">
              <a:buNone/>
              <a:defRPr sz="900">
                <a:solidFill>
                  <a:schemeClr val="tx1">
                    <a:tint val="75000"/>
                  </a:schemeClr>
                </a:solidFill>
              </a:defRPr>
            </a:lvl8pPr>
            <a:lvl9pPr marL="2057400" indent="0">
              <a:buNone/>
              <a:defRPr sz="9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D4FA93-A02B-42D6-A8B3-8681C853C7B8}" type="datetime1">
              <a:rPr lang="ko-KR" altLang="en-US" smtClean="0"/>
              <a:t>2023-05-09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7AACF2-4E8D-444E-8FEB-7FAF57A63B4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2594794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71488" y="3245556"/>
            <a:ext cx="2914650" cy="7735712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3471863" y="3245556"/>
            <a:ext cx="2914650" cy="7735712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D91E48-2200-4646-B2AF-8A65E8AA4025}" type="datetime1">
              <a:rPr lang="ko-KR" altLang="en-US" smtClean="0"/>
              <a:t>2023-05-09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7AACF2-4E8D-444E-8FEB-7FAF57A63B4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164564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72381" y="649112"/>
            <a:ext cx="5915025" cy="2356556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72381" y="2988734"/>
            <a:ext cx="2901255" cy="1464732"/>
          </a:xfrm>
        </p:spPr>
        <p:txBody>
          <a:bodyPr anchor="b"/>
          <a:lstStyle>
            <a:lvl1pPr marL="0" indent="0">
              <a:buNone/>
              <a:defRPr sz="1350" b="1"/>
            </a:lvl1pPr>
            <a:lvl2pPr marL="257175" indent="0">
              <a:buNone/>
              <a:defRPr sz="1125" b="1"/>
            </a:lvl2pPr>
            <a:lvl3pPr marL="514350" indent="0">
              <a:buNone/>
              <a:defRPr sz="1013" b="1"/>
            </a:lvl3pPr>
            <a:lvl4pPr marL="771525" indent="0">
              <a:buNone/>
              <a:defRPr sz="900" b="1"/>
            </a:lvl4pPr>
            <a:lvl5pPr marL="1028700" indent="0">
              <a:buNone/>
              <a:defRPr sz="900" b="1"/>
            </a:lvl5pPr>
            <a:lvl6pPr marL="1285875" indent="0">
              <a:buNone/>
              <a:defRPr sz="900" b="1"/>
            </a:lvl6pPr>
            <a:lvl7pPr marL="1543050" indent="0">
              <a:buNone/>
              <a:defRPr sz="900" b="1"/>
            </a:lvl7pPr>
            <a:lvl8pPr marL="1800225" indent="0">
              <a:buNone/>
              <a:defRPr sz="900" b="1"/>
            </a:lvl8pPr>
            <a:lvl9pPr marL="2057400" indent="0">
              <a:buNone/>
              <a:defRPr sz="9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72381" y="4453467"/>
            <a:ext cx="2901255" cy="6550379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3471863" y="2988734"/>
            <a:ext cx="2915543" cy="1464732"/>
          </a:xfrm>
        </p:spPr>
        <p:txBody>
          <a:bodyPr anchor="b"/>
          <a:lstStyle>
            <a:lvl1pPr marL="0" indent="0">
              <a:buNone/>
              <a:defRPr sz="1350" b="1"/>
            </a:lvl1pPr>
            <a:lvl2pPr marL="257175" indent="0">
              <a:buNone/>
              <a:defRPr sz="1125" b="1"/>
            </a:lvl2pPr>
            <a:lvl3pPr marL="514350" indent="0">
              <a:buNone/>
              <a:defRPr sz="1013" b="1"/>
            </a:lvl3pPr>
            <a:lvl4pPr marL="771525" indent="0">
              <a:buNone/>
              <a:defRPr sz="900" b="1"/>
            </a:lvl4pPr>
            <a:lvl5pPr marL="1028700" indent="0">
              <a:buNone/>
              <a:defRPr sz="900" b="1"/>
            </a:lvl5pPr>
            <a:lvl6pPr marL="1285875" indent="0">
              <a:buNone/>
              <a:defRPr sz="900" b="1"/>
            </a:lvl6pPr>
            <a:lvl7pPr marL="1543050" indent="0">
              <a:buNone/>
              <a:defRPr sz="900" b="1"/>
            </a:lvl7pPr>
            <a:lvl8pPr marL="1800225" indent="0">
              <a:buNone/>
              <a:defRPr sz="900" b="1"/>
            </a:lvl8pPr>
            <a:lvl9pPr marL="2057400" indent="0">
              <a:buNone/>
              <a:defRPr sz="9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3471863" y="4453467"/>
            <a:ext cx="2915543" cy="6550379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DF0A6E-CDCA-463B-AB9C-2AD65F7DC7CE}" type="datetime1">
              <a:rPr lang="ko-KR" altLang="en-US" smtClean="0"/>
              <a:t>2023-05-09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7AACF2-4E8D-444E-8FEB-7FAF57A63B4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4991806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F2F37D-F6B4-429A-93F0-670EB34C6EF1}" type="datetime1">
              <a:rPr lang="ko-KR" altLang="en-US" smtClean="0"/>
              <a:t>2023-05-09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7AACF2-4E8D-444E-8FEB-7FAF57A63B4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9835926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B75B21-6647-4787-AAB5-A8BA543A8A03}" type="datetime1">
              <a:rPr lang="ko-KR" altLang="en-US" smtClean="0"/>
              <a:t>2023-05-09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7AACF2-4E8D-444E-8FEB-7FAF57A63B4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3113548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72381" y="812800"/>
            <a:ext cx="2211883" cy="2844800"/>
          </a:xfrm>
        </p:spPr>
        <p:txBody>
          <a:bodyPr anchor="b"/>
          <a:lstStyle>
            <a:lvl1pPr>
              <a:defRPr sz="18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2915543" y="1755423"/>
            <a:ext cx="3471863" cy="8664222"/>
          </a:xfrm>
        </p:spPr>
        <p:txBody>
          <a:bodyPr/>
          <a:lstStyle>
            <a:lvl1pPr>
              <a:defRPr sz="1800"/>
            </a:lvl1pPr>
            <a:lvl2pPr>
              <a:defRPr sz="1575"/>
            </a:lvl2pPr>
            <a:lvl3pPr>
              <a:defRPr sz="1350"/>
            </a:lvl3pPr>
            <a:lvl4pPr>
              <a:defRPr sz="1125"/>
            </a:lvl4pPr>
            <a:lvl5pPr>
              <a:defRPr sz="1125"/>
            </a:lvl5pPr>
            <a:lvl6pPr>
              <a:defRPr sz="1125"/>
            </a:lvl6pPr>
            <a:lvl7pPr>
              <a:defRPr sz="1125"/>
            </a:lvl7pPr>
            <a:lvl8pPr>
              <a:defRPr sz="1125"/>
            </a:lvl8pPr>
            <a:lvl9pPr>
              <a:defRPr sz="1125"/>
            </a:lvl9pPr>
          </a:lstStyle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72381" y="3657600"/>
            <a:ext cx="2211883" cy="6776156"/>
          </a:xfrm>
        </p:spPr>
        <p:txBody>
          <a:bodyPr/>
          <a:lstStyle>
            <a:lvl1pPr marL="0" indent="0">
              <a:buNone/>
              <a:defRPr sz="900"/>
            </a:lvl1pPr>
            <a:lvl2pPr marL="257175" indent="0">
              <a:buNone/>
              <a:defRPr sz="788"/>
            </a:lvl2pPr>
            <a:lvl3pPr marL="514350" indent="0">
              <a:buNone/>
              <a:defRPr sz="675"/>
            </a:lvl3pPr>
            <a:lvl4pPr marL="771525" indent="0">
              <a:buNone/>
              <a:defRPr sz="563"/>
            </a:lvl4pPr>
            <a:lvl5pPr marL="1028700" indent="0">
              <a:buNone/>
              <a:defRPr sz="563"/>
            </a:lvl5pPr>
            <a:lvl6pPr marL="1285875" indent="0">
              <a:buNone/>
              <a:defRPr sz="563"/>
            </a:lvl6pPr>
            <a:lvl7pPr marL="1543050" indent="0">
              <a:buNone/>
              <a:defRPr sz="563"/>
            </a:lvl7pPr>
            <a:lvl8pPr marL="1800225" indent="0">
              <a:buNone/>
              <a:defRPr sz="563"/>
            </a:lvl8pPr>
            <a:lvl9pPr marL="2057400" indent="0">
              <a:buNone/>
              <a:defRPr sz="563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FF1AC2-CEA2-4AD0-9EED-9798843472E1}" type="datetime1">
              <a:rPr lang="ko-KR" altLang="en-US" smtClean="0"/>
              <a:t>2023-05-09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7AACF2-4E8D-444E-8FEB-7FAF57A63B4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1676850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72381" y="812800"/>
            <a:ext cx="2211883" cy="2844800"/>
          </a:xfrm>
        </p:spPr>
        <p:txBody>
          <a:bodyPr anchor="b"/>
          <a:lstStyle>
            <a:lvl1pPr>
              <a:defRPr sz="18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2915543" y="1755423"/>
            <a:ext cx="3471863" cy="8664222"/>
          </a:xfrm>
        </p:spPr>
        <p:txBody>
          <a:bodyPr/>
          <a:lstStyle>
            <a:lvl1pPr marL="0" indent="0">
              <a:buNone/>
              <a:defRPr sz="1800"/>
            </a:lvl1pPr>
            <a:lvl2pPr marL="257175" indent="0">
              <a:buNone/>
              <a:defRPr sz="1575"/>
            </a:lvl2pPr>
            <a:lvl3pPr marL="514350" indent="0">
              <a:buNone/>
              <a:defRPr sz="1350"/>
            </a:lvl3pPr>
            <a:lvl4pPr marL="771525" indent="0">
              <a:buNone/>
              <a:defRPr sz="1125"/>
            </a:lvl4pPr>
            <a:lvl5pPr marL="1028700" indent="0">
              <a:buNone/>
              <a:defRPr sz="1125"/>
            </a:lvl5pPr>
            <a:lvl6pPr marL="1285875" indent="0">
              <a:buNone/>
              <a:defRPr sz="1125"/>
            </a:lvl6pPr>
            <a:lvl7pPr marL="1543050" indent="0">
              <a:buNone/>
              <a:defRPr sz="1125"/>
            </a:lvl7pPr>
            <a:lvl8pPr marL="1800225" indent="0">
              <a:buNone/>
              <a:defRPr sz="1125"/>
            </a:lvl8pPr>
            <a:lvl9pPr marL="2057400" indent="0">
              <a:buNone/>
              <a:defRPr sz="1125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72381" y="3657600"/>
            <a:ext cx="2211883" cy="6776156"/>
          </a:xfrm>
        </p:spPr>
        <p:txBody>
          <a:bodyPr/>
          <a:lstStyle>
            <a:lvl1pPr marL="0" indent="0">
              <a:buNone/>
              <a:defRPr sz="900"/>
            </a:lvl1pPr>
            <a:lvl2pPr marL="257175" indent="0">
              <a:buNone/>
              <a:defRPr sz="788"/>
            </a:lvl2pPr>
            <a:lvl3pPr marL="514350" indent="0">
              <a:buNone/>
              <a:defRPr sz="675"/>
            </a:lvl3pPr>
            <a:lvl4pPr marL="771525" indent="0">
              <a:buNone/>
              <a:defRPr sz="563"/>
            </a:lvl4pPr>
            <a:lvl5pPr marL="1028700" indent="0">
              <a:buNone/>
              <a:defRPr sz="563"/>
            </a:lvl5pPr>
            <a:lvl6pPr marL="1285875" indent="0">
              <a:buNone/>
              <a:defRPr sz="563"/>
            </a:lvl6pPr>
            <a:lvl7pPr marL="1543050" indent="0">
              <a:buNone/>
              <a:defRPr sz="563"/>
            </a:lvl7pPr>
            <a:lvl8pPr marL="1800225" indent="0">
              <a:buNone/>
              <a:defRPr sz="563"/>
            </a:lvl8pPr>
            <a:lvl9pPr marL="2057400" indent="0">
              <a:buNone/>
              <a:defRPr sz="563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537C7C-8297-41A4-AED2-93F81127B44B}" type="datetime1">
              <a:rPr lang="ko-KR" altLang="en-US" smtClean="0"/>
              <a:t>2023-05-09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7AACF2-4E8D-444E-8FEB-7FAF57A63B4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054517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B448E2-EAB7-4DB0-B809-DCB379E8731B}" type="datetime1">
              <a:rPr lang="ko-KR" altLang="en-US" smtClean="0"/>
              <a:t>2023-05-09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7AACF2-4E8D-444E-8FEB-7FAF57A63B4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731113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4907756" y="649111"/>
            <a:ext cx="1478756" cy="10332156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71487" y="649111"/>
            <a:ext cx="4350544" cy="10332156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9703C7-C7FA-46F0-BB19-A2462D02B89C}" type="datetime1">
              <a:rPr lang="ko-KR" altLang="en-US" smtClean="0"/>
              <a:t>2023-05-09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7AACF2-4E8D-444E-8FEB-7FAF57A63B4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6709907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471488" y="649112"/>
            <a:ext cx="5915025" cy="235655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71488" y="3245556"/>
            <a:ext cx="5915025" cy="773571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471488" y="11300179"/>
            <a:ext cx="1543050" cy="64911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67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436E84B-CCB9-4E10-8C0E-8C6664F6450B}" type="datetime1">
              <a:rPr lang="ko-KR" altLang="en-US" smtClean="0"/>
              <a:t>2023-05-09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2271713" y="11300179"/>
            <a:ext cx="2314575" cy="64911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67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4843463" y="11300179"/>
            <a:ext cx="1543050" cy="64911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67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57AACF2-4E8D-444E-8FEB-7FAF57A63B4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7219727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132" r:id="rId1"/>
    <p:sldLayoutId id="2147484133" r:id="rId2"/>
    <p:sldLayoutId id="2147484134" r:id="rId3"/>
    <p:sldLayoutId id="2147484135" r:id="rId4"/>
    <p:sldLayoutId id="2147484136" r:id="rId5"/>
    <p:sldLayoutId id="2147484137" r:id="rId6"/>
    <p:sldLayoutId id="2147484138" r:id="rId7"/>
    <p:sldLayoutId id="2147484139" r:id="rId8"/>
    <p:sldLayoutId id="2147484140" r:id="rId9"/>
    <p:sldLayoutId id="2147484141" r:id="rId10"/>
    <p:sldLayoutId id="2147484142" r:id="rId11"/>
  </p:sldLayoutIdLst>
  <p:hf hdr="0" ftr="0" dt="0"/>
  <p:txStyles>
    <p:titleStyle>
      <a:lvl1pPr algn="l" defTabSz="514350" rtl="0" eaLnBrk="1" latinLnBrk="1" hangingPunct="1">
        <a:lnSpc>
          <a:spcPct val="90000"/>
        </a:lnSpc>
        <a:spcBef>
          <a:spcPct val="0"/>
        </a:spcBef>
        <a:buNone/>
        <a:defRPr sz="2475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28588" indent="-128588" algn="l" defTabSz="514350" rtl="0" eaLnBrk="1" latinLnBrk="1" hangingPunct="1">
        <a:lnSpc>
          <a:spcPct val="90000"/>
        </a:lnSpc>
        <a:spcBef>
          <a:spcPts val="563"/>
        </a:spcBef>
        <a:buFont typeface="Arial" panose="020B0604020202020204" pitchFamily="34" charset="0"/>
        <a:buChar char="•"/>
        <a:defRPr sz="1575" kern="1200">
          <a:solidFill>
            <a:schemeClr val="tx1"/>
          </a:solidFill>
          <a:latin typeface="+mn-lt"/>
          <a:ea typeface="+mn-ea"/>
          <a:cs typeface="+mn-cs"/>
        </a:defRPr>
      </a:lvl1pPr>
      <a:lvl2pPr marL="385763" indent="-128588" algn="l" defTabSz="514350" rtl="0" eaLnBrk="1" latinLnBrk="1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42938" indent="-128588" algn="l" defTabSz="514350" rtl="0" eaLnBrk="1" latinLnBrk="1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sz="1125" kern="1200">
          <a:solidFill>
            <a:schemeClr val="tx1"/>
          </a:solidFill>
          <a:latin typeface="+mn-lt"/>
          <a:ea typeface="+mn-ea"/>
          <a:cs typeface="+mn-cs"/>
        </a:defRPr>
      </a:lvl3pPr>
      <a:lvl4pPr marL="900113" indent="-128588" algn="l" defTabSz="514350" rtl="0" eaLnBrk="1" latinLnBrk="1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sz="1013" kern="1200">
          <a:solidFill>
            <a:schemeClr val="tx1"/>
          </a:solidFill>
          <a:latin typeface="+mn-lt"/>
          <a:ea typeface="+mn-ea"/>
          <a:cs typeface="+mn-cs"/>
        </a:defRPr>
      </a:lvl4pPr>
      <a:lvl5pPr marL="1157288" indent="-128588" algn="l" defTabSz="514350" rtl="0" eaLnBrk="1" latinLnBrk="1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sz="1013" kern="1200">
          <a:solidFill>
            <a:schemeClr val="tx1"/>
          </a:solidFill>
          <a:latin typeface="+mn-lt"/>
          <a:ea typeface="+mn-ea"/>
          <a:cs typeface="+mn-cs"/>
        </a:defRPr>
      </a:lvl5pPr>
      <a:lvl6pPr marL="1414463" indent="-128588" algn="l" defTabSz="514350" rtl="0" eaLnBrk="1" latinLnBrk="1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sz="1013" kern="1200">
          <a:solidFill>
            <a:schemeClr val="tx1"/>
          </a:solidFill>
          <a:latin typeface="+mn-lt"/>
          <a:ea typeface="+mn-ea"/>
          <a:cs typeface="+mn-cs"/>
        </a:defRPr>
      </a:lvl6pPr>
      <a:lvl7pPr marL="1671638" indent="-128588" algn="l" defTabSz="514350" rtl="0" eaLnBrk="1" latinLnBrk="1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sz="1013" kern="1200">
          <a:solidFill>
            <a:schemeClr val="tx1"/>
          </a:solidFill>
          <a:latin typeface="+mn-lt"/>
          <a:ea typeface="+mn-ea"/>
          <a:cs typeface="+mn-cs"/>
        </a:defRPr>
      </a:lvl7pPr>
      <a:lvl8pPr marL="1928813" indent="-128588" algn="l" defTabSz="514350" rtl="0" eaLnBrk="1" latinLnBrk="1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sz="1013" kern="1200">
          <a:solidFill>
            <a:schemeClr val="tx1"/>
          </a:solidFill>
          <a:latin typeface="+mn-lt"/>
          <a:ea typeface="+mn-ea"/>
          <a:cs typeface="+mn-cs"/>
        </a:defRPr>
      </a:lvl8pPr>
      <a:lvl9pPr marL="2185988" indent="-128588" algn="l" defTabSz="514350" rtl="0" eaLnBrk="1" latinLnBrk="1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sz="1013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514350" rtl="0" eaLnBrk="1" latinLnBrk="1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1pPr>
      <a:lvl2pPr marL="257175" algn="l" defTabSz="514350" rtl="0" eaLnBrk="1" latinLnBrk="1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2pPr>
      <a:lvl3pPr marL="514350" algn="l" defTabSz="514350" rtl="0" eaLnBrk="1" latinLnBrk="1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3pPr>
      <a:lvl4pPr marL="771525" algn="l" defTabSz="514350" rtl="0" eaLnBrk="1" latinLnBrk="1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4pPr>
      <a:lvl5pPr marL="1028700" algn="l" defTabSz="514350" rtl="0" eaLnBrk="1" latinLnBrk="1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5pPr>
      <a:lvl6pPr marL="1285875" algn="l" defTabSz="514350" rtl="0" eaLnBrk="1" latinLnBrk="1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6pPr>
      <a:lvl7pPr marL="1543050" algn="l" defTabSz="514350" rtl="0" eaLnBrk="1" latinLnBrk="1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7pPr>
      <a:lvl8pPr marL="1800225" algn="l" defTabSz="514350" rtl="0" eaLnBrk="1" latinLnBrk="1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8pPr>
      <a:lvl9pPr marL="2057400" algn="l" defTabSz="514350" rtl="0" eaLnBrk="1" latinLnBrk="1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71488" y="649114"/>
            <a:ext cx="5915025" cy="1149206"/>
          </a:xfrm>
        </p:spPr>
        <p:txBody>
          <a:bodyPr>
            <a:normAutofit fontScale="90000"/>
          </a:bodyPr>
          <a:lstStyle/>
          <a:p>
            <a:pPr>
              <a:lnSpc>
                <a:spcPct val="150000"/>
              </a:lnSpc>
            </a:pPr>
            <a:r>
              <a:rPr lang="ko-KR" altLang="de-DE" dirty="0"/>
              <a:t>Chapter</a:t>
            </a:r>
            <a:r>
              <a:rPr lang="de-DE" altLang="ko-KR" dirty="0"/>
              <a:t> 24. Measuring the cost of living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471488" y="1798320"/>
            <a:ext cx="5915025" cy="9501859"/>
          </a:xfrm>
        </p:spPr>
        <p:txBody>
          <a:bodyPr>
            <a:normAutofit fontScale="92500" lnSpcReduction="10000"/>
          </a:bodyPr>
          <a:lstStyle/>
          <a:p>
            <a:pPr>
              <a:lnSpc>
                <a:spcPct val="160000"/>
              </a:lnSpc>
            </a:pPr>
            <a:r>
              <a:rPr lang="de-DE" altLang="ko-KR" sz="1300" b="1" dirty="0"/>
              <a:t>What is the Consumer </a:t>
            </a:r>
            <a:r>
              <a:rPr lang="ko-KR" altLang="de-DE" sz="1300" b="1" dirty="0"/>
              <a:t>Price</a:t>
            </a:r>
            <a:r>
              <a:rPr lang="de-DE" altLang="ko-KR" sz="1300" b="1" dirty="0"/>
              <a:t> Index, CPI?</a:t>
            </a:r>
          </a:p>
          <a:p>
            <a:pPr lvl="1">
              <a:lnSpc>
                <a:spcPct val="160000"/>
              </a:lnSpc>
            </a:pPr>
            <a:r>
              <a:rPr lang="en-US" altLang="ko-KR" sz="1100" dirty="0" smtClean="0"/>
              <a:t>M</a:t>
            </a:r>
            <a:r>
              <a:rPr lang="ko-KR" altLang="de-DE" sz="1100" dirty="0" err="1" smtClean="0"/>
              <a:t>easure</a:t>
            </a:r>
            <a:r>
              <a:rPr lang="ko-KR" altLang="de-DE" sz="1100" dirty="0" smtClean="0"/>
              <a:t> </a:t>
            </a:r>
            <a:r>
              <a:rPr lang="ko-KR" altLang="de-DE" sz="1100" dirty="0"/>
              <a:t>of the overall level of price</a:t>
            </a:r>
            <a:endParaRPr lang="de-DE" altLang="ko-KR" sz="1100" dirty="0"/>
          </a:p>
          <a:p>
            <a:pPr lvl="1">
              <a:lnSpc>
                <a:spcPct val="160000"/>
              </a:lnSpc>
            </a:pPr>
            <a:r>
              <a:rPr lang="ko-KR" altLang="de-DE" sz="1100" dirty="0"/>
              <a:t>Measures the overall cost of goods and services purchased</a:t>
            </a:r>
            <a:r>
              <a:rPr lang="de-DE" altLang="ko-KR" sz="1100" dirty="0"/>
              <a:t> </a:t>
            </a:r>
            <a:r>
              <a:rPr lang="ko-KR" altLang="de-DE" sz="1100" dirty="0"/>
              <a:t>by a typical consumer.</a:t>
            </a:r>
            <a:r>
              <a:rPr lang="de-DE" altLang="ko-KR" sz="1100" dirty="0"/>
              <a:t> </a:t>
            </a:r>
          </a:p>
          <a:p>
            <a:pPr>
              <a:lnSpc>
                <a:spcPct val="160000"/>
              </a:lnSpc>
            </a:pPr>
            <a:r>
              <a:rPr lang="de-DE" altLang="ko-KR" sz="1300" dirty="0"/>
              <a:t>CPI, </a:t>
            </a:r>
            <a:r>
              <a:rPr lang="ko-KR" altLang="de-DE" sz="1300" dirty="0"/>
              <a:t>how do you calculate it?</a:t>
            </a:r>
          </a:p>
          <a:p>
            <a:pPr lvl="1">
              <a:lnSpc>
                <a:spcPct val="160000"/>
              </a:lnSpc>
            </a:pPr>
            <a:r>
              <a:rPr lang="ko-KR" altLang="de-DE" sz="1100" dirty="0"/>
              <a:t>Confirmation of purchase</a:t>
            </a:r>
            <a:r>
              <a:rPr lang="ko-KR" altLang="de-DE" sz="1100" dirty="0" err="1"/>
              <a:t> items</a:t>
            </a:r>
            <a:r>
              <a:rPr lang="de-DE" altLang="ko-KR" sz="1100" dirty="0"/>
              <a:t>: </a:t>
            </a:r>
            <a:r>
              <a:rPr lang="ko-KR" altLang="de-DE" sz="1100" dirty="0" err="1"/>
              <a:t>Regular surveys are conducted to</a:t>
            </a:r>
            <a:r>
              <a:rPr lang="de-DE" altLang="ko-KR" sz="1100" dirty="0"/>
              <a:t> </a:t>
            </a:r>
            <a:r>
              <a:rPr lang="ko-KR" altLang="de-DE" sz="1100" dirty="0"/>
              <a:t>find out  what is</a:t>
            </a:r>
            <a:r>
              <a:rPr lang="de-DE" altLang="ko-KR" sz="1100" dirty="0"/>
              <a:t> </a:t>
            </a:r>
            <a:r>
              <a:rPr lang="ko-KR" altLang="de-DE" sz="1100" dirty="0"/>
              <a:t>in</a:t>
            </a:r>
            <a:r>
              <a:rPr lang="de-DE" altLang="ko-KR" sz="1100" dirty="0"/>
              <a:t> </a:t>
            </a:r>
            <a:r>
              <a:rPr lang="ko-KR" altLang="de-DE" sz="1100" dirty="0"/>
              <a:t>the</a:t>
            </a:r>
            <a:r>
              <a:rPr lang="de-DE" altLang="ko-KR" sz="1100" dirty="0"/>
              <a:t> shopping </a:t>
            </a:r>
            <a:r>
              <a:rPr lang="de-DE" altLang="ko-KR" sz="1100" dirty="0" smtClean="0"/>
              <a:t>basket(the basket is </a:t>
            </a:r>
            <a:r>
              <a:rPr lang="de-DE" altLang="ko-KR" sz="1100" dirty="0"/>
              <a:t>'fixed')</a:t>
            </a:r>
          </a:p>
          <a:p>
            <a:pPr lvl="1">
              <a:lnSpc>
                <a:spcPct val="160000"/>
              </a:lnSpc>
            </a:pPr>
            <a:r>
              <a:rPr lang="en-US" altLang="ko-KR" sz="1100" dirty="0" smtClean="0"/>
              <a:t>Find the prices</a:t>
            </a:r>
            <a:endParaRPr lang="de-DE" altLang="ko-KR" sz="1100" dirty="0"/>
          </a:p>
          <a:p>
            <a:pPr lvl="1">
              <a:lnSpc>
                <a:spcPct val="160000"/>
              </a:lnSpc>
            </a:pPr>
            <a:r>
              <a:rPr lang="en-US" altLang="ko-KR" sz="1100" dirty="0" smtClean="0"/>
              <a:t>Compute the basket’s cost</a:t>
            </a:r>
            <a:r>
              <a:rPr lang="ko-KR" altLang="de-DE" sz="1100" dirty="0" smtClean="0"/>
              <a:t>:</a:t>
            </a:r>
            <a:endParaRPr lang="de-DE" altLang="ko-KR" sz="1100" dirty="0"/>
          </a:p>
          <a:p>
            <a:pPr lvl="1">
              <a:lnSpc>
                <a:spcPct val="160000"/>
              </a:lnSpc>
            </a:pPr>
            <a:r>
              <a:rPr lang="ko-KR" altLang="de-DE" sz="1100" dirty="0"/>
              <a:t>Choose</a:t>
            </a:r>
            <a:r>
              <a:rPr lang="de-DE" altLang="ko-KR" sz="1100" dirty="0"/>
              <a:t> </a:t>
            </a:r>
            <a:r>
              <a:rPr lang="ko-KR" altLang="de-DE" sz="1100" dirty="0"/>
              <a:t> a</a:t>
            </a:r>
            <a:r>
              <a:rPr lang="ko-KR" altLang="de-DE" sz="1100" dirty="0" err="1"/>
              <a:t> </a:t>
            </a:r>
            <a:r>
              <a:rPr lang="de-DE" altLang="ko-KR" sz="1100" dirty="0"/>
              <a:t>base</a:t>
            </a:r>
            <a:r>
              <a:rPr lang="ko-KR" altLang="de-DE" sz="1100" dirty="0"/>
              <a:t>  year and </a:t>
            </a:r>
            <a:r>
              <a:rPr lang="en-US" altLang="ko-KR" sz="1100" dirty="0" smtClean="0"/>
              <a:t>compute</a:t>
            </a:r>
            <a:r>
              <a:rPr lang="ko-KR" altLang="de-DE" sz="1100" dirty="0" smtClean="0"/>
              <a:t> </a:t>
            </a:r>
            <a:r>
              <a:rPr lang="ko-KR" altLang="de-DE" sz="1100" dirty="0"/>
              <a:t>the CPI</a:t>
            </a:r>
            <a:r>
              <a:rPr lang="de-DE" altLang="ko-KR" sz="1100" dirty="0"/>
              <a:t>:</a:t>
            </a:r>
            <a:r>
              <a:rPr lang="ko-KR" altLang="de-DE" sz="1100" dirty="0"/>
              <a:t> </a:t>
            </a:r>
            <a:r>
              <a:rPr lang="en-US" altLang="ko-KR" sz="1100" dirty="0" smtClean="0"/>
              <a:t>compute price of basket of goods and services </a:t>
            </a:r>
            <a:r>
              <a:rPr lang="de-DE" altLang="ko-KR" sz="1100" dirty="0" smtClean="0"/>
              <a:t>in </a:t>
            </a:r>
            <a:r>
              <a:rPr lang="de-DE" altLang="ko-KR" sz="1100" dirty="0"/>
              <a:t>the </a:t>
            </a:r>
            <a:r>
              <a:rPr lang="ko-KR" altLang="de-DE" sz="1100" dirty="0"/>
              <a:t>current price and divide it by </a:t>
            </a:r>
            <a:r>
              <a:rPr lang="ko-KR" altLang="de-DE" sz="1100" dirty="0" err="1"/>
              <a:t>the</a:t>
            </a:r>
            <a:r>
              <a:rPr lang="ko-KR" altLang="de-DE" sz="1100" dirty="0"/>
              <a:t> </a:t>
            </a:r>
            <a:r>
              <a:rPr lang="en-US" altLang="ko-KR" sz="1100" dirty="0" smtClean="0"/>
              <a:t>price of basket in </a:t>
            </a:r>
            <a:r>
              <a:rPr lang="ko-KR" altLang="de-DE" sz="1100" dirty="0" err="1" smtClean="0"/>
              <a:t>base</a:t>
            </a:r>
            <a:r>
              <a:rPr lang="ko-KR" altLang="de-DE" sz="1100" dirty="0" smtClean="0"/>
              <a:t> </a:t>
            </a:r>
            <a:r>
              <a:rPr lang="ko-KR" altLang="de-DE" sz="1100" dirty="0" err="1" smtClean="0"/>
              <a:t>year</a:t>
            </a:r>
            <a:endParaRPr lang="ko-KR" altLang="de-DE" sz="1100" dirty="0"/>
          </a:p>
          <a:p>
            <a:pPr lvl="1">
              <a:lnSpc>
                <a:spcPct val="160000"/>
              </a:lnSpc>
            </a:pPr>
            <a:r>
              <a:rPr lang="ko-KR" altLang="de-DE" sz="1100" dirty="0">
                <a:sym typeface="Wingdings" panose="05000000000000000000" pitchFamily="2" charset="2"/>
              </a:rPr>
              <a:t>Multiply by 100 to </a:t>
            </a:r>
            <a:r>
              <a:rPr lang="de-DE" altLang="ko-KR" sz="1100" dirty="0">
                <a:sym typeface="Wingdings" panose="05000000000000000000" pitchFamily="2" charset="2"/>
              </a:rPr>
              <a:t>create a </a:t>
            </a:r>
            <a:r>
              <a:rPr lang="ko-KR" altLang="de-DE" sz="1100" dirty="0">
                <a:sym typeface="Wingdings" panose="05000000000000000000" pitchFamily="2" charset="2"/>
              </a:rPr>
              <a:t>CPI.</a:t>
            </a:r>
          </a:p>
          <a:p>
            <a:pPr>
              <a:lnSpc>
                <a:spcPct val="160000"/>
              </a:lnSpc>
            </a:pPr>
            <a:r>
              <a:rPr lang="ko-KR" altLang="de-DE" sz="1300" dirty="0"/>
              <a:t>The inflation </a:t>
            </a:r>
            <a:r>
              <a:rPr lang="de-DE" altLang="ko-KR" sz="1300" dirty="0"/>
              <a:t>rate (%) =  (</a:t>
            </a:r>
            <a:r>
              <a:rPr lang="ko-KR" altLang="de-DE" sz="1300" dirty="0"/>
              <a:t>CPI </a:t>
            </a:r>
            <a:r>
              <a:rPr lang="en-US" altLang="ko-KR" sz="1300" dirty="0" smtClean="0"/>
              <a:t>in</a:t>
            </a:r>
            <a:r>
              <a:rPr lang="ko-KR" altLang="de-DE" sz="1300" dirty="0" smtClean="0"/>
              <a:t> </a:t>
            </a:r>
            <a:r>
              <a:rPr lang="ko-KR" altLang="de-DE" sz="1300" dirty="0"/>
              <a:t>the </a:t>
            </a:r>
            <a:r>
              <a:rPr lang="ko-KR" altLang="de-DE" sz="1300" dirty="0" err="1"/>
              <a:t>current</a:t>
            </a:r>
            <a:r>
              <a:rPr lang="ko-KR" altLang="de-DE" sz="1300" dirty="0"/>
              <a:t> </a:t>
            </a:r>
            <a:r>
              <a:rPr lang="de-DE" altLang="ko-KR" sz="1300" dirty="0"/>
              <a:t>year</a:t>
            </a:r>
            <a:r>
              <a:rPr lang="ko-KR" altLang="de-DE" sz="1300" dirty="0"/>
              <a:t> – </a:t>
            </a:r>
            <a:r>
              <a:rPr lang="de-DE" altLang="ko-KR" sz="1300" dirty="0"/>
              <a:t>CPI </a:t>
            </a:r>
            <a:r>
              <a:rPr lang="de-DE" altLang="ko-KR" sz="1300" dirty="0" smtClean="0"/>
              <a:t>in </a:t>
            </a:r>
            <a:r>
              <a:rPr lang="ko-KR" altLang="de-DE" sz="1300" dirty="0"/>
              <a:t>the base year</a:t>
            </a:r>
            <a:r>
              <a:rPr lang="de-DE" altLang="ko-KR" sz="1300" dirty="0"/>
              <a:t>) </a:t>
            </a:r>
            <a:r>
              <a:rPr lang="ko-KR" altLang="de-DE" sz="1300" dirty="0" err="1" smtClean="0"/>
              <a:t>divided</a:t>
            </a:r>
            <a:r>
              <a:rPr lang="ko-KR" altLang="de-DE" sz="1300" dirty="0" smtClean="0"/>
              <a:t> </a:t>
            </a:r>
            <a:r>
              <a:rPr lang="ko-KR" altLang="de-DE" sz="1300" dirty="0"/>
              <a:t>by </a:t>
            </a:r>
            <a:r>
              <a:rPr lang="ko-KR" altLang="en-US" sz="1300" dirty="0"/>
              <a:t>the</a:t>
            </a:r>
            <a:r>
              <a:rPr lang="ko-KR" altLang="de-DE" sz="1300" dirty="0"/>
              <a:t>  base </a:t>
            </a:r>
            <a:r>
              <a:rPr lang="ko-KR" altLang="de-DE" sz="1300" dirty="0" err="1"/>
              <a:t>year</a:t>
            </a:r>
            <a:r>
              <a:rPr lang="ko-KR" altLang="de-DE" sz="1300" dirty="0"/>
              <a:t> </a:t>
            </a:r>
            <a:r>
              <a:rPr lang="ko-KR" altLang="de-DE" sz="1300" dirty="0" smtClean="0"/>
              <a:t>CPI</a:t>
            </a:r>
            <a:r>
              <a:rPr lang="en-US" altLang="ko-KR" sz="1300" dirty="0" smtClean="0"/>
              <a:t>.</a:t>
            </a:r>
            <a:r>
              <a:rPr lang="ko-KR" altLang="de-DE" sz="1300" dirty="0" smtClean="0"/>
              <a:t> </a:t>
            </a:r>
            <a:r>
              <a:rPr lang="ko-KR" altLang="de-DE" sz="1300" dirty="0"/>
              <a:t>and multiplied </a:t>
            </a:r>
            <a:r>
              <a:rPr lang="ko-KR" altLang="de-DE" sz="1300" dirty="0" err="1"/>
              <a:t>by</a:t>
            </a:r>
            <a:r>
              <a:rPr lang="ko-KR" altLang="de-DE" sz="1300" dirty="0"/>
              <a:t> </a:t>
            </a:r>
            <a:r>
              <a:rPr lang="ko-KR" altLang="de-DE" sz="1300" dirty="0" smtClean="0"/>
              <a:t>100</a:t>
            </a:r>
            <a:r>
              <a:rPr lang="en-US" altLang="ko-KR" sz="1300" dirty="0" smtClean="0"/>
              <a:t>.</a:t>
            </a:r>
            <a:r>
              <a:rPr lang="ko-KR" altLang="de-DE" sz="1300" dirty="0" smtClean="0"/>
              <a:t> </a:t>
            </a:r>
            <a:endParaRPr lang="ko-KR" altLang="de-DE" sz="1300" dirty="0"/>
          </a:p>
          <a:p>
            <a:pPr lvl="1">
              <a:lnSpc>
                <a:spcPct val="160000"/>
              </a:lnSpc>
            </a:pPr>
            <a:r>
              <a:rPr lang="ko-KR" altLang="de-DE" sz="1100" dirty="0"/>
              <a:t>Eventually</a:t>
            </a:r>
            <a:r>
              <a:rPr lang="de-DE" altLang="ko-KR" sz="1100" dirty="0"/>
              <a:t>, measure how much has changed in the </a:t>
            </a:r>
            <a:r>
              <a:rPr lang="ko-KR" altLang="de-DE" sz="1100" dirty="0"/>
              <a:t>cost of living</a:t>
            </a:r>
            <a:r>
              <a:rPr lang="de-DE" altLang="ko-KR" sz="1100" dirty="0"/>
              <a:t> for </a:t>
            </a:r>
            <a:r>
              <a:rPr lang="ko-KR" altLang="de-DE" sz="1100" dirty="0"/>
              <a:t>consumers between the two points in time</a:t>
            </a:r>
            <a:endParaRPr lang="de-DE" altLang="ko-KR" sz="1100" dirty="0"/>
          </a:p>
          <a:p>
            <a:pPr lvl="1">
              <a:lnSpc>
                <a:spcPct val="160000"/>
              </a:lnSpc>
            </a:pPr>
            <a:endParaRPr lang="de-DE" altLang="ko-KR" sz="1000" dirty="0"/>
          </a:p>
          <a:p>
            <a:pPr>
              <a:lnSpc>
                <a:spcPct val="160000"/>
              </a:lnSpc>
            </a:pPr>
            <a:r>
              <a:rPr lang="ko-KR" altLang="de-DE" sz="1300" dirty="0" err="1" smtClean="0">
                <a:sym typeface="Wingdings" panose="05000000000000000000" pitchFamily="2" charset="2"/>
              </a:rPr>
              <a:t>Problems</a:t>
            </a:r>
            <a:r>
              <a:rPr lang="ko-KR" altLang="de-DE" sz="1300" dirty="0" smtClean="0">
                <a:sym typeface="Wingdings" panose="05000000000000000000" pitchFamily="2" charset="2"/>
              </a:rPr>
              <a:t> </a:t>
            </a:r>
            <a:r>
              <a:rPr lang="en-US" altLang="ko-KR" sz="1300" dirty="0" smtClean="0">
                <a:sym typeface="Wingdings" panose="05000000000000000000" pitchFamily="2" charset="2"/>
              </a:rPr>
              <a:t>in measuring the cost of living</a:t>
            </a:r>
            <a:endParaRPr lang="en-US" altLang="ko-KR" sz="1300" dirty="0" smtClean="0"/>
          </a:p>
          <a:p>
            <a:pPr>
              <a:lnSpc>
                <a:spcPct val="160000"/>
              </a:lnSpc>
            </a:pPr>
            <a:r>
              <a:rPr lang="ko-KR" altLang="de-DE" sz="1300" dirty="0" err="1" smtClean="0">
                <a:sym typeface="Wingdings" panose="05000000000000000000" pitchFamily="2" charset="2"/>
              </a:rPr>
              <a:t>Because</a:t>
            </a:r>
            <a:r>
              <a:rPr lang="ko-KR" altLang="de-DE" sz="1300" dirty="0" smtClean="0">
                <a:sym typeface="Wingdings" panose="05000000000000000000" pitchFamily="2" charset="2"/>
              </a:rPr>
              <a:t> </a:t>
            </a:r>
            <a:r>
              <a:rPr lang="ko-KR" altLang="de-DE" sz="1300" dirty="0">
                <a:sym typeface="Wingdings" panose="05000000000000000000" pitchFamily="2" charset="2"/>
              </a:rPr>
              <a:t>of the use of a fixed package</a:t>
            </a:r>
            <a:r>
              <a:rPr lang="de-DE" altLang="ko-KR" sz="1300" dirty="0">
                <a:sym typeface="Wingdings" panose="05000000000000000000" pitchFamily="2" charset="2"/>
              </a:rPr>
              <a:t>, it results in overestimating the cost of living, which affects the cost of the public sector. </a:t>
            </a:r>
            <a:endParaRPr lang="de-DE" altLang="ko-KR" sz="1300" dirty="0"/>
          </a:p>
          <a:p>
            <a:pPr lvl="1">
              <a:lnSpc>
                <a:spcPct val="160000"/>
              </a:lnSpc>
            </a:pPr>
            <a:r>
              <a:rPr lang="en-US" altLang="ko-KR" sz="1100" dirty="0" smtClean="0"/>
              <a:t>S</a:t>
            </a:r>
            <a:r>
              <a:rPr lang="ko-KR" altLang="de-DE" sz="1100" dirty="0" err="1" smtClean="0"/>
              <a:t>ubstitution</a:t>
            </a:r>
            <a:r>
              <a:rPr lang="ko-KR" altLang="de-DE" sz="1100" dirty="0" smtClean="0"/>
              <a:t> </a:t>
            </a:r>
            <a:r>
              <a:rPr lang="en-US" altLang="ko-KR" sz="1100" dirty="0" smtClean="0"/>
              <a:t>bias : C</a:t>
            </a:r>
            <a:r>
              <a:rPr lang="ko-KR" altLang="de-DE" sz="1100" dirty="0" err="1" smtClean="0"/>
              <a:t>onsumers</a:t>
            </a:r>
            <a:r>
              <a:rPr lang="de-DE" altLang="ko-KR" sz="1100" dirty="0" smtClean="0"/>
              <a:t> substitute toward goods that become relatively less expensive</a:t>
            </a:r>
            <a:endParaRPr lang="ko-KR" altLang="de-DE" sz="1100" dirty="0"/>
          </a:p>
          <a:p>
            <a:pPr lvl="1">
              <a:lnSpc>
                <a:spcPct val="160000"/>
              </a:lnSpc>
            </a:pPr>
            <a:r>
              <a:rPr lang="en-US" altLang="ko-KR" sz="1100" dirty="0" smtClean="0"/>
              <a:t>Introduction of </a:t>
            </a:r>
            <a:r>
              <a:rPr lang="de-DE" altLang="ko-KR" sz="1100" dirty="0" smtClean="0"/>
              <a:t>new </a:t>
            </a:r>
            <a:r>
              <a:rPr lang="de-DE" altLang="ko-KR" sz="1100" dirty="0"/>
              <a:t>goods </a:t>
            </a:r>
            <a:r>
              <a:rPr lang="de-DE" altLang="ko-KR" sz="1100" dirty="0" smtClean="0"/>
              <a:t>: More variety of goods</a:t>
            </a:r>
            <a:endParaRPr lang="de-DE" altLang="ko-KR" sz="1100" dirty="0"/>
          </a:p>
          <a:p>
            <a:pPr lvl="1">
              <a:lnSpc>
                <a:spcPct val="160000"/>
              </a:lnSpc>
            </a:pPr>
            <a:r>
              <a:rPr lang="ko-KR" altLang="de-DE" sz="1100" dirty="0"/>
              <a:t>Unmeasured</a:t>
            </a:r>
            <a:r>
              <a:rPr lang="de-DE" altLang="ko-KR" sz="1100" dirty="0"/>
              <a:t> </a:t>
            </a:r>
            <a:r>
              <a:rPr lang="ko-KR" altLang="de-DE" sz="1100" dirty="0"/>
              <a:t>changes in </a:t>
            </a:r>
            <a:r>
              <a:rPr lang="ko-KR" altLang="de-DE" sz="1100" dirty="0" err="1"/>
              <a:t>quality</a:t>
            </a:r>
            <a:r>
              <a:rPr lang="ko-KR" altLang="de-DE" sz="1100" dirty="0"/>
              <a:t> </a:t>
            </a:r>
            <a:r>
              <a:rPr lang="en-US" altLang="ko-KR" sz="1100" dirty="0" smtClean="0"/>
              <a:t>: </a:t>
            </a:r>
            <a:r>
              <a:rPr lang="ko-KR" altLang="de-DE" sz="1100" dirty="0" err="1" smtClean="0"/>
              <a:t>improving</a:t>
            </a:r>
            <a:r>
              <a:rPr lang="de-DE" altLang="ko-KR" sz="1100" dirty="0" smtClean="0"/>
              <a:t> </a:t>
            </a:r>
            <a:r>
              <a:rPr lang="ko-KR" altLang="de-DE" sz="1100" dirty="0"/>
              <a:t>quality increases the value of consumers' </a:t>
            </a:r>
            <a:r>
              <a:rPr lang="ko-KR" altLang="de-DE" sz="1100" dirty="0" err="1" smtClean="0"/>
              <a:t>money</a:t>
            </a:r>
            <a:endParaRPr lang="ko-KR" altLang="de-DE" sz="1100" dirty="0"/>
          </a:p>
          <a:p>
            <a:pPr lvl="1">
              <a:lnSpc>
                <a:spcPct val="160000"/>
              </a:lnSpc>
            </a:pPr>
            <a:endParaRPr lang="de-DE" altLang="ko-KR" sz="1100" dirty="0"/>
          </a:p>
          <a:p>
            <a:pPr>
              <a:lnSpc>
                <a:spcPct val="160000"/>
              </a:lnSpc>
            </a:pPr>
            <a:r>
              <a:rPr lang="de-DE" altLang="ko-KR" sz="1325" dirty="0"/>
              <a:t>Comparison of CPI and </a:t>
            </a:r>
            <a:r>
              <a:rPr lang="ko-KR" altLang="de-DE" sz="1325" dirty="0" err="1"/>
              <a:t>GDP</a:t>
            </a:r>
            <a:r>
              <a:rPr lang="de-DE" altLang="ko-KR" sz="1325" dirty="0"/>
              <a:t> </a:t>
            </a:r>
            <a:r>
              <a:rPr lang="ko-KR" altLang="de-DE" sz="1325" dirty="0"/>
              <a:t> deflator</a:t>
            </a:r>
            <a:endParaRPr lang="de-DE" altLang="ko-KR" sz="1325" dirty="0"/>
          </a:p>
          <a:p>
            <a:pPr lvl="1">
              <a:lnSpc>
                <a:spcPct val="160000"/>
              </a:lnSpc>
            </a:pPr>
            <a:r>
              <a:rPr lang="de-DE" altLang="ko-KR" sz="1100" dirty="0"/>
              <a:t>Imported consumer goods vs. </a:t>
            </a:r>
            <a:r>
              <a:rPr lang="ko-KR" altLang="de-DE" sz="1100" dirty="0"/>
              <a:t>capital goods</a:t>
            </a:r>
            <a:endParaRPr lang="de-DE" altLang="ko-KR" sz="1100" dirty="0"/>
          </a:p>
          <a:p>
            <a:pPr lvl="1">
              <a:lnSpc>
                <a:spcPct val="160000"/>
              </a:lnSpc>
            </a:pPr>
            <a:r>
              <a:rPr lang="en-US" altLang="ko-KR" sz="1100" dirty="0" smtClean="0"/>
              <a:t>D</a:t>
            </a:r>
            <a:r>
              <a:rPr lang="ko-KR" altLang="de-DE" sz="1100" dirty="0" err="1" smtClean="0"/>
              <a:t>ifferen</a:t>
            </a:r>
            <a:r>
              <a:rPr lang="en-US" altLang="ko-KR" sz="1100" dirty="0" smtClean="0"/>
              <a:t>t</a:t>
            </a:r>
            <a:r>
              <a:rPr lang="ko-KR" altLang="de-DE" sz="1100" dirty="0" smtClean="0"/>
              <a:t> </a:t>
            </a:r>
            <a:r>
              <a:rPr lang="ko-KR" altLang="de-DE" sz="1100" dirty="0" err="1" smtClean="0"/>
              <a:t>basket</a:t>
            </a:r>
            <a:r>
              <a:rPr lang="ko-KR" altLang="de-DE" sz="1100" dirty="0" smtClean="0"/>
              <a:t> </a:t>
            </a:r>
            <a:r>
              <a:rPr lang="ko-KR" altLang="de-DE" sz="1100" dirty="0" err="1"/>
              <a:t>used</a:t>
            </a:r>
            <a:r>
              <a:rPr lang="de-DE" altLang="ko-KR" sz="1100" dirty="0"/>
              <a:t> </a:t>
            </a:r>
            <a:r>
              <a:rPr lang="de-DE" altLang="ko-KR" sz="1100" dirty="0" smtClean="0"/>
              <a:t>to compute</a:t>
            </a:r>
            <a:r>
              <a:rPr lang="ko-KR" altLang="de-DE" sz="1100" dirty="0" smtClean="0"/>
              <a:t> </a:t>
            </a:r>
            <a:r>
              <a:rPr lang="ko-KR" altLang="de-DE" sz="1100" dirty="0"/>
              <a:t>each price </a:t>
            </a:r>
            <a:r>
              <a:rPr lang="de-DE" altLang="ko-KR" sz="1100" dirty="0"/>
              <a:t>indicator</a:t>
            </a:r>
            <a:r>
              <a:rPr lang="ko-KR" altLang="de-DE" sz="1100" dirty="0"/>
              <a:t>.</a:t>
            </a:r>
          </a:p>
          <a:p>
            <a:pPr lvl="1">
              <a:lnSpc>
                <a:spcPct val="160000"/>
              </a:lnSpc>
            </a:pPr>
            <a:endParaRPr lang="de-DE" altLang="ko-KR" sz="1100" dirty="0"/>
          </a:p>
          <a:p>
            <a:pPr>
              <a:lnSpc>
                <a:spcPct val="160000"/>
              </a:lnSpc>
            </a:pPr>
            <a:r>
              <a:rPr lang="en-US" altLang="ko-KR" sz="1325" dirty="0" smtClean="0"/>
              <a:t>Currency values from different times</a:t>
            </a:r>
            <a:endParaRPr lang="de-DE" altLang="ko-KR" sz="1325" dirty="0"/>
          </a:p>
          <a:p>
            <a:pPr lvl="1">
              <a:lnSpc>
                <a:spcPct val="160000"/>
              </a:lnSpc>
            </a:pPr>
            <a:r>
              <a:rPr lang="de-DE" altLang="ko-KR" sz="1100" dirty="0"/>
              <a:t>Minimum wage </a:t>
            </a:r>
            <a:r>
              <a:rPr lang="de-DE" altLang="ko-KR" sz="1100" dirty="0" smtClean="0"/>
              <a:t>$</a:t>
            </a:r>
            <a:r>
              <a:rPr lang="de-DE" altLang="ko-KR" sz="1100" dirty="0"/>
              <a:t>1.25 in 1963 vs.</a:t>
            </a:r>
            <a:r>
              <a:rPr lang="ko-KR" altLang="de-DE" sz="1100" dirty="0"/>
              <a:t> </a:t>
            </a:r>
            <a:r>
              <a:rPr lang="de-DE" altLang="ko-KR" sz="1100" dirty="0" smtClean="0"/>
              <a:t>Minimum</a:t>
            </a:r>
            <a:r>
              <a:rPr lang="ko-KR" altLang="de-DE" sz="1100" dirty="0" smtClean="0"/>
              <a:t> </a:t>
            </a:r>
            <a:r>
              <a:rPr lang="ko-KR" altLang="de-DE" sz="1100" dirty="0" err="1"/>
              <a:t>Wage</a:t>
            </a:r>
            <a:r>
              <a:rPr lang="ko-KR" altLang="de-DE" sz="1100" dirty="0"/>
              <a:t> </a:t>
            </a:r>
            <a:r>
              <a:rPr lang="en-US" altLang="ko-KR" sz="1100" dirty="0" smtClean="0"/>
              <a:t>$</a:t>
            </a:r>
            <a:r>
              <a:rPr lang="ko-KR" altLang="de-DE" sz="1100" dirty="0" smtClean="0"/>
              <a:t>7.25 </a:t>
            </a:r>
            <a:r>
              <a:rPr lang="en-US" altLang="ko-KR" sz="1100" dirty="0" smtClean="0"/>
              <a:t>in 2013</a:t>
            </a:r>
            <a:endParaRPr lang="de-DE" altLang="ko-KR" sz="1100" dirty="0"/>
          </a:p>
          <a:p>
            <a:pPr lvl="1">
              <a:lnSpc>
                <a:spcPct val="160000"/>
              </a:lnSpc>
            </a:pPr>
            <a:r>
              <a:rPr lang="ko-KR" altLang="de-DE" sz="1100" dirty="0"/>
              <a:t>Which</a:t>
            </a:r>
            <a:r>
              <a:rPr lang="de-DE" altLang="ko-KR" sz="1100" b="1" dirty="0"/>
              <a:t> </a:t>
            </a:r>
            <a:r>
              <a:rPr lang="ko-KR" altLang="de-DE" sz="1100" b="1" dirty="0"/>
              <a:t>of the two has </a:t>
            </a:r>
            <a:r>
              <a:rPr lang="de-DE" altLang="ko-KR" sz="1100" b="1" dirty="0"/>
              <a:t>greater </a:t>
            </a:r>
            <a:r>
              <a:rPr lang="ko-KR" altLang="de-DE" sz="1100" dirty="0"/>
              <a:t>purchasing power</a:t>
            </a:r>
            <a:r>
              <a:rPr lang="de-DE" altLang="ko-KR" sz="1100" b="1" dirty="0"/>
              <a:t> </a:t>
            </a:r>
            <a:r>
              <a:rPr lang="de-DE" altLang="ko-KR" sz="1100" dirty="0"/>
              <a:t>(</a:t>
            </a:r>
            <a:r>
              <a:rPr lang="ko-KR" altLang="de-DE" sz="1100" dirty="0"/>
              <a:t>the amount of goods or services you can put in your shopping basket when you go</a:t>
            </a:r>
            <a:r>
              <a:rPr lang="de-DE" altLang="ko-KR" sz="1100" dirty="0"/>
              <a:t> to the </a:t>
            </a:r>
            <a:r>
              <a:rPr lang="ko-KR" altLang="de-DE" sz="1100" dirty="0"/>
              <a:t>market with a certain amount of money</a:t>
            </a:r>
            <a:r>
              <a:rPr lang="de-DE" altLang="ko-KR" sz="1100" dirty="0"/>
              <a:t>)?</a:t>
            </a:r>
          </a:p>
          <a:p>
            <a:pPr lvl="1">
              <a:lnSpc>
                <a:spcPct val="160000"/>
              </a:lnSpc>
            </a:pPr>
            <a:r>
              <a:rPr lang="de-DE" altLang="ko-KR" sz="1100" dirty="0"/>
              <a:t>You can convert </a:t>
            </a:r>
            <a:r>
              <a:rPr lang="ko-KR" altLang="de-DE" sz="1100" dirty="0"/>
              <a:t>1963 dollars</a:t>
            </a:r>
            <a:r>
              <a:rPr lang="de-DE" altLang="ko-KR" sz="1100" dirty="0"/>
              <a:t> </a:t>
            </a:r>
            <a:r>
              <a:rPr lang="ko-KR" altLang="de-DE" sz="1100" dirty="0"/>
              <a:t>into</a:t>
            </a:r>
            <a:r>
              <a:rPr lang="de-DE" altLang="ko-KR" sz="1100" dirty="0"/>
              <a:t> </a:t>
            </a:r>
            <a:r>
              <a:rPr lang="ko-KR" altLang="de-DE" sz="1100" dirty="0"/>
              <a:t>2013 </a:t>
            </a:r>
            <a:r>
              <a:rPr lang="ko-KR" altLang="de-DE" sz="1100" dirty="0" err="1" smtClean="0"/>
              <a:t>dollars</a:t>
            </a:r>
            <a:r>
              <a:rPr lang="de-DE" altLang="ko-KR" sz="1100" dirty="0" smtClean="0"/>
              <a:t>  </a:t>
            </a:r>
            <a:endParaRPr lang="de-DE" altLang="ko-KR" sz="1100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7AACF2-4E8D-444E-8FEB-7FAF57A63B4E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7206065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내용 개체 틀 2"/>
          <p:cNvSpPr>
            <a:spLocks noGrp="1"/>
          </p:cNvSpPr>
          <p:nvPr>
            <p:ph idx="1"/>
          </p:nvPr>
        </p:nvSpPr>
        <p:spPr>
          <a:xfrm>
            <a:off x="471488" y="702944"/>
            <a:ext cx="5915025" cy="10708005"/>
          </a:xfrm>
        </p:spPr>
        <p:txBody>
          <a:bodyPr>
            <a:normAutofit/>
          </a:bodyPr>
          <a:lstStyle/>
          <a:p>
            <a:pPr>
              <a:lnSpc>
                <a:spcPct val="160000"/>
              </a:lnSpc>
            </a:pPr>
            <a:r>
              <a:rPr lang="ko-KR" altLang="de-DE" sz="1300" dirty="0"/>
              <a:t>To compare the value of money at different points in time</a:t>
            </a:r>
            <a:endParaRPr lang="de-DE" altLang="ko-KR" sz="1300" dirty="0"/>
          </a:p>
          <a:p>
            <a:pPr>
              <a:lnSpc>
                <a:spcPct val="160000"/>
              </a:lnSpc>
            </a:pPr>
            <a:r>
              <a:rPr lang="ko-KR" altLang="de-DE" sz="1300" dirty="0"/>
              <a:t>Current amount</a:t>
            </a:r>
            <a:r>
              <a:rPr lang="de-DE" altLang="ko-KR" sz="1300" dirty="0"/>
              <a:t> = Amount  in </a:t>
            </a:r>
            <a:r>
              <a:rPr lang="ko-KR" altLang="de-DE" sz="1300" dirty="0"/>
              <a:t>Year</a:t>
            </a:r>
            <a:r>
              <a:rPr lang="de-DE" altLang="ko-KR" sz="1300" dirty="0"/>
              <a:t> T </a:t>
            </a:r>
            <a:r>
              <a:rPr lang="ko-KR" altLang="de-DE" sz="1300" dirty="0"/>
              <a:t>x</a:t>
            </a:r>
            <a:r>
              <a:rPr lang="de-DE" altLang="ko-KR" sz="1300" dirty="0"/>
              <a:t> [Current price level / Price level in Year T]</a:t>
            </a:r>
          </a:p>
          <a:p>
            <a:pPr lvl="1">
              <a:lnSpc>
                <a:spcPct val="160000"/>
              </a:lnSpc>
            </a:pPr>
            <a:r>
              <a:rPr lang="ko-KR" altLang="de-DE" sz="1100" dirty="0">
                <a:sym typeface="Wingdings" panose="05000000000000000000" pitchFamily="2" charset="2"/>
              </a:rPr>
              <a:t>The consumer price index CPI is used as the price </a:t>
            </a:r>
            <a:r>
              <a:rPr lang="de-DE" altLang="ko-KR" sz="1100" dirty="0">
                <a:sym typeface="Wingdings" panose="05000000000000000000" pitchFamily="2" charset="2"/>
              </a:rPr>
              <a:t>level</a:t>
            </a:r>
            <a:r>
              <a:rPr lang="ko-KR" altLang="de-DE" sz="1100" dirty="0">
                <a:sym typeface="Wingdings" panose="05000000000000000000" pitchFamily="2" charset="2"/>
              </a:rPr>
              <a:t> here.</a:t>
            </a:r>
            <a:endParaRPr lang="de-DE" altLang="ko-KR" sz="1100" dirty="0">
              <a:sym typeface="Wingdings" panose="05000000000000000000" pitchFamily="2" charset="2"/>
            </a:endParaRPr>
          </a:p>
          <a:p>
            <a:pPr lvl="1">
              <a:lnSpc>
                <a:spcPct val="160000"/>
              </a:lnSpc>
            </a:pPr>
            <a:r>
              <a:rPr lang="ko-KR" altLang="de-DE" sz="1100" dirty="0">
                <a:sym typeface="Wingdings" panose="05000000000000000000" pitchFamily="2" charset="2"/>
              </a:rPr>
              <a:t>eventually eliminating the effects of inflation</a:t>
            </a:r>
            <a:endParaRPr lang="de-DE" altLang="ko-KR" sz="1100" dirty="0">
              <a:sym typeface="Wingdings" panose="05000000000000000000" pitchFamily="2" charset="2"/>
            </a:endParaRPr>
          </a:p>
          <a:p>
            <a:pPr lvl="2">
              <a:lnSpc>
                <a:spcPct val="160000"/>
              </a:lnSpc>
            </a:pPr>
            <a:endParaRPr lang="de-DE" altLang="ko-KR" sz="875" dirty="0">
              <a:sym typeface="Wingdings" panose="05000000000000000000" pitchFamily="2" charset="2"/>
            </a:endParaRPr>
          </a:p>
          <a:p>
            <a:pPr>
              <a:lnSpc>
                <a:spcPct val="160000"/>
              </a:lnSpc>
            </a:pPr>
            <a:r>
              <a:rPr lang="de-DE" altLang="ko-KR" sz="1325" dirty="0" smtClean="0">
                <a:sym typeface="Wingdings" panose="05000000000000000000" pitchFamily="2" charset="2"/>
              </a:rPr>
              <a:t>Nominal </a:t>
            </a:r>
            <a:r>
              <a:rPr lang="de-DE" altLang="ko-KR" sz="1325" dirty="0">
                <a:sym typeface="Wingdings" panose="05000000000000000000" pitchFamily="2" charset="2"/>
              </a:rPr>
              <a:t>interest rate vs. </a:t>
            </a:r>
            <a:r>
              <a:rPr lang="en-US" altLang="ko-KR" sz="1325" dirty="0" smtClean="0">
                <a:sym typeface="Wingdings" panose="05000000000000000000" pitchFamily="2" charset="2"/>
              </a:rPr>
              <a:t>R</a:t>
            </a:r>
            <a:r>
              <a:rPr lang="ko-KR" altLang="de-DE" sz="1325" dirty="0" err="1" smtClean="0">
                <a:sym typeface="Wingdings" panose="05000000000000000000" pitchFamily="2" charset="2"/>
              </a:rPr>
              <a:t>eal</a:t>
            </a:r>
            <a:r>
              <a:rPr lang="ko-KR" altLang="de-DE" sz="1325" dirty="0" smtClean="0">
                <a:sym typeface="Wingdings" panose="05000000000000000000" pitchFamily="2" charset="2"/>
              </a:rPr>
              <a:t> </a:t>
            </a:r>
            <a:r>
              <a:rPr lang="ko-KR" altLang="de-DE" sz="1325" dirty="0" err="1">
                <a:sym typeface="Wingdings" panose="05000000000000000000" pitchFamily="2" charset="2"/>
              </a:rPr>
              <a:t>interest</a:t>
            </a:r>
            <a:r>
              <a:rPr lang="ko-KR" altLang="de-DE" sz="1325" dirty="0">
                <a:sym typeface="Wingdings" panose="05000000000000000000" pitchFamily="2" charset="2"/>
              </a:rPr>
              <a:t> </a:t>
            </a:r>
            <a:r>
              <a:rPr lang="ko-KR" altLang="de-DE" sz="1325" dirty="0" err="1">
                <a:sym typeface="Wingdings" panose="05000000000000000000" pitchFamily="2" charset="2"/>
              </a:rPr>
              <a:t>rate</a:t>
            </a:r>
            <a:endParaRPr lang="ko-KR" altLang="de-DE" sz="1325" dirty="0">
              <a:sym typeface="Wingdings" panose="05000000000000000000" pitchFamily="2" charset="2"/>
            </a:endParaRPr>
          </a:p>
          <a:p>
            <a:pPr lvl="1">
              <a:lnSpc>
                <a:spcPct val="160000"/>
              </a:lnSpc>
            </a:pPr>
            <a:r>
              <a:rPr lang="ko-KR" altLang="de-DE" sz="1100" dirty="0">
                <a:sym typeface="Wingdings" panose="05000000000000000000" pitchFamily="2" charset="2"/>
              </a:rPr>
              <a:t>Real interest rates </a:t>
            </a:r>
            <a:r>
              <a:rPr lang="ko-KR" altLang="de-DE" sz="1100" dirty="0" err="1">
                <a:sym typeface="Wingdings" panose="05000000000000000000" pitchFamily="2" charset="2"/>
              </a:rPr>
              <a:t>are</a:t>
            </a:r>
            <a:r>
              <a:rPr lang="ko-KR" altLang="de-DE" sz="1100" dirty="0">
                <a:sym typeface="Wingdings" panose="05000000000000000000" pitchFamily="2" charset="2"/>
              </a:rPr>
              <a:t> </a:t>
            </a:r>
            <a:r>
              <a:rPr lang="en-US" altLang="ko-KR" sz="1100" dirty="0" smtClean="0">
                <a:sym typeface="Wingdings" panose="05000000000000000000" pitchFamily="2" charset="2"/>
              </a:rPr>
              <a:t>corrected </a:t>
            </a:r>
            <a:r>
              <a:rPr lang="ko-KR" altLang="de-DE" sz="1100" dirty="0" err="1" smtClean="0">
                <a:sym typeface="Wingdings" panose="05000000000000000000" pitchFamily="2" charset="2"/>
              </a:rPr>
              <a:t>for</a:t>
            </a:r>
            <a:r>
              <a:rPr lang="ko-KR" altLang="de-DE" sz="1100" dirty="0" smtClean="0">
                <a:sym typeface="Wingdings" panose="05000000000000000000" pitchFamily="2" charset="2"/>
              </a:rPr>
              <a:t> </a:t>
            </a:r>
            <a:r>
              <a:rPr lang="en-US" altLang="ko-KR" sz="1100" dirty="0" smtClean="0">
                <a:sym typeface="Wingdings" panose="05000000000000000000" pitchFamily="2" charset="2"/>
              </a:rPr>
              <a:t>the effects of</a:t>
            </a:r>
            <a:r>
              <a:rPr lang="ko-KR" altLang="de-DE" sz="1100" dirty="0" smtClean="0">
                <a:sym typeface="Wingdings" panose="05000000000000000000" pitchFamily="2" charset="2"/>
              </a:rPr>
              <a:t> </a:t>
            </a:r>
            <a:r>
              <a:rPr lang="ko-KR" altLang="de-DE" sz="1100" dirty="0">
                <a:sym typeface="Wingdings" panose="05000000000000000000" pitchFamily="2" charset="2"/>
              </a:rPr>
              <a:t>inflation.</a:t>
            </a:r>
            <a:endParaRPr lang="de-DE" altLang="ko-KR" sz="1100" dirty="0">
              <a:sym typeface="Wingdings" panose="05000000000000000000" pitchFamily="2" charset="2"/>
            </a:endParaRPr>
          </a:p>
          <a:p>
            <a:pPr lvl="1">
              <a:lnSpc>
                <a:spcPct val="160000"/>
              </a:lnSpc>
            </a:pPr>
            <a:r>
              <a:rPr lang="ko-KR" altLang="de-DE" sz="1100" dirty="0" err="1" smtClean="0">
                <a:sym typeface="Wingdings" panose="05000000000000000000" pitchFamily="2" charset="2"/>
              </a:rPr>
              <a:t>Real</a:t>
            </a:r>
            <a:r>
              <a:rPr lang="ko-KR" altLang="de-DE" sz="1100" dirty="0" smtClean="0">
                <a:sym typeface="Wingdings" panose="05000000000000000000" pitchFamily="2" charset="2"/>
              </a:rPr>
              <a:t> </a:t>
            </a:r>
            <a:r>
              <a:rPr lang="ko-KR" altLang="de-DE" sz="1100" dirty="0" err="1">
                <a:sym typeface="Wingdings" panose="05000000000000000000" pitchFamily="2" charset="2"/>
              </a:rPr>
              <a:t>interest</a:t>
            </a:r>
            <a:r>
              <a:rPr lang="ko-KR" altLang="de-DE" sz="1100" dirty="0">
                <a:sym typeface="Wingdings" panose="05000000000000000000" pitchFamily="2" charset="2"/>
              </a:rPr>
              <a:t> </a:t>
            </a:r>
            <a:r>
              <a:rPr lang="ko-KR" altLang="de-DE" sz="1100" dirty="0" err="1">
                <a:sym typeface="Wingdings" panose="05000000000000000000" pitchFamily="2" charset="2"/>
              </a:rPr>
              <a:t>rate</a:t>
            </a:r>
            <a:r>
              <a:rPr lang="de-DE" altLang="ko-KR" sz="1100" dirty="0">
                <a:sym typeface="Wingdings" panose="05000000000000000000" pitchFamily="2" charset="2"/>
              </a:rPr>
              <a:t>  = </a:t>
            </a:r>
            <a:r>
              <a:rPr lang="ko-KR" altLang="de-DE" sz="1100" dirty="0">
                <a:sym typeface="Wingdings" panose="05000000000000000000" pitchFamily="2" charset="2"/>
              </a:rPr>
              <a:t>nominal interest</a:t>
            </a:r>
            <a:r>
              <a:rPr lang="de-DE" altLang="ko-KR" sz="1100" dirty="0">
                <a:sym typeface="Wingdings" panose="05000000000000000000" pitchFamily="2" charset="2"/>
              </a:rPr>
              <a:t> rate – inflation </a:t>
            </a:r>
            <a:r>
              <a:rPr lang="de-DE" altLang="ko-KR" sz="1100" dirty="0" smtClean="0">
                <a:sym typeface="Wingdings" panose="05000000000000000000" pitchFamily="2" charset="2"/>
              </a:rPr>
              <a:t>rate</a:t>
            </a:r>
            <a:endParaRPr lang="de-DE" altLang="ko-KR" sz="1100" dirty="0">
              <a:sym typeface="Wingdings" panose="05000000000000000000" pitchFamily="2" charset="2"/>
            </a:endParaRPr>
          </a:p>
          <a:p>
            <a:pPr>
              <a:lnSpc>
                <a:spcPct val="160000"/>
              </a:lnSpc>
            </a:pPr>
            <a:endParaRPr lang="de-DE" altLang="ko-KR" sz="1325" dirty="0">
              <a:sym typeface="Wingdings" panose="05000000000000000000" pitchFamily="2" charset="2"/>
            </a:endParaRPr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7AACF2-4E8D-444E-8FEB-7FAF57A63B4E}" type="slidenum">
              <a:rPr lang="ko-KR" altLang="en-US" smtClean="0"/>
              <a:t>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603564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23</TotalTime>
  <Words>405</Words>
  <Application>Microsoft Office PowerPoint</Application>
  <PresentationFormat>와이드스크린</PresentationFormat>
  <Paragraphs>37</Paragraphs>
  <Slides>2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</vt:i4>
      </vt:variant>
    </vt:vector>
  </HeadingPairs>
  <TitlesOfParts>
    <vt:vector size="6" baseType="lpstr">
      <vt:lpstr>맑은 고딕</vt:lpstr>
      <vt:lpstr>Arial</vt:lpstr>
      <vt:lpstr>Wingdings</vt:lpstr>
      <vt:lpstr>Office 테마</vt:lpstr>
      <vt:lpstr>Chapter 24. Measuring the cost of living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현대경제분석   강의노트</dc:title>
  <dc:creator>User</dc:creator>
  <cp:lastModifiedBy>User</cp:lastModifiedBy>
  <cp:revision>53</cp:revision>
  <dcterms:created xsi:type="dcterms:W3CDTF">2021-06-28T02:08:57Z</dcterms:created>
  <dcterms:modified xsi:type="dcterms:W3CDTF">2023-05-09T08:45:26Z</dcterms:modified>
</cp:coreProperties>
</file>