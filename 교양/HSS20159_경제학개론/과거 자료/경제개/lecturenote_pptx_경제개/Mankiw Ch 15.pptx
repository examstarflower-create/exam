
<file path=[Content_Types].xml><?xml version="1.0" encoding="utf-8"?>
<Types xmlns="http://schemas.openxmlformats.org/package/2006/content-types"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Default Extension="package" ContentType="application/vnd.openxmlformats-officedocument.package"/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mf" ContentType="image/x-wmf"/>
  <Default Extension="gif" ContentType="image/gif"/>
  <Default Extension="bmp" ContentType="image/png"/>
  <Default Extension="tif" ContentType="image/tiff"/>
  <Default Extension="tiff" ContentType="image/tiff"/>
  <Default Extension="emf" ContentType="image/x-emf"/>
  <Default Extension="xlsx" ContentType="application/vnd.openxmlformats-officedocument.spreadsheetml.sheet"/>
  <Default Extension="xls" ContentType="application/vnd.ms-excel"/>
  <Default Extension="doc" ContentType="application/msword"/>
  <Default Extension="vml" ContentType="application/vnd.openxmlformats-officedocument.vmlDrawing"/>
  <Default Extension="bin" ContentType="application/vnd.openxmlformats-officedocument.oleObject"/>
  <Default Extension="wav" ContentType="audio/wav"/>
  <Default Extension="pdf" ContentType="application/pdf"/>
  <Default Extension="pict" ContentType="image/pict"/>
</Types>
</file>

<file path=_rels/.rels><?xml version="1.0" encoding="UTF-8"?>
<Relationships xmlns="http://schemas.openxmlformats.org/package/2006/relationships"><Relationship Target="ppt/presentation.xml" Type="http://schemas.openxmlformats.org/officeDocument/2006/relationships/officeDocument" Id="rId1"/><Relationship Target="docProps/core.xml" Type="http://schemas.openxmlformats.org/package/2006/relationships/metadata/core-properties" Id="rId2"/><Relationship Target="docProps/app.xml" Type="http://schemas.openxmlformats.org/officeDocument/2006/relationships/extended-properties" Id="rId3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firstSlideNum="1">
  <p:sldMasterIdLst>
    <p:sldMasterId id="2147483649" r:id="rId1"/>
  </p:sldMasterIdLst>
  <p:sldIdLst>
    <p:sldId id="256" r:id="rId2"/>
    <p:sldId id="257" r:id="rId3"/>
  </p:sldIdLst>
  <p:sldSz cx="6858000" cy="12192000" type="custom"/>
  <p:notesSz cx="6858000" cy="9144000"/>
  <p:defaultTextStyle>
    <a:defPPr>
      <a:defRPr lang="ko-KR"/>
    </a:defPPr>
    <a:lvl1pPr algn="l" marL="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marL="4572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marL="9144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marL="13716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marL="18288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marL="22860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marL="27432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marL="32004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marL="36576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3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?>
<Relationships xmlns="http://schemas.openxmlformats.org/package/2006/relationships"><Relationship Id="rId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tableStyles" Target="tableStyles.xml"/><Relationship Id="rId7" Type="http://schemas.openxmlformats.org/officeDocument/2006/relationships/theme" Target="theme/theme1.xml"/><Relationship Id="rId5" Type="http://schemas.openxmlformats.org/officeDocument/2006/relationships/viewProps" Target="viewProps.xml"/></Relationships>
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_shape1"/>
          <p:cNvSpPr/>
          <p:nvPr>
            <p:ph type="ctrTitle"/>
          </p:nvPr>
        </p:nvSpPr>
        <p:spPr>
          <a:xfrm>
            <a:off x="857250" y="1995312"/>
            <a:ext cx="5143500" cy="4244622"/>
          </a:xfrm>
          <a:prstGeom prst="rect">
            <a:avLst/>
          </a:prstGeom>
        </p:spPr>
        <p:txBody>
          <a:bodyPr lIns="91440" tIns="45720" rIns="91440" bIns="45720" anchor="b"/>
          <a:lstStyle>
            <a:lvl1pPr algn="ctr">
              <a:defRPr sz="3375"/>
            </a:lvl1pPr>
          </a:lstStyle>
          <a:p>
            <a:pPr algn="ctr"/>
            <a:r>
              <a:rPr lang="ko-KR" altLang="en-US" sz="3375"/>
              <a:t>마스터</a:t>
            </a:r>
            <a:r>
              <a:rPr lang="en-US" altLang="en-US" sz="3375"/>
              <a:t> </a:t>
            </a:r>
            <a:r>
              <a:rPr lang="ko-KR" altLang="en-US" sz="3375"/>
              <a:t>제목</a:t>
            </a:r>
            <a:r>
              <a:rPr lang="en-US" altLang="en-US" sz="3375"/>
              <a:t> </a:t>
            </a:r>
            <a:r>
              <a:rPr lang="ko-KR" altLang="en-US" sz="3375"/>
              <a:t>스타일</a:t>
            </a:r>
            <a:r>
              <a:rPr lang="en-US" altLang="en-US" sz="3375"/>
              <a:t> </a:t>
            </a:r>
            <a:r>
              <a:rPr lang="ko-KR" altLang="en-US" sz="3375"/>
              <a:t>편집</a:t>
            </a:r>
            <a:endParaRPr sz="3375"/>
          </a:p>
        </p:txBody>
      </p:sp>
      <p:sp>
        <p:nvSpPr>
          <p:cNvPr id="4" name="layout1_shape2"/>
          <p:cNvSpPr/>
          <p:nvPr>
            <p:ph type="subTitle" idx="1"/>
          </p:nvPr>
        </p:nvSpPr>
        <p:spPr>
          <a:xfrm>
            <a:off x="857250" y="6403623"/>
            <a:ext cx="5143500" cy="2943577"/>
          </a:xfrm>
          <a:prstGeom prst="rect">
            <a:avLst/>
          </a:prstGeom>
        </p:spPr>
        <p:txBody>
          <a:bodyPr lIns="91440" tIns="45720" rIns="91440" bIns="45720"/>
          <a:lstStyle>
            <a:lvl1pPr algn="ctr" marL="0" indent="0">
              <a:buNone/>
              <a:defRPr sz="1350"/>
            </a:lvl1pPr>
            <a:lvl2pPr algn="ctr" marL="257175" indent="0">
              <a:buNone/>
              <a:defRPr sz="1125"/>
            </a:lvl2pPr>
            <a:lvl3pPr algn="ctr" marL="514350" indent="0">
              <a:buNone/>
              <a:defRPr sz="1013"/>
            </a:lvl3pPr>
            <a:lvl4pPr algn="ctr" marL="771525" indent="0">
              <a:buNone/>
              <a:defRPr sz="900"/>
            </a:lvl4pPr>
            <a:lvl5pPr algn="ctr" marL="1028700" indent="0">
              <a:buNone/>
              <a:defRPr sz="900"/>
            </a:lvl5pPr>
            <a:lvl6pPr algn="ctr" marL="1285875" indent="0">
              <a:buNone/>
              <a:defRPr sz="900"/>
            </a:lvl6pPr>
            <a:lvl7pPr algn="ctr" marL="1543050" indent="0">
              <a:buNone/>
              <a:defRPr sz="900"/>
            </a:lvl7pPr>
            <a:lvl8pPr algn="ctr" marL="1800225" indent="0">
              <a:buNone/>
              <a:defRPr sz="900"/>
            </a:lvl8pPr>
            <a:lvl9pPr algn="ctr" marL="2057400" indent="0">
              <a:buNone/>
              <a:defRPr sz="900"/>
            </a:lvl9pPr>
          </a:lstStyle>
          <a:p>
            <a:pPr algn="ctr" marL="0" indent="0" lvl="0">
              <a:buNone/>
            </a:pPr>
            <a:r>
              <a:rPr lang="ko-KR" altLang="en-US" sz="1350"/>
              <a:t>클릭하여</a:t>
            </a:r>
            <a:r>
              <a:rPr lang="en-US" altLang="en-US" sz="1350"/>
              <a:t> </a:t>
            </a:r>
            <a:r>
              <a:rPr lang="ko-KR" altLang="en-US" sz="1350"/>
              <a:t>마스터</a:t>
            </a:r>
            <a:r>
              <a:rPr lang="en-US" altLang="en-US" sz="1350"/>
              <a:t> </a:t>
            </a:r>
            <a:r>
              <a:rPr lang="ko-KR" altLang="en-US" sz="1350"/>
              <a:t>부제목</a:t>
            </a:r>
            <a:r>
              <a:rPr lang="en-US" altLang="en-US" sz="1350"/>
              <a:t> </a:t>
            </a:r>
            <a:r>
              <a:rPr lang="ko-KR" altLang="en-US" sz="1350"/>
              <a:t>스타일</a:t>
            </a:r>
            <a:r>
              <a:rPr lang="en-US" altLang="en-US" sz="1350"/>
              <a:t> </a:t>
            </a:r>
            <a:r>
              <a:rPr lang="ko-KR" altLang="en-US" sz="1350"/>
              <a:t>편집</a:t>
            </a:r>
            <a:endParaRPr sz="1350"/>
          </a:p>
        </p:txBody>
      </p:sp>
      <p:sp>
        <p:nvSpPr>
          <p:cNvPr id="5" name="layout1_shape3"/>
          <p:cNvSpPr/>
          <p:nvPr>
            <p:ph type="dt" sz="half" idx="10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type="datetime1" id="{A658C7C3-8D3A-4C0D-B60E-240C4DE6BC36}">
              <a:rPr lang="ko-KR" sz="675">
                <a:solidFill>
                  <a:schemeClr val="tx1">
                    <a:tint val="75000"/>
                  </a:schemeClr>
                </a:solidFill>
              </a:rPr>
              <a:t>2021-07-16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layout1_shape4"/>
          <p:cNvSpPr/>
          <p:nvPr>
            <p:ph type="ftr" sz="quarter" idx="11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layout1_shape5"/>
          <p:cNvSpPr/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type="slidenum" id="{4BEDD84E-25D4-4983-8AA1-2863C96F08D9}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2_shape1"/>
          <p:cNvSpPr/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2_shape2"/>
          <p:cNvSpPr/>
          <p:nvPr>
            <p:ph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layout2_shape3"/>
          <p:cNvSpPr/>
          <p:nvPr>
            <p:ph type="dt" sz="half" idx="10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type="datetime1" id="{A658C7C3-8D3A-4C0D-B60E-240C4DE6BC36}">
              <a:rPr lang="ko-KR" sz="675">
                <a:solidFill>
                  <a:schemeClr val="tx1">
                    <a:tint val="75000"/>
                  </a:schemeClr>
                </a:solidFill>
              </a:rPr>
              <a:t>2021-07-16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layout2_shape4"/>
          <p:cNvSpPr/>
          <p:nvPr>
            <p:ph type="ftr" sz="quarter" idx="11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layout2_shape5"/>
          <p:cNvSpPr/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type="slidenum" id="{4BEDD84E-25D4-4983-8AA1-2863C96F08D9}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3_shape1"/>
          <p:cNvSpPr/>
          <p:nvPr>
            <p:ph type="title"/>
          </p:nvPr>
        </p:nvSpPr>
        <p:spPr>
          <a:xfrm>
            <a:off x="467916" y="3039535"/>
            <a:ext cx="5915025" cy="5071532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3_shape2"/>
          <p:cNvSpPr/>
          <p:nvPr>
            <p:ph type="body" idx="1"/>
          </p:nvPr>
        </p:nvSpPr>
        <p:spPr>
          <a:xfrm>
            <a:off x="467916" y="8159046"/>
            <a:ext cx="5915025" cy="266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3_shape3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2021-07-16</a:t>
            </a:fld>
            <a:endParaRPr/>
          </a:p>
        </p:txBody>
      </p:sp>
      <p:sp>
        <p:nvSpPr>
          <p:cNvPr id="6" name="layout3_shape4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layout3_shape5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4_shape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4_shape2"/>
          <p:cNvSpPr/>
          <p:nvPr>
            <p:ph sz="half" idx="1"/>
          </p:nvPr>
        </p:nvSpPr>
        <p:spPr>
          <a:xfrm>
            <a:off x="471488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layout4_shape3"/>
          <p:cNvSpPr/>
          <p:nvPr>
            <p:ph sz="half" idx="2"/>
          </p:nvPr>
        </p:nvSpPr>
        <p:spPr>
          <a:xfrm>
            <a:off x="3471863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6" name="layout4_shape4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2021-07-16</a:t>
            </a:fld>
            <a:endParaRPr/>
          </a:p>
        </p:txBody>
      </p:sp>
      <p:sp>
        <p:nvSpPr>
          <p:cNvPr id="7" name="layout4_shape5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8" name="layout4_shape6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5_shape1"/>
          <p:cNvSpPr/>
          <p:nvPr>
            <p:ph type="title"/>
          </p:nvPr>
        </p:nvSpPr>
        <p:spPr>
          <a:xfrm>
            <a:off x="472381" y="649112"/>
            <a:ext cx="5915025" cy="2356556"/>
          </a:xfrm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5_shape2"/>
          <p:cNvSpPr/>
          <p:nvPr>
            <p:ph type="body" idx="1"/>
          </p:nvPr>
        </p:nvSpPr>
        <p:spPr>
          <a:xfrm>
            <a:off x="472381" y="2988734"/>
            <a:ext cx="2901255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5_shape3"/>
          <p:cNvSpPr/>
          <p:nvPr>
            <p:ph sz="half" idx="2"/>
          </p:nvPr>
        </p:nvSpPr>
        <p:spPr>
          <a:xfrm>
            <a:off x="472381" y="4453467"/>
            <a:ext cx="2901255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6" name="layout5_shape4"/>
          <p:cNvSpPr/>
          <p:nvPr>
            <p:ph type="body" sz="quarter" idx="3"/>
          </p:nvPr>
        </p:nvSpPr>
        <p:spPr>
          <a:xfrm>
            <a:off x="3471863" y="2988734"/>
            <a:ext cx="2915543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7" name="layout5_shape5"/>
          <p:cNvSpPr/>
          <p:nvPr>
            <p:ph sz="quarter" idx="4"/>
          </p:nvPr>
        </p:nvSpPr>
        <p:spPr>
          <a:xfrm>
            <a:off x="3471863" y="4453467"/>
            <a:ext cx="2915543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8" name="layout5_shape6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2021-07-16</a:t>
            </a:fld>
            <a:endParaRPr/>
          </a:p>
        </p:txBody>
      </p:sp>
      <p:sp>
        <p:nvSpPr>
          <p:cNvPr id="9" name="layout5_shape7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10" name="layout5_shape8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6_shape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6_shape2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2021-07-16</a:t>
            </a:fld>
            <a:endParaRPr/>
          </a:p>
        </p:txBody>
      </p:sp>
      <p:sp>
        <p:nvSpPr>
          <p:cNvPr id="5" name="layout6_shape3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6" name="layout6_shape4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7_shape1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2021-07-16</a:t>
            </a:fld>
            <a:endParaRPr/>
          </a:p>
        </p:txBody>
      </p:sp>
      <p:sp>
        <p:nvSpPr>
          <p:cNvPr id="4" name="layout7_shape2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5" name="layout7_shape3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8_shape1"/>
          <p:cNvSpPr/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8_shape2"/>
          <p:cNvSpPr/>
          <p:nvPr>
            <p:ph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layout8_shape3"/>
          <p:cNvSpPr/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8_shape4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2021-07-16</a:t>
            </a:fld>
            <a:endParaRPr/>
          </a:p>
        </p:txBody>
      </p:sp>
      <p:sp>
        <p:nvSpPr>
          <p:cNvPr id="7" name="layout8_shape5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8" name="layout8_shape6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9_shape1"/>
          <p:cNvSpPr/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9_shape2"/>
          <p:cNvSpPr/>
          <p:nvPr>
            <p:ph type="pic"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/>
            <a:endParaRPr/>
          </a:p>
        </p:txBody>
      </p:sp>
      <p:sp>
        <p:nvSpPr>
          <p:cNvPr id="5" name="layout9_shape3"/>
          <p:cNvSpPr/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9_shape4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2021-07-16</a:t>
            </a:fld>
            <a:endParaRPr/>
          </a:p>
        </p:txBody>
      </p:sp>
      <p:sp>
        <p:nvSpPr>
          <p:cNvPr id="7" name="layout9_shape5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8" name="layout9_shape6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0_shape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10_shape2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layout10_shape3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2021-07-16</a:t>
            </a:fld>
            <a:endParaRPr/>
          </a:p>
        </p:txBody>
      </p:sp>
      <p:sp>
        <p:nvSpPr>
          <p:cNvPr id="6" name="layout10_shape4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layout10_shape5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1_shape1"/>
          <p:cNvSpPr/>
          <p:nvPr>
            <p:ph type="title"/>
          </p:nvPr>
        </p:nvSpPr>
        <p:spPr>
          <a:xfrm>
            <a:off x="4907756" y="649111"/>
            <a:ext cx="1478756" cy="10332156"/>
          </a:xfrm>
          <a:prstGeom prst="rect">
            <a:avLst/>
          </a:prstGeom>
        </p:spPr>
        <p:txBody>
          <a:bodyPr vert="eaVert"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11_shape2"/>
          <p:cNvSpPr/>
          <p:nvPr>
            <p:ph type="body" idx="1"/>
          </p:nvPr>
        </p:nvSpPr>
        <p:spPr>
          <a:xfrm>
            <a:off x="471487" y="649111"/>
            <a:ext cx="4350544" cy="103321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layout11_shape3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2021-07-16</a:t>
            </a:fld>
            <a:endParaRPr/>
          </a:p>
        </p:txBody>
      </p:sp>
      <p:sp>
        <p:nvSpPr>
          <p:cNvPr id="6" name="layout11_shape4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layout11_shape5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1_shape1"/>
          <p:cNvSpPr/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master1_shape2"/>
          <p:cNvSpPr/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master1_shape3"/>
          <p:cNvSpPr/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type="datetime1" id="{A658C7C3-8D3A-4C0D-B60E-240C4DE6BC36}">
              <a:rPr lang="ko-KR" sz="675">
                <a:solidFill>
                  <a:schemeClr val="tx1">
                    <a:tint val="75000"/>
                  </a:schemeClr>
                </a:solidFill>
              </a:rPr>
              <a:t>2021-07-16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master1_shape4"/>
          <p:cNvSpPr/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master1_shape5"/>
          <p:cNvSpPr/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type="slidenum" id="{4BEDD84E-25D4-4983-8AA1-2863C96F08D9}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 bg1="lt1" bg2="lt2" tx1="dk1" tx2="dk2" hlink="hlink" accent1="accent1" accent2="accent2" accent3="accent3" accent4="accent4" accent5="accent5" accent6="accent6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514350" latinLnBrk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128588" indent="-128588" defTabSz="514350" latinLnBrk="1">
        <a:lnSpc>
          <a:spcPct val="90000"/>
        </a:lnSpc>
        <a:spcBef>
          <a:spcPts val="563"/>
        </a:spcBef>
        <a:buFont typeface="Arial" pitchFamily="2" charset="2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algn="l" marL="38576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algn="l" marL="64293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algn="l" marL="90011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algn="l" marL="115728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algn="l" marL="141446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algn="l" marL="167163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algn="l" marL="192881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algn="l" marL="218598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marL="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algn="l" marL="25717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algn="l" marL="51435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algn="l" marL="77152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algn="l" marL="102870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algn="l" marL="128587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algn="l" marL="154305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algn="l" marL="180022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algn="l" marL="205740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2_shape1"/>
          <p:cNvSpPr/>
          <p:nvPr>
            <p:ph type="title"/>
          </p:nvPr>
        </p:nvSpPr>
        <p:spPr>
          <a:xfrm>
            <a:off x="471488" y="649114"/>
            <a:ext cx="5915025" cy="114920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 algn="l" marL="0">
              <a:lnSpc>
                <a:spcPct val="150000"/>
              </a:lnSpc>
              <a:buNone/>
            </a:pPr>
            <a:r>
              <a:rPr lang="en-US" altLang="ko-KR" sz="2475">
                <a:solidFill>
                  <a:schemeClr val="tx1">
                    <a:alpha val="100000"/>
                  </a:schemeClr>
                </a:solidFill>
                <a:latin typeface="+mj-cs"/>
              </a:rPr>
              <a:t>Ch. 15</a:t>
            </a:r>
            <a:r>
              <a:rPr lang="en-US" altLang="ko-KR" sz="2475">
                <a:solidFill>
                  <a:schemeClr val="tx1">
                    <a:alpha val="100000"/>
                  </a:schemeClr>
                </a:solidFill>
                <a:latin typeface="+mj-cs"/>
              </a:rPr>
              <a:t> </a:t>
            </a:r>
            <a:r>
              <a:rPr lang="en-US" altLang="ko-KR" sz="2475">
                <a:solidFill>
                  <a:schemeClr val="tx1">
                    <a:alpha val="100000"/>
                  </a:schemeClr>
                </a:solidFill>
                <a:latin typeface="+mj-cs"/>
              </a:rPr>
              <a:t>Monopoly</a:t>
            </a:r>
          </a:p>
        </p:txBody>
      </p:sp>
      <p:sp>
        <p:nvSpPr>
          <p:cNvPr id="4" name="slide2_shape2"/>
          <p:cNvSpPr/>
          <p:nvPr>
            <p:ph idx="1"/>
          </p:nvPr>
        </p:nvSpPr>
        <p:spPr>
          <a:xfrm>
            <a:off x="471488" y="1798320"/>
            <a:ext cx="5915025" cy="9574530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3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A firm that is the sole seller of a product </a:t>
            </a:r>
            <a:r>
              <a:rPr altLang="ko-KR" sz="13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without close substitutes</a:t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00">
                <a:solidFill>
                  <a:schemeClr val="tx1">
                    <a:alpha val="100000"/>
                  </a:schemeClr>
                </a:solidFill>
                <a:ea typeface="+mn-cs"/>
              </a:rPr>
              <a:t>Market power: Ability to influence the market price</a:t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300">
                <a:latin typeface="+mn-ea"/>
                <a:ea typeface="+mn-ea"/>
              </a:rPr>
              <a:t/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00">
                <a:solidFill>
                  <a:schemeClr val="tx1">
                    <a:alpha val="100000"/>
                  </a:schemeClr>
                </a:solidFill>
                <a:ea typeface="+mn-cs"/>
              </a:rPr>
              <a:t>Three barriers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ko-KR" altLang="ko-KR" sz="1100">
                <a:solidFill>
                  <a:schemeClr val="tx1">
                    <a:alpha val="100000"/>
                  </a:schemeClr>
                </a:solidFill>
                <a:ea typeface="+mn-cs"/>
              </a:rPr>
              <a:t>Monopoly resources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ko-KR" altLang="ko-KR" sz="1100">
                <a:solidFill>
                  <a:schemeClr val="tx1">
                    <a:alpha val="100000"/>
                  </a:schemeClr>
                </a:solidFill>
                <a:ea typeface="+mn-cs"/>
              </a:rPr>
              <a:t>Government regulation</a:t>
            </a:r>
          </a:p>
          <a:p>
            <a:pPr algn="l" marL="384175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ko-KR" altLang="ko-KR" sz="1100">
                <a:solidFill>
                  <a:schemeClr val="tx1">
                    <a:alpha val="100000"/>
                  </a:schemeClr>
                </a:solidFill>
                <a:ea typeface="+mn-cs"/>
              </a:rPr>
              <a:t>Production process</a:t>
            </a:r>
          </a:p>
          <a:p>
            <a:pPr algn="l" marL="584200" indent="-127000" lvl="1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25">
                <a:solidFill>
                  <a:schemeClr val="tx1">
                    <a:alpha val="100000"/>
                  </a:schemeClr>
                </a:solidFill>
                <a:ea typeface="+mn-cs"/>
              </a:rPr>
              <a:t>Natural monopoly</a:t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25">
                <a:solidFill>
                  <a:schemeClr val="tx1">
                    <a:alpha val="100000"/>
                  </a:schemeClr>
                </a:solidFill>
                <a:ea typeface="+mn-cs"/>
              </a:rPr>
              <a:t/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25">
                <a:solidFill>
                  <a:schemeClr val="tx1">
                    <a:alpha val="100000"/>
                  </a:schemeClr>
                </a:solidFill>
                <a:ea typeface="+mn-cs"/>
              </a:rPr>
              <a:t>Monopolist's demand curve is downward sloping</a:t>
            </a:r>
          </a:p>
          <a:p>
            <a:pPr algn="l" marL="257175" lvl="0">
              <a:lnSpc>
                <a:spcPct val="160000"/>
              </a:lnSpc>
              <a:spcBef>
                <a:spcPts val="275"/>
              </a:spcBef>
              <a:buNone/>
            </a:pPr>
            <a:r>
              <a:rPr lang="en-US" altLang="ko-KR" sz="1300">
                <a:solidFill>
                  <a:schemeClr val="tx1">
                    <a:alpha val="100000"/>
                  </a:schemeClr>
                </a:solidFill>
                <a:latin typeface="+mn-cs"/>
              </a:rPr>
              <a:t>- </a:t>
            </a:r>
            <a:r>
              <a:rPr altLang="ko-KR" sz="13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To sell a larger Q, the firm must reduce P. Thus, MR ≠ P.</a:t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en-US" altLang="ko-KR" sz="1300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00">
                <a:solidFill>
                  <a:schemeClr val="tx1">
                    <a:alpha val="100000"/>
                  </a:schemeClr>
                </a:solidFill>
                <a:ea typeface="+mn-cs"/>
              </a:rPr>
              <a:t>Profit Maximization rule : </a:t>
            </a:r>
            <a:r>
              <a:rPr lang="en-US" altLang="ko-KR" sz="1300">
                <a:solidFill>
                  <a:schemeClr val="tx1">
                    <a:alpha val="100000"/>
                  </a:schemeClr>
                </a:solidFill>
                <a:latin typeface="+mn-cs"/>
              </a:rPr>
              <a:t>MR = MC </a:t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00">
                <a:solidFill>
                  <a:schemeClr val="tx1">
                    <a:alpha val="100000"/>
                  </a:schemeClr>
                </a:solidFill>
                <a:ea typeface="+mn-cs"/>
              </a:rPr>
              <a:t>Monopolist is a</a:t>
            </a:r>
            <a:r>
              <a:rPr lang="en-US" altLang="ko-KR" sz="1300">
                <a:solidFill>
                  <a:schemeClr val="tx1">
                    <a:alpha val="100000"/>
                  </a:schemeClr>
                </a:solidFill>
                <a:latin typeface="+mn-cs"/>
              </a:rPr>
              <a:t> </a:t>
            </a:r>
            <a:r>
              <a:rPr lang="en-US" altLang="ko-KR" sz="1300">
                <a:solidFill>
                  <a:schemeClr val="tx1">
                    <a:alpha val="100000"/>
                  </a:schemeClr>
                </a:solidFill>
                <a:latin typeface="+mn-cs"/>
              </a:rPr>
              <a:t>price maker </a:t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300" b="0">
                <a:solidFill>
                  <a:schemeClr val="tx1">
                    <a:alpha val="100000"/>
                  </a:schemeClr>
                </a:solidFill>
                <a:latin typeface="Arial"/>
                <a:ea typeface="Arial"/>
              </a:rPr>
              <a:t>A Monopoly firm does Not have an S curve</a:t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en-US" altLang="ko-KR" sz="1300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130175" indent="-130175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300">
                <a:solidFill>
                  <a:schemeClr val="tx1">
                    <a:alpha val="100000"/>
                  </a:schemeClr>
                </a:solidFill>
                <a:ea typeface="+mn-cs"/>
              </a:rPr>
              <a:t>Monopoly vs. Generic Drugs</a:t>
            </a:r>
          </a:p>
          <a:p>
            <a:pPr algn="l" marL="38735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ko-KR" altLang="ko-KR" sz="1300">
                <a:solidFill>
                  <a:schemeClr val="tx1">
                    <a:alpha val="100000"/>
                  </a:schemeClr>
                </a:solidFill>
                <a:ea typeface="+mn-cs"/>
              </a:rPr>
              <a:t/>
            </a:r>
          </a:p>
          <a:p>
            <a:pPr algn="l" marL="0" indent="-127000" lvl="0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ko-KR" altLang="ko-KR" sz="1300">
                <a:solidFill>
                  <a:schemeClr val="tx1">
                    <a:alpha val="100000"/>
                  </a:schemeClr>
                </a:solidFill>
                <a:ea typeface="+mn-cs"/>
              </a:rPr>
              <a:t>Welfare cost of monopoly</a:t>
            </a:r>
          </a:p>
          <a:p>
            <a:pPr algn="l" marL="45720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3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Monopoly results in a deadweight loss</a:t>
            </a:r>
          </a:p>
          <a:p>
            <a:pPr algn="l" marL="45720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3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/>
            </a:r>
          </a:p>
          <a:p>
            <a:pPr algn="l" marL="0" indent="-127000" lvl="0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300">
                <a:solidFill>
                  <a:schemeClr val="tx1">
                    <a:alpha val="100000"/>
                  </a:schemeClr>
                </a:solidFill>
                <a:latin typeface="Arial"/>
                <a:ea typeface="Arial"/>
              </a:rPr>
              <a:t>Price discrimination</a:t>
            </a:r>
          </a:p>
          <a:p>
            <a:pPr algn="l" marL="45720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300">
                <a:solidFill>
                  <a:srgbClr val="000000"/>
                </a:solidFill>
                <a:latin typeface="Arial"/>
                <a:ea typeface="Arial"/>
              </a:rPr>
              <a:t>Sell the same good at different prices to </a:t>
            </a:r>
            <a:r>
              <a:rPr altLang="ko-KR" sz="1300">
                <a:solidFill>
                  <a:srgbClr val="000000"/>
                </a:solidFill>
                <a:latin typeface="Arial"/>
                <a:ea typeface="Arial"/>
              </a:rPr>
              <a:t>different buyers</a:t>
            </a:r>
          </a:p>
          <a:p>
            <a:pPr algn="l" marL="45720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300">
                <a:solidFill>
                  <a:srgbClr val="000000"/>
                </a:solidFill>
                <a:latin typeface="Arial"/>
                <a:ea typeface="Arial"/>
              </a:rPr>
              <a:t>Perfect price discrimination</a:t>
            </a:r>
          </a:p>
          <a:p>
            <a:pPr algn="l" marL="45720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300">
                <a:solidFill>
                  <a:srgbClr val="000000"/>
                </a:solidFill>
                <a:latin typeface="Arial"/>
                <a:ea typeface="Arial"/>
              </a:rPr>
              <a:t>Perfect Price Discrimination vs. Single Price Monopoly</a:t>
            </a:r>
          </a:p>
          <a:p>
            <a:pPr algn="l" marL="45720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300">
                <a:solidFill>
                  <a:srgbClr val="000000"/>
                </a:solidFill>
                <a:latin typeface="Arial"/>
                <a:ea typeface="Arial"/>
              </a:rPr>
              <a:t>Examples of price discrimination</a:t>
            </a:r>
          </a:p>
        </p:txBody>
      </p:sp>
      <p:sp>
        <p:nvSpPr>
          <p:cNvPr id="5" name="slide2_shape3"/>
          <p:cNvSpPr/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marL="0" defTabSz="914400" latinLnBrk="1">
              <a:lnSpc>
                <a:spcPct val="100000"/>
              </a:lnSpc>
            </a:pPr>
            <a:fld type="slidenum" id="{4BEDD84E-25D4-4983-8AA1-2863C96F08D9}">
              <a:rPr 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</a:t>
            </a:fld>
            <a:endParaRPr sz="675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3_shape1"/>
          <p:cNvSpPr/>
          <p:nvPr>
            <p:ph idx="1"/>
          </p:nvPr>
        </p:nvSpPr>
        <p:spPr>
          <a:xfrm>
            <a:off x="471488" y="702944"/>
            <a:ext cx="5915025" cy="10708005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 marL="127000" indent="-127000" lvl="0">
              <a:lnSpc>
                <a:spcPct val="15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400">
                <a:solidFill>
                  <a:schemeClr val="tx1">
                    <a:alpha val="100000"/>
                  </a:schemeClr>
                </a:solidFill>
                <a:ea typeface="+mn-cs"/>
              </a:rPr>
              <a:t>Public policy toward monopolies</a:t>
            </a:r>
          </a:p>
          <a:p>
            <a:pPr algn="l" marL="584200" indent="-127000" lvl="1">
              <a:lnSpc>
                <a:spcPct val="15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Arial"/>
                <a:ea typeface="Arial"/>
              </a:rPr>
              <a:t>Increasing competition with antitrust laws</a:t>
            </a:r>
          </a:p>
          <a:p>
            <a:pPr algn="l" marL="584200" indent="-127000" lvl="1">
              <a:lnSpc>
                <a:spcPct val="15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400">
                <a:solidFill>
                  <a:srgbClr val="000000"/>
                </a:solidFill>
                <a:latin typeface="Arial"/>
                <a:ea typeface="Arial"/>
              </a:rPr>
              <a:t>Regulation</a:t>
            </a:r>
          </a:p>
          <a:p>
            <a:pPr algn="l" marL="584200" indent="-127000" lvl="1">
              <a:lnSpc>
                <a:spcPct val="15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400">
                <a:solidFill>
                  <a:srgbClr val="000000"/>
                </a:solidFill>
                <a:latin typeface="Arial"/>
                <a:ea typeface="Arial"/>
              </a:rPr>
              <a:t>Public ownership</a:t>
            </a:r>
          </a:p>
          <a:p>
            <a:pPr algn="l" marL="584200" indent="-127000" lvl="1">
              <a:lnSpc>
                <a:spcPct val="15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Do nothing</a:t>
            </a:r>
          </a:p>
          <a:p>
            <a:pPr algn="l" marL="127000" indent="-127000" lvl="0">
              <a:lnSpc>
                <a:spcPct val="15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400">
                <a:latin typeface="+mn-ea"/>
                <a:ea typeface="+mn-ea"/>
              </a:rPr>
              <a:t/>
            </a:r>
          </a:p>
        </p:txBody>
      </p:sp>
      <p:sp>
        <p:nvSpPr>
          <p:cNvPr id="4" name="slide3_shape2"/>
          <p:cNvSpPr/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marL="0" defTabSz="914400" latinLnBrk="1">
              <a:lnSpc>
                <a:spcPct val="100000"/>
              </a:lnSpc>
            </a:pPr>
            <a:fld type="slidenum" id="{4BEDD84E-25D4-4983-8AA1-2863C96F08D9}">
              <a:rPr 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3</a:t>
            </a:fld>
            <a:endParaRPr sz="675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맑은 고딕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 Light"/>
        <a:font script="Hant" typeface="新細明體"/>
        <a:font script="Hebr" typeface="Times New Roman"/>
        <a:font script="Jpan" typeface="游ゴシック Light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맑은 고딕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"/>
        <a:font script="Hant" typeface="新細明體"/>
        <a:font script="Hebr" typeface="Arial"/>
        <a:font script="Jpan" typeface="游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 name="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  <a:satMod val="105000"/>
              </a:schemeClr>
            </a:gs>
            <a:gs pos="50000">
              <a:schemeClr val="phClr">
                <a:lumMod val="105000"/>
                <a:tint val="73000"/>
                <a:satMod val="103000"/>
              </a:schemeClr>
            </a:gs>
            <a:gs pos="100000">
              <a:schemeClr val="phClr">
                <a:lumMod val="105000"/>
                <a:tint val="81000"/>
                <a:satMod val="10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lumMod val="102000"/>
                <a:tint val="94000"/>
                <a:satMod val="103000"/>
              </a:schemeClr>
            </a:gs>
            <a:gs pos="50000">
              <a:schemeClr val="phClr">
                <a:lumMod val="100000"/>
                <a:shade val="100000"/>
                <a:satMod val="110000"/>
              </a:schemeClr>
            </a:gs>
            <a:gs pos="100000">
              <a:schemeClr val="phClr">
                <a:lumMod val="99000"/>
                <a:shade val="78000"/>
                <a:satMod val="120000"/>
              </a:schemeClr>
            </a:gs>
          </a:gsLst>
          <a:lin ang="54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 xmlns:a="http://schemas.openxmlformats.org/drawingml/2006/main">
          <a:effectLst/>
        </a:effectStyle>
        <a:effectStyle xmlns:a="http://schemas.openxmlformats.org/drawingml/2006/main">
          <a:effectLst/>
        </a:effectStyle>
        <a:effectStyle xmlns:a="http://schemas.openxmlformats.org/drawingml/2006/main"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tint val="93000"/>
                <a:shade val="98000"/>
                <a:satMod val="150000"/>
              </a:schemeClr>
            </a:gs>
            <a:gs pos="50000">
              <a:schemeClr val="phClr">
                <a:lumMod val="103000"/>
                <a:tint val="98000"/>
                <a:shade val="90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</a:theme>
</file>

<file path=ppt/theme/theme2.xml><?xml version="1.0" encoding="utf-8"?>
<a:theme xmlns:a="http://schemas.openxmlformats.org/drawingml/2006/main" name="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맑은 고딕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 Light"/>
        <a:font script="Hant" typeface="新細明體"/>
        <a:font script="Hebr" typeface="Times New Roman"/>
        <a:font script="Jpan" typeface="游ゴシック Light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맑은 고딕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"/>
        <a:font script="Hant" typeface="新細明體"/>
        <a:font script="Hebr" typeface="Arial"/>
        <a:font script="Jpan" typeface="游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 name="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  <a:satMod val="105000"/>
              </a:schemeClr>
            </a:gs>
            <a:gs pos="50000">
              <a:schemeClr val="phClr">
                <a:lumMod val="105000"/>
                <a:tint val="73000"/>
                <a:satMod val="103000"/>
              </a:schemeClr>
            </a:gs>
            <a:gs pos="100000">
              <a:schemeClr val="phClr">
                <a:lumMod val="105000"/>
                <a:tint val="81000"/>
                <a:satMod val="10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lumMod val="102000"/>
                <a:tint val="94000"/>
                <a:satMod val="103000"/>
              </a:schemeClr>
            </a:gs>
            <a:gs pos="50000">
              <a:schemeClr val="phClr">
                <a:lumMod val="100000"/>
                <a:shade val="100000"/>
                <a:satMod val="110000"/>
              </a:schemeClr>
            </a:gs>
            <a:gs pos="100000">
              <a:schemeClr val="phClr">
                <a:lumMod val="99000"/>
                <a:shade val="78000"/>
                <a:satMod val="120000"/>
              </a:schemeClr>
            </a:gs>
          </a:gsLst>
          <a:lin ang="54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 xmlns:a="http://schemas.openxmlformats.org/drawingml/2006/main">
          <a:effectLst/>
        </a:effectStyle>
        <a:effectStyle xmlns:a="http://schemas.openxmlformats.org/drawingml/2006/main">
          <a:effectLst/>
        </a:effectStyle>
        <a:effectStyle xmlns:a="http://schemas.openxmlformats.org/drawingml/2006/main"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tint val="93000"/>
                <a:shade val="98000"/>
                <a:satMod val="150000"/>
              </a:schemeClr>
            </a:gs>
            <a:gs pos="50000">
              <a:schemeClr val="phClr">
                <a:lumMod val="103000"/>
                <a:tint val="98000"/>
                <a:shade val="90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Company>사이냅소프트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choyong4(choyong4)</cp:lastModifiedBy>
  <dcterms:modified xsi:type="dcterms:W3CDTF">2021-11-16T09:36:40Z</dcterms:modified>
</cp:coreProperties>
</file>