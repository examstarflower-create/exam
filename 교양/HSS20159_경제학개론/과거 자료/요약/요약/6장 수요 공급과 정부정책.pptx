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6</a:t>
            </a:r>
            <a:r>
              <a:rPr lang="ko-KR" altLang="en-US" dirty="0"/>
              <a:t>장 수요</a:t>
            </a:r>
            <a:r>
              <a:rPr lang="en-US" altLang="ko-KR" dirty="0"/>
              <a:t>, </a:t>
            </a:r>
            <a:r>
              <a:rPr lang="ko-KR" altLang="en-US" dirty="0"/>
              <a:t>공급과 정부정책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650730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/>
              <a:t>정부가 가격통제</a:t>
            </a:r>
            <a:r>
              <a:rPr lang="en-US" altLang="ko-KR" sz="1300" dirty="0"/>
              <a:t>, </a:t>
            </a:r>
            <a:r>
              <a:rPr lang="ko-KR" altLang="en-US" sz="1300" dirty="0"/>
              <a:t>세금 등으로 자유시장에 개입하면 어떤 일이 생기는가</a:t>
            </a:r>
            <a:r>
              <a:rPr lang="en-US" altLang="ko-KR" sz="1300" dirty="0"/>
              <a:t>?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가격통제 </a:t>
            </a:r>
            <a:r>
              <a:rPr lang="en-US" altLang="ko-KR" sz="1300" dirty="0"/>
              <a:t>price control</a:t>
            </a:r>
            <a:r>
              <a:rPr lang="en-US" altLang="ko-KR" sz="1300" dirty="0" smtClean="0"/>
              <a:t>:</a:t>
            </a:r>
          </a:p>
          <a:p>
            <a:pPr>
              <a:lnSpc>
                <a:spcPct val="160000"/>
              </a:lnSpc>
            </a:pPr>
            <a:r>
              <a:rPr lang="ko-KR" altLang="en-US" sz="1300" dirty="0" err="1" smtClean="0"/>
              <a:t>가격상한제</a:t>
            </a:r>
            <a:r>
              <a:rPr lang="ko-KR" altLang="en-US" sz="1300" dirty="0" smtClean="0"/>
              <a:t> </a:t>
            </a:r>
            <a:r>
              <a:rPr lang="en-US" altLang="ko-KR" sz="1300" dirty="0"/>
              <a:t>price ceiling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합법적인 </a:t>
            </a:r>
            <a:r>
              <a:rPr lang="ko-KR" altLang="en-US" sz="1100" dirty="0"/>
              <a:t>최고 </a:t>
            </a:r>
            <a:r>
              <a:rPr lang="ko-KR" altLang="en-US" sz="1100" dirty="0" smtClean="0"/>
              <a:t>가격을 정부가 설정하는 일</a:t>
            </a:r>
            <a:r>
              <a:rPr lang="en-US" altLang="ko-KR" sz="1100" dirty="0" smtClean="0"/>
              <a:t>… </a:t>
            </a:r>
            <a:r>
              <a:rPr lang="ko-KR" altLang="en-US" sz="1100" dirty="0" smtClean="0"/>
              <a:t>만약 균형가격보다 </a:t>
            </a:r>
            <a:r>
              <a:rPr lang="ko-KR" altLang="en-US" sz="1100" dirty="0"/>
              <a:t>상한선이 </a:t>
            </a:r>
            <a:r>
              <a:rPr lang="ko-KR" altLang="en-US" sz="1100" dirty="0" smtClean="0"/>
              <a:t>높다면</a:t>
            </a:r>
            <a:r>
              <a:rPr lang="en-US" altLang="ko-KR" sz="1100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균형가격보다 상한선이 낮은 경우 시장에는 무슨 일이 발생하는가</a:t>
            </a:r>
            <a:r>
              <a:rPr lang="en-US" altLang="ko-KR" sz="1100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예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원룸시장에</a:t>
            </a:r>
            <a:r>
              <a:rPr lang="ko-KR" altLang="en-US" sz="1100" dirty="0" smtClean="0"/>
              <a:t> 임대료 </a:t>
            </a:r>
            <a:r>
              <a:rPr lang="ko-KR" altLang="en-US" sz="1100" dirty="0" err="1" smtClean="0"/>
              <a:t>상한법이</a:t>
            </a:r>
            <a:r>
              <a:rPr lang="ko-KR" altLang="en-US" sz="1100" dirty="0" smtClean="0"/>
              <a:t> 도입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시행되는 경우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가격상한제</a:t>
            </a:r>
            <a:r>
              <a:rPr lang="ko-KR" altLang="en-US" sz="1100" dirty="0" smtClean="0"/>
              <a:t> 하에서 공급부족은 </a:t>
            </a:r>
            <a:r>
              <a:rPr lang="ko-KR" altLang="en-US" sz="1100" dirty="0"/>
              <a:t>시간이 흐를 수록 더 </a:t>
            </a:r>
            <a:r>
              <a:rPr lang="ko-KR" altLang="en-US" sz="1100" dirty="0" smtClean="0"/>
              <a:t>커짐</a:t>
            </a:r>
            <a:r>
              <a:rPr lang="en-US" altLang="ko-KR" sz="11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sz="1300" dirty="0" err="1" smtClean="0"/>
              <a:t>가격통제로</a:t>
            </a:r>
            <a:r>
              <a:rPr lang="ko-KR" altLang="en-US" sz="1300" dirty="0" smtClean="0"/>
              <a:t> 공급부족이 생기는 경우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선착순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줄세우기</a:t>
            </a:r>
            <a:r>
              <a:rPr lang="ko-KR" altLang="en-US" sz="1300" dirty="0" smtClean="0"/>
              <a:t> 등이 발생함</a:t>
            </a:r>
            <a:r>
              <a:rPr lang="en-US" altLang="ko-KR" sz="13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불공정</a:t>
            </a:r>
            <a:r>
              <a:rPr lang="en-US" altLang="ko-KR" sz="1100" dirty="0"/>
              <a:t>(</a:t>
            </a:r>
            <a:r>
              <a:rPr lang="ko-KR" altLang="en-US" sz="1100" dirty="0"/>
              <a:t>판매자 마음대로 차별</a:t>
            </a:r>
            <a:r>
              <a:rPr lang="en-US" altLang="ko-KR" sz="1100" dirty="0"/>
              <a:t>), </a:t>
            </a:r>
            <a:r>
              <a:rPr lang="ko-KR" altLang="en-US" sz="1100" dirty="0"/>
              <a:t>비효율</a:t>
            </a:r>
            <a:r>
              <a:rPr lang="en-US" altLang="ko-KR" sz="1100" dirty="0"/>
              <a:t>(</a:t>
            </a:r>
            <a:r>
              <a:rPr lang="ko-KR" altLang="en-US" sz="1100" dirty="0"/>
              <a:t>줄서는 시간</a:t>
            </a:r>
            <a:r>
              <a:rPr lang="en-US" altLang="ko-KR" sz="1100" dirty="0"/>
              <a:t>, </a:t>
            </a:r>
            <a:r>
              <a:rPr lang="ko-KR" altLang="en-US" sz="1100" dirty="0"/>
              <a:t>노력 등</a:t>
            </a:r>
            <a:r>
              <a:rPr lang="en-US" altLang="ko-KR" sz="1100" dirty="0"/>
              <a:t>)</a:t>
            </a:r>
            <a:r>
              <a:rPr lang="ko-KR" altLang="en-US" sz="1100" dirty="0"/>
              <a:t>이 </a:t>
            </a:r>
            <a:r>
              <a:rPr lang="ko-KR" altLang="en-US" sz="1100" dirty="0" smtClean="0"/>
              <a:t>발생</a:t>
            </a:r>
            <a:r>
              <a:rPr lang="en-US" altLang="ko-KR" sz="1100" dirty="0" smtClean="0"/>
              <a:t>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암시장 </a:t>
            </a:r>
            <a:r>
              <a:rPr lang="en-US" altLang="ko-KR" sz="1100" dirty="0" smtClean="0"/>
              <a:t>black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market </a:t>
            </a:r>
            <a:r>
              <a:rPr lang="ko-KR" altLang="en-US" sz="1100" dirty="0" smtClean="0"/>
              <a:t>출현</a:t>
            </a:r>
            <a:r>
              <a:rPr lang="en-US" altLang="ko-KR" sz="1100" dirty="0" smtClean="0"/>
              <a:t> 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가격하한제 </a:t>
            </a:r>
            <a:r>
              <a:rPr lang="en-US" altLang="ko-KR" sz="1300" dirty="0"/>
              <a:t>price floor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합법적인 </a:t>
            </a:r>
            <a:r>
              <a:rPr lang="ko-KR" altLang="en-US" sz="1100" dirty="0"/>
              <a:t>최저 </a:t>
            </a:r>
            <a:r>
              <a:rPr lang="ko-KR" altLang="en-US" sz="1100" dirty="0" smtClean="0"/>
              <a:t>가격을 정부가 설정함</a:t>
            </a:r>
            <a:r>
              <a:rPr lang="en-US" altLang="ko-KR" sz="1100" dirty="0" smtClean="0"/>
              <a:t>…. </a:t>
            </a:r>
            <a:r>
              <a:rPr lang="ko-KR" altLang="en-US" sz="1100" dirty="0" smtClean="0"/>
              <a:t>균형가격보다 </a:t>
            </a:r>
            <a:r>
              <a:rPr lang="ko-KR" altLang="en-US" sz="1100" dirty="0"/>
              <a:t>하한선이 낮은 </a:t>
            </a:r>
            <a:r>
              <a:rPr lang="ko-KR" altLang="en-US" sz="1100" dirty="0" smtClean="0"/>
              <a:t>경우</a:t>
            </a:r>
            <a:r>
              <a:rPr lang="en-US" altLang="ko-KR" sz="1100" dirty="0" smtClean="0"/>
              <a:t>?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균형가격보다 </a:t>
            </a:r>
            <a:r>
              <a:rPr lang="ko-KR" altLang="en-US" sz="1100" dirty="0"/>
              <a:t>하한선이 높은 </a:t>
            </a:r>
            <a:r>
              <a:rPr lang="ko-KR" altLang="en-US" sz="1100" dirty="0" smtClean="0"/>
              <a:t>경우 시장에는 무슨 일이 벌어지는가</a:t>
            </a:r>
            <a:r>
              <a:rPr lang="en-US" altLang="ko-KR" sz="1100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예</a:t>
            </a:r>
            <a:r>
              <a:rPr lang="en-US" altLang="ko-KR" sz="1075" dirty="0" smtClean="0"/>
              <a:t>, </a:t>
            </a:r>
            <a:r>
              <a:rPr lang="ko-KR" altLang="en-US" sz="1075" dirty="0" smtClean="0"/>
              <a:t>미숙련노동에 대한 최저임금법 시행</a:t>
            </a:r>
            <a:endParaRPr lang="en-US" altLang="ko-KR" sz="1075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075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가격은 어떤 무작위적인 프로세스의 산물이 아님</a:t>
            </a:r>
            <a:r>
              <a:rPr lang="en-US" altLang="ko-KR" sz="1300" dirty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가난한 </a:t>
            </a:r>
            <a:r>
              <a:rPr lang="ko-KR" altLang="en-US" sz="1100" dirty="0"/>
              <a:t>사람을 도와주려는 정부의 개입이 그들에게 불리한 결과를 초래할 수도 있음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일방적인 </a:t>
            </a:r>
            <a:r>
              <a:rPr lang="ko-KR" altLang="en-US" sz="1100" dirty="0"/>
              <a:t>가격통제 보다 임대료나 임금에 대한 보조금</a:t>
            </a:r>
            <a:r>
              <a:rPr lang="en-US" altLang="ko-KR" sz="1100" dirty="0"/>
              <a:t>(subsidies</a:t>
            </a:r>
            <a:r>
              <a:rPr lang="en-US" altLang="ko-KR" sz="1100" dirty="0" smtClean="0"/>
              <a:t>)</a:t>
            </a:r>
            <a:r>
              <a:rPr lang="ko-KR" altLang="en-US" sz="1100" dirty="0" smtClean="0"/>
              <a:t>이 더 </a:t>
            </a:r>
            <a:r>
              <a:rPr lang="ko-KR" altLang="en-US" sz="1100" dirty="0" err="1" smtClean="0"/>
              <a:t>바람직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조세 </a:t>
            </a:r>
            <a:r>
              <a:rPr lang="en-US" altLang="ko-KR" sz="1300" dirty="0"/>
              <a:t>Taxes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정부는</a:t>
            </a:r>
            <a:r>
              <a:rPr lang="en-US" altLang="ko-KR" sz="1100" dirty="0"/>
              <a:t> </a:t>
            </a:r>
            <a:r>
              <a:rPr lang="ko-KR" altLang="en-US" sz="1100" dirty="0"/>
              <a:t>세금을 통해 공공프로젝트</a:t>
            </a:r>
            <a:r>
              <a:rPr lang="en-US" altLang="ko-KR" sz="1100" dirty="0"/>
              <a:t>(</a:t>
            </a:r>
            <a:r>
              <a:rPr lang="ko-KR" altLang="en-US" sz="1100" dirty="0"/>
              <a:t>도로</a:t>
            </a:r>
            <a:r>
              <a:rPr lang="en-US" altLang="ko-KR" sz="1100" dirty="0"/>
              <a:t>, </a:t>
            </a:r>
            <a:r>
              <a:rPr lang="ko-KR" altLang="en-US" sz="1100" dirty="0"/>
              <a:t>학교</a:t>
            </a:r>
            <a:r>
              <a:rPr lang="en-US" altLang="ko-KR" sz="1100" dirty="0"/>
              <a:t>, </a:t>
            </a:r>
            <a:r>
              <a:rPr lang="ko-KR" altLang="en-US" sz="1100" dirty="0"/>
              <a:t>국방 등</a:t>
            </a:r>
            <a:r>
              <a:rPr lang="en-US" altLang="ko-KR" sz="1100" dirty="0"/>
              <a:t>)</a:t>
            </a:r>
            <a:r>
              <a:rPr lang="ko-KR" altLang="en-US" sz="1100" dirty="0"/>
              <a:t>를 위한 자금을 마련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조세의 귀착 </a:t>
            </a:r>
            <a:r>
              <a:rPr lang="en-US" altLang="ko-KR" sz="1300" dirty="0"/>
              <a:t>Tax incidence: </a:t>
            </a:r>
            <a:r>
              <a:rPr lang="ko-KR" altLang="en-US" sz="1300" dirty="0"/>
              <a:t>정부가 </a:t>
            </a:r>
            <a:r>
              <a:rPr lang="ko-KR" altLang="en-US" sz="1300" dirty="0" err="1"/>
              <a:t>물품세</a:t>
            </a:r>
            <a:r>
              <a:rPr lang="en-US" altLang="ko-KR" sz="1300" dirty="0"/>
              <a:t>(</a:t>
            </a:r>
            <a:r>
              <a:rPr lang="ko-KR" altLang="en-US" sz="1300" dirty="0"/>
              <a:t>재화와 서비스의 매매 시 내는 세금</a:t>
            </a:r>
            <a:r>
              <a:rPr lang="en-US" altLang="ko-KR" sz="1300" dirty="0"/>
              <a:t>)</a:t>
            </a:r>
            <a:r>
              <a:rPr lang="ko-KR" altLang="en-US" sz="1300" dirty="0"/>
              <a:t>를 </a:t>
            </a:r>
            <a:r>
              <a:rPr lang="ko-KR" altLang="en-US" sz="1300" dirty="0" smtClean="0"/>
              <a:t>부과하면</a:t>
            </a:r>
            <a:r>
              <a:rPr lang="en-US" altLang="ko-KR" sz="1300" dirty="0" smtClean="0"/>
              <a:t> </a:t>
            </a:r>
            <a:r>
              <a:rPr lang="ko-KR" altLang="en-US" sz="1300" dirty="0"/>
              <a:t>누가</a:t>
            </a:r>
            <a:r>
              <a:rPr lang="en-US" altLang="ko-KR" sz="1300" dirty="0"/>
              <a:t>, </a:t>
            </a:r>
            <a:r>
              <a:rPr lang="ko-KR" altLang="en-US" sz="1300" dirty="0"/>
              <a:t>얼마만큼 </a:t>
            </a:r>
            <a:r>
              <a:rPr lang="ko-KR" altLang="en-US" sz="1300" dirty="0" smtClean="0"/>
              <a:t>부담하는가</a:t>
            </a:r>
            <a:r>
              <a:rPr lang="en-US" altLang="ko-KR" sz="1300" dirty="0"/>
              <a:t>? 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피자 </a:t>
            </a:r>
            <a:r>
              <a:rPr lang="en-US" altLang="ko-KR" sz="1300" dirty="0"/>
              <a:t>pizza</a:t>
            </a:r>
            <a:r>
              <a:rPr lang="ko-KR" altLang="en-US" sz="1300" dirty="0"/>
              <a:t> </a:t>
            </a:r>
            <a:r>
              <a:rPr lang="ko-KR" altLang="en-US" sz="1300" dirty="0" smtClean="0"/>
              <a:t>시장의 경우</a:t>
            </a:r>
            <a:endParaRPr lang="en-US" altLang="ko-KR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00" dirty="0" smtClean="0"/>
              <a:t>  </a:t>
            </a:r>
            <a:r>
              <a:rPr lang="ko-KR" altLang="ko-KR" sz="1300" dirty="0" smtClean="0"/>
              <a:t>①</a:t>
            </a:r>
            <a:r>
              <a:rPr lang="en-US" altLang="ko-KR" sz="1300" dirty="0" smtClean="0"/>
              <a:t> </a:t>
            </a:r>
            <a:r>
              <a:rPr lang="ko-KR" altLang="en-US" sz="1300" dirty="0"/>
              <a:t>구매자에게</a:t>
            </a:r>
            <a:r>
              <a:rPr lang="en-US" altLang="ko-KR" sz="1300" dirty="0"/>
              <a:t> </a:t>
            </a:r>
            <a:r>
              <a:rPr lang="ko-KR" altLang="en-US" sz="1300" dirty="0"/>
              <a:t>세금을 부과하는 경우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수요곡선이 </a:t>
            </a:r>
            <a:r>
              <a:rPr lang="ko-KR" altLang="en-US" sz="1100" dirty="0"/>
              <a:t>아래로 이동</a:t>
            </a:r>
            <a:r>
              <a:rPr lang="en-US" altLang="ko-KR" sz="1100" dirty="0"/>
              <a:t>(</a:t>
            </a:r>
            <a:r>
              <a:rPr lang="ko-KR" altLang="en-US" sz="1100" dirty="0"/>
              <a:t>세금만큼 소득이 감소한 것</a:t>
            </a:r>
            <a:r>
              <a:rPr lang="en-US" altLang="ko-KR" sz="1100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새로운 </a:t>
            </a:r>
            <a:r>
              <a:rPr lang="ko-KR" altLang="en-US" sz="1100" dirty="0"/>
              <a:t>균형점에서 구매자와 판매자가 주고받는 가격 결정</a:t>
            </a:r>
            <a:r>
              <a:rPr lang="en-US" altLang="ko-KR" sz="1100" dirty="0"/>
              <a:t>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구매자는 </a:t>
            </a:r>
            <a:r>
              <a:rPr lang="ko-KR" altLang="en-US" sz="1100" dirty="0"/>
              <a:t>별도의 세금을 정부에 납부하게 됨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구매자가 </a:t>
            </a:r>
            <a:r>
              <a:rPr lang="ko-KR" altLang="en-US" sz="1100" dirty="0"/>
              <a:t>최종 부담하는 가격 </a:t>
            </a:r>
            <a:r>
              <a:rPr lang="en-US" altLang="ko-KR" sz="1100" dirty="0"/>
              <a:t>P</a:t>
            </a:r>
            <a:r>
              <a:rPr lang="en-US" altLang="ko-KR" sz="1100" baseline="-25000" dirty="0"/>
              <a:t>B</a:t>
            </a:r>
            <a:r>
              <a:rPr lang="ko-KR" altLang="en-US" sz="1100" dirty="0"/>
              <a:t>와 판매자가 받는 최종 가격 </a:t>
            </a:r>
            <a:r>
              <a:rPr lang="en-US" altLang="ko-KR" sz="1100" dirty="0"/>
              <a:t>P</a:t>
            </a:r>
            <a:r>
              <a:rPr lang="en-US" altLang="ko-KR" sz="1100" baseline="-25000" dirty="0"/>
              <a:t>S</a:t>
            </a:r>
            <a:r>
              <a:rPr lang="ko-KR" altLang="en-US" sz="1100" dirty="0"/>
              <a:t>가 </a:t>
            </a:r>
            <a:r>
              <a:rPr lang="ko-KR" altLang="en-US" sz="1100" dirty="0" smtClean="0"/>
              <a:t>달라짐</a:t>
            </a:r>
            <a:r>
              <a:rPr lang="en-US" altLang="ko-KR" sz="1100" dirty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4"/>
            <a:ext cx="5915025" cy="10060306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ko-KR" sz="1300" dirty="0" smtClean="0"/>
              <a:t>  ② </a:t>
            </a:r>
            <a:r>
              <a:rPr lang="ko-KR" altLang="en-US" sz="1300" dirty="0"/>
              <a:t>판매자에게 세금을 부과하는 경우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정확히 </a:t>
            </a:r>
            <a:r>
              <a:rPr lang="ko-KR" altLang="en-US" sz="1075" dirty="0"/>
              <a:t>세금만큼 공급곡선이 위로 이동</a:t>
            </a:r>
            <a:r>
              <a:rPr lang="en-US" altLang="ko-KR" sz="1075" dirty="0"/>
              <a:t>(</a:t>
            </a:r>
            <a:r>
              <a:rPr lang="ko-KR" altLang="en-US" sz="1075" dirty="0"/>
              <a:t>세금만큼 판매자 비용이 증가한 것</a:t>
            </a:r>
            <a:r>
              <a:rPr lang="en-US" altLang="ko-KR" sz="1075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새로운 </a:t>
            </a:r>
            <a:r>
              <a:rPr lang="ko-KR" altLang="en-US" sz="1075" dirty="0"/>
              <a:t>균형점에서 </a:t>
            </a:r>
            <a:r>
              <a:rPr lang="ko-KR" altLang="en-US" sz="1075" dirty="0" err="1"/>
              <a:t>균형가격</a:t>
            </a:r>
            <a:r>
              <a:rPr lang="ko-KR" altLang="en-US" sz="1075" dirty="0"/>
              <a:t> </a:t>
            </a:r>
            <a:r>
              <a:rPr lang="ko-KR" altLang="en-US" sz="1075" dirty="0" smtClean="0"/>
              <a:t>결정</a:t>
            </a:r>
            <a:endParaRPr lang="en-US" altLang="ko-KR" sz="1075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err="1" smtClean="0"/>
              <a:t>판매자는</a:t>
            </a:r>
            <a:r>
              <a:rPr lang="ko-KR" altLang="en-US" sz="1075" dirty="0" smtClean="0"/>
              <a:t> </a:t>
            </a:r>
            <a:r>
              <a:rPr lang="ko-KR" altLang="en-US" sz="1075" dirty="0"/>
              <a:t>별도의 세금을 정부에 </a:t>
            </a:r>
            <a:r>
              <a:rPr lang="ko-KR" altLang="en-US" sz="1075" dirty="0" smtClean="0"/>
              <a:t>납부</a:t>
            </a:r>
            <a:endParaRPr lang="en-US" altLang="ko-KR" sz="1075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050" dirty="0" smtClean="0"/>
              <a:t>P</a:t>
            </a:r>
            <a:r>
              <a:rPr lang="en-US" altLang="ko-KR" sz="1050" baseline="-25000" dirty="0" smtClean="0"/>
              <a:t>B</a:t>
            </a:r>
            <a:r>
              <a:rPr lang="ko-KR" altLang="en-US" sz="1050" dirty="0"/>
              <a:t>와 </a:t>
            </a:r>
            <a:r>
              <a:rPr lang="en-US" altLang="ko-KR" sz="1050" dirty="0"/>
              <a:t>P</a:t>
            </a:r>
            <a:r>
              <a:rPr lang="en-US" altLang="ko-KR" sz="1050" baseline="-25000" dirty="0"/>
              <a:t>S</a:t>
            </a:r>
            <a:r>
              <a:rPr lang="ko-KR" altLang="en-US" sz="1050" dirty="0"/>
              <a:t>가 서로 달라짐</a:t>
            </a:r>
            <a:r>
              <a:rPr lang="en-US" altLang="ko-KR" sz="105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05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두 경우 모두 결과는 동일함</a:t>
            </a:r>
            <a:r>
              <a:rPr lang="en-US" altLang="ko-KR" sz="13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가격 </a:t>
            </a:r>
            <a:r>
              <a:rPr lang="en-US" altLang="ko-KR" sz="1075" dirty="0"/>
              <a:t>P</a:t>
            </a:r>
            <a:r>
              <a:rPr lang="ko-KR" altLang="en-US" sz="1075" dirty="0"/>
              <a:t>와 물량 </a:t>
            </a:r>
            <a:r>
              <a:rPr lang="en-US" altLang="ko-KR" sz="1075" dirty="0"/>
              <a:t>Q</a:t>
            </a:r>
            <a:r>
              <a:rPr lang="ko-KR" altLang="en-US" sz="1075" dirty="0"/>
              <a:t>에 대한 효과</a:t>
            </a:r>
            <a:r>
              <a:rPr lang="en-US" altLang="ko-KR" sz="1075" dirty="0"/>
              <a:t>, </a:t>
            </a:r>
            <a:r>
              <a:rPr lang="ko-KR" altLang="en-US" sz="1075" dirty="0"/>
              <a:t>그리고 </a:t>
            </a:r>
            <a:r>
              <a:rPr lang="ko-KR" altLang="en-US" sz="1075" dirty="0" err="1"/>
              <a:t>조세귀착은</a:t>
            </a:r>
            <a:r>
              <a:rPr lang="ko-KR" altLang="en-US" sz="1075" dirty="0"/>
              <a:t> 세금이 구매자 또는 판매자 어느 쪽에 부과되든 동일함</a:t>
            </a:r>
            <a:r>
              <a:rPr lang="en-US" altLang="ko-KR" sz="1075" dirty="0"/>
              <a:t>. </a:t>
            </a:r>
            <a:endParaRPr lang="en-US" altLang="ko-KR" sz="1075" dirty="0" smtClean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탄력성과 </a:t>
            </a:r>
            <a:r>
              <a:rPr lang="ko-KR" altLang="en-US" sz="1300" dirty="0" smtClean="0"/>
              <a:t>조세의 </a:t>
            </a:r>
            <a:r>
              <a:rPr lang="ko-KR" altLang="en-US" sz="1300" dirty="0"/>
              <a:t>귀착</a:t>
            </a:r>
            <a:endParaRPr lang="en-US" altLang="ko-KR" sz="1300" dirty="0"/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dirty="0" smtClean="0"/>
              <a:t>  ① </a:t>
            </a:r>
            <a:r>
              <a:rPr lang="ko-KR" altLang="en-US" sz="1300" dirty="0"/>
              <a:t>공급이 수요보다 더 탄력적인 경우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err="1" smtClean="0"/>
              <a:t>판매자들이</a:t>
            </a:r>
            <a:r>
              <a:rPr lang="ko-KR" altLang="en-US" sz="1075" dirty="0" smtClean="0"/>
              <a:t> </a:t>
            </a:r>
            <a:r>
              <a:rPr lang="ko-KR" altLang="en-US" sz="1075" dirty="0"/>
              <a:t>구매자들에 비해 시장을 떠나기가 쉽다는 것을 의미</a:t>
            </a:r>
            <a:r>
              <a:rPr lang="en-US" altLang="ko-KR" sz="1075" dirty="0"/>
              <a:t> </a:t>
            </a:r>
            <a:endParaRPr lang="en-US" altLang="ko-KR" sz="1075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구매자들이 </a:t>
            </a:r>
            <a:r>
              <a:rPr lang="ko-KR" altLang="en-US" sz="1075" dirty="0"/>
              <a:t>세금의 더 많은 부분을 감내하게 됨</a:t>
            </a:r>
            <a:r>
              <a:rPr lang="en-US" altLang="ko-KR" sz="1075" dirty="0"/>
              <a:t>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dirty="0" smtClean="0"/>
              <a:t>  ② </a:t>
            </a:r>
            <a:r>
              <a:rPr lang="ko-KR" altLang="en-US" sz="1300" dirty="0"/>
              <a:t>수요가 공급보다 더 탄력적인 경우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구매자들이 </a:t>
            </a:r>
            <a:r>
              <a:rPr lang="ko-KR" altLang="en-US" sz="1075" dirty="0" err="1"/>
              <a:t>판매자들에</a:t>
            </a:r>
            <a:r>
              <a:rPr lang="ko-KR" altLang="en-US" sz="1075" dirty="0"/>
              <a:t> 비해 시장을 떠나기가 더 쉬움</a:t>
            </a:r>
            <a:r>
              <a:rPr lang="en-US" altLang="ko-KR" sz="1075" dirty="0"/>
              <a:t>. </a:t>
            </a:r>
            <a:endParaRPr lang="en-US" altLang="ko-KR" sz="1075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err="1" smtClean="0"/>
              <a:t>판매자들이</a:t>
            </a:r>
            <a:r>
              <a:rPr lang="ko-KR" altLang="en-US" sz="1075" dirty="0" smtClean="0"/>
              <a:t> </a:t>
            </a:r>
            <a:r>
              <a:rPr lang="ko-KR" altLang="en-US" sz="1075" dirty="0" err="1"/>
              <a:t>세금부담의</a:t>
            </a:r>
            <a:r>
              <a:rPr lang="ko-KR" altLang="en-US" sz="1075" dirty="0"/>
              <a:t> 더 많은 부분을 감당하게 됨</a:t>
            </a:r>
            <a:r>
              <a:rPr lang="en-US" altLang="ko-KR" sz="1075" dirty="0"/>
              <a:t>. </a:t>
            </a:r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1990</a:t>
            </a:r>
            <a:r>
              <a:rPr lang="ko-KR" altLang="en-US" sz="1300" dirty="0"/>
              <a:t>년 미국의</a:t>
            </a:r>
            <a:r>
              <a:rPr lang="en-US" altLang="ko-KR" sz="1300" dirty="0"/>
              <a:t> </a:t>
            </a:r>
            <a:r>
              <a:rPr lang="ko-KR" altLang="en-US" sz="1300" dirty="0" err="1"/>
              <a:t>사치세</a:t>
            </a:r>
            <a:r>
              <a:rPr lang="ko-KR" altLang="en-US" sz="1300" dirty="0"/>
              <a:t> </a:t>
            </a:r>
            <a:r>
              <a:rPr lang="en-US" altLang="ko-KR" sz="1300" dirty="0"/>
              <a:t>Luxury tax </a:t>
            </a:r>
            <a:r>
              <a:rPr lang="ko-KR" altLang="en-US" sz="1300" dirty="0"/>
              <a:t>도입 사례</a:t>
            </a: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endParaRPr lang="ko-KR" altLang="en-US" sz="11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361</Words>
  <Application>Microsoft Office PowerPoint</Application>
  <PresentationFormat>와이드스크린</PresentationFormat>
  <Paragraphs>52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6장 수요, 공급과 정부정책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mainlibinfo11</cp:lastModifiedBy>
  <cp:revision>57</cp:revision>
  <dcterms:created xsi:type="dcterms:W3CDTF">2021-06-28T02:08:57Z</dcterms:created>
  <dcterms:modified xsi:type="dcterms:W3CDTF">2023-03-13T05:18:24Z</dcterms:modified>
</cp:coreProperties>
</file>