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31" r:id="rId1"/>
  </p:sldMasterIdLst>
  <p:notesMasterIdLst>
    <p:notesMasterId r:id="rId4"/>
  </p:notesMasterIdLst>
  <p:sldIdLst>
    <p:sldId id="257" r:id="rId2"/>
    <p:sldId id="258" r:id="rId3"/>
  </p:sldIdLst>
  <p:sldSz cx="6858000" cy="12192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6" d="100"/>
          <a:sy n="66" d="100"/>
        </p:scale>
        <p:origin x="335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3ACC92-CB11-4036-ADF7-E0BC6A6A1264}" type="datetimeFigureOut">
              <a:rPr lang="ko-KR" altLang="en-US" smtClean="0"/>
              <a:t>2023-02-27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EE10A1-D3FC-451D-B227-50AB5FD54F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385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68940-2C76-495C-8FB7-F4A9D28239AA}" type="datetime1">
              <a:rPr lang="ko-KR" altLang="en-US" smtClean="0"/>
              <a:t>2023-02-27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4845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3A891-E498-4678-8D06-486FCC2BADEF}" type="datetime1">
              <a:rPr lang="ko-KR" altLang="en-US" smtClean="0"/>
              <a:t>2023-02-27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678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7916" y="3039535"/>
            <a:ext cx="5915025" cy="5071532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67916" y="8159046"/>
            <a:ext cx="5915025" cy="266699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4FA93-A02B-42D6-A8B3-8681C853C7B8}" type="datetime1">
              <a:rPr lang="ko-KR" altLang="en-US" smtClean="0"/>
              <a:t>2023-02-27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947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91E48-2200-4646-B2AF-8A65E8AA4025}" type="datetime1">
              <a:rPr lang="ko-KR" altLang="en-US" smtClean="0"/>
              <a:t>2023-02-27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456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649112"/>
            <a:ext cx="5915025" cy="235655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F0A6E-CDCA-463B-AB9C-2AD65F7DC7CE}" type="datetime1">
              <a:rPr lang="ko-KR" altLang="en-US" smtClean="0"/>
              <a:t>2023-02-27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9918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2F37D-F6B4-429A-93F0-670EB34C6EF1}" type="datetime1">
              <a:rPr lang="ko-KR" altLang="en-US" smtClean="0"/>
              <a:t>2023-02-27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359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75B21-6647-4787-AAB5-A8BA543A8A03}" type="datetime1">
              <a:rPr lang="ko-KR" altLang="en-US" smtClean="0"/>
              <a:t>2023-02-27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135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F1AC2-CEA2-4AD0-9EED-9798843472E1}" type="datetime1">
              <a:rPr lang="ko-KR" altLang="en-US" smtClean="0"/>
              <a:t>2023-02-27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768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37C7C-8297-41A4-AED2-93F81127B44B}" type="datetime1">
              <a:rPr lang="ko-KR" altLang="en-US" smtClean="0"/>
              <a:t>2023-02-27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451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448E2-EAB7-4DB0-B809-DCB379E8731B}" type="datetime1">
              <a:rPr lang="ko-KR" altLang="en-US" smtClean="0"/>
              <a:t>2023-02-27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11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03C7-C7FA-46F0-BB19-A2462D02B89C}" type="datetime1">
              <a:rPr lang="ko-KR" altLang="en-US" smtClean="0"/>
              <a:t>2023-02-27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099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6E84B-CCB9-4E10-8C0E-8C6664F6450B}" type="datetime1">
              <a:rPr lang="ko-KR" altLang="en-US" smtClean="0"/>
              <a:t>2023-02-27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197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2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hf hdr="0" ftr="0" dt="0"/>
  <p:txStyles>
    <p:titleStyle>
      <a:lvl1pPr algn="l" defTabSz="514350" rtl="0" eaLnBrk="1" latinLnBrk="1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1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114920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1</a:t>
            </a:r>
            <a:r>
              <a:rPr lang="ko-KR" altLang="en-US" dirty="0"/>
              <a:t>장 경제학의 </a:t>
            </a:r>
            <a:r>
              <a:rPr lang="en-US" altLang="ko-KR" dirty="0"/>
              <a:t>10</a:t>
            </a:r>
            <a:r>
              <a:rPr lang="ko-KR" altLang="en-US" dirty="0"/>
              <a:t>대 기본원리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1488" y="1798320"/>
            <a:ext cx="5915025" cy="9182948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ko-KR" altLang="en-US" sz="1300" dirty="0"/>
              <a:t>경제학의 출발점은 </a:t>
            </a:r>
            <a:r>
              <a:rPr lang="en-US" altLang="ko-KR" sz="1300" dirty="0"/>
              <a:t>‘</a:t>
            </a:r>
            <a:r>
              <a:rPr lang="ko-KR" altLang="en-US" sz="1300" dirty="0"/>
              <a:t>희소성 </a:t>
            </a:r>
            <a:r>
              <a:rPr lang="en-US" altLang="ko-KR" sz="1300" dirty="0"/>
              <a:t>scarcity’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경제학</a:t>
            </a:r>
            <a:r>
              <a:rPr lang="en-US" altLang="ko-KR" sz="1100" dirty="0" smtClean="0"/>
              <a:t> </a:t>
            </a:r>
            <a:r>
              <a:rPr lang="en-US" altLang="ko-KR" sz="1100" dirty="0"/>
              <a:t>Economics</a:t>
            </a:r>
            <a:r>
              <a:rPr lang="ko-KR" altLang="en-US" sz="1100" dirty="0"/>
              <a:t>은 사회의</a:t>
            </a:r>
            <a:r>
              <a:rPr lang="en-US" altLang="ko-KR" sz="1100" dirty="0"/>
              <a:t> </a:t>
            </a:r>
            <a:r>
              <a:rPr lang="ko-KR" altLang="en-US" sz="1100" dirty="0"/>
              <a:t>희소한 자원을 관리하는 방법을 연구하는 </a:t>
            </a:r>
            <a:r>
              <a:rPr lang="ko-KR" altLang="en-US" sz="1100" dirty="0" smtClean="0"/>
              <a:t>학문</a:t>
            </a:r>
            <a:endParaRPr lang="en-US" altLang="ko-KR" sz="1100" dirty="0" smtClean="0"/>
          </a:p>
          <a:p>
            <a:pPr lvl="1">
              <a:lnSpc>
                <a:spcPct val="160000"/>
              </a:lnSpc>
              <a:buFontTx/>
              <a:buChar char="-"/>
            </a:pPr>
            <a:endParaRPr lang="en-US" altLang="ko-KR" sz="1100" dirty="0"/>
          </a:p>
          <a:p>
            <a:pPr>
              <a:lnSpc>
                <a:spcPct val="160000"/>
              </a:lnSpc>
            </a:pPr>
            <a:r>
              <a:rPr lang="ko-KR" altLang="en-US" sz="1300" dirty="0" smtClean="0"/>
              <a:t>사람과 </a:t>
            </a:r>
            <a:r>
              <a:rPr lang="ko-KR" altLang="en-US" sz="1300" dirty="0"/>
              <a:t>기업</a:t>
            </a:r>
            <a:r>
              <a:rPr lang="en-US" altLang="ko-KR" sz="1300" dirty="0"/>
              <a:t>, </a:t>
            </a:r>
            <a:r>
              <a:rPr lang="ko-KR" altLang="en-US" sz="1300" dirty="0"/>
              <a:t>그리고 </a:t>
            </a:r>
            <a:r>
              <a:rPr lang="ko-KR" altLang="en-US" sz="1300" dirty="0" smtClean="0"/>
              <a:t>사회의 </a:t>
            </a:r>
            <a:r>
              <a:rPr lang="ko-KR" altLang="en-US" sz="1300" dirty="0"/>
              <a:t>경제행동을 연구</a:t>
            </a:r>
            <a:endParaRPr lang="en-US" altLang="ko-KR" sz="1300" dirty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개인</a:t>
            </a:r>
            <a:r>
              <a:rPr lang="en-US" altLang="ko-KR" sz="1100" dirty="0"/>
              <a:t>: </a:t>
            </a:r>
            <a:r>
              <a:rPr lang="ko-KR" altLang="en-US" sz="1100" dirty="0"/>
              <a:t>무엇을 살 것인지</a:t>
            </a:r>
            <a:r>
              <a:rPr lang="en-US" altLang="ko-KR" sz="1100" dirty="0"/>
              <a:t>, </a:t>
            </a:r>
            <a:r>
              <a:rPr lang="ko-KR" altLang="en-US" sz="1100" dirty="0"/>
              <a:t>얼마나 일하고</a:t>
            </a:r>
            <a:r>
              <a:rPr lang="en-US" altLang="ko-KR" sz="1100" dirty="0"/>
              <a:t>, </a:t>
            </a:r>
            <a:r>
              <a:rPr lang="ko-KR" altLang="en-US" sz="1100" dirty="0"/>
              <a:t>저축하고</a:t>
            </a:r>
            <a:r>
              <a:rPr lang="en-US" altLang="ko-KR" sz="1100" dirty="0"/>
              <a:t>, </a:t>
            </a:r>
            <a:r>
              <a:rPr lang="ko-KR" altLang="en-US" sz="1100" dirty="0"/>
              <a:t>지출할 것인지를 어떻게 결정하나</a:t>
            </a:r>
            <a:r>
              <a:rPr lang="en-US" altLang="ko-KR" sz="1100" dirty="0" smtClean="0"/>
              <a:t>?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기업</a:t>
            </a:r>
            <a:r>
              <a:rPr lang="en-US" altLang="ko-KR" sz="1100" dirty="0"/>
              <a:t>: </a:t>
            </a:r>
            <a:r>
              <a:rPr lang="ko-KR" altLang="en-US" sz="1100" dirty="0"/>
              <a:t>무엇을 얼마나 생산하고</a:t>
            </a:r>
            <a:r>
              <a:rPr lang="en-US" altLang="ko-KR" sz="1100" dirty="0"/>
              <a:t>, </a:t>
            </a:r>
            <a:r>
              <a:rPr lang="ko-KR" altLang="en-US" sz="1100" dirty="0"/>
              <a:t>노동자들을 몇 명이나 고용할 것인지 어떻게 결정하나</a:t>
            </a:r>
            <a:r>
              <a:rPr lang="en-US" altLang="ko-KR" sz="1100" dirty="0"/>
              <a:t>? </a:t>
            </a:r>
            <a:r>
              <a:rPr lang="ko-KR" altLang="en-US" sz="1100" dirty="0"/>
              <a:t> </a:t>
            </a:r>
            <a:endParaRPr lang="en-US" altLang="ko-KR" sz="1100" dirty="0" smtClean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사회</a:t>
            </a:r>
            <a:r>
              <a:rPr lang="en-US" altLang="ko-KR" sz="1100" dirty="0"/>
              <a:t>: </a:t>
            </a:r>
            <a:r>
              <a:rPr lang="ko-KR" altLang="en-US" sz="1100" dirty="0"/>
              <a:t>제한된 자원을 국방</a:t>
            </a:r>
            <a:r>
              <a:rPr lang="en-US" altLang="ko-KR" sz="1100" dirty="0"/>
              <a:t>, </a:t>
            </a:r>
            <a:r>
              <a:rPr lang="ko-KR" altLang="en-US" sz="1100" dirty="0"/>
              <a:t>환경보호</a:t>
            </a:r>
            <a:r>
              <a:rPr lang="en-US" altLang="ko-KR" sz="1100" dirty="0"/>
              <a:t>, </a:t>
            </a:r>
            <a:r>
              <a:rPr lang="ko-KR" altLang="en-US" sz="1100" dirty="0"/>
              <a:t>교육</a:t>
            </a:r>
            <a:r>
              <a:rPr lang="en-US" altLang="ko-KR" sz="1100" dirty="0"/>
              <a:t>, </a:t>
            </a:r>
            <a:r>
              <a:rPr lang="ko-KR" altLang="en-US" sz="1100" dirty="0"/>
              <a:t>보건위생 등 필요한 일에 어떻게 배분하나</a:t>
            </a:r>
            <a:r>
              <a:rPr lang="en-US" altLang="ko-KR" sz="1100" dirty="0"/>
              <a:t>? </a:t>
            </a:r>
            <a:endParaRPr lang="en-US" altLang="ko-KR" sz="1100" dirty="0" smtClean="0"/>
          </a:p>
          <a:p>
            <a:pPr lvl="1">
              <a:lnSpc>
                <a:spcPct val="160000"/>
              </a:lnSpc>
              <a:buFontTx/>
              <a:buChar char="-"/>
            </a:pPr>
            <a:endParaRPr lang="en-US" altLang="ko-KR" sz="1100" dirty="0"/>
          </a:p>
          <a:p>
            <a:pPr>
              <a:lnSpc>
                <a:spcPct val="160000"/>
              </a:lnSpc>
            </a:pPr>
            <a:r>
              <a:rPr lang="ko-KR" altLang="en-US" sz="1300" dirty="0"/>
              <a:t>기본원리 </a:t>
            </a:r>
            <a:r>
              <a:rPr lang="en-US" altLang="ko-KR" sz="1300" dirty="0"/>
              <a:t>1: </a:t>
            </a:r>
            <a:r>
              <a:rPr lang="ko-KR" altLang="en-US" sz="1300" dirty="0"/>
              <a:t>모든 선택에는 대가가 있다</a:t>
            </a:r>
            <a:r>
              <a:rPr lang="en-US" altLang="ko-KR" sz="1300" dirty="0"/>
              <a:t>.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좋아하는 </a:t>
            </a:r>
            <a:r>
              <a:rPr lang="ko-KR" altLang="en-US" sz="1100" dirty="0"/>
              <a:t>무언가를 얻기 위해</a:t>
            </a:r>
            <a:r>
              <a:rPr lang="en-US" altLang="ko-KR" sz="1100" dirty="0"/>
              <a:t>, </a:t>
            </a:r>
            <a:r>
              <a:rPr lang="ko-KR" altLang="en-US" sz="1100" dirty="0"/>
              <a:t>우리는 좋아하는 또다른 무언가를 포기해야만 함</a:t>
            </a:r>
            <a:r>
              <a:rPr lang="en-US" altLang="ko-KR" sz="1100" dirty="0"/>
              <a:t>. </a:t>
            </a:r>
            <a:endParaRPr lang="en-US" altLang="ko-KR" sz="1100" dirty="0" smtClean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세상에 </a:t>
            </a:r>
            <a:r>
              <a:rPr lang="ko-KR" altLang="en-US" sz="1100" dirty="0"/>
              <a:t>공짜 점심 </a:t>
            </a:r>
            <a:r>
              <a:rPr lang="ko-KR" altLang="en-US" sz="1100" dirty="0" smtClean="0"/>
              <a:t>없다</a:t>
            </a:r>
            <a:endParaRPr lang="en-US" altLang="ko-KR" sz="1100" dirty="0" smtClean="0"/>
          </a:p>
          <a:p>
            <a:pPr lvl="1">
              <a:lnSpc>
                <a:spcPct val="160000"/>
              </a:lnSpc>
              <a:buFontTx/>
              <a:buChar char="-"/>
            </a:pPr>
            <a:endParaRPr lang="en-US" altLang="ko-KR" sz="1300" dirty="0" smtClean="0"/>
          </a:p>
          <a:p>
            <a:pPr>
              <a:lnSpc>
                <a:spcPct val="160000"/>
              </a:lnSpc>
            </a:pPr>
            <a:r>
              <a:rPr lang="ko-KR" altLang="en-US" sz="1300" dirty="0" smtClean="0"/>
              <a:t>기본원리 </a:t>
            </a:r>
            <a:r>
              <a:rPr lang="en-US" altLang="ko-KR" sz="1300" dirty="0"/>
              <a:t>2: </a:t>
            </a:r>
            <a:r>
              <a:rPr lang="ko-KR" altLang="en-US" sz="1300" dirty="0"/>
              <a:t>선택의 대가는 그것을 얻기 위해 포기한 그 무엇이다</a:t>
            </a:r>
            <a:r>
              <a:rPr lang="en-US" altLang="ko-KR" sz="1300" dirty="0"/>
              <a:t>. 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합리적 </a:t>
            </a:r>
            <a:r>
              <a:rPr lang="ko-KR" altLang="en-US" sz="1100" dirty="0"/>
              <a:t>선택을 위해 우리는 </a:t>
            </a:r>
            <a:r>
              <a:rPr lang="en-US" altLang="ko-KR" sz="1100" dirty="0"/>
              <a:t>‘</a:t>
            </a:r>
            <a:r>
              <a:rPr lang="ko-KR" altLang="en-US" sz="1100" dirty="0"/>
              <a:t>이득</a:t>
            </a:r>
            <a:r>
              <a:rPr lang="en-US" altLang="ko-KR" sz="1100" dirty="0"/>
              <a:t>’</a:t>
            </a:r>
            <a:r>
              <a:rPr lang="ko-KR" altLang="en-US" sz="1100" dirty="0"/>
              <a:t>과 </a:t>
            </a:r>
            <a:r>
              <a:rPr lang="en-US" altLang="ko-KR" sz="1100" dirty="0"/>
              <a:t>‘</a:t>
            </a:r>
            <a:r>
              <a:rPr lang="ko-KR" altLang="en-US" sz="1100" dirty="0"/>
              <a:t>비용</a:t>
            </a:r>
            <a:r>
              <a:rPr lang="en-US" altLang="ko-KR" sz="1100" dirty="0"/>
              <a:t>’</a:t>
            </a:r>
            <a:r>
              <a:rPr lang="ko-KR" altLang="en-US" sz="1100" dirty="0"/>
              <a:t>을 </a:t>
            </a:r>
            <a:r>
              <a:rPr lang="ko-KR" altLang="en-US" sz="1100" dirty="0" smtClean="0"/>
              <a:t>비교</a:t>
            </a:r>
            <a:endParaRPr lang="en-US" altLang="ko-KR" sz="1100" dirty="0" smtClean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기회비용</a:t>
            </a:r>
            <a:r>
              <a:rPr lang="en-US" altLang="ko-KR" sz="1100" dirty="0"/>
              <a:t>(opportunity</a:t>
            </a:r>
            <a:r>
              <a:rPr lang="ko-KR" altLang="en-US" sz="1100" dirty="0"/>
              <a:t> </a:t>
            </a:r>
            <a:r>
              <a:rPr lang="en-US" altLang="ko-KR" sz="1100" dirty="0"/>
              <a:t>cost)</a:t>
            </a:r>
            <a:r>
              <a:rPr lang="ko-KR" altLang="en-US" sz="1100" dirty="0"/>
              <a:t>을 기준으로 삼아야 함</a:t>
            </a:r>
            <a:r>
              <a:rPr lang="en-US" altLang="ko-KR" sz="1100" dirty="0" smtClean="0"/>
              <a:t>.</a:t>
            </a:r>
            <a:endParaRPr lang="en-US" altLang="ko-KR" sz="1100" dirty="0"/>
          </a:p>
          <a:p>
            <a:pPr>
              <a:lnSpc>
                <a:spcPct val="160000"/>
              </a:lnSpc>
            </a:pPr>
            <a:endParaRPr lang="en-US" altLang="ko-KR" sz="1300" dirty="0" smtClean="0"/>
          </a:p>
          <a:p>
            <a:pPr>
              <a:lnSpc>
                <a:spcPct val="160000"/>
              </a:lnSpc>
            </a:pPr>
            <a:r>
              <a:rPr lang="ko-KR" altLang="en-US" sz="1300" dirty="0" smtClean="0"/>
              <a:t>기본원리 </a:t>
            </a:r>
            <a:r>
              <a:rPr lang="en-US" altLang="ko-KR" sz="1300" dirty="0"/>
              <a:t>3: </a:t>
            </a:r>
            <a:r>
              <a:rPr lang="ko-KR" altLang="en-US" sz="1300" dirty="0"/>
              <a:t>합리적 판단은 한계적으로 이루어진다</a:t>
            </a:r>
            <a:r>
              <a:rPr lang="en-US" altLang="ko-KR" sz="1300" dirty="0"/>
              <a:t>.  </a:t>
            </a:r>
          </a:p>
          <a:p>
            <a:pPr marL="257175" lvl="1" indent="0">
              <a:lnSpc>
                <a:spcPct val="160000"/>
              </a:lnSpc>
              <a:buNone/>
            </a:pPr>
            <a:r>
              <a:rPr lang="en-US" altLang="ko-KR" sz="1100" dirty="0" smtClean="0"/>
              <a:t>- ‘</a:t>
            </a:r>
            <a:r>
              <a:rPr lang="ko-KR" altLang="en-US" sz="1100" dirty="0"/>
              <a:t>한계적 변화 </a:t>
            </a:r>
            <a:r>
              <a:rPr lang="en-US" altLang="ko-KR" sz="1100" dirty="0"/>
              <a:t>marginal change’</a:t>
            </a:r>
            <a:r>
              <a:rPr lang="ko-KR" altLang="en-US" sz="1100" dirty="0"/>
              <a:t>에 따른 비용과 이득을 평가해 의사결정을 내림</a:t>
            </a:r>
            <a:r>
              <a:rPr lang="en-US" altLang="ko-KR" sz="1100" dirty="0"/>
              <a:t>. </a:t>
            </a:r>
            <a:endParaRPr lang="en-US" altLang="ko-KR" sz="1100" dirty="0" smtClean="0"/>
          </a:p>
          <a:p>
            <a:pPr>
              <a:lnSpc>
                <a:spcPct val="160000"/>
              </a:lnSpc>
            </a:pPr>
            <a:endParaRPr lang="en-US" altLang="ko-KR" sz="1300" dirty="0" smtClean="0"/>
          </a:p>
          <a:p>
            <a:pPr>
              <a:lnSpc>
                <a:spcPct val="160000"/>
              </a:lnSpc>
            </a:pPr>
            <a:r>
              <a:rPr lang="ko-KR" altLang="en-US" sz="1300" dirty="0" smtClean="0"/>
              <a:t>기본원리 </a:t>
            </a:r>
            <a:r>
              <a:rPr lang="en-US" altLang="ko-KR" sz="1300" dirty="0"/>
              <a:t>4: </a:t>
            </a:r>
            <a:r>
              <a:rPr lang="ko-KR" altLang="en-US" sz="1300" dirty="0"/>
              <a:t>사람들은 경제적 유인 </a:t>
            </a:r>
            <a:r>
              <a:rPr lang="en-US" altLang="ko-KR" sz="1300" dirty="0" err="1"/>
              <a:t>incnetives</a:t>
            </a:r>
            <a:r>
              <a:rPr lang="ko-KR" altLang="en-US" sz="1300" dirty="0"/>
              <a:t>에 반응한다</a:t>
            </a:r>
            <a:r>
              <a:rPr lang="en-US" altLang="ko-KR" sz="1300" dirty="0"/>
              <a:t>. </a:t>
            </a:r>
          </a:p>
          <a:p>
            <a:pPr marL="257175" lvl="1" indent="0">
              <a:lnSpc>
                <a:spcPct val="160000"/>
              </a:lnSpc>
              <a:buNone/>
            </a:pPr>
            <a:r>
              <a:rPr lang="en-US" altLang="ko-KR" sz="1100" dirty="0" smtClean="0"/>
              <a:t>- </a:t>
            </a:r>
            <a:r>
              <a:rPr lang="ko-KR" altLang="en-US" sz="1100" dirty="0" smtClean="0"/>
              <a:t>유인</a:t>
            </a:r>
            <a:r>
              <a:rPr lang="en-US" altLang="ko-KR" sz="1100" dirty="0"/>
              <a:t>: </a:t>
            </a:r>
            <a:r>
              <a:rPr lang="ko-KR" altLang="en-US" sz="1100" dirty="0"/>
              <a:t>어떤 사람으로 하여금 특정 행동을 하도록 만드는 그 </a:t>
            </a:r>
            <a:r>
              <a:rPr lang="ko-KR" altLang="en-US" sz="1100" dirty="0" smtClean="0"/>
              <a:t>무엇</a:t>
            </a:r>
            <a:endParaRPr lang="en-US" altLang="ko-KR" sz="1100" dirty="0"/>
          </a:p>
          <a:p>
            <a:pPr>
              <a:lnSpc>
                <a:spcPct val="160000"/>
              </a:lnSpc>
            </a:pPr>
            <a:endParaRPr lang="en-US" altLang="ko-KR" sz="1300" dirty="0" smtClean="0"/>
          </a:p>
          <a:p>
            <a:pPr>
              <a:lnSpc>
                <a:spcPct val="160000"/>
              </a:lnSpc>
            </a:pPr>
            <a:r>
              <a:rPr lang="ko-KR" altLang="en-US" sz="1300" dirty="0" smtClean="0"/>
              <a:t>이상의 </a:t>
            </a:r>
            <a:r>
              <a:rPr lang="ko-KR" altLang="en-US" sz="1300" dirty="0"/>
              <a:t>기본원리 </a:t>
            </a:r>
            <a:r>
              <a:rPr lang="en-US" altLang="ko-KR" sz="1300" dirty="0"/>
              <a:t>1~4</a:t>
            </a:r>
            <a:r>
              <a:rPr lang="ko-KR" altLang="en-US" sz="1300" dirty="0"/>
              <a:t>는 개별 경제주체들이 어떻게 경제적 의사결정을 하는지에 관한 것</a:t>
            </a:r>
            <a:endParaRPr lang="en-US" altLang="ko-KR" sz="1300" dirty="0"/>
          </a:p>
          <a:p>
            <a:pPr>
              <a:lnSpc>
                <a:spcPct val="160000"/>
              </a:lnSpc>
            </a:pPr>
            <a:endParaRPr lang="en-US" altLang="ko-KR" sz="1100" dirty="0" smtClean="0"/>
          </a:p>
          <a:p>
            <a:pPr>
              <a:lnSpc>
                <a:spcPct val="160000"/>
              </a:lnSpc>
            </a:pPr>
            <a:endParaRPr lang="ko-KR" altLang="en-US" sz="11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060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500063" y="979170"/>
            <a:ext cx="5915025" cy="1027938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60000"/>
              </a:lnSpc>
            </a:pPr>
            <a:r>
              <a:rPr lang="ko-KR" altLang="en-US" sz="1300" dirty="0"/>
              <a:t>기본원리 </a:t>
            </a:r>
            <a:r>
              <a:rPr lang="en-US" altLang="ko-KR" sz="1300" dirty="0"/>
              <a:t>5: </a:t>
            </a:r>
            <a:r>
              <a:rPr lang="ko-KR" altLang="en-US" sz="1300" dirty="0"/>
              <a:t>자유 거래는 모든 사람을 이롭게 한다</a:t>
            </a:r>
            <a:r>
              <a:rPr lang="en-US" altLang="ko-KR" sz="1300" dirty="0"/>
              <a:t> Trade can make everyone better off.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사람들은</a:t>
            </a:r>
            <a:r>
              <a:rPr lang="en-US" altLang="ko-KR" sz="1100" dirty="0" smtClean="0"/>
              <a:t> </a:t>
            </a:r>
            <a:r>
              <a:rPr lang="ko-KR" altLang="en-US" sz="1100" dirty="0"/>
              <a:t>거래를 통해 이득을 얻음</a:t>
            </a:r>
            <a:r>
              <a:rPr lang="en-US" altLang="ko-KR" sz="1100" dirty="0" smtClean="0"/>
              <a:t>.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국가도 </a:t>
            </a:r>
            <a:r>
              <a:rPr lang="ko-KR" altLang="en-US" sz="1100" dirty="0"/>
              <a:t>무역과 특화</a:t>
            </a:r>
            <a:r>
              <a:rPr lang="en-US" altLang="ko-KR" sz="1100" dirty="0"/>
              <a:t>(specialization)</a:t>
            </a:r>
            <a:r>
              <a:rPr lang="ko-KR" altLang="en-US" sz="1100" dirty="0"/>
              <a:t>를</a:t>
            </a:r>
            <a:r>
              <a:rPr lang="en-US" altLang="ko-KR" sz="1100" dirty="0"/>
              <a:t> </a:t>
            </a:r>
            <a:r>
              <a:rPr lang="ko-KR" altLang="en-US" sz="1100" dirty="0"/>
              <a:t>통해 이득을 </a:t>
            </a:r>
            <a:r>
              <a:rPr lang="ko-KR" altLang="en-US" sz="1100" dirty="0" smtClean="0"/>
              <a:t>얻음</a:t>
            </a:r>
            <a:r>
              <a:rPr lang="en-US" altLang="ko-KR" sz="1100" dirty="0" smtClean="0"/>
              <a:t>.</a:t>
            </a:r>
          </a:p>
          <a:p>
            <a:pPr lvl="1">
              <a:lnSpc>
                <a:spcPct val="160000"/>
              </a:lnSpc>
              <a:buFontTx/>
              <a:buChar char="-"/>
            </a:pPr>
            <a:endParaRPr lang="en-US" altLang="ko-KR" sz="1100" dirty="0"/>
          </a:p>
          <a:p>
            <a:pPr>
              <a:lnSpc>
                <a:spcPct val="160000"/>
              </a:lnSpc>
            </a:pPr>
            <a:r>
              <a:rPr lang="ko-KR" altLang="en-US" sz="1300" dirty="0"/>
              <a:t>기본원리 </a:t>
            </a:r>
            <a:r>
              <a:rPr lang="en-US" altLang="ko-KR" sz="1300" dirty="0"/>
              <a:t>6: </a:t>
            </a:r>
            <a:r>
              <a:rPr lang="ko-KR" altLang="en-US" sz="1300" dirty="0"/>
              <a:t>일반적으로 시장이 경제활동을 조직하는 좋은 수단이다</a:t>
            </a:r>
            <a:r>
              <a:rPr lang="en-US" altLang="ko-KR" sz="1300" dirty="0"/>
              <a:t>.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많은 </a:t>
            </a:r>
            <a:r>
              <a:rPr lang="ko-KR" altLang="en-US" sz="1100" dirty="0"/>
              <a:t>기업과 가계의 분권화된 </a:t>
            </a:r>
            <a:r>
              <a:rPr lang="en-US" altLang="ko-KR" sz="1100" dirty="0"/>
              <a:t>decentralized </a:t>
            </a:r>
            <a:r>
              <a:rPr lang="ko-KR" altLang="en-US" sz="1100" dirty="0"/>
              <a:t>결정에 따라 경제내부의 자원이 배분 </a:t>
            </a:r>
            <a:endParaRPr lang="en-US" altLang="ko-KR" sz="1100" dirty="0" smtClean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>
                <a:sym typeface="Wingdings" panose="05000000000000000000" pitchFamily="2" charset="2"/>
              </a:rPr>
              <a:t>국가주도의 </a:t>
            </a:r>
            <a:r>
              <a:rPr lang="ko-KR" altLang="en-US" sz="1100" dirty="0" err="1">
                <a:sym typeface="Wingdings" panose="05000000000000000000" pitchFamily="2" charset="2"/>
              </a:rPr>
              <a:t>집권화된</a:t>
            </a:r>
            <a:r>
              <a:rPr lang="ko-KR" altLang="en-US" sz="1100" dirty="0">
                <a:sym typeface="Wingdings" panose="05000000000000000000" pitchFamily="2" charset="2"/>
              </a:rPr>
              <a:t> 계획경제와 </a:t>
            </a:r>
            <a:r>
              <a:rPr lang="ko-KR" altLang="en-US" sz="1100" dirty="0" smtClean="0">
                <a:sym typeface="Wingdings" panose="05000000000000000000" pitchFamily="2" charset="2"/>
              </a:rPr>
              <a:t>대비</a:t>
            </a:r>
            <a:endParaRPr lang="en-US" altLang="ko-KR" sz="1100" dirty="0">
              <a:sym typeface="Wingdings" panose="05000000000000000000" pitchFamily="2" charset="2"/>
            </a:endParaRP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err="1" smtClean="0">
                <a:sym typeface="Wingdings" panose="05000000000000000000" pitchFamily="2" charset="2"/>
              </a:rPr>
              <a:t>아담스미스</a:t>
            </a:r>
            <a:r>
              <a:rPr lang="ko-KR" altLang="en-US" sz="1100" dirty="0" smtClean="0">
                <a:sym typeface="Wingdings" panose="05000000000000000000" pitchFamily="2" charset="2"/>
              </a:rPr>
              <a:t> </a:t>
            </a:r>
            <a:r>
              <a:rPr lang="en-US" altLang="ko-KR" sz="1100" dirty="0">
                <a:sym typeface="Wingdings" panose="05000000000000000000" pitchFamily="2" charset="2"/>
              </a:rPr>
              <a:t>Adam Smith</a:t>
            </a:r>
            <a:r>
              <a:rPr lang="ko-KR" altLang="en-US" sz="1100" dirty="0">
                <a:sym typeface="Wingdings" panose="05000000000000000000" pitchFamily="2" charset="2"/>
              </a:rPr>
              <a:t>의 </a:t>
            </a:r>
            <a:r>
              <a:rPr lang="en-US" altLang="ko-KR" sz="1100" dirty="0">
                <a:sym typeface="Wingdings" panose="05000000000000000000" pitchFamily="2" charset="2"/>
              </a:rPr>
              <a:t>“</a:t>
            </a:r>
            <a:r>
              <a:rPr lang="ko-KR" altLang="en-US" sz="1100" dirty="0">
                <a:sym typeface="Wingdings" panose="05000000000000000000" pitchFamily="2" charset="2"/>
              </a:rPr>
              <a:t>보이지 않는 손 </a:t>
            </a:r>
            <a:r>
              <a:rPr lang="en-US" altLang="ko-KR" sz="1100" dirty="0">
                <a:sym typeface="Wingdings" panose="05000000000000000000" pitchFamily="2" charset="2"/>
              </a:rPr>
              <a:t>invisible</a:t>
            </a:r>
            <a:r>
              <a:rPr lang="ko-KR" altLang="en-US" sz="1100" dirty="0">
                <a:sym typeface="Wingdings" panose="05000000000000000000" pitchFamily="2" charset="2"/>
              </a:rPr>
              <a:t> </a:t>
            </a:r>
            <a:r>
              <a:rPr lang="en-US" altLang="ko-KR" sz="1100" dirty="0">
                <a:sym typeface="Wingdings" panose="05000000000000000000" pitchFamily="2" charset="2"/>
              </a:rPr>
              <a:t>hand”(</a:t>
            </a:r>
            <a:r>
              <a:rPr lang="ko-KR" altLang="en-US" sz="1100" dirty="0">
                <a:sym typeface="Wingdings" panose="05000000000000000000" pitchFamily="2" charset="2"/>
              </a:rPr>
              <a:t>국부론</a:t>
            </a:r>
            <a:r>
              <a:rPr lang="en-US" altLang="ko-KR" sz="1100" dirty="0">
                <a:sym typeface="Wingdings" panose="05000000000000000000" pitchFamily="2" charset="2"/>
              </a:rPr>
              <a:t> 1776) </a:t>
            </a:r>
            <a:endParaRPr lang="en-US" altLang="ko-KR" sz="1100" dirty="0" smtClean="0">
              <a:sym typeface="Wingdings" panose="05000000000000000000" pitchFamily="2" charset="2"/>
            </a:endParaRPr>
          </a:p>
          <a:p>
            <a:pPr lvl="1">
              <a:lnSpc>
                <a:spcPct val="160000"/>
              </a:lnSpc>
              <a:buFontTx/>
              <a:buChar char="-"/>
            </a:pPr>
            <a:endParaRPr lang="en-US" altLang="ko-KR" sz="1100" dirty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r>
              <a:rPr lang="ko-KR" altLang="en-US" sz="1300" dirty="0" smtClean="0"/>
              <a:t>기본원리 </a:t>
            </a:r>
            <a:r>
              <a:rPr lang="en-US" altLang="ko-KR" sz="1300" dirty="0"/>
              <a:t>7: </a:t>
            </a:r>
            <a:r>
              <a:rPr lang="ko-KR" altLang="en-US" sz="1300" dirty="0"/>
              <a:t>경우에 따라 정부가 시장 성과를 개선할 수 있다</a:t>
            </a:r>
            <a:r>
              <a:rPr lang="en-US" altLang="ko-KR" sz="1300" dirty="0"/>
              <a:t>.</a:t>
            </a:r>
            <a:endParaRPr lang="en-US" altLang="ko-KR" sz="1075" dirty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정부의 </a:t>
            </a:r>
            <a:r>
              <a:rPr lang="ko-KR" altLang="en-US" sz="1100" dirty="0"/>
              <a:t>역할 </a:t>
            </a:r>
            <a:r>
              <a:rPr lang="en-US" altLang="ko-KR" sz="1100" dirty="0"/>
              <a:t>1: </a:t>
            </a:r>
            <a:r>
              <a:rPr lang="ko-KR" altLang="en-US" sz="1100" dirty="0"/>
              <a:t>개인의 재산권 </a:t>
            </a:r>
            <a:r>
              <a:rPr lang="ko-KR" altLang="en-US" sz="1100" dirty="0" smtClean="0"/>
              <a:t>보호</a:t>
            </a:r>
            <a:endParaRPr lang="en-US" altLang="ko-KR" sz="1100" dirty="0" smtClean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정부의 </a:t>
            </a:r>
            <a:r>
              <a:rPr lang="ko-KR" altLang="en-US" sz="1100" dirty="0"/>
              <a:t>역할 </a:t>
            </a:r>
            <a:r>
              <a:rPr lang="en-US" altLang="ko-KR" sz="1100" dirty="0"/>
              <a:t>2: </a:t>
            </a:r>
            <a:r>
              <a:rPr lang="ko-KR" altLang="en-US" sz="1100" dirty="0"/>
              <a:t>경제전체의 효율성 증진 </a:t>
            </a:r>
            <a:endParaRPr lang="en-US" altLang="ko-KR" sz="1100" dirty="0" smtClean="0"/>
          </a:p>
          <a:p>
            <a:pPr lvl="2">
              <a:lnSpc>
                <a:spcPct val="160000"/>
              </a:lnSpc>
            </a:pPr>
            <a:r>
              <a:rPr lang="ko-KR" altLang="en-US" sz="1100" dirty="0"/>
              <a:t>시장실패 </a:t>
            </a:r>
            <a:r>
              <a:rPr lang="en-US" altLang="ko-KR" sz="1100" dirty="0"/>
              <a:t>market failure</a:t>
            </a:r>
            <a:r>
              <a:rPr lang="ko-KR" altLang="en-US" sz="1100" dirty="0"/>
              <a:t>를 막는 일</a:t>
            </a:r>
            <a:endParaRPr lang="en-US" altLang="ko-KR" sz="1100" dirty="0"/>
          </a:p>
          <a:p>
            <a:pPr lvl="2">
              <a:lnSpc>
                <a:spcPct val="160000"/>
              </a:lnSpc>
            </a:pPr>
            <a:r>
              <a:rPr lang="ko-KR" altLang="en-US" sz="1100" dirty="0"/>
              <a:t>시장을</a:t>
            </a:r>
            <a:r>
              <a:rPr lang="en-US" altLang="ko-KR" sz="1100" dirty="0"/>
              <a:t> </a:t>
            </a:r>
            <a:r>
              <a:rPr lang="ko-KR" altLang="en-US" sz="1100" dirty="0"/>
              <a:t>완전 방임하면 ①외부효과</a:t>
            </a:r>
            <a:r>
              <a:rPr lang="en-US" altLang="ko-KR" sz="1100" dirty="0"/>
              <a:t>(</a:t>
            </a:r>
            <a:r>
              <a:rPr lang="ko-KR" altLang="en-US" sz="1100" dirty="0"/>
              <a:t>예</a:t>
            </a:r>
            <a:r>
              <a:rPr lang="en-US" altLang="ko-KR" sz="1100" dirty="0"/>
              <a:t>, </a:t>
            </a:r>
            <a:r>
              <a:rPr lang="ko-KR" altLang="en-US" sz="1100" dirty="0"/>
              <a:t>환경오염</a:t>
            </a:r>
            <a:r>
              <a:rPr lang="en-US" altLang="ko-KR" sz="1100" dirty="0"/>
              <a:t>), </a:t>
            </a:r>
            <a:r>
              <a:rPr lang="ko-KR" altLang="en-US" sz="1100" dirty="0"/>
              <a:t>②시장지배력</a:t>
            </a:r>
            <a:r>
              <a:rPr lang="en-US" altLang="ko-KR" sz="1100" dirty="0"/>
              <a:t>(</a:t>
            </a:r>
            <a:r>
              <a:rPr lang="ko-KR" altLang="en-US" sz="1100" dirty="0"/>
              <a:t>예</a:t>
            </a:r>
            <a:r>
              <a:rPr lang="en-US" altLang="ko-KR" sz="1100" dirty="0"/>
              <a:t>, </a:t>
            </a:r>
            <a:r>
              <a:rPr lang="ko-KR" altLang="en-US" sz="1100" dirty="0"/>
              <a:t>독점</a:t>
            </a:r>
            <a:r>
              <a:rPr lang="en-US" altLang="ko-KR" sz="1100" dirty="0"/>
              <a:t>) </a:t>
            </a:r>
            <a:r>
              <a:rPr lang="ko-KR" altLang="en-US" sz="1100" dirty="0"/>
              <a:t>문제가</a:t>
            </a:r>
            <a:r>
              <a:rPr lang="en-US" altLang="ko-KR" sz="1100" dirty="0"/>
              <a:t> </a:t>
            </a:r>
            <a:r>
              <a:rPr lang="ko-KR" altLang="en-US" sz="1100" dirty="0"/>
              <a:t>발생해</a:t>
            </a:r>
            <a:r>
              <a:rPr lang="en-US" altLang="ko-KR" sz="1100" dirty="0"/>
              <a:t> </a:t>
            </a:r>
            <a:r>
              <a:rPr lang="ko-KR" altLang="en-US" sz="1100" dirty="0"/>
              <a:t>효율적 자원배분에 실패하는 일이 종종 </a:t>
            </a:r>
            <a:r>
              <a:rPr lang="ko-KR" altLang="en-US" sz="1100" dirty="0" smtClean="0"/>
              <a:t>발생</a:t>
            </a:r>
            <a:endParaRPr lang="en-US" altLang="ko-KR" sz="1100" dirty="0"/>
          </a:p>
          <a:p>
            <a:pPr marL="257175" lvl="1" indent="0">
              <a:lnSpc>
                <a:spcPct val="160000"/>
              </a:lnSpc>
              <a:buNone/>
            </a:pPr>
            <a:r>
              <a:rPr lang="en-US" altLang="ko-KR" sz="1100" dirty="0" smtClean="0"/>
              <a:t>- </a:t>
            </a:r>
            <a:r>
              <a:rPr lang="ko-KR" altLang="en-US" sz="1100" dirty="0" smtClean="0"/>
              <a:t>정부의 </a:t>
            </a:r>
            <a:r>
              <a:rPr lang="ko-KR" altLang="en-US" sz="1100" dirty="0"/>
              <a:t>역할 </a:t>
            </a:r>
            <a:r>
              <a:rPr lang="en-US" altLang="ko-KR" sz="1100" dirty="0"/>
              <a:t>3: </a:t>
            </a:r>
            <a:r>
              <a:rPr lang="ko-KR" altLang="en-US" sz="1100" dirty="0"/>
              <a:t>경제전체의 형평성 증진 </a:t>
            </a:r>
            <a:r>
              <a:rPr lang="en-US" altLang="ko-KR" sz="1100" dirty="0"/>
              <a:t>– </a:t>
            </a:r>
            <a:r>
              <a:rPr lang="ko-KR" altLang="en-US" sz="1100" dirty="0"/>
              <a:t>경제 내부의 과도한 격차를 막는 일</a:t>
            </a:r>
            <a:endParaRPr lang="en-US" altLang="ko-KR" sz="1100" dirty="0"/>
          </a:p>
          <a:p>
            <a:pPr lvl="2">
              <a:lnSpc>
                <a:spcPct val="160000"/>
              </a:lnSpc>
            </a:pPr>
            <a:r>
              <a:rPr lang="ko-KR" altLang="en-US" sz="1100" dirty="0"/>
              <a:t>세금 또는 복지정책 수단을 통해 경제구성원들 사이에 성과물이 나누어지는 방식에 개입</a:t>
            </a:r>
            <a:r>
              <a:rPr lang="en-US" altLang="ko-KR" sz="1100" dirty="0"/>
              <a:t>(</a:t>
            </a:r>
            <a:r>
              <a:rPr lang="ko-KR" altLang="en-US" sz="1100" dirty="0"/>
              <a:t>소득재분배</a:t>
            </a:r>
            <a:r>
              <a:rPr lang="en-US" altLang="ko-KR" sz="1100" dirty="0"/>
              <a:t>)</a:t>
            </a:r>
          </a:p>
          <a:p>
            <a:pPr>
              <a:lnSpc>
                <a:spcPct val="160000"/>
              </a:lnSpc>
            </a:pPr>
            <a:endParaRPr lang="en-US" altLang="ko-KR" sz="1300" dirty="0" smtClean="0"/>
          </a:p>
          <a:p>
            <a:pPr>
              <a:lnSpc>
                <a:spcPct val="160000"/>
              </a:lnSpc>
            </a:pPr>
            <a:r>
              <a:rPr lang="ko-KR" altLang="en-US" sz="1300" dirty="0" smtClean="0"/>
              <a:t>이상의 </a:t>
            </a:r>
            <a:r>
              <a:rPr lang="ko-KR" altLang="en-US" sz="1300" dirty="0"/>
              <a:t>기본원리 </a:t>
            </a:r>
            <a:r>
              <a:rPr lang="en-US" altLang="ko-KR" sz="1300" dirty="0"/>
              <a:t>5~7</a:t>
            </a:r>
            <a:r>
              <a:rPr lang="ko-KR" altLang="en-US" sz="1300" dirty="0"/>
              <a:t>은 </a:t>
            </a:r>
            <a:r>
              <a:rPr lang="ko-KR" altLang="en-US" sz="1300" dirty="0" err="1"/>
              <a:t>경제내부의</a:t>
            </a:r>
            <a:r>
              <a:rPr lang="ko-KR" altLang="en-US" sz="1300" dirty="0"/>
              <a:t> 상호작용 </a:t>
            </a:r>
            <a:r>
              <a:rPr lang="en-US" altLang="ko-KR" sz="1300" dirty="0"/>
              <a:t>interaction</a:t>
            </a:r>
            <a:r>
              <a:rPr lang="ko-KR" altLang="en-US" sz="1300" dirty="0"/>
              <a:t>에 관한 것</a:t>
            </a:r>
          </a:p>
          <a:p>
            <a:pPr>
              <a:lnSpc>
                <a:spcPct val="160000"/>
              </a:lnSpc>
            </a:pPr>
            <a:endParaRPr lang="en-US" altLang="ko-KR" sz="1300" dirty="0"/>
          </a:p>
          <a:p>
            <a:pPr>
              <a:lnSpc>
                <a:spcPct val="150000"/>
              </a:lnSpc>
            </a:pPr>
            <a:r>
              <a:rPr lang="ko-KR" altLang="en-US" sz="1300" dirty="0"/>
              <a:t>기본원리 </a:t>
            </a:r>
            <a:r>
              <a:rPr lang="en-US" altLang="ko-KR" sz="1300" dirty="0"/>
              <a:t>8: </a:t>
            </a:r>
            <a:r>
              <a:rPr lang="ko-KR" altLang="en-US" sz="1300" dirty="0"/>
              <a:t>한</a:t>
            </a:r>
            <a:r>
              <a:rPr lang="en-US" altLang="ko-KR" sz="1300" dirty="0"/>
              <a:t> </a:t>
            </a:r>
            <a:r>
              <a:rPr lang="ko-KR" altLang="en-US" sz="1300" dirty="0"/>
              <a:t>나라의 생활수준은 그 나라의 생산능력에 달려있다</a:t>
            </a:r>
            <a:r>
              <a:rPr lang="en-US" altLang="ko-KR" sz="1300" dirty="0"/>
              <a:t>. </a:t>
            </a:r>
          </a:p>
          <a:p>
            <a:pPr lvl="1">
              <a:lnSpc>
                <a:spcPct val="150000"/>
              </a:lnSpc>
              <a:buFontTx/>
              <a:buChar char="-"/>
            </a:pPr>
            <a:r>
              <a:rPr lang="ko-KR" altLang="en-US" sz="1100" dirty="0" smtClean="0"/>
              <a:t>생산성 </a:t>
            </a:r>
            <a:r>
              <a:rPr lang="en-US" altLang="ko-KR" sz="1100" dirty="0"/>
              <a:t>productivity : </a:t>
            </a:r>
            <a:r>
              <a:rPr lang="ko-KR" altLang="en-US" sz="1100" dirty="0"/>
              <a:t>한 단위의 노동력 투입으로 만들어 낸 재화와 서비스의 </a:t>
            </a:r>
            <a:r>
              <a:rPr lang="ko-KR" altLang="en-US" sz="1100" dirty="0" smtClean="0"/>
              <a:t>양</a:t>
            </a:r>
            <a:endParaRPr lang="en-US" altLang="ko-KR" sz="1100" dirty="0" smtClean="0"/>
          </a:p>
          <a:p>
            <a:pPr lvl="1">
              <a:lnSpc>
                <a:spcPct val="150000"/>
              </a:lnSpc>
              <a:buFontTx/>
              <a:buChar char="-"/>
            </a:pPr>
            <a:r>
              <a:rPr lang="ko-KR" altLang="en-US" sz="1100" dirty="0" smtClean="0"/>
              <a:t>노동자들이 </a:t>
            </a:r>
            <a:r>
              <a:rPr lang="ko-KR" altLang="en-US" sz="1100" dirty="0"/>
              <a:t>사용할 수 있는 장비</a:t>
            </a:r>
            <a:r>
              <a:rPr lang="en-US" altLang="ko-KR" sz="1100" dirty="0"/>
              <a:t>, </a:t>
            </a:r>
            <a:r>
              <a:rPr lang="ko-KR" altLang="en-US" sz="1100" dirty="0"/>
              <a:t>스킬</a:t>
            </a:r>
            <a:r>
              <a:rPr lang="en-US" altLang="ko-KR" sz="1100" dirty="0"/>
              <a:t>, </a:t>
            </a:r>
            <a:r>
              <a:rPr lang="ko-KR" altLang="en-US" sz="1100" dirty="0"/>
              <a:t>그리고 기술이 좌우함</a:t>
            </a:r>
            <a:r>
              <a:rPr lang="en-US" altLang="ko-KR" sz="1100" dirty="0"/>
              <a:t>. </a:t>
            </a:r>
          </a:p>
          <a:p>
            <a:pPr lvl="1">
              <a:lnSpc>
                <a:spcPct val="150000"/>
              </a:lnSpc>
            </a:pPr>
            <a:endParaRPr lang="en-US" altLang="ko-KR" sz="1100" dirty="0"/>
          </a:p>
          <a:p>
            <a:pPr>
              <a:lnSpc>
                <a:spcPct val="150000"/>
              </a:lnSpc>
            </a:pPr>
            <a:r>
              <a:rPr lang="ko-KR" altLang="en-US" sz="1300" dirty="0"/>
              <a:t>기본원리 </a:t>
            </a:r>
            <a:r>
              <a:rPr lang="en-US" altLang="ko-KR" sz="1300" dirty="0"/>
              <a:t>9: </a:t>
            </a:r>
            <a:r>
              <a:rPr lang="ko-KR" altLang="en-US" sz="1300" dirty="0"/>
              <a:t>통화량이 지나치게 증가하면 물가는 상승한다</a:t>
            </a:r>
            <a:r>
              <a:rPr lang="en-US" altLang="ko-KR" sz="1300" dirty="0"/>
              <a:t>. </a:t>
            </a:r>
          </a:p>
          <a:p>
            <a:pPr lvl="1">
              <a:lnSpc>
                <a:spcPct val="150000"/>
              </a:lnSpc>
              <a:buFontTx/>
              <a:buChar char="-"/>
            </a:pPr>
            <a:r>
              <a:rPr lang="ko-KR" altLang="en-US" sz="1100" dirty="0" smtClean="0"/>
              <a:t>인플레이션</a:t>
            </a:r>
            <a:r>
              <a:rPr lang="en-US" altLang="ko-KR" sz="1100" dirty="0"/>
              <a:t>: </a:t>
            </a:r>
            <a:r>
              <a:rPr lang="ko-KR" altLang="en-US" sz="1100" dirty="0" err="1"/>
              <a:t>경제내부의</a:t>
            </a:r>
            <a:r>
              <a:rPr lang="ko-KR" altLang="en-US" sz="1100" dirty="0"/>
              <a:t> 전반적인 가격수준이 상승하는 </a:t>
            </a:r>
            <a:r>
              <a:rPr lang="ko-KR" altLang="en-US" sz="1100" dirty="0" smtClean="0"/>
              <a:t>현상</a:t>
            </a:r>
            <a:endParaRPr lang="en-US" altLang="ko-KR" sz="1100" dirty="0" smtClean="0"/>
          </a:p>
          <a:p>
            <a:pPr lvl="1">
              <a:lnSpc>
                <a:spcPct val="150000"/>
              </a:lnSpc>
              <a:buFontTx/>
              <a:buChar char="-"/>
            </a:pPr>
            <a:r>
              <a:rPr lang="ko-KR" altLang="en-US" sz="1100" dirty="0" smtClean="0"/>
              <a:t>거의 </a:t>
            </a:r>
            <a:r>
              <a:rPr lang="ko-KR" altLang="en-US" sz="1100" dirty="0"/>
              <a:t>언제나 통화량의 과도한 증가에 기인함</a:t>
            </a:r>
            <a:r>
              <a:rPr lang="en-US" altLang="ko-KR" sz="1100" dirty="0"/>
              <a:t>. </a:t>
            </a:r>
            <a:r>
              <a:rPr lang="ko-KR" altLang="en-US" sz="1100" dirty="0"/>
              <a:t>즉</a:t>
            </a:r>
            <a:r>
              <a:rPr lang="en-US" altLang="ko-KR" sz="1100" dirty="0"/>
              <a:t>, </a:t>
            </a:r>
            <a:r>
              <a:rPr lang="ko-KR" altLang="en-US" sz="1100" dirty="0"/>
              <a:t>정부가 돈을 더 빨리</a:t>
            </a:r>
            <a:r>
              <a:rPr lang="en-US" altLang="ko-KR" sz="1100" dirty="0"/>
              <a:t>, </a:t>
            </a:r>
            <a:r>
              <a:rPr lang="ko-KR" altLang="en-US" sz="1100" dirty="0"/>
              <a:t>많이 찍어낼 수록 물가상승률은 커짐</a:t>
            </a:r>
            <a:r>
              <a:rPr lang="en-US" altLang="ko-KR" sz="1100" dirty="0"/>
              <a:t>. </a:t>
            </a:r>
          </a:p>
          <a:p>
            <a:pPr lvl="1">
              <a:lnSpc>
                <a:spcPct val="150000"/>
              </a:lnSpc>
            </a:pPr>
            <a:endParaRPr lang="en-US" altLang="ko-KR" sz="1100" dirty="0"/>
          </a:p>
          <a:p>
            <a:pPr>
              <a:lnSpc>
                <a:spcPct val="150000"/>
              </a:lnSpc>
            </a:pPr>
            <a:r>
              <a:rPr lang="ko-KR" altLang="en-US" sz="1300" dirty="0"/>
              <a:t>기본원리 </a:t>
            </a:r>
            <a:r>
              <a:rPr lang="en-US" altLang="ko-KR" sz="1300" dirty="0"/>
              <a:t>10: </a:t>
            </a:r>
            <a:r>
              <a:rPr lang="ko-KR" altLang="en-US" sz="1300" dirty="0"/>
              <a:t>단기적으로 인플레이션과 실업 사이에 상충관계가 있다</a:t>
            </a:r>
            <a:r>
              <a:rPr lang="en-US" altLang="ko-KR" sz="1300" dirty="0"/>
              <a:t>. </a:t>
            </a:r>
          </a:p>
          <a:p>
            <a:pPr marL="257175" lvl="1" indent="0">
              <a:lnSpc>
                <a:spcPct val="150000"/>
              </a:lnSpc>
              <a:buNone/>
            </a:pPr>
            <a:r>
              <a:rPr lang="en-US" altLang="ko-KR" sz="1100" dirty="0" smtClean="0"/>
              <a:t>- 1~2</a:t>
            </a:r>
            <a:r>
              <a:rPr lang="ko-KR" altLang="en-US" sz="1100" dirty="0"/>
              <a:t>년 정도의 단기에 걸쳐</a:t>
            </a:r>
            <a:r>
              <a:rPr lang="en-US" altLang="ko-KR" sz="1100" dirty="0"/>
              <a:t>, </a:t>
            </a:r>
            <a:r>
              <a:rPr lang="ko-KR" altLang="en-US" sz="1100" dirty="0"/>
              <a:t>정부는 경제정책을 통해 인플레이션과 실업률을 반대방향으로 움직이게 만들 수 있음</a:t>
            </a:r>
            <a:r>
              <a:rPr lang="en-US" altLang="ko-KR" sz="1100" dirty="0"/>
              <a:t>. </a:t>
            </a:r>
          </a:p>
          <a:p>
            <a:pPr lvl="1">
              <a:lnSpc>
                <a:spcPct val="150000"/>
              </a:lnSpc>
            </a:pPr>
            <a:endParaRPr lang="en-US" altLang="ko-KR" sz="1100" dirty="0"/>
          </a:p>
          <a:p>
            <a:pPr>
              <a:lnSpc>
                <a:spcPct val="150000"/>
              </a:lnSpc>
            </a:pPr>
            <a:r>
              <a:rPr lang="ko-KR" altLang="en-US" sz="1300" dirty="0"/>
              <a:t>이상의</a:t>
            </a:r>
            <a:r>
              <a:rPr lang="en-US" altLang="ko-KR" sz="1300" dirty="0"/>
              <a:t> </a:t>
            </a:r>
            <a:r>
              <a:rPr lang="ko-KR" altLang="en-US" sz="1300" dirty="0"/>
              <a:t>기본원리 </a:t>
            </a:r>
            <a:r>
              <a:rPr lang="en-US" altLang="ko-KR" sz="1300" dirty="0"/>
              <a:t>8~10</a:t>
            </a:r>
            <a:r>
              <a:rPr lang="ko-KR" altLang="en-US" sz="1300" dirty="0"/>
              <a:t>은 국민경제 전체의 움직임에 관한 </a:t>
            </a:r>
            <a:r>
              <a:rPr lang="ko-KR" altLang="en-US" sz="1300" dirty="0" smtClean="0"/>
              <a:t>것</a:t>
            </a:r>
            <a:endParaRPr lang="en-US" altLang="ko-KR" sz="1300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035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</TotalTime>
  <Words>469</Words>
  <Application>Microsoft Office PowerPoint</Application>
  <PresentationFormat>와이드스크린</PresentationFormat>
  <Paragraphs>57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Arial</vt:lpstr>
      <vt:lpstr>Wingdings</vt:lpstr>
      <vt:lpstr>Office 테마</vt:lpstr>
      <vt:lpstr>1장 경제학의 10대 기본원리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현대경제분석   강의노트</dc:title>
  <dc:creator>User</dc:creator>
  <cp:lastModifiedBy>mainlibinfo11</cp:lastModifiedBy>
  <cp:revision>20</cp:revision>
  <dcterms:created xsi:type="dcterms:W3CDTF">2021-06-28T02:08:57Z</dcterms:created>
  <dcterms:modified xsi:type="dcterms:W3CDTF">2023-02-27T06:13:26Z</dcterms:modified>
</cp:coreProperties>
</file>