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</p:sldIdLst>
  <p:sldSz cx="6858000" cy="12192000"/>
  <p:notesSz cx="6858000" cy="9144000"/>
  <p:defaultTextStyle>
    <a:defPPr>
      <a:defRPr lang="ko-KR"/>
    </a:defPPr>
    <a:lvl1pPr marL="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334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1_shape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  <a:prstGeom prst="rect">
            <a:avLst/>
          </a:prstGeom>
        </p:spPr>
        <p:txBody>
          <a:bodyPr lIns="91440" tIns="45720" rIns="91440" bIns="45720" anchor="b"/>
          <a:lstStyle>
            <a:lvl1pPr algn="ctr">
              <a:defRPr sz="3375"/>
            </a:lvl1pPr>
          </a:lstStyle>
          <a:p>
            <a:pPr algn="ctr"/>
            <a:r>
              <a:rPr lang="ko-KR" altLang="en-US" sz="3375"/>
              <a:t>마스터</a:t>
            </a:r>
            <a:r>
              <a:rPr lang="en-US" altLang="en-US" sz="3375"/>
              <a:t> </a:t>
            </a:r>
            <a:r>
              <a:rPr lang="ko-KR" altLang="en-US" sz="3375"/>
              <a:t>제목</a:t>
            </a:r>
            <a:r>
              <a:rPr lang="en-US" altLang="en-US" sz="3375"/>
              <a:t> </a:t>
            </a:r>
            <a:r>
              <a:rPr lang="ko-KR" altLang="en-US" sz="3375"/>
              <a:t>스타일</a:t>
            </a:r>
            <a:r>
              <a:rPr lang="en-US" altLang="en-US" sz="3375"/>
              <a:t> </a:t>
            </a:r>
            <a:r>
              <a:rPr lang="ko-KR" altLang="en-US" sz="3375"/>
              <a:t>편집</a:t>
            </a:r>
          </a:p>
        </p:txBody>
      </p:sp>
      <p:sp>
        <p:nvSpPr>
          <p:cNvPr id="4" name="layout1_shape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pPr marL="0" lvl="0" indent="0" algn="ctr">
              <a:buNone/>
            </a:pPr>
            <a:r>
              <a:rPr lang="ko-KR" altLang="en-US" sz="1350"/>
              <a:t>클릭하여</a:t>
            </a:r>
            <a:r>
              <a:rPr lang="en-US" altLang="en-US" sz="1350"/>
              <a:t> </a:t>
            </a:r>
            <a:r>
              <a:rPr lang="ko-KR" altLang="en-US" sz="1350"/>
              <a:t>마스터</a:t>
            </a:r>
            <a:r>
              <a:rPr lang="en-US" altLang="en-US" sz="1350"/>
              <a:t> </a:t>
            </a:r>
            <a:r>
              <a:rPr lang="ko-KR" altLang="en-US" sz="1350"/>
              <a:t>부제목</a:t>
            </a:r>
            <a:r>
              <a:rPr lang="en-US" altLang="en-US" sz="1350"/>
              <a:t> </a:t>
            </a:r>
            <a:r>
              <a:rPr lang="ko-KR" altLang="en-US" sz="1350"/>
              <a:t>스타일</a:t>
            </a:r>
            <a:r>
              <a:rPr lang="en-US" altLang="en-US" sz="1350"/>
              <a:t> </a:t>
            </a:r>
            <a:r>
              <a:rPr lang="ko-KR" altLang="en-US" sz="1350"/>
              <a:t>편집</a:t>
            </a:r>
          </a:p>
        </p:txBody>
      </p:sp>
      <p:sp>
        <p:nvSpPr>
          <p:cNvPr id="5" name="layout1_shape3"/>
          <p:cNvSpPr>
            <a:spLocks noGrp="1"/>
          </p:cNvSpPr>
          <p:nvPr>
            <p:ph type="dt" sz="half" idx="10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id="{A658C7C3-8D3A-4C0D-B60E-240C4DE6BC36}" type="datetime1">
              <a:rPr lang="en-US" altLang="ko-KR" sz="675">
                <a:solidFill>
                  <a:schemeClr val="tx1">
                    <a:tint val="75000"/>
                  </a:schemeClr>
                </a:solidFill>
              </a:rPr>
              <a:t>5/6/2023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6" name="layout1_shape4"/>
          <p:cNvSpPr>
            <a:spLocks noGrp="1"/>
          </p:cNvSpPr>
          <p:nvPr>
            <p:ph type="ftr" sz="quarter" idx="11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layout1_shape5"/>
          <p:cNvSpPr>
            <a:spLocks noGrp="1"/>
          </p:cNvSpPr>
          <p:nvPr>
            <p:ph type="sldNum" sz="quarter" idx="12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4BEDD84E-25D4-4983-8AA1-2863C96F08D9}" type="slidenum">
              <a:rPr lang="ko-KR" sz="675">
                <a:solidFill>
                  <a:schemeClr val="tx1">
                    <a:tint val="75000"/>
                  </a:schemeClr>
                </a:solidFill>
              </a:rPr>
              <a:t>‹#›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2_shape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lIns="91440" tIns="45720" rIns="91440" bIns="45720" anchor="ctr"/>
          <a:lstStyle/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2_shape2"/>
          <p:cNvSpPr>
            <a:spLocks noGrp="1"/>
          </p:cNvSpPr>
          <p:nvPr>
            <p:ph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5" name="layout2_shape3"/>
          <p:cNvSpPr>
            <a:spLocks noGrp="1"/>
          </p:cNvSpPr>
          <p:nvPr>
            <p:ph type="dt" sz="half" idx="10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id="{A658C7C3-8D3A-4C0D-B60E-240C4DE6BC36}" type="datetime1">
              <a:rPr lang="en-US" altLang="ko-KR" sz="675">
                <a:solidFill>
                  <a:schemeClr val="tx1">
                    <a:tint val="75000"/>
                  </a:schemeClr>
                </a:solidFill>
              </a:rPr>
              <a:t>5/6/2023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6" name="layout2_shape4"/>
          <p:cNvSpPr>
            <a:spLocks noGrp="1"/>
          </p:cNvSpPr>
          <p:nvPr>
            <p:ph type="ftr" sz="quarter" idx="11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layout2_shape5"/>
          <p:cNvSpPr>
            <a:spLocks noGrp="1"/>
          </p:cNvSpPr>
          <p:nvPr>
            <p:ph type="sldNum" sz="quarter" idx="12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4BEDD84E-25D4-4983-8AA1-2863C96F08D9}" type="slidenum">
              <a:rPr lang="ko-KR" sz="675">
                <a:solidFill>
                  <a:schemeClr val="tx1">
                    <a:tint val="75000"/>
                  </a:schemeClr>
                </a:solidFill>
              </a:rPr>
              <a:t>‹#›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3_shape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  <a:prstGeom prst="rect">
            <a:avLst/>
          </a:prstGeo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3_shape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5" name="layout3_shape3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A658C7C3-8D3A-4C0D-B60E-240C4DE6BC36}" type="datetime1">
              <a:rPr lang="en-US" altLang="ko-KR"/>
              <a:t>5/6/2023</a:t>
            </a:fld>
            <a:endParaRPr/>
          </a:p>
        </p:txBody>
      </p:sp>
      <p:sp>
        <p:nvSpPr>
          <p:cNvPr id="6" name="layout3_shape4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layout3_shape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4_shape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4_shape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5" name="layout4_shape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6" name="layout4_shape4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A658C7C3-8D3A-4C0D-B60E-240C4DE6BC36}" type="datetime1">
              <a:rPr lang="en-US" altLang="ko-KR"/>
              <a:t>5/6/2023</a:t>
            </a:fld>
            <a:endParaRPr/>
          </a:p>
        </p:txBody>
      </p:sp>
      <p:sp>
        <p:nvSpPr>
          <p:cNvPr id="7" name="layout4_shape5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" name="layout4_shape6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5_shape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5_shape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5" name="layout5_shape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6" name="layout5_shape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7" name="layout5_shape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8" name="layout5_shape6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A658C7C3-8D3A-4C0D-B60E-240C4DE6BC36}" type="datetime1">
              <a:rPr lang="en-US" altLang="ko-KR"/>
              <a:t>5/6/2023</a:t>
            </a:fld>
            <a:endParaRPr/>
          </a:p>
        </p:txBody>
      </p:sp>
      <p:sp>
        <p:nvSpPr>
          <p:cNvPr id="9" name="layout5_shape7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" name="layout5_shape8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6_shape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6_shape2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A658C7C3-8D3A-4C0D-B60E-240C4DE6BC36}" type="datetime1">
              <a:rPr lang="en-US" altLang="ko-KR"/>
              <a:t>5/6/2023</a:t>
            </a:fld>
            <a:endParaRPr/>
          </a:p>
        </p:txBody>
      </p:sp>
      <p:sp>
        <p:nvSpPr>
          <p:cNvPr id="5" name="layout6_shape3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layout6_shape4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7_shape1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A658C7C3-8D3A-4C0D-B60E-240C4DE6BC36}" type="datetime1">
              <a:rPr lang="en-US" altLang="ko-KR"/>
              <a:t>5/6/2023</a:t>
            </a:fld>
            <a:endParaRPr/>
          </a:p>
        </p:txBody>
      </p:sp>
      <p:sp>
        <p:nvSpPr>
          <p:cNvPr id="4" name="layout7_shape2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layout7_shape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8_shape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  <a:prstGeom prst="rect">
            <a:avLst/>
          </a:prstGeo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8_shape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5" name="layout8_shape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6" name="layout8_shape4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A658C7C3-8D3A-4C0D-B60E-240C4DE6BC36}" type="datetime1">
              <a:rPr lang="en-US" altLang="ko-KR"/>
              <a:t>5/6/2023</a:t>
            </a:fld>
            <a:endParaRPr/>
          </a:p>
        </p:txBody>
      </p:sp>
      <p:sp>
        <p:nvSpPr>
          <p:cNvPr id="7" name="layout8_shape5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" name="layout8_shape6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9_shape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  <a:prstGeom prst="rect">
            <a:avLst/>
          </a:prstGeo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9_shape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/>
          </a:p>
        </p:txBody>
      </p:sp>
      <p:sp>
        <p:nvSpPr>
          <p:cNvPr id="5" name="layout9_shape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6" name="layout9_shape4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A658C7C3-8D3A-4C0D-B60E-240C4DE6BC36}" type="datetime1">
              <a:rPr lang="en-US" altLang="ko-KR"/>
              <a:t>5/6/2023</a:t>
            </a:fld>
            <a:endParaRPr/>
          </a:p>
        </p:txBody>
      </p:sp>
      <p:sp>
        <p:nvSpPr>
          <p:cNvPr id="7" name="layout9_shape5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" name="layout9_shape6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10_shape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10_shape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5" name="layout10_shape3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A658C7C3-8D3A-4C0D-B60E-240C4DE6BC36}" type="datetime1">
              <a:rPr lang="en-US" altLang="ko-KR"/>
              <a:t>5/6/2023</a:t>
            </a:fld>
            <a:endParaRPr/>
          </a:p>
        </p:txBody>
      </p:sp>
      <p:sp>
        <p:nvSpPr>
          <p:cNvPr id="6" name="layout10_shape4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layout10_shape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11_shape1"/>
          <p:cNvSpPr>
            <a:spLocks noGrp="1"/>
          </p:cNvSpPr>
          <p:nvPr>
            <p:ph type="title"/>
          </p:nvPr>
        </p:nvSpPr>
        <p:spPr>
          <a:xfrm>
            <a:off x="4907756" y="649111"/>
            <a:ext cx="1478756" cy="10332156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11_shape2"/>
          <p:cNvSpPr>
            <a:spLocks noGrp="1"/>
          </p:cNvSpPr>
          <p:nvPr>
            <p:ph type="body" idx="1"/>
          </p:nvPr>
        </p:nvSpPr>
        <p:spPr>
          <a:xfrm>
            <a:off x="471487" y="649111"/>
            <a:ext cx="4350544" cy="1033215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5" name="layout11_shape3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A658C7C3-8D3A-4C0D-B60E-240C4DE6BC36}" type="datetime1">
              <a:rPr lang="en-US" altLang="ko-KR"/>
              <a:t>5/6/2023</a:t>
            </a:fld>
            <a:endParaRPr/>
          </a:p>
        </p:txBody>
      </p:sp>
      <p:sp>
        <p:nvSpPr>
          <p:cNvPr id="6" name="layout11_shape4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layout11_shape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ster1_shape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lIns="91440" tIns="45720" rIns="91440" bIns="45720" anchor="ctr"/>
          <a:lstStyle/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master1_shape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5" name="master1_shape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id="{A658C7C3-8D3A-4C0D-B60E-240C4DE6BC36}" type="datetime1">
              <a:rPr lang="en-US" altLang="ko-KR" sz="675">
                <a:solidFill>
                  <a:schemeClr val="tx1">
                    <a:tint val="75000"/>
                  </a:schemeClr>
                </a:solidFill>
              </a:rPr>
              <a:t>5/6/2023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6" name="master1_shape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master1_shape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4BEDD84E-25D4-4983-8AA1-2863C96F08D9}" type="slidenum">
              <a:rPr lang="ko-KR" sz="675">
                <a:solidFill>
                  <a:schemeClr val="tx1">
                    <a:tint val="75000"/>
                  </a:schemeClr>
                </a:solidFill>
              </a:rPr>
              <a:t>‹#›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defTabSz="514350" latinLnBrk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latinLnBrk="1">
        <a:lnSpc>
          <a:spcPct val="90000"/>
        </a:lnSpc>
        <a:spcBef>
          <a:spcPts val="563"/>
        </a:spcBef>
        <a:buFont typeface="Arial" pitchFamily="2" charset="2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2_shape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  <a:prstGeom prst="rect">
            <a:avLst/>
          </a:prstGeom>
        </p:spPr>
        <p:txBody>
          <a:bodyPr lIns="91440" tIns="45720" rIns="91440" bIns="45720" anchor="ctr"/>
          <a:lstStyle/>
          <a:p>
            <a:pPr algn="l" defTabSz="514350" latinLnBrk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ko-KR" sz="2475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21</a:t>
            </a:r>
            <a:r>
              <a:rPr lang="ko-KR" altLang="en-US" sz="2475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장</a:t>
            </a:r>
            <a:r>
              <a:rPr lang="en-US" altLang="en-US" sz="2475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ko-KR" altLang="en-US" sz="2475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소비자선택이론</a:t>
            </a:r>
            <a:r>
              <a:rPr lang="en-US" altLang="en-US" sz="2475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4" name="slide2_shape2"/>
          <p:cNvSpPr>
            <a:spLocks noGrp="1"/>
          </p:cNvSpPr>
          <p:nvPr>
            <p:ph idx="1"/>
          </p:nvPr>
        </p:nvSpPr>
        <p:spPr>
          <a:xfrm>
            <a:off x="471488" y="1798319"/>
            <a:ext cx="5915025" cy="9744567"/>
          </a:xfrm>
          <a:prstGeom prst="rect">
            <a:avLst/>
          </a:prstGeom>
        </p:spPr>
        <p:txBody>
          <a:bodyPr lIns="91440" tIns="45720" rIns="91440" bIns="45720"/>
          <a:lstStyle/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예산제약</a:t>
            </a:r>
            <a:endParaRPr sz="1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소비자가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선택할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수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있는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소비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묶음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consumption bundles”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의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한계</a:t>
            </a:r>
            <a:endParaRPr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소비에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사용할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수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있는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돈의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양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그리고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각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재화의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가격이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주어지면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달성가능한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재화의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특정한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조합을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찾아낼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수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있음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Ex.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소득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120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만원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고등어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4000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원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개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망고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1000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원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개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… </a:t>
            </a:r>
            <a:r>
              <a:rPr lang="ko-KR" alt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달성가능한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모든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고등어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망고의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조합은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조합들을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X-Y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그래프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위에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점으로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표시하면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 </a:t>
            </a:r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예산제약선의</a:t>
            </a:r>
            <a:r>
              <a:rPr lang="en-US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기울기는</a:t>
            </a:r>
            <a:r>
              <a:rPr lang="en-US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ko-KR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축에</a:t>
            </a:r>
            <a:r>
              <a:rPr lang="en-US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있는</a:t>
            </a:r>
            <a:r>
              <a:rPr lang="en-US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재화의</a:t>
            </a:r>
            <a:r>
              <a:rPr lang="en-US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상대가격</a:t>
            </a:r>
            <a:r>
              <a:rPr lang="en-US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relative price</a:t>
            </a: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상대가격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시장에서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주어진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객관적인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가격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비율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ex.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고등어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한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마리는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망고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개</a:t>
            </a:r>
            <a:endParaRPr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해석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시장에서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고등어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한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마리를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더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얻기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위해서는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망고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개를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포기해야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함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또는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고등어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한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마리를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포기하면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망고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개를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더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얻을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수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있음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다른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조건이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그대로인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상태에서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소득의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하락은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예산제약선을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아래로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이동시키며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소득의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증가는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예산제약선을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위로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이동시킴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기울기의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변화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없음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다른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조건이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그대로인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상태에서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한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재화의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가격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상승은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예산제약선을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안쪽으로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회전하게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만듦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선호</a:t>
            </a:r>
            <a:r>
              <a:rPr lang="en-US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Preferences</a:t>
            </a:r>
            <a:r>
              <a:rPr lang="ko-KR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와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무차별곡선</a:t>
            </a:r>
            <a:r>
              <a:rPr lang="en-US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Indifference curve</a:t>
            </a: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무차별곡선은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소비자에게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같은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수준의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만족도를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주는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소비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묶음들을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모은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것</a:t>
            </a:r>
            <a:endParaRPr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같은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무차별곡선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위에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있는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묶음들은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모두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같은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행복수준을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제공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소비자는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이들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사이에서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무차별함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indifferent between them.</a:t>
            </a:r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무차별곡선의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4</a:t>
            </a:r>
            <a:r>
              <a:rPr lang="ko-KR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가지</a:t>
            </a:r>
            <a:r>
              <a:rPr lang="en-US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특성</a:t>
            </a:r>
            <a:r>
              <a:rPr lang="en-US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sz="1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①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무차별곡선은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우하향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②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높은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곳의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무차별곡선은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낮은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곳의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곡선보다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더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높은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만족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수준을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표시</a:t>
            </a:r>
            <a:endParaRPr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③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무차별곡선은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서로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교차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cross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할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수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없음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④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보통의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재화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goods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인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경우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무차별곡선은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오목함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(bowed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inward)</a:t>
            </a:r>
          </a:p>
          <a:p>
            <a:pPr marL="642938" lvl="2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en-US" altLang="ko-KR" sz="875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vs.</a:t>
            </a:r>
            <a:r>
              <a:rPr lang="en-US" altLang="en-US" sz="875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875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비재화</a:t>
            </a:r>
            <a:r>
              <a:rPr lang="en-US" altLang="ko-KR" sz="875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875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bads</a:t>
            </a:r>
            <a:r>
              <a:rPr lang="en-US" altLang="ko-KR" sz="875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ko-KR" altLang="en-US" sz="875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인</a:t>
            </a:r>
            <a:r>
              <a:rPr lang="en-US" altLang="ko-KR" sz="875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875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경우</a:t>
            </a:r>
            <a:r>
              <a:rPr lang="en-US" altLang="ko-KR" sz="875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</a:t>
            </a:r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en-US" sz="13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한계대체율</a:t>
            </a:r>
            <a:r>
              <a:rPr lang="en-US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Marginal Rate of Substitution, MRS = </a:t>
            </a:r>
            <a:r>
              <a:rPr lang="ko-KR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무차별곡선의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기울기</a:t>
            </a:r>
            <a:endParaRPr sz="1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같은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무차별곡선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상에서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소비자가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한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재화를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다른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재화로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바꿀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때의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대체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비율을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의미</a:t>
            </a:r>
            <a:endParaRPr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고등어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한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마리를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더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얻기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위해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기꺼이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포기하려는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망고의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양</a:t>
            </a:r>
            <a:endParaRPr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MRS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는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무차별곡선을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따라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내려갈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수록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하락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…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왜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그럴까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</a:t>
            </a: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소비자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마음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속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주관적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교환비율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endParaRPr sz="1075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slide2_shape3"/>
          <p:cNvSpPr>
            <a:spLocks noGrp="1"/>
          </p:cNvSpPr>
          <p:nvPr>
            <p:ph type="sldNum" sz="quarter" idx="12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algn="r" defTabSz="914400" latinLnBrk="1"/>
            <a:fld id="{4BEDD84E-25D4-4983-8AA1-2863C96F08D9}" type="slidenum">
              <a:rPr lang="en-US" altLang="ko-KR"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1</a:t>
            </a:fld>
            <a:endParaRPr sz="675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3_shape1"/>
          <p:cNvSpPr>
            <a:spLocks noGrp="1"/>
          </p:cNvSpPr>
          <p:nvPr>
            <p:ph idx="1"/>
          </p:nvPr>
        </p:nvSpPr>
        <p:spPr>
          <a:xfrm>
            <a:off x="500063" y="893443"/>
            <a:ext cx="5915025" cy="10708007"/>
          </a:xfrm>
          <a:prstGeom prst="rect">
            <a:avLst/>
          </a:prstGeom>
        </p:spPr>
        <p:txBody>
          <a:bodyPr lIns="91440" tIns="45720" rIns="91440" bIns="45720"/>
          <a:lstStyle/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en-US" sz="1300" kern="1200" dirty="0">
                <a:solidFill>
                  <a:schemeClr val="tx1"/>
                </a:solidFill>
              </a:rPr>
              <a:t>특이한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</a:rPr>
              <a:t>모양의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</a:rPr>
              <a:t>무차별곡선들</a:t>
            </a:r>
            <a:endParaRPr sz="1300" kern="1200" dirty="0">
              <a:solidFill>
                <a:schemeClr val="tx1"/>
              </a:solidFill>
            </a:endParaRP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ko-KR" altLang="en-US" sz="1075" kern="1200" dirty="0">
                <a:solidFill>
                  <a:schemeClr val="tx1"/>
                </a:solidFill>
              </a:rPr>
              <a:t>완전대체재의</a:t>
            </a:r>
            <a:r>
              <a:rPr lang="en-US" altLang="en-US" sz="1075" kern="1200" dirty="0">
                <a:solidFill>
                  <a:schemeClr val="tx1"/>
                </a:solidFill>
              </a:rPr>
              <a:t> </a:t>
            </a:r>
            <a:r>
              <a:rPr lang="ko-KR" altLang="en-US" sz="1075" kern="1200" dirty="0">
                <a:solidFill>
                  <a:schemeClr val="tx1"/>
                </a:solidFill>
              </a:rPr>
              <a:t>경우</a:t>
            </a:r>
            <a:r>
              <a:rPr lang="en-US" altLang="ko-KR" sz="1075" kern="1200" dirty="0">
                <a:solidFill>
                  <a:schemeClr val="tx1"/>
                </a:solidFill>
              </a:rPr>
              <a:t>: </a:t>
            </a:r>
            <a:r>
              <a:rPr lang="ko-KR" altLang="en-US" sz="1075" kern="1200" dirty="0">
                <a:solidFill>
                  <a:schemeClr val="tx1"/>
                </a:solidFill>
              </a:rPr>
              <a:t>무차별곡선이</a:t>
            </a:r>
            <a:r>
              <a:rPr lang="en-US" altLang="en-US" sz="1075" kern="1200" dirty="0">
                <a:solidFill>
                  <a:schemeClr val="tx1"/>
                </a:solidFill>
              </a:rPr>
              <a:t> </a:t>
            </a:r>
            <a:r>
              <a:rPr lang="ko-KR" altLang="en-US" sz="1075" kern="1200" dirty="0">
                <a:solidFill>
                  <a:schemeClr val="tx1"/>
                </a:solidFill>
              </a:rPr>
              <a:t>직선</a:t>
            </a:r>
            <a:r>
              <a:rPr lang="en-US" altLang="ko-KR" sz="1075" kern="1200" dirty="0">
                <a:solidFill>
                  <a:schemeClr val="tx1"/>
                </a:solidFill>
              </a:rPr>
              <a:t>. MRS</a:t>
            </a:r>
            <a:r>
              <a:rPr lang="ko-KR" altLang="en-US" sz="1075" kern="1200" dirty="0">
                <a:solidFill>
                  <a:schemeClr val="tx1"/>
                </a:solidFill>
              </a:rPr>
              <a:t>는</a:t>
            </a:r>
            <a:r>
              <a:rPr lang="en-US" altLang="ko-KR" sz="1075" kern="1200" dirty="0">
                <a:solidFill>
                  <a:schemeClr val="tx1"/>
                </a:solidFill>
              </a:rPr>
              <a:t> </a:t>
            </a:r>
            <a:r>
              <a:rPr lang="ko-KR" altLang="en-US" sz="1075" kern="1200" dirty="0">
                <a:solidFill>
                  <a:schemeClr val="tx1"/>
                </a:solidFill>
              </a:rPr>
              <a:t>항상</a:t>
            </a:r>
            <a:r>
              <a:rPr lang="en-US" altLang="ko-KR" sz="1075" kern="1200" dirty="0">
                <a:solidFill>
                  <a:schemeClr val="tx1"/>
                </a:solidFill>
              </a:rPr>
              <a:t> </a:t>
            </a:r>
            <a:r>
              <a:rPr lang="ko-KR" altLang="en-US" sz="1075" kern="1200" dirty="0">
                <a:solidFill>
                  <a:schemeClr val="tx1"/>
                </a:solidFill>
              </a:rPr>
              <a:t>일정</a:t>
            </a:r>
            <a:r>
              <a:rPr lang="en-US" altLang="en-US" sz="1075" kern="1200" dirty="0">
                <a:solidFill>
                  <a:schemeClr val="tx1"/>
                </a:solidFill>
              </a:rPr>
              <a:t> </a:t>
            </a:r>
            <a:r>
              <a:rPr lang="en-US" altLang="ko-KR" sz="1075" kern="1200" dirty="0">
                <a:solidFill>
                  <a:schemeClr val="tx1"/>
                </a:solidFill>
              </a:rPr>
              <a:t>ex. 1</a:t>
            </a:r>
            <a:r>
              <a:rPr lang="ko-KR" altLang="en-US" sz="1075" kern="1200" dirty="0">
                <a:solidFill>
                  <a:schemeClr val="tx1"/>
                </a:solidFill>
              </a:rPr>
              <a:t>만원</a:t>
            </a:r>
            <a:r>
              <a:rPr lang="en-US" altLang="en-US" sz="1075" kern="1200" dirty="0">
                <a:solidFill>
                  <a:schemeClr val="tx1"/>
                </a:solidFill>
              </a:rPr>
              <a:t> </a:t>
            </a:r>
            <a:r>
              <a:rPr lang="ko-KR" altLang="en-US" sz="1075" kern="1200" dirty="0">
                <a:solidFill>
                  <a:schemeClr val="tx1"/>
                </a:solidFill>
              </a:rPr>
              <a:t>지폐와</a:t>
            </a:r>
            <a:r>
              <a:rPr lang="en-US" altLang="en-US" sz="1075" kern="1200" dirty="0">
                <a:solidFill>
                  <a:schemeClr val="tx1"/>
                </a:solidFill>
              </a:rPr>
              <a:t> </a:t>
            </a:r>
            <a:r>
              <a:rPr lang="en-US" altLang="ko-KR" sz="1075" kern="1200" dirty="0">
                <a:solidFill>
                  <a:schemeClr val="tx1"/>
                </a:solidFill>
              </a:rPr>
              <a:t>5</a:t>
            </a:r>
            <a:r>
              <a:rPr lang="ko-KR" altLang="en-US" sz="1075" kern="1200" dirty="0">
                <a:solidFill>
                  <a:schemeClr val="tx1"/>
                </a:solidFill>
              </a:rPr>
              <a:t>천원</a:t>
            </a:r>
            <a:r>
              <a:rPr lang="en-US" altLang="en-US" sz="1075" kern="1200" dirty="0">
                <a:solidFill>
                  <a:schemeClr val="tx1"/>
                </a:solidFill>
              </a:rPr>
              <a:t> </a:t>
            </a:r>
            <a:r>
              <a:rPr lang="ko-KR" altLang="en-US" sz="1075" kern="1200" dirty="0">
                <a:solidFill>
                  <a:schemeClr val="tx1"/>
                </a:solidFill>
              </a:rPr>
              <a:t>지폐</a:t>
            </a:r>
            <a:endParaRPr sz="1075" kern="1200" dirty="0">
              <a:solidFill>
                <a:schemeClr val="tx1"/>
              </a:solidFill>
            </a:endParaRP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ko-KR" altLang="en-US" sz="1075" kern="1200" dirty="0">
                <a:solidFill>
                  <a:schemeClr val="tx1"/>
                </a:solidFill>
              </a:rPr>
              <a:t>완전보완재의</a:t>
            </a:r>
            <a:r>
              <a:rPr lang="en-US" altLang="en-US" sz="1075" kern="1200" dirty="0">
                <a:solidFill>
                  <a:schemeClr val="tx1"/>
                </a:solidFill>
              </a:rPr>
              <a:t> </a:t>
            </a:r>
            <a:r>
              <a:rPr lang="ko-KR" altLang="en-US" sz="1075" kern="1200" dirty="0">
                <a:solidFill>
                  <a:schemeClr val="tx1"/>
                </a:solidFill>
              </a:rPr>
              <a:t>경우</a:t>
            </a:r>
            <a:r>
              <a:rPr lang="en-US" altLang="ko-KR" sz="1075" kern="1200" dirty="0">
                <a:solidFill>
                  <a:schemeClr val="tx1"/>
                </a:solidFill>
              </a:rPr>
              <a:t>: </a:t>
            </a:r>
            <a:r>
              <a:rPr lang="ko-KR" altLang="en-US" sz="1075" kern="1200" dirty="0">
                <a:solidFill>
                  <a:schemeClr val="tx1"/>
                </a:solidFill>
              </a:rPr>
              <a:t>무차별곡선이</a:t>
            </a:r>
            <a:r>
              <a:rPr lang="en-US" altLang="en-US" sz="1075" kern="1200" dirty="0">
                <a:solidFill>
                  <a:schemeClr val="tx1"/>
                </a:solidFill>
              </a:rPr>
              <a:t> </a:t>
            </a:r>
            <a:r>
              <a:rPr lang="en-US" altLang="ko-KR" sz="1075" kern="1200" dirty="0">
                <a:solidFill>
                  <a:schemeClr val="tx1"/>
                </a:solidFill>
              </a:rPr>
              <a:t>L</a:t>
            </a:r>
            <a:r>
              <a:rPr lang="ko-KR" altLang="en-US" sz="1075" kern="1200" dirty="0">
                <a:solidFill>
                  <a:schemeClr val="tx1"/>
                </a:solidFill>
              </a:rPr>
              <a:t>자</a:t>
            </a:r>
            <a:r>
              <a:rPr lang="en-US" altLang="en-US" sz="1075" kern="1200" dirty="0">
                <a:solidFill>
                  <a:schemeClr val="tx1"/>
                </a:solidFill>
              </a:rPr>
              <a:t> </a:t>
            </a:r>
            <a:r>
              <a:rPr lang="ko-KR" altLang="en-US" sz="1075" kern="1200" dirty="0">
                <a:solidFill>
                  <a:schemeClr val="tx1"/>
                </a:solidFill>
              </a:rPr>
              <a:t>모양</a:t>
            </a:r>
            <a:r>
              <a:rPr lang="en-US" altLang="ko-KR" sz="1075" kern="1200" dirty="0">
                <a:solidFill>
                  <a:schemeClr val="tx1"/>
                </a:solidFill>
              </a:rPr>
              <a:t>(</a:t>
            </a:r>
            <a:r>
              <a:rPr lang="ko-KR" altLang="en-US" sz="1075" kern="1200" dirty="0">
                <a:solidFill>
                  <a:schemeClr val="tx1"/>
                </a:solidFill>
              </a:rPr>
              <a:t>직각</a:t>
            </a:r>
            <a:r>
              <a:rPr lang="en-US" altLang="ko-KR" sz="1075" kern="1200" dirty="0">
                <a:solidFill>
                  <a:schemeClr val="tx1"/>
                </a:solidFill>
              </a:rPr>
              <a:t>) ex.</a:t>
            </a:r>
            <a:r>
              <a:rPr lang="en-US" altLang="en-US" sz="1075" kern="1200" dirty="0">
                <a:solidFill>
                  <a:schemeClr val="tx1"/>
                </a:solidFill>
              </a:rPr>
              <a:t> </a:t>
            </a:r>
            <a:r>
              <a:rPr lang="ko-KR" altLang="en-US" sz="1075" kern="1200" dirty="0">
                <a:solidFill>
                  <a:schemeClr val="tx1"/>
                </a:solidFill>
              </a:rPr>
              <a:t>왼쪽</a:t>
            </a:r>
            <a:r>
              <a:rPr lang="en-US" altLang="en-US" sz="1075" kern="1200" dirty="0">
                <a:solidFill>
                  <a:schemeClr val="tx1"/>
                </a:solidFill>
              </a:rPr>
              <a:t> </a:t>
            </a:r>
            <a:r>
              <a:rPr lang="ko-KR" altLang="en-US" sz="1075" kern="1200" dirty="0">
                <a:solidFill>
                  <a:schemeClr val="tx1"/>
                </a:solidFill>
              </a:rPr>
              <a:t>신발과</a:t>
            </a:r>
            <a:r>
              <a:rPr lang="en-US" altLang="en-US" sz="1075" kern="1200" dirty="0">
                <a:solidFill>
                  <a:schemeClr val="tx1"/>
                </a:solidFill>
              </a:rPr>
              <a:t> </a:t>
            </a:r>
            <a:r>
              <a:rPr lang="ko-KR" altLang="en-US" sz="1075" kern="1200" dirty="0">
                <a:solidFill>
                  <a:schemeClr val="tx1"/>
                </a:solidFill>
              </a:rPr>
              <a:t>오른쪽</a:t>
            </a:r>
            <a:r>
              <a:rPr lang="en-US" altLang="en-US" sz="1075" kern="1200" dirty="0">
                <a:solidFill>
                  <a:schemeClr val="tx1"/>
                </a:solidFill>
              </a:rPr>
              <a:t> </a:t>
            </a:r>
            <a:r>
              <a:rPr lang="ko-KR" altLang="en-US" sz="1075" kern="1200" dirty="0">
                <a:solidFill>
                  <a:schemeClr val="tx1"/>
                </a:solidFill>
              </a:rPr>
              <a:t>신발</a:t>
            </a:r>
            <a:endParaRPr sz="1075" kern="1200" dirty="0">
              <a:solidFill>
                <a:schemeClr val="tx1"/>
              </a:solidFill>
            </a:endParaRP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ko-KR" altLang="en-US" sz="1075" kern="1200" dirty="0">
                <a:solidFill>
                  <a:schemeClr val="tx1"/>
                </a:solidFill>
              </a:rPr>
              <a:t>이외</a:t>
            </a:r>
            <a:r>
              <a:rPr lang="en-US" altLang="en-US" sz="1075" kern="1200" dirty="0">
                <a:solidFill>
                  <a:schemeClr val="tx1"/>
                </a:solidFill>
              </a:rPr>
              <a:t> </a:t>
            </a:r>
            <a:r>
              <a:rPr lang="ko-KR" altLang="en-US" sz="1075" kern="1200" dirty="0">
                <a:solidFill>
                  <a:schemeClr val="tx1"/>
                </a:solidFill>
              </a:rPr>
              <a:t>가까운</a:t>
            </a:r>
            <a:r>
              <a:rPr lang="en-US" altLang="en-US" sz="1075" kern="1200" dirty="0">
                <a:solidFill>
                  <a:schemeClr val="tx1"/>
                </a:solidFill>
              </a:rPr>
              <a:t> </a:t>
            </a:r>
            <a:r>
              <a:rPr lang="ko-KR" altLang="en-US" sz="1075" kern="1200" dirty="0">
                <a:solidFill>
                  <a:schemeClr val="tx1"/>
                </a:solidFill>
              </a:rPr>
              <a:t>대체재</a:t>
            </a:r>
            <a:r>
              <a:rPr lang="en-US" altLang="ko-KR" sz="1075" kern="1200" dirty="0">
                <a:solidFill>
                  <a:schemeClr val="tx1"/>
                </a:solidFill>
              </a:rPr>
              <a:t>(</a:t>
            </a:r>
            <a:r>
              <a:rPr lang="ko-KR" altLang="en-US" sz="1075" kern="1200" dirty="0">
                <a:solidFill>
                  <a:schemeClr val="tx1"/>
                </a:solidFill>
              </a:rPr>
              <a:t>약간</a:t>
            </a:r>
            <a:r>
              <a:rPr lang="en-US" altLang="en-US" sz="1075" kern="1200" dirty="0">
                <a:solidFill>
                  <a:schemeClr val="tx1"/>
                </a:solidFill>
              </a:rPr>
              <a:t> </a:t>
            </a:r>
            <a:r>
              <a:rPr lang="ko-KR" altLang="en-US" sz="1075" kern="1200" dirty="0">
                <a:solidFill>
                  <a:schemeClr val="tx1"/>
                </a:solidFill>
              </a:rPr>
              <a:t>오목</a:t>
            </a:r>
            <a:r>
              <a:rPr lang="en-US" altLang="ko-KR" sz="1075" kern="1200" dirty="0">
                <a:solidFill>
                  <a:schemeClr val="tx1"/>
                </a:solidFill>
              </a:rPr>
              <a:t>)</a:t>
            </a:r>
            <a:r>
              <a:rPr lang="ko-KR" altLang="en-US" sz="1075" kern="1200" dirty="0">
                <a:solidFill>
                  <a:schemeClr val="tx1"/>
                </a:solidFill>
              </a:rPr>
              <a:t>와</a:t>
            </a:r>
            <a:r>
              <a:rPr lang="en-US" altLang="en-US" sz="1075" kern="1200" dirty="0">
                <a:solidFill>
                  <a:schemeClr val="tx1"/>
                </a:solidFill>
              </a:rPr>
              <a:t> </a:t>
            </a:r>
            <a:r>
              <a:rPr lang="ko-KR" altLang="en-US" sz="1075" kern="1200" dirty="0">
                <a:solidFill>
                  <a:schemeClr val="tx1"/>
                </a:solidFill>
              </a:rPr>
              <a:t>가까운</a:t>
            </a:r>
            <a:r>
              <a:rPr lang="en-US" altLang="en-US" sz="1075" kern="1200" dirty="0">
                <a:solidFill>
                  <a:schemeClr val="tx1"/>
                </a:solidFill>
              </a:rPr>
              <a:t> </a:t>
            </a:r>
            <a:r>
              <a:rPr lang="ko-KR" altLang="en-US" sz="1075" kern="1200" dirty="0" err="1">
                <a:solidFill>
                  <a:schemeClr val="tx1"/>
                </a:solidFill>
              </a:rPr>
              <a:t>보완재</a:t>
            </a:r>
            <a:r>
              <a:rPr lang="en-US" altLang="ko-KR" sz="1075" kern="1200" dirty="0">
                <a:solidFill>
                  <a:schemeClr val="tx1"/>
                </a:solidFill>
              </a:rPr>
              <a:t>(</a:t>
            </a:r>
            <a:r>
              <a:rPr lang="ko-KR" altLang="en-US" sz="1075" kern="1200" dirty="0">
                <a:solidFill>
                  <a:schemeClr val="tx1"/>
                </a:solidFill>
              </a:rPr>
              <a:t>매우</a:t>
            </a:r>
            <a:r>
              <a:rPr lang="en-US" altLang="en-US" sz="1075" kern="1200" dirty="0">
                <a:solidFill>
                  <a:schemeClr val="tx1"/>
                </a:solidFill>
              </a:rPr>
              <a:t> </a:t>
            </a:r>
            <a:r>
              <a:rPr lang="ko-KR" altLang="en-US" sz="1075" kern="1200" dirty="0">
                <a:solidFill>
                  <a:schemeClr val="tx1"/>
                </a:solidFill>
              </a:rPr>
              <a:t>오목</a:t>
            </a:r>
            <a:r>
              <a:rPr lang="en-US" altLang="ko-KR" sz="1075" kern="1200" dirty="0">
                <a:solidFill>
                  <a:schemeClr val="tx1"/>
                </a:solidFill>
              </a:rPr>
              <a:t>)</a:t>
            </a:r>
            <a:r>
              <a:rPr lang="ko-KR" altLang="en-US" sz="1075" kern="1200" dirty="0">
                <a:solidFill>
                  <a:schemeClr val="tx1"/>
                </a:solidFill>
              </a:rPr>
              <a:t>의</a:t>
            </a:r>
            <a:r>
              <a:rPr lang="en-US" altLang="en-US" sz="1075" kern="1200" dirty="0">
                <a:solidFill>
                  <a:schemeClr val="tx1"/>
                </a:solidFill>
              </a:rPr>
              <a:t> </a:t>
            </a:r>
            <a:r>
              <a:rPr lang="ko-KR" altLang="en-US" sz="1075" kern="1200" dirty="0">
                <a:solidFill>
                  <a:schemeClr val="tx1"/>
                </a:solidFill>
              </a:rPr>
              <a:t>경우</a:t>
            </a:r>
            <a:endParaRPr sz="1075" kern="1200" dirty="0">
              <a:solidFill>
                <a:schemeClr val="tx1"/>
              </a:solidFill>
            </a:endParaRPr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en-US" sz="1300" kern="1200" dirty="0">
                <a:solidFill>
                  <a:schemeClr val="tx1"/>
                </a:solidFill>
              </a:rPr>
              <a:t>소비자의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</a:rPr>
              <a:t>최적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</a:rPr>
              <a:t>선택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r>
              <a:rPr lang="en-US" altLang="ko-KR" sz="1300" kern="1200" dirty="0">
                <a:solidFill>
                  <a:schemeClr val="tx1"/>
                </a:solidFill>
              </a:rPr>
              <a:t>Optimization</a:t>
            </a: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ko-KR" altLang="en-US" sz="1100" kern="1200" dirty="0" err="1">
                <a:solidFill>
                  <a:schemeClr val="tx1"/>
                </a:solidFill>
              </a:rPr>
              <a:t>최적점</a:t>
            </a:r>
            <a:r>
              <a:rPr lang="en-US" altLang="ko-KR" sz="1100" kern="1200" dirty="0">
                <a:solidFill>
                  <a:schemeClr val="tx1"/>
                </a:solidFill>
              </a:rPr>
              <a:t>: </a:t>
            </a:r>
            <a:r>
              <a:rPr lang="ko-KR" altLang="en-US" sz="1100" kern="1200" dirty="0">
                <a:solidFill>
                  <a:schemeClr val="tx1"/>
                </a:solidFill>
              </a:rPr>
              <a:t>예산제약선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상의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한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점으로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가장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높은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위치의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무차별곡선과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만나는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점을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선택</a:t>
            </a:r>
            <a:endParaRPr sz="1100" kern="1200" dirty="0">
              <a:solidFill>
                <a:schemeClr val="tx1"/>
              </a:solidFill>
            </a:endParaRP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ko-KR" altLang="en-US" sz="1100" kern="1200" dirty="0">
                <a:solidFill>
                  <a:schemeClr val="tx1"/>
                </a:solidFill>
              </a:rPr>
              <a:t>소비자가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선택할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수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있는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모든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소비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묶음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가운데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가장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선호하는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묶음을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의미</a:t>
            </a:r>
            <a:endParaRPr sz="1100" kern="1200" dirty="0">
              <a:solidFill>
                <a:schemeClr val="tx1"/>
              </a:solidFill>
            </a:endParaRPr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en-US" sz="1300" kern="1200" dirty="0" err="1">
                <a:solidFill>
                  <a:schemeClr val="tx1"/>
                </a:solidFill>
              </a:rPr>
              <a:t>최적점에서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</a:rPr>
              <a:t>무차별곡선의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</a:rPr>
              <a:t>기울기와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</a:rPr>
              <a:t>예산제약선의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</a:rPr>
              <a:t>기울기가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</a:rPr>
              <a:t>같음</a:t>
            </a:r>
            <a:r>
              <a:rPr lang="en-US" altLang="ko-KR" sz="1300" kern="1200" dirty="0">
                <a:solidFill>
                  <a:schemeClr val="tx1"/>
                </a:solidFill>
              </a:rPr>
              <a:t>.</a:t>
            </a:r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en-US" sz="1300" kern="1200" dirty="0">
                <a:solidFill>
                  <a:schemeClr val="tx1"/>
                </a:solidFill>
              </a:rPr>
              <a:t>최적선택의</a:t>
            </a:r>
            <a:r>
              <a:rPr lang="en-US" altLang="ko-KR" sz="1300" kern="1200" dirty="0">
                <a:solidFill>
                  <a:schemeClr val="tx1"/>
                </a:solidFill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</a:rPr>
              <a:t>조건</a:t>
            </a:r>
            <a:r>
              <a:rPr lang="en-US" altLang="ko-KR" sz="1300" kern="1200" dirty="0">
                <a:solidFill>
                  <a:schemeClr val="tx1"/>
                </a:solidFill>
              </a:rPr>
              <a:t>: MRS = P</a:t>
            </a:r>
            <a:r>
              <a:rPr lang="en-US" altLang="ko-KR" sz="1300" kern="1200" baseline="-25000" dirty="0">
                <a:solidFill>
                  <a:schemeClr val="tx1"/>
                </a:solidFill>
              </a:rPr>
              <a:t>F </a:t>
            </a:r>
            <a:r>
              <a:rPr lang="en-US" altLang="ko-KR" sz="1300" kern="1200" dirty="0">
                <a:solidFill>
                  <a:schemeClr val="tx1"/>
                </a:solidFill>
              </a:rPr>
              <a:t>/ P</a:t>
            </a:r>
            <a:r>
              <a:rPr lang="en-US" altLang="ko-KR" sz="1300" kern="1200" baseline="-25000" dirty="0">
                <a:solidFill>
                  <a:schemeClr val="tx1"/>
                </a:solidFill>
              </a:rPr>
              <a:t>M </a:t>
            </a: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en-US" altLang="ko-KR" sz="1100" kern="1200" dirty="0">
                <a:solidFill>
                  <a:schemeClr val="tx1"/>
                </a:solidFill>
              </a:rPr>
              <a:t>(</a:t>
            </a:r>
            <a:r>
              <a:rPr lang="ko-KR" altLang="en-US" sz="1100" kern="1200" dirty="0">
                <a:solidFill>
                  <a:schemeClr val="tx1"/>
                </a:solidFill>
              </a:rPr>
              <a:t>주관적</a:t>
            </a:r>
            <a:r>
              <a:rPr lang="en-US" altLang="ko-KR" sz="1100" kern="1200" dirty="0">
                <a:solidFill>
                  <a:schemeClr val="tx1"/>
                </a:solidFill>
              </a:rPr>
              <a:t>) </a:t>
            </a:r>
            <a:r>
              <a:rPr lang="ko-KR" altLang="en-US" sz="1100" kern="1200" dirty="0">
                <a:solidFill>
                  <a:schemeClr val="tx1"/>
                </a:solidFill>
              </a:rPr>
              <a:t>고등어의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한계가치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en-US" altLang="ko-KR" sz="1100" kern="1200" dirty="0">
                <a:solidFill>
                  <a:schemeClr val="tx1"/>
                </a:solidFill>
              </a:rPr>
              <a:t>= (</a:t>
            </a:r>
            <a:r>
              <a:rPr lang="ko-KR" altLang="en-US" sz="1100" kern="1200" dirty="0">
                <a:solidFill>
                  <a:schemeClr val="tx1"/>
                </a:solidFill>
              </a:rPr>
              <a:t>객관적</a:t>
            </a:r>
            <a:r>
              <a:rPr lang="en-US" altLang="ko-KR" sz="1100" kern="1200" dirty="0">
                <a:solidFill>
                  <a:schemeClr val="tx1"/>
                </a:solidFill>
              </a:rPr>
              <a:t>) X</a:t>
            </a:r>
            <a:r>
              <a:rPr lang="ko-KR" altLang="en-US" sz="1100" kern="1200" dirty="0">
                <a:solidFill>
                  <a:schemeClr val="tx1"/>
                </a:solidFill>
              </a:rPr>
              <a:t>축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재화인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고등어의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상대가격</a:t>
            </a:r>
            <a:r>
              <a:rPr lang="en-US" altLang="ko-KR" sz="1100" kern="1200" dirty="0">
                <a:solidFill>
                  <a:schemeClr val="tx1"/>
                </a:solidFill>
              </a:rPr>
              <a:t>(</a:t>
            </a:r>
            <a:r>
              <a:rPr lang="ko-KR" altLang="en-US" sz="1100" kern="1200" dirty="0">
                <a:solidFill>
                  <a:schemeClr val="tx1"/>
                </a:solidFill>
              </a:rPr>
              <a:t>망고대비</a:t>
            </a:r>
            <a:r>
              <a:rPr lang="en-US" altLang="ko-KR" sz="1100" kern="1200" dirty="0">
                <a:solidFill>
                  <a:schemeClr val="tx1"/>
                </a:solidFill>
              </a:rPr>
              <a:t>)</a:t>
            </a: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endParaRPr sz="1075" kern="1200" dirty="0" smtClean="0">
              <a:solidFill>
                <a:schemeClr val="tx1"/>
              </a:solidFill>
            </a:endParaRPr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en-US" sz="1300" kern="1200" dirty="0" smtClean="0">
                <a:solidFill>
                  <a:schemeClr val="tx1"/>
                </a:solidFill>
              </a:rPr>
              <a:t>소득이</a:t>
            </a:r>
            <a:r>
              <a:rPr lang="en-US" altLang="en-US" sz="1300" kern="1200" dirty="0" smtClean="0">
                <a:solidFill>
                  <a:schemeClr val="tx1"/>
                </a:solidFill>
              </a:rPr>
              <a:t> </a:t>
            </a:r>
            <a:r>
              <a:rPr lang="ko-KR" altLang="en-US" sz="1300" kern="1200" dirty="0" smtClean="0">
                <a:solidFill>
                  <a:schemeClr val="tx1"/>
                </a:solidFill>
              </a:rPr>
              <a:t>증가하면</a:t>
            </a:r>
            <a:r>
              <a:rPr lang="en-US" altLang="ko-KR" sz="1300" kern="1200" dirty="0" smtClean="0">
                <a:solidFill>
                  <a:schemeClr val="tx1"/>
                </a:solidFill>
              </a:rPr>
              <a:t>?</a:t>
            </a: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ko-KR" altLang="en-US" sz="1100" kern="1200" dirty="0" smtClean="0">
                <a:solidFill>
                  <a:schemeClr val="tx1"/>
                </a:solidFill>
              </a:rPr>
              <a:t>두</a:t>
            </a:r>
            <a:r>
              <a:rPr lang="en-US" altLang="en-US" sz="1100" kern="1200" dirty="0" smtClean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재화가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모두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 err="1">
                <a:solidFill>
                  <a:schemeClr val="tx1"/>
                </a:solidFill>
              </a:rPr>
              <a:t>정상재라면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 err="1">
                <a:solidFill>
                  <a:schemeClr val="tx1"/>
                </a:solidFill>
              </a:rPr>
              <a:t>예산제약선은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바깥으로</a:t>
            </a:r>
            <a:r>
              <a:rPr lang="en-US" altLang="ko-KR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수평이동</a:t>
            </a:r>
            <a:endParaRPr sz="1100" kern="1200" dirty="0">
              <a:solidFill>
                <a:schemeClr val="tx1"/>
              </a:solidFill>
            </a:endParaRP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ko-KR" altLang="en-US" sz="1100" kern="1200" dirty="0">
                <a:solidFill>
                  <a:schemeClr val="tx1"/>
                </a:solidFill>
              </a:rPr>
              <a:t>만약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둘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중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한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재화</a:t>
            </a:r>
            <a:r>
              <a:rPr lang="en-US" altLang="ko-KR" sz="1100" kern="1200" dirty="0">
                <a:solidFill>
                  <a:schemeClr val="tx1"/>
                </a:solidFill>
              </a:rPr>
              <a:t>(ex. </a:t>
            </a:r>
            <a:r>
              <a:rPr lang="ko-KR" altLang="en-US" sz="1100" kern="1200" dirty="0">
                <a:solidFill>
                  <a:schemeClr val="tx1"/>
                </a:solidFill>
              </a:rPr>
              <a:t>망고</a:t>
            </a:r>
            <a:r>
              <a:rPr lang="en-US" altLang="ko-KR" sz="1100" kern="1200" dirty="0">
                <a:solidFill>
                  <a:schemeClr val="tx1"/>
                </a:solidFill>
              </a:rPr>
              <a:t>)</a:t>
            </a:r>
            <a:r>
              <a:rPr lang="ko-KR" altLang="en-US" sz="1100" kern="1200" dirty="0">
                <a:solidFill>
                  <a:schemeClr val="tx1"/>
                </a:solidFill>
              </a:rPr>
              <a:t>가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 err="1">
                <a:solidFill>
                  <a:schemeClr val="tx1"/>
                </a:solidFill>
              </a:rPr>
              <a:t>열등재라면</a:t>
            </a:r>
            <a:r>
              <a:rPr lang="en-US" altLang="ko-KR" sz="1100" kern="1200" dirty="0">
                <a:solidFill>
                  <a:schemeClr val="tx1"/>
                </a:solidFill>
              </a:rPr>
              <a:t>, </a:t>
            </a:r>
            <a:r>
              <a:rPr lang="ko-KR" altLang="en-US" sz="1100" kern="1200" dirty="0">
                <a:solidFill>
                  <a:schemeClr val="tx1"/>
                </a:solidFill>
              </a:rPr>
              <a:t>망고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소비량은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줄어듦</a:t>
            </a:r>
            <a:r>
              <a:rPr lang="en-US" altLang="ko-KR" sz="1100" kern="1200" dirty="0">
                <a:solidFill>
                  <a:schemeClr val="tx1"/>
                </a:solidFill>
              </a:rPr>
              <a:t>.</a:t>
            </a:r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en-US" sz="1300" kern="1200" dirty="0">
                <a:solidFill>
                  <a:schemeClr val="tx1"/>
                </a:solidFill>
              </a:rPr>
              <a:t>가격효과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r>
              <a:rPr lang="en-US" altLang="ko-KR" sz="1300" kern="1200" dirty="0">
                <a:solidFill>
                  <a:schemeClr val="tx1"/>
                </a:solidFill>
              </a:rPr>
              <a:t>= </a:t>
            </a:r>
            <a:r>
              <a:rPr lang="ko-KR" altLang="en-US" sz="1300" kern="1200" dirty="0">
                <a:solidFill>
                  <a:schemeClr val="tx1"/>
                </a:solidFill>
              </a:rPr>
              <a:t>대체효과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r>
              <a:rPr lang="en-US" altLang="ko-KR" sz="1300" kern="1200" dirty="0">
                <a:solidFill>
                  <a:schemeClr val="tx1"/>
                </a:solidFill>
              </a:rPr>
              <a:t>+ </a:t>
            </a:r>
            <a:r>
              <a:rPr lang="ko-KR" altLang="en-US" sz="1300" kern="1200" dirty="0">
                <a:solidFill>
                  <a:schemeClr val="tx1"/>
                </a:solidFill>
              </a:rPr>
              <a:t>소득효과</a:t>
            </a:r>
            <a:endParaRPr sz="1300" kern="1200" dirty="0">
              <a:solidFill>
                <a:schemeClr val="tx1"/>
              </a:solidFill>
            </a:endParaRP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ko-KR" altLang="en-US" sz="1100" kern="1200" dirty="0">
                <a:solidFill>
                  <a:schemeClr val="tx1"/>
                </a:solidFill>
              </a:rPr>
              <a:t>만약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둘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중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한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재화</a:t>
            </a:r>
            <a:r>
              <a:rPr lang="en-US" altLang="ko-KR" sz="1100" kern="1200" dirty="0">
                <a:solidFill>
                  <a:schemeClr val="tx1"/>
                </a:solidFill>
              </a:rPr>
              <a:t>(ex. </a:t>
            </a:r>
            <a:r>
              <a:rPr lang="ko-KR" altLang="en-US" sz="1100" kern="1200" dirty="0">
                <a:solidFill>
                  <a:schemeClr val="tx1"/>
                </a:solidFill>
              </a:rPr>
              <a:t>고등어</a:t>
            </a:r>
            <a:r>
              <a:rPr lang="en-US" altLang="ko-KR" sz="1100" kern="1200" dirty="0">
                <a:solidFill>
                  <a:schemeClr val="tx1"/>
                </a:solidFill>
              </a:rPr>
              <a:t>)</a:t>
            </a:r>
            <a:r>
              <a:rPr lang="ko-KR" altLang="en-US" sz="1100" kern="1200" dirty="0">
                <a:solidFill>
                  <a:schemeClr val="tx1"/>
                </a:solidFill>
              </a:rPr>
              <a:t>의</a:t>
            </a:r>
            <a:r>
              <a:rPr lang="en-US" altLang="ko-KR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가격이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하락한다면</a:t>
            </a:r>
            <a:r>
              <a:rPr lang="en-US" altLang="ko-KR" sz="1100" kern="1200" dirty="0">
                <a:solidFill>
                  <a:schemeClr val="tx1"/>
                </a:solidFill>
              </a:rPr>
              <a:t>?</a:t>
            </a: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ko-KR" altLang="en-US" sz="1100" kern="1200" dirty="0">
                <a:solidFill>
                  <a:schemeClr val="tx1"/>
                </a:solidFill>
              </a:rPr>
              <a:t>대체효과와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가격효과가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동시에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발생</a:t>
            </a:r>
            <a:endParaRPr sz="1100" kern="1200" dirty="0">
              <a:solidFill>
                <a:schemeClr val="tx1"/>
              </a:solidFill>
            </a:endParaRPr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en-US" sz="1300" kern="1200" dirty="0">
                <a:solidFill>
                  <a:schemeClr val="tx1"/>
                </a:solidFill>
              </a:rPr>
              <a:t>대체효과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r>
              <a:rPr lang="en-US" altLang="ko-KR" sz="1300" kern="1200" dirty="0">
                <a:solidFill>
                  <a:schemeClr val="tx1"/>
                </a:solidFill>
              </a:rPr>
              <a:t>: </a:t>
            </a:r>
            <a:r>
              <a:rPr lang="ko-KR" altLang="en-US" sz="1300" kern="1200" dirty="0">
                <a:solidFill>
                  <a:schemeClr val="tx1"/>
                </a:solidFill>
              </a:rPr>
              <a:t>상대가격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</a:rPr>
              <a:t>변화에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</a:rPr>
              <a:t>적응하기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</a:rPr>
              <a:t>위한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</a:rPr>
              <a:t>소비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</a:rPr>
              <a:t>묶음의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</a:rPr>
              <a:t>조정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endParaRPr sz="1300" kern="1200" dirty="0">
              <a:solidFill>
                <a:schemeClr val="tx1"/>
              </a:solidFill>
            </a:endParaRP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ko-KR" altLang="en-US" sz="1100" kern="1200" dirty="0">
                <a:solidFill>
                  <a:schemeClr val="tx1"/>
                </a:solidFill>
              </a:rPr>
              <a:t>고등어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가격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하락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시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고등어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대비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망고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가격이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더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비싸짐</a:t>
            </a:r>
            <a:r>
              <a:rPr lang="en-US" altLang="ko-KR" sz="1100" kern="1200" dirty="0">
                <a:solidFill>
                  <a:schemeClr val="tx1"/>
                </a:solidFill>
              </a:rPr>
              <a:t>(=</a:t>
            </a:r>
            <a:r>
              <a:rPr lang="ko-KR" altLang="en-US" sz="1100" kern="1200" dirty="0">
                <a:solidFill>
                  <a:schemeClr val="tx1"/>
                </a:solidFill>
              </a:rPr>
              <a:t>망고대비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고등어는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더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싸짐</a:t>
            </a:r>
            <a:r>
              <a:rPr lang="en-US" altLang="ko-KR" sz="1100" kern="1200" dirty="0">
                <a:solidFill>
                  <a:schemeClr val="tx1"/>
                </a:solidFill>
              </a:rPr>
              <a:t>)… </a:t>
            </a:r>
            <a:r>
              <a:rPr lang="ko-KR" altLang="en-US" sz="1100" kern="1200" dirty="0">
                <a:solidFill>
                  <a:schemeClr val="tx1"/>
                </a:solidFill>
              </a:rPr>
              <a:t>비싸진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재화는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줄이고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싸진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재화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늘리려고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함</a:t>
            </a:r>
            <a:r>
              <a:rPr lang="en-US" altLang="ko-KR" sz="1100" kern="1200" dirty="0">
                <a:solidFill>
                  <a:schemeClr val="tx1"/>
                </a:solidFill>
              </a:rPr>
              <a:t>.</a:t>
            </a:r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en-US" sz="1300" kern="1200" dirty="0">
                <a:solidFill>
                  <a:schemeClr val="tx1"/>
                </a:solidFill>
              </a:rPr>
              <a:t>소득효과</a:t>
            </a:r>
            <a:r>
              <a:rPr lang="en-US" altLang="ko-KR" sz="1300" kern="1200" dirty="0">
                <a:solidFill>
                  <a:schemeClr val="tx1"/>
                </a:solidFill>
              </a:rPr>
              <a:t>: </a:t>
            </a:r>
            <a:r>
              <a:rPr lang="ko-KR" altLang="en-US" sz="1300" kern="1200" dirty="0">
                <a:solidFill>
                  <a:schemeClr val="tx1"/>
                </a:solidFill>
              </a:rPr>
              <a:t>구매력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r>
              <a:rPr lang="en-US" altLang="ko-KR" sz="1300" kern="1200" dirty="0">
                <a:solidFill>
                  <a:schemeClr val="tx1"/>
                </a:solidFill>
              </a:rPr>
              <a:t>purchasing power</a:t>
            </a:r>
            <a:r>
              <a:rPr lang="ko-KR" altLang="en-US" sz="1300" kern="1200" dirty="0">
                <a:solidFill>
                  <a:schemeClr val="tx1"/>
                </a:solidFill>
              </a:rPr>
              <a:t>의</a:t>
            </a:r>
            <a:r>
              <a:rPr lang="en-US" altLang="ko-KR" sz="1300" kern="1200" dirty="0">
                <a:solidFill>
                  <a:schemeClr val="tx1"/>
                </a:solidFill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</a:rPr>
              <a:t>변화에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</a:rPr>
              <a:t>대응한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</a:rPr>
              <a:t>소비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</a:rPr>
              <a:t>묶음의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</a:rPr>
              <a:t>조정</a:t>
            </a:r>
            <a:r>
              <a:rPr lang="en-US" altLang="ko-KR" sz="1300" kern="1200" dirty="0">
                <a:solidFill>
                  <a:schemeClr val="tx1"/>
                </a:solidFill>
              </a:rPr>
              <a:t>     </a:t>
            </a: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ko-KR" altLang="en-US" sz="1100" kern="1200" dirty="0">
                <a:solidFill>
                  <a:schemeClr val="tx1"/>
                </a:solidFill>
              </a:rPr>
              <a:t>고등어의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가격이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하락하면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소비자의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구매력은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커지고</a:t>
            </a:r>
            <a:r>
              <a:rPr lang="en-US" altLang="ko-KR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망고와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고등어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모두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더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많이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살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수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있게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됨</a:t>
            </a:r>
            <a:r>
              <a:rPr lang="en-US" altLang="ko-KR" sz="1100" kern="1200" dirty="0">
                <a:solidFill>
                  <a:schemeClr val="tx1"/>
                </a:solidFill>
              </a:rPr>
              <a:t>. </a:t>
            </a:r>
            <a:r>
              <a:rPr lang="ko-KR" altLang="en-US" sz="1100" kern="1200" dirty="0">
                <a:solidFill>
                  <a:schemeClr val="tx1"/>
                </a:solidFill>
              </a:rPr>
              <a:t>고등어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가격이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오르면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그</a:t>
            </a:r>
            <a:r>
              <a:rPr lang="en-US" altLang="en-US" sz="1100" kern="1200" dirty="0">
                <a:solidFill>
                  <a:schemeClr val="tx1"/>
                </a:solidFill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</a:rPr>
              <a:t>반대</a:t>
            </a:r>
            <a:endParaRPr sz="1100" kern="1200" dirty="0">
              <a:solidFill>
                <a:schemeClr val="tx1"/>
              </a:solidFill>
            </a:endParaRPr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en-US" sz="1300" kern="1200" dirty="0">
                <a:solidFill>
                  <a:schemeClr val="tx1"/>
                </a:solidFill>
              </a:rPr>
              <a:t>대체효과와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</a:rPr>
              <a:t>소득효과를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</a:rPr>
              <a:t>합친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</a:rPr>
              <a:t>것이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</a:rPr>
              <a:t>가격변화의</a:t>
            </a:r>
            <a:r>
              <a:rPr lang="en-US" altLang="en-US" sz="1300" kern="1200" dirty="0">
                <a:solidFill>
                  <a:schemeClr val="tx1"/>
                </a:solidFill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</a:rPr>
              <a:t>효과</a:t>
            </a:r>
            <a:endParaRPr sz="1300" kern="1200" dirty="0">
              <a:solidFill>
                <a:schemeClr val="tx1"/>
              </a:solidFill>
            </a:endParaRPr>
          </a:p>
          <a:p>
            <a:pPr lvl="0">
              <a:lnSpc>
                <a:spcPct val="160000"/>
              </a:lnSpc>
            </a:pPr>
            <a:r>
              <a:rPr lang="ko-KR" altLang="en-US" sz="1300" dirty="0"/>
              <a:t>망고에</a:t>
            </a:r>
            <a:r>
              <a:rPr lang="en-US" altLang="en-US" sz="1300" dirty="0"/>
              <a:t> </a:t>
            </a:r>
            <a:r>
              <a:rPr lang="ko-KR" altLang="en-US" sz="1300" dirty="0"/>
              <a:t>대한</a:t>
            </a:r>
            <a:r>
              <a:rPr lang="en-US" altLang="en-US" sz="1300" dirty="0"/>
              <a:t> </a:t>
            </a:r>
            <a:r>
              <a:rPr lang="ko-KR" altLang="en-US" sz="1300" dirty="0" err="1"/>
              <a:t>순효과는</a:t>
            </a:r>
            <a:r>
              <a:rPr lang="en-US" altLang="en-US" sz="1300" dirty="0"/>
              <a:t> </a:t>
            </a:r>
            <a:r>
              <a:rPr lang="ko-KR" altLang="en-US" sz="1300" dirty="0"/>
              <a:t>불확실함</a:t>
            </a:r>
            <a:r>
              <a:rPr lang="en-US" altLang="ko-KR" sz="1300" dirty="0"/>
              <a:t>.  </a:t>
            </a:r>
          </a:p>
          <a:p>
            <a:pPr lvl="1">
              <a:lnSpc>
                <a:spcPct val="160000"/>
              </a:lnSpc>
            </a:pPr>
            <a:r>
              <a:rPr lang="ko-KR" altLang="en-US" sz="1075" dirty="0"/>
              <a:t>소득효과에</a:t>
            </a:r>
            <a:r>
              <a:rPr lang="en-US" altLang="en-US" sz="1075" dirty="0"/>
              <a:t> </a:t>
            </a:r>
            <a:r>
              <a:rPr lang="ko-KR" altLang="en-US" sz="1075" dirty="0"/>
              <a:t>따르면</a:t>
            </a:r>
            <a:r>
              <a:rPr lang="en-US" altLang="ko-KR" sz="1075" dirty="0"/>
              <a:t>,</a:t>
            </a:r>
            <a:r>
              <a:rPr lang="en-US" altLang="en-US" sz="1075" dirty="0"/>
              <a:t> </a:t>
            </a:r>
            <a:r>
              <a:rPr lang="ko-KR" altLang="en-US" sz="1075" dirty="0"/>
              <a:t>고등어</a:t>
            </a:r>
            <a:r>
              <a:rPr lang="en-US" altLang="en-US" sz="1075" dirty="0"/>
              <a:t> </a:t>
            </a:r>
            <a:r>
              <a:rPr lang="en-US" altLang="ko-KR" sz="1075" dirty="0"/>
              <a:t>+ </a:t>
            </a:r>
            <a:r>
              <a:rPr lang="ko-KR" altLang="en-US" sz="1075" dirty="0"/>
              <a:t>망고</a:t>
            </a:r>
            <a:r>
              <a:rPr lang="en-US" altLang="en-US" sz="1075" dirty="0"/>
              <a:t> </a:t>
            </a:r>
            <a:r>
              <a:rPr lang="en-US" altLang="ko-KR" sz="1075" dirty="0"/>
              <a:t>+</a:t>
            </a:r>
          </a:p>
          <a:p>
            <a:pPr lvl="1">
              <a:lnSpc>
                <a:spcPct val="160000"/>
              </a:lnSpc>
            </a:pPr>
            <a:r>
              <a:rPr lang="ko-KR" altLang="en-US" sz="1075" dirty="0"/>
              <a:t>그러나</a:t>
            </a:r>
            <a:r>
              <a:rPr lang="en-US" altLang="en-US" sz="1075" dirty="0"/>
              <a:t> </a:t>
            </a:r>
            <a:r>
              <a:rPr lang="ko-KR" altLang="en-US" sz="1075" dirty="0"/>
              <a:t>대체효과에</a:t>
            </a:r>
            <a:r>
              <a:rPr lang="en-US" altLang="en-US" sz="1075" dirty="0"/>
              <a:t> </a:t>
            </a:r>
            <a:r>
              <a:rPr lang="ko-KR" altLang="en-US" sz="1075" dirty="0"/>
              <a:t>따르면</a:t>
            </a:r>
            <a:r>
              <a:rPr lang="en-US" altLang="en-US" sz="1075" dirty="0"/>
              <a:t> </a:t>
            </a:r>
            <a:r>
              <a:rPr lang="ko-KR" altLang="en-US" sz="1075" dirty="0"/>
              <a:t>고등어</a:t>
            </a:r>
            <a:r>
              <a:rPr lang="en-US" altLang="en-US" sz="1075" dirty="0"/>
              <a:t> </a:t>
            </a:r>
            <a:r>
              <a:rPr lang="en-US" altLang="ko-KR" sz="1075" dirty="0"/>
              <a:t>+ </a:t>
            </a:r>
            <a:r>
              <a:rPr lang="ko-KR" altLang="en-US" sz="1075" dirty="0"/>
              <a:t>망고</a:t>
            </a:r>
            <a:r>
              <a:rPr lang="en-US" altLang="en-US" sz="1075" dirty="0"/>
              <a:t> </a:t>
            </a:r>
            <a:r>
              <a:rPr lang="en-US" altLang="ko-KR" sz="1075" dirty="0"/>
              <a:t>–</a:t>
            </a:r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사람</a:t>
            </a:r>
            <a:r>
              <a:rPr lang="en-US" altLang="en-US" sz="1100" dirty="0"/>
              <a:t> </a:t>
            </a:r>
            <a:r>
              <a:rPr lang="ko-KR" altLang="en-US" sz="1100" dirty="0"/>
              <a:t>마다</a:t>
            </a:r>
            <a:r>
              <a:rPr lang="en-US" altLang="en-US" sz="1100" dirty="0"/>
              <a:t> </a:t>
            </a:r>
            <a:r>
              <a:rPr lang="ko-KR" altLang="en-US" sz="1100" dirty="0"/>
              <a:t>무차별곡선의</a:t>
            </a:r>
            <a:r>
              <a:rPr lang="en-US" altLang="en-US" sz="1100" dirty="0"/>
              <a:t> </a:t>
            </a:r>
            <a:r>
              <a:rPr lang="ko-KR" altLang="en-US" sz="1100" dirty="0"/>
              <a:t>모양과</a:t>
            </a:r>
            <a:r>
              <a:rPr lang="en-US" altLang="en-US" sz="1100" dirty="0"/>
              <a:t> </a:t>
            </a:r>
            <a:r>
              <a:rPr lang="ko-KR" altLang="en-US" sz="1100" dirty="0"/>
              <a:t>기울기</a:t>
            </a:r>
            <a:r>
              <a:rPr lang="en-US" altLang="ko-KR" sz="1100" dirty="0"/>
              <a:t>, </a:t>
            </a:r>
            <a:r>
              <a:rPr lang="ko-KR" altLang="en-US" sz="1100" dirty="0"/>
              <a:t>간격</a:t>
            </a:r>
            <a:r>
              <a:rPr lang="en-US" altLang="en-US" sz="1100" dirty="0"/>
              <a:t> </a:t>
            </a:r>
            <a:r>
              <a:rPr lang="ko-KR" altLang="en-US" sz="1100" dirty="0"/>
              <a:t>등은</a:t>
            </a:r>
            <a:r>
              <a:rPr lang="en-US" altLang="en-US" sz="1100" dirty="0"/>
              <a:t> </a:t>
            </a:r>
            <a:r>
              <a:rPr lang="ko-KR" altLang="en-US" sz="1100" dirty="0"/>
              <a:t>다르며</a:t>
            </a:r>
            <a:r>
              <a:rPr lang="en-US" altLang="ko-KR" sz="1100" dirty="0"/>
              <a:t>, </a:t>
            </a:r>
            <a:r>
              <a:rPr lang="ko-KR" altLang="en-US" sz="1100" dirty="0"/>
              <a:t>그</a:t>
            </a:r>
            <a:r>
              <a:rPr lang="en-US" altLang="en-US" sz="1100" dirty="0"/>
              <a:t> </a:t>
            </a:r>
            <a:r>
              <a:rPr lang="ko-KR" altLang="en-US" sz="1100" dirty="0"/>
              <a:t>결과도</a:t>
            </a:r>
            <a:r>
              <a:rPr lang="en-US" altLang="en-US" sz="1100" dirty="0"/>
              <a:t> </a:t>
            </a:r>
            <a:r>
              <a:rPr lang="ko-KR" altLang="en-US" sz="1100" dirty="0"/>
              <a:t>다르게</a:t>
            </a:r>
            <a:r>
              <a:rPr lang="en-US" altLang="en-US" sz="1100" dirty="0"/>
              <a:t> </a:t>
            </a:r>
            <a:r>
              <a:rPr lang="ko-KR" altLang="en-US" sz="1100" dirty="0"/>
              <a:t>나타남</a:t>
            </a:r>
            <a:r>
              <a:rPr lang="en-US" altLang="ko-KR" sz="1100" dirty="0"/>
              <a:t>. </a:t>
            </a:r>
          </a:p>
          <a:p>
            <a:pPr lvl="1">
              <a:lnSpc>
                <a:spcPct val="160000"/>
              </a:lnSpc>
            </a:pPr>
            <a:r>
              <a:rPr lang="ko-KR" altLang="en-US" sz="1100" dirty="0"/>
              <a:t>무차별곡선을</a:t>
            </a:r>
            <a:r>
              <a:rPr lang="en-US" altLang="en-US" sz="1100" dirty="0"/>
              <a:t> </a:t>
            </a:r>
            <a:r>
              <a:rPr lang="ko-KR" altLang="en-US" sz="1100" dirty="0"/>
              <a:t>봐야</a:t>
            </a:r>
            <a:r>
              <a:rPr lang="en-US" altLang="en-US" sz="1100" dirty="0"/>
              <a:t> </a:t>
            </a:r>
            <a:r>
              <a:rPr lang="ko-KR" altLang="en-US" sz="1100" dirty="0"/>
              <a:t>그</a:t>
            </a:r>
            <a:r>
              <a:rPr lang="en-US" altLang="en-US" sz="1100" dirty="0"/>
              <a:t> </a:t>
            </a:r>
            <a:r>
              <a:rPr lang="ko-KR" altLang="en-US" sz="1100" dirty="0"/>
              <a:t>결과를</a:t>
            </a:r>
            <a:r>
              <a:rPr lang="en-US" altLang="en-US" sz="1100" dirty="0"/>
              <a:t> </a:t>
            </a:r>
            <a:r>
              <a:rPr lang="ko-KR" altLang="en-US" sz="1100" dirty="0"/>
              <a:t>알</a:t>
            </a:r>
            <a:r>
              <a:rPr lang="en-US" altLang="en-US" sz="1100" dirty="0"/>
              <a:t> </a:t>
            </a:r>
            <a:r>
              <a:rPr lang="ko-KR" altLang="en-US" sz="1100" dirty="0"/>
              <a:t>수</a:t>
            </a:r>
            <a:r>
              <a:rPr lang="en-US" altLang="en-US" sz="1100" dirty="0"/>
              <a:t> </a:t>
            </a:r>
            <a:r>
              <a:rPr lang="ko-KR" altLang="en-US" sz="1100" dirty="0"/>
              <a:t>있음</a:t>
            </a:r>
            <a:r>
              <a:rPr lang="en-US" altLang="ko-KR" sz="1100" dirty="0"/>
              <a:t>. </a:t>
            </a:r>
          </a:p>
          <a:p>
            <a:pPr marL="257175" lvl="1" indent="0" algn="l" defTabSz="514350" latinLnBrk="1">
              <a:lnSpc>
                <a:spcPct val="160000"/>
              </a:lnSpc>
              <a:spcBef>
                <a:spcPts val="281"/>
              </a:spcBef>
              <a:buNone/>
            </a:pPr>
            <a:endParaRPr sz="1075" kern="1200" dirty="0">
              <a:solidFill>
                <a:schemeClr val="tx1"/>
              </a:solidFill>
            </a:endParaRPr>
          </a:p>
          <a:p>
            <a:pPr marL="257175" lvl="1" indent="0" algn="l" defTabSz="514350" latinLnBrk="1">
              <a:lnSpc>
                <a:spcPct val="160000"/>
              </a:lnSpc>
              <a:spcBef>
                <a:spcPts val="281"/>
              </a:spcBef>
              <a:buNone/>
            </a:pPr>
            <a:endParaRPr sz="1075" kern="1200" dirty="0">
              <a:solidFill>
                <a:schemeClr val="tx1"/>
              </a:solidFill>
            </a:endParaRPr>
          </a:p>
          <a:p>
            <a:pPr marL="257175" lvl="1" indent="0" algn="l" defTabSz="514350" latinLnBrk="1">
              <a:lnSpc>
                <a:spcPct val="160000"/>
              </a:lnSpc>
              <a:spcBef>
                <a:spcPts val="281"/>
              </a:spcBef>
              <a:buNone/>
            </a:pPr>
            <a:endParaRPr sz="1075" kern="1200" dirty="0">
              <a:solidFill>
                <a:schemeClr val="tx1"/>
              </a:solidFill>
            </a:endParaRPr>
          </a:p>
          <a:p>
            <a:pPr marL="257175" lvl="1" indent="0" algn="l" defTabSz="514350" latinLnBrk="1">
              <a:lnSpc>
                <a:spcPct val="160000"/>
              </a:lnSpc>
              <a:spcBef>
                <a:spcPts val="281"/>
              </a:spcBef>
              <a:buNone/>
            </a:pPr>
            <a:endParaRPr sz="1075" kern="1200" dirty="0">
              <a:solidFill>
                <a:schemeClr val="tx1"/>
              </a:solidFill>
            </a:endParaRPr>
          </a:p>
          <a:p>
            <a:pPr marL="257175" lvl="1" indent="0" algn="l" defTabSz="514350" latinLnBrk="1">
              <a:lnSpc>
                <a:spcPct val="160000"/>
              </a:lnSpc>
              <a:spcBef>
                <a:spcPts val="281"/>
              </a:spcBef>
              <a:buNone/>
            </a:pPr>
            <a:endParaRPr sz="1075" kern="1200" dirty="0">
              <a:solidFill>
                <a:schemeClr val="tx1"/>
              </a:solidFill>
            </a:endParaRPr>
          </a:p>
          <a:p>
            <a:pPr marL="257175" lvl="1" indent="0" algn="l" defTabSz="514350" latinLnBrk="1">
              <a:lnSpc>
                <a:spcPct val="160000"/>
              </a:lnSpc>
              <a:spcBef>
                <a:spcPts val="281"/>
              </a:spcBef>
              <a:buNone/>
            </a:pPr>
            <a:endParaRPr sz="1075" kern="1200" dirty="0">
              <a:solidFill>
                <a:schemeClr val="tx1"/>
              </a:solidFill>
            </a:endParaRPr>
          </a:p>
        </p:txBody>
      </p:sp>
      <p:sp>
        <p:nvSpPr>
          <p:cNvPr id="4" name="slide3_shape2"/>
          <p:cNvSpPr>
            <a:spLocks noGrp="1"/>
          </p:cNvSpPr>
          <p:nvPr>
            <p:ph type="sldNum" sz="quarter" idx="12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algn="r" defTabSz="914400" latinLnBrk="1"/>
            <a:fld id="{4BEDD84E-25D4-4983-8AA1-2863C96F08D9}" type="slidenum">
              <a:rPr lang="en-US" altLang="ko-KR"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2</a:t>
            </a:fld>
            <a:endParaRPr sz="675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4_shape1"/>
          <p:cNvSpPr>
            <a:spLocks noGrp="1"/>
          </p:cNvSpPr>
          <p:nvPr>
            <p:ph idx="1"/>
          </p:nvPr>
        </p:nvSpPr>
        <p:spPr>
          <a:xfrm>
            <a:off x="500063" y="893443"/>
            <a:ext cx="5915025" cy="10708007"/>
          </a:xfrm>
          <a:prstGeom prst="rect">
            <a:avLst/>
          </a:prstGeom>
        </p:spPr>
        <p:txBody>
          <a:bodyPr lIns="91440" tIns="45720" rIns="91440" bIns="45720"/>
          <a:lstStyle/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endParaRPr lang="en-US" altLang="ko-KR" sz="1325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en-US" sz="1325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재화의</a:t>
            </a:r>
            <a:r>
              <a:rPr lang="en-US" altLang="en-US" sz="1325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수요곡선</a:t>
            </a:r>
            <a:r>
              <a:rPr lang="en-US" altLang="en-US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도출</a:t>
            </a:r>
            <a:r>
              <a:rPr lang="en-US" altLang="en-US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하기</a:t>
            </a:r>
            <a:endParaRPr sz="1325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소비자의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최적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선택원리를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기반으로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어떤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재화의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가격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변화에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따른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수요량의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변화를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파악하고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수요곡선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가격과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수요량의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관계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을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도출할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수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있음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endParaRPr sz="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en-US" sz="13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기펜재</a:t>
            </a:r>
            <a:r>
              <a:rPr lang="en-US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3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Giffen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goods: </a:t>
            </a:r>
            <a:r>
              <a:rPr lang="ko-KR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수요의</a:t>
            </a:r>
            <a:r>
              <a:rPr lang="en-US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법칙</a:t>
            </a:r>
            <a:r>
              <a:rPr lang="en-US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Law</a:t>
            </a:r>
            <a:r>
              <a:rPr lang="en-US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demand</a:t>
            </a:r>
            <a:r>
              <a:rPr lang="ko-KR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을</a:t>
            </a:r>
            <a:r>
              <a:rPr lang="en-US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따르지</a:t>
            </a:r>
            <a:r>
              <a:rPr lang="en-US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않는</a:t>
            </a:r>
            <a:r>
              <a:rPr lang="en-US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재화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Ex.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아일랜드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대기근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시기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감자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vs.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쇠고기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 </a:t>
            </a: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감자가격이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상승했다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그런데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…?</a:t>
            </a: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소득효과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&gt;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대체효과인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경우</a:t>
            </a:r>
            <a:r>
              <a:rPr lang="en-US" altLang="ko-KR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…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가격의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상승이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수요량을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더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증가시키는</a:t>
            </a:r>
            <a:r>
              <a:rPr lang="en-US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재화</a:t>
            </a:r>
            <a:endParaRPr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endParaRPr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en-US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적용사례</a:t>
            </a:r>
            <a:r>
              <a:rPr lang="en-US" altLang="ko-KR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ko-KR" altLang="en-US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임금과</a:t>
            </a:r>
            <a:r>
              <a:rPr lang="en-US" altLang="en-US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노동공급</a:t>
            </a:r>
            <a:endParaRPr sz="1325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en-US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적용사례</a:t>
            </a:r>
            <a:r>
              <a:rPr lang="en-US" altLang="ko-KR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ko-KR" altLang="en-US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이자율과</a:t>
            </a:r>
            <a:r>
              <a:rPr lang="en-US" altLang="en-US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저축</a:t>
            </a:r>
            <a:endParaRPr sz="1325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endParaRPr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endParaRPr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endParaRPr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endParaRPr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endParaRPr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endParaRPr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endParaRPr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endParaRPr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85763" lvl="1" indent="-128588" algn="l" defTabSz="514350" latinLnBrk="1">
              <a:lnSpc>
                <a:spcPct val="160000"/>
              </a:lnSpc>
              <a:spcBef>
                <a:spcPts val="281"/>
              </a:spcBef>
              <a:buFont typeface="Arial" pitchFamily="2" charset="2"/>
              <a:buChar char="•"/>
            </a:pPr>
            <a:endParaRPr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lvl="0" indent="0" algn="l" defTabSz="514350" latinLnBrk="1">
              <a:lnSpc>
                <a:spcPct val="160000"/>
              </a:lnSpc>
              <a:spcBef>
                <a:spcPts val="563"/>
              </a:spcBef>
              <a:buNone/>
            </a:pPr>
            <a:endParaRPr sz="1325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endParaRPr sz="1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endParaRPr sz="1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endParaRPr sz="1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endParaRPr sz="1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57175" lvl="1" indent="0" algn="l" defTabSz="514350" latinLnBrk="1">
              <a:lnSpc>
                <a:spcPct val="160000"/>
              </a:lnSpc>
              <a:spcBef>
                <a:spcPts val="281"/>
              </a:spcBef>
              <a:buNone/>
            </a:pPr>
            <a:endParaRPr sz="1075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4_shape2"/>
          <p:cNvSpPr>
            <a:spLocks noGrp="1"/>
          </p:cNvSpPr>
          <p:nvPr>
            <p:ph type="sldNum" sz="quarter" idx="12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defTabSz="914400" latinLnBrk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fld id="{4BEDD84E-25D4-4983-8AA1-2863C96F08D9}" type="slidenum">
              <a:rPr lang="en-US" altLang="ko-KR" sz="675" b="0" i="0" strike="noStrike" kern="1200" cap="none" spc="0" baseline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latin typeface="맑은 고딕"/>
                <a:ea typeface="맑은 고딕"/>
                <a:cs typeface="+mn-cs"/>
              </a:rPr>
              <a:t>3</a:t>
            </a:fld>
            <a:endParaRPr sz="675" b="0" i="0" strike="noStrike" kern="1200" cap="none" spc="0" baseline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latin typeface="맑은 고딕"/>
              <a:ea typeface="맑은 고딕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맑은 고딕"/>
        <a:ea typeface=""/>
        <a:cs typeface=""/>
        <a:font script="Arab" typeface="Times New Roman"/>
        <a:font script="Beng" typeface="Vrinda"/>
        <a:font script="Cans" typeface="Euphemia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ans" typeface="等线 Light"/>
        <a:font script="Hant" typeface="新細明體"/>
        <a:font script="Hebr" typeface="Times New Roman"/>
        <a:font script="Jpan" typeface="游ゴシック Light"/>
        <a:font script="Khmr" typeface="MoolBoran"/>
        <a:font script="Knda" typeface="Tunga"/>
        <a:font script="Laoo" typeface="DokChampa"/>
        <a:font script="Mlym" typeface="Kartika"/>
        <a:font script="Mong" typeface="Mongolian Baiti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Uigh" typeface="Microsoft Uighur"/>
        <a:font script="Viet" typeface="Times New Roman"/>
        <a:font script="Yiii" typeface="Microsoft Yi Baiti"/>
      </a:majorFont>
      <a:minorFont>
        <a:latin typeface="맑은 고딕"/>
        <a:ea typeface=""/>
        <a:cs typeface=""/>
        <a:font script="Arab" typeface="Arial"/>
        <a:font script="Beng" typeface="Vrinda"/>
        <a:font script="Cans" typeface="Euphemia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ans" typeface="等线"/>
        <a:font script="Hant" typeface="新細明體"/>
        <a:font script="Hebr" typeface="Arial"/>
        <a:font script="Jpan" typeface="游ゴシック"/>
        <a:font script="Khmr" typeface="DaunPenh"/>
        <a:font script="Knda" typeface="Tunga"/>
        <a:font script="Laoo" typeface="DokChampa"/>
        <a:font script="Mlym" typeface="Kartika"/>
        <a:font script="Mong" typeface="Mongolian Baiti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Uigh" typeface="Microsoft Uighur"/>
        <a:font script="Viet" typeface="Arial"/>
        <a:font script="Yiii" typeface="Microsoft Yi Baiti"/>
      </a:minorFont>
    </a:fontScheme>
    <a:fmtScheme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  <a:satMod val="105000"/>
              </a:schemeClr>
            </a:gs>
            <a:gs pos="50000">
              <a:schemeClr val="phClr">
                <a:lumMod val="105000"/>
                <a:tint val="73000"/>
                <a:satMod val="103000"/>
              </a:schemeClr>
            </a:gs>
            <a:gs pos="100000">
              <a:schemeClr val="phClr">
                <a:lumMod val="105000"/>
                <a:tint val="81000"/>
                <a:satMod val="10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lumMod val="102000"/>
                <a:tint val="94000"/>
                <a:satMod val="103000"/>
              </a:schemeClr>
            </a:gs>
            <a:gs pos="50000">
              <a:schemeClr val="phClr">
                <a:lumMod val="100000"/>
                <a:shade val="100000"/>
                <a:satMod val="110000"/>
              </a:schemeClr>
            </a:gs>
            <a:gs pos="100000">
              <a:schemeClr val="phClr">
                <a:lumMod val="99000"/>
                <a:shade val="78000"/>
                <a:satMod val="120000"/>
              </a:schemeClr>
            </a:gs>
          </a:gsLst>
          <a:lin ang="5400000" scaled="1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tint val="93000"/>
                <a:shade val="98000"/>
                <a:satMod val="150000"/>
              </a:schemeClr>
            </a:gs>
            <a:gs pos="50000">
              <a:schemeClr val="phClr">
                <a:lumMod val="103000"/>
                <a:tint val="98000"/>
                <a:shade val="90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1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646</Words>
  <Application>Microsoft Office PowerPoint</Application>
  <PresentationFormat>와이드스크린</PresentationFormat>
  <Paragraphs>82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/>
      <vt:lpstr>21장 소비자선택이론 </vt:lpstr>
      <vt:lpstr>PowerPoint 프레젠테이션</vt:lpstr>
      <vt:lpstr>PowerPoint 프레젠테이션</vt:lpstr>
    </vt:vector>
  </TitlesOfParts>
  <Company>사이냅소프트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Microsoft 계정</cp:lastModifiedBy>
  <cp:revision>2</cp:revision>
  <dcterms:modified xsi:type="dcterms:W3CDTF">2023-05-06T12:14:53Z</dcterms:modified>
</cp:coreProperties>
</file>