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25" d="100"/>
          <a:sy n="25" d="100"/>
        </p:scale>
        <p:origin x="189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9</a:t>
            </a:r>
            <a:r>
              <a:rPr lang="ko-KR" altLang="en-US" dirty="0"/>
              <a:t>장 국제무역과 후생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19"/>
            <a:ext cx="5915025" cy="9744567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300" b="1" dirty="0"/>
              <a:t>비교우위론 </a:t>
            </a:r>
            <a:r>
              <a:rPr lang="en-US" altLang="ko-KR" sz="1300" b="1" dirty="0"/>
              <a:t>Comparative advantage</a:t>
            </a:r>
            <a:r>
              <a:rPr lang="en-US" altLang="ko-KR" sz="1300" dirty="0"/>
              <a:t>: </a:t>
            </a:r>
            <a:r>
              <a:rPr lang="ko-KR" altLang="en-US" sz="1300" dirty="0"/>
              <a:t>다른</a:t>
            </a:r>
            <a:r>
              <a:rPr lang="en-US" altLang="ko-KR" sz="1300" dirty="0"/>
              <a:t> </a:t>
            </a:r>
            <a:r>
              <a:rPr lang="ko-KR" altLang="en-US" sz="1300" dirty="0"/>
              <a:t>나라보다 낮은 </a:t>
            </a:r>
            <a:r>
              <a:rPr lang="en-US" altLang="ko-KR" sz="1300" dirty="0"/>
              <a:t>‘</a:t>
            </a:r>
            <a:r>
              <a:rPr lang="ko-KR" altLang="en-US" sz="1300" dirty="0" err="1"/>
              <a:t>기회＇비용으로</a:t>
            </a:r>
            <a:r>
              <a:rPr lang="ko-KR" altLang="en-US" sz="1300" dirty="0"/>
              <a:t> 재화를 생산할 수 있다면</a:t>
            </a:r>
            <a:r>
              <a:rPr lang="en-US" altLang="ko-KR" sz="1300" dirty="0"/>
              <a:t>, </a:t>
            </a:r>
            <a:r>
              <a:rPr lang="ko-KR" altLang="en-US" sz="1300" dirty="0"/>
              <a:t>그 재화에 특화하고 수출하면 </a:t>
            </a:r>
            <a:r>
              <a:rPr lang="en-US" altLang="ko-KR" sz="1300" dirty="0"/>
              <a:t>‘</a:t>
            </a:r>
            <a:r>
              <a:rPr lang="ko-KR" altLang="en-US" sz="1300" dirty="0"/>
              <a:t>무역의 이익 </a:t>
            </a:r>
            <a:r>
              <a:rPr lang="en-US" altLang="ko-KR" sz="1300" dirty="0"/>
              <a:t>gains from trade’</a:t>
            </a:r>
            <a:r>
              <a:rPr lang="ko-KR" altLang="en-US" sz="1300" dirty="0"/>
              <a:t>을 얻을 수 있다는 이론</a:t>
            </a:r>
            <a:r>
              <a:rPr lang="en-US" altLang="ko-KR" sz="1300" dirty="0"/>
              <a:t>(3</a:t>
            </a:r>
            <a:r>
              <a:rPr lang="ko-KR" altLang="en-US" sz="1300" dirty="0"/>
              <a:t>장에서 학습</a:t>
            </a:r>
            <a:r>
              <a:rPr lang="en-US" altLang="ko-KR" sz="1300" dirty="0"/>
              <a:t>)</a:t>
            </a:r>
          </a:p>
          <a:p>
            <a:pPr>
              <a:lnSpc>
                <a:spcPct val="160000"/>
              </a:lnSpc>
            </a:pPr>
            <a:r>
              <a:rPr lang="ko-KR" altLang="en-US" sz="1300" dirty="0"/>
              <a:t>무역이 </a:t>
            </a:r>
            <a:r>
              <a:rPr lang="ko-KR" altLang="en-US" sz="1300" u="sng" dirty="0"/>
              <a:t>없는</a:t>
            </a:r>
            <a:r>
              <a:rPr lang="ko-KR" altLang="en-US" sz="1300" dirty="0"/>
              <a:t> 경우</a:t>
            </a:r>
            <a:r>
              <a:rPr lang="en-US" altLang="ko-KR" sz="1300" dirty="0"/>
              <a:t>(</a:t>
            </a:r>
            <a:r>
              <a:rPr lang="ko-KR" altLang="en-US" sz="1300" dirty="0"/>
              <a:t>폐쇄경제 </a:t>
            </a:r>
            <a:r>
              <a:rPr lang="en-US" altLang="ko-KR" sz="1300" dirty="0"/>
              <a:t>closed</a:t>
            </a:r>
            <a:r>
              <a:rPr lang="ko-KR" altLang="en-US" sz="1300" dirty="0"/>
              <a:t> </a:t>
            </a:r>
            <a:r>
              <a:rPr lang="en-US" altLang="ko-KR" sz="1300" dirty="0"/>
              <a:t>economy), </a:t>
            </a:r>
            <a:r>
              <a:rPr lang="ko-KR" altLang="en-US" sz="1300" dirty="0"/>
              <a:t>재화의 균형가격과 균형 판매량은 국내시장</a:t>
            </a:r>
            <a:r>
              <a:rPr lang="en-US" altLang="ko-KR" sz="1300" dirty="0"/>
              <a:t>(</a:t>
            </a:r>
            <a:r>
              <a:rPr lang="ko-KR" altLang="en-US" sz="1300" dirty="0"/>
              <a:t>국내 소비자와 판매자만 있는</a:t>
            </a:r>
            <a:r>
              <a:rPr lang="en-US" altLang="ko-KR" sz="1300" dirty="0"/>
              <a:t>)</a:t>
            </a:r>
            <a:r>
              <a:rPr lang="ko-KR" altLang="en-US" sz="1300" dirty="0"/>
              <a:t>에서 결정됨</a:t>
            </a:r>
            <a:r>
              <a:rPr lang="en-US" altLang="ko-KR" sz="1300" dirty="0"/>
              <a:t>. </a:t>
            </a:r>
          </a:p>
          <a:p>
            <a:pPr lvl="1">
              <a:lnSpc>
                <a:spcPct val="160000"/>
              </a:lnSpc>
            </a:pPr>
            <a:r>
              <a:rPr lang="ko-KR" altLang="en-US" sz="1100" dirty="0" err="1"/>
              <a:t>총잉여</a:t>
            </a:r>
            <a:r>
              <a:rPr lang="en-US" altLang="ko-KR" sz="1100" dirty="0"/>
              <a:t>, </a:t>
            </a:r>
            <a:r>
              <a:rPr lang="ko-KR" altLang="en-US" sz="1100" dirty="0"/>
              <a:t>또는 총편익은 소비자잉여 </a:t>
            </a:r>
            <a:r>
              <a:rPr lang="en-US" altLang="ko-KR" sz="1100" dirty="0"/>
              <a:t>+ </a:t>
            </a:r>
            <a:r>
              <a:rPr lang="ko-KR" altLang="en-US" sz="1100" dirty="0"/>
              <a:t>생산자잉여로 구성됨</a:t>
            </a:r>
            <a:r>
              <a:rPr lang="en-US" altLang="ko-KR" sz="1100" dirty="0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 sz="1300" dirty="0"/>
              <a:t>무역이 </a:t>
            </a:r>
            <a:r>
              <a:rPr lang="ko-KR" altLang="en-US" sz="1300" u="sng" dirty="0"/>
              <a:t>있는</a:t>
            </a:r>
            <a:r>
              <a:rPr lang="en-US" altLang="ko-KR" sz="1300" dirty="0"/>
              <a:t>, </a:t>
            </a:r>
            <a:r>
              <a:rPr lang="ko-KR" altLang="en-US" sz="1300" dirty="0"/>
              <a:t>또는 허용된 경우</a:t>
            </a:r>
            <a:r>
              <a:rPr lang="en-US" altLang="ko-KR" sz="1300" dirty="0"/>
              <a:t>(</a:t>
            </a:r>
            <a:r>
              <a:rPr lang="ko-KR" altLang="en-US" sz="1300" dirty="0"/>
              <a:t>소규모 개방경제 </a:t>
            </a:r>
            <a:r>
              <a:rPr lang="en-US" altLang="ko-KR" sz="1300" dirty="0"/>
              <a:t>small</a:t>
            </a:r>
            <a:r>
              <a:rPr lang="ko-KR" altLang="en-US" sz="1300" dirty="0"/>
              <a:t> </a:t>
            </a:r>
            <a:r>
              <a:rPr lang="en-US" altLang="ko-KR" sz="1300" dirty="0"/>
              <a:t>open economy)</a:t>
            </a:r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어떤 재화의 </a:t>
            </a:r>
            <a:r>
              <a:rPr lang="ko-KR" altLang="en-US" sz="1100" b="1" dirty="0"/>
              <a:t>국제시장가격 </a:t>
            </a:r>
            <a:r>
              <a:rPr lang="en-US" altLang="ko-KR" sz="1100" b="1" dirty="0"/>
              <a:t>P</a:t>
            </a:r>
            <a:r>
              <a:rPr lang="en-US" altLang="ko-KR" sz="1100" b="1" baseline="-25000" dirty="0"/>
              <a:t>W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&gt;</a:t>
            </a:r>
            <a:r>
              <a:rPr lang="ko-KR" altLang="en-US" sz="1100" b="1" dirty="0"/>
              <a:t> 국내가격 </a:t>
            </a:r>
            <a:r>
              <a:rPr lang="en-US" altLang="ko-KR" sz="1100" b="1" dirty="0"/>
              <a:t>P</a:t>
            </a:r>
            <a:r>
              <a:rPr lang="en-US" altLang="ko-KR" sz="1100" b="1" baseline="-25000" dirty="0"/>
              <a:t>D </a:t>
            </a:r>
            <a:r>
              <a:rPr lang="ko-KR" altLang="en-US" sz="1100" dirty="0"/>
              <a:t>이면</a:t>
            </a:r>
            <a:r>
              <a:rPr lang="en-US" altLang="ko-KR" sz="1100" dirty="0"/>
              <a:t>, </a:t>
            </a:r>
            <a:r>
              <a:rPr lang="ko-KR" altLang="en-US" sz="1100" dirty="0"/>
              <a:t>그 나라는 비교우위를 갖고 </a:t>
            </a:r>
            <a:r>
              <a:rPr lang="ko-KR" altLang="en-US" sz="1100" b="1" u="sng" dirty="0"/>
              <a:t>수출</a:t>
            </a:r>
            <a:endParaRPr lang="en-US" altLang="ko-KR" sz="1100" b="1" u="sng" dirty="0"/>
          </a:p>
          <a:p>
            <a:pPr lvl="1">
              <a:lnSpc>
                <a:spcPct val="160000"/>
              </a:lnSpc>
            </a:pPr>
            <a:r>
              <a:rPr lang="ko-KR" altLang="en-US" sz="1100" b="1" dirty="0"/>
              <a:t>국내가격 </a:t>
            </a:r>
            <a:r>
              <a:rPr lang="en-US" altLang="ko-KR" sz="1100" b="1" dirty="0"/>
              <a:t>P</a:t>
            </a:r>
            <a:r>
              <a:rPr lang="en-US" altLang="ko-KR" sz="1100" b="1" baseline="-25000" dirty="0"/>
              <a:t>D </a:t>
            </a:r>
            <a:r>
              <a:rPr lang="en-US" altLang="ko-KR" sz="1100" b="1" dirty="0"/>
              <a:t>&gt; </a:t>
            </a:r>
            <a:r>
              <a:rPr lang="ko-KR" altLang="en-US" sz="1100" b="1" dirty="0"/>
              <a:t>국제가격</a:t>
            </a:r>
            <a:r>
              <a:rPr lang="en-US" altLang="ko-KR" sz="1100" b="1" dirty="0"/>
              <a:t> P</a:t>
            </a:r>
            <a:r>
              <a:rPr lang="en-US" altLang="ko-KR" sz="1100" b="1" baseline="-25000" dirty="0"/>
              <a:t>W </a:t>
            </a:r>
            <a:r>
              <a:rPr lang="ko-KR" altLang="en-US" sz="1100" dirty="0"/>
              <a:t>이면</a:t>
            </a:r>
            <a:r>
              <a:rPr lang="en-US" altLang="ko-KR" sz="1100" b="1" dirty="0"/>
              <a:t>, </a:t>
            </a:r>
            <a:r>
              <a:rPr lang="ko-KR" altLang="en-US" sz="1100" dirty="0"/>
              <a:t>그 나라는 비교우위가 없으며 그 재화를 </a:t>
            </a:r>
            <a:r>
              <a:rPr lang="ko-KR" altLang="en-US" sz="1100" b="1" u="sng" dirty="0"/>
              <a:t>수입</a:t>
            </a:r>
            <a:endParaRPr lang="en-US" altLang="ko-KR" sz="1100" b="1" u="sng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이 나라는 국제시장가격 </a:t>
            </a:r>
            <a:r>
              <a:rPr lang="en-US" altLang="ko-KR" sz="1100" dirty="0"/>
              <a:t>Pw</a:t>
            </a:r>
            <a:r>
              <a:rPr lang="ko-KR" altLang="en-US" sz="1100" dirty="0"/>
              <a:t>에 영향을 미치지 못하는 </a:t>
            </a:r>
            <a:r>
              <a:rPr lang="en-US" altLang="ko-KR" sz="1100" b="1" u="sng" dirty="0"/>
              <a:t>“</a:t>
            </a:r>
            <a:r>
              <a:rPr lang="ko-KR" altLang="en-US" sz="1100" b="1" u="sng" dirty="0"/>
              <a:t>가격 수용자 </a:t>
            </a:r>
            <a:r>
              <a:rPr lang="en-US" altLang="ko-KR" sz="1100" b="1" u="sng" dirty="0"/>
              <a:t>price taker”</a:t>
            </a:r>
          </a:p>
          <a:p>
            <a:pPr>
              <a:lnSpc>
                <a:spcPct val="160000"/>
              </a:lnSpc>
            </a:pPr>
            <a:r>
              <a:rPr lang="ko-KR" altLang="en-US" sz="1300" dirty="0"/>
              <a:t>국제무역이 시작되면 </a:t>
            </a:r>
            <a:r>
              <a:rPr lang="en-US" altLang="ko-KR" sz="1300" b="1" dirty="0"/>
              <a:t>Pw</a:t>
            </a:r>
            <a:r>
              <a:rPr lang="ko-KR" altLang="en-US" sz="1300" b="1" dirty="0"/>
              <a:t>는 이 나라 구매자와 판매자에게 영향력을 미치는 단 하나의 </a:t>
            </a:r>
            <a:r>
              <a:rPr lang="en-US" altLang="ko-KR" sz="1300" b="1" dirty="0"/>
              <a:t>‘</a:t>
            </a:r>
            <a:r>
              <a:rPr lang="ko-KR" altLang="en-US" sz="1300" b="1" dirty="0"/>
              <a:t>기준가격</a:t>
            </a:r>
            <a:r>
              <a:rPr lang="en-US" altLang="ko-KR" sz="1300" b="1" dirty="0"/>
              <a:t>’</a:t>
            </a:r>
            <a:r>
              <a:rPr lang="ko-KR" altLang="en-US" sz="1300" dirty="0"/>
              <a:t>이 됨</a:t>
            </a:r>
            <a:r>
              <a:rPr lang="en-US" altLang="ko-KR" sz="1300" dirty="0"/>
              <a:t>. </a:t>
            </a:r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그 어떤 판매자도 국내시장에서 </a:t>
            </a:r>
            <a:r>
              <a:rPr lang="en-US" altLang="ko-KR" sz="1100" dirty="0"/>
              <a:t>Pw</a:t>
            </a:r>
            <a:r>
              <a:rPr lang="ko-KR" altLang="en-US" sz="1100" dirty="0"/>
              <a:t>보다 낮은 가격에 판매하지 않을 것임</a:t>
            </a:r>
            <a:r>
              <a:rPr lang="en-US" altLang="ko-KR" sz="1100" dirty="0"/>
              <a:t>(</a:t>
            </a:r>
            <a:r>
              <a:rPr lang="ko-KR" altLang="en-US" sz="1100" dirty="0"/>
              <a:t>수출가능</a:t>
            </a:r>
            <a:r>
              <a:rPr lang="en-US" altLang="ko-KR" sz="1100" dirty="0"/>
              <a:t>). </a:t>
            </a:r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그 어떤 구매자도 국내시장에서 </a:t>
            </a:r>
            <a:r>
              <a:rPr lang="en-US" altLang="ko-KR" sz="1100" dirty="0"/>
              <a:t>Pw</a:t>
            </a:r>
            <a:r>
              <a:rPr lang="ko-KR" altLang="en-US" sz="1100" dirty="0"/>
              <a:t>보다 높은 가격을 지불하지 않을 것임</a:t>
            </a:r>
            <a:r>
              <a:rPr lang="en-US" altLang="ko-KR" sz="1100" dirty="0"/>
              <a:t>(</a:t>
            </a:r>
            <a:r>
              <a:rPr lang="ko-KR" altLang="en-US" sz="1100" dirty="0"/>
              <a:t>수입가능</a:t>
            </a:r>
            <a:r>
              <a:rPr lang="en-US" altLang="ko-KR" sz="1100" dirty="0"/>
              <a:t>).</a:t>
            </a:r>
          </a:p>
          <a:p>
            <a:pPr>
              <a:lnSpc>
                <a:spcPct val="160000"/>
              </a:lnSpc>
            </a:pPr>
            <a:endParaRPr lang="en-US" altLang="ko-KR" sz="400" dirty="0"/>
          </a:p>
          <a:p>
            <a:pPr>
              <a:lnSpc>
                <a:spcPct val="160000"/>
              </a:lnSpc>
            </a:pPr>
            <a:r>
              <a:rPr lang="ko-KR" altLang="en-US" sz="1325" b="1" dirty="0"/>
              <a:t>무역의 이득 계산</a:t>
            </a:r>
            <a:r>
              <a:rPr lang="en-US" altLang="ko-KR" sz="1325" dirty="0"/>
              <a:t>: ex. </a:t>
            </a:r>
            <a:r>
              <a:rPr lang="ko-KR" altLang="en-US" sz="1325" dirty="0"/>
              <a:t>콩을 수출하는 경우와 </a:t>
            </a:r>
            <a:r>
              <a:rPr lang="en-US" altLang="ko-KR" sz="1325" dirty="0"/>
              <a:t>LCD</a:t>
            </a:r>
            <a:r>
              <a:rPr lang="ko-KR" altLang="en-US" sz="1325" dirty="0"/>
              <a:t> </a:t>
            </a:r>
            <a:r>
              <a:rPr lang="en-US" altLang="ko-KR" sz="1325" dirty="0"/>
              <a:t>TV</a:t>
            </a:r>
            <a:r>
              <a:rPr lang="ko-KR" altLang="en-US" sz="1325" dirty="0"/>
              <a:t>를 수입하는 경우 </a:t>
            </a:r>
            <a:endParaRPr lang="en-US" altLang="ko-KR" sz="1325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수출과 수입의 경우 모두</a:t>
            </a:r>
            <a:r>
              <a:rPr lang="en-US" altLang="ko-KR" sz="1100" dirty="0"/>
              <a:t>, </a:t>
            </a:r>
            <a:r>
              <a:rPr lang="ko-KR" altLang="en-US" sz="1100" dirty="0"/>
              <a:t>무역 이전에 비해 </a:t>
            </a:r>
            <a:r>
              <a:rPr lang="ko-KR" altLang="en-US" sz="1100" dirty="0" err="1"/>
              <a:t>총잉여</a:t>
            </a:r>
            <a:r>
              <a:rPr lang="ko-KR" altLang="en-US" sz="1100" dirty="0"/>
              <a:t> </a:t>
            </a:r>
            <a:r>
              <a:rPr lang="en-US" altLang="ko-KR" sz="1100" dirty="0"/>
              <a:t>TS</a:t>
            </a:r>
            <a:r>
              <a:rPr lang="ko-KR" altLang="en-US" sz="1100" dirty="0"/>
              <a:t>가 더 커짐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단</a:t>
            </a:r>
            <a:r>
              <a:rPr lang="en-US" altLang="ko-KR" sz="1100" dirty="0"/>
              <a:t>,</a:t>
            </a:r>
            <a:r>
              <a:rPr lang="ko-KR" altLang="en-US" sz="1100" dirty="0"/>
              <a:t> 수출의 경우 생산자잉여가 증가하지만 소비자잉여는</a:t>
            </a:r>
            <a:r>
              <a:rPr lang="en-US" altLang="ko-KR" sz="1100" dirty="0"/>
              <a:t> </a:t>
            </a:r>
            <a:r>
              <a:rPr lang="ko-KR" altLang="en-US" sz="1100" dirty="0"/>
              <a:t>감소하며</a:t>
            </a:r>
            <a:r>
              <a:rPr lang="en-US" altLang="ko-KR" sz="1100" dirty="0"/>
              <a:t>, </a:t>
            </a:r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수입의 경우 소비자잉여가 증가하지만</a:t>
            </a:r>
            <a:r>
              <a:rPr lang="en-US" altLang="ko-KR" sz="1100" dirty="0"/>
              <a:t> </a:t>
            </a:r>
            <a:r>
              <a:rPr lang="ko-KR" altLang="en-US" sz="1100" dirty="0"/>
              <a:t>생산자잉여는 감소함</a:t>
            </a:r>
            <a:r>
              <a:rPr lang="en-US" altLang="ko-KR" sz="1100" dirty="0"/>
              <a:t>.</a:t>
            </a:r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b="1" dirty="0"/>
              <a:t>국제무역의 또다른 이득</a:t>
            </a:r>
            <a:endParaRPr lang="en-US" altLang="ko-KR" sz="1300" b="1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국내소비자는 수입품의 유입으로 재화의 다양성을 누리며</a:t>
            </a:r>
            <a:r>
              <a:rPr lang="en-US" altLang="ko-KR" sz="1100" dirty="0"/>
              <a:t>, </a:t>
            </a:r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국내생산자는 생산비용 하락에 따른 </a:t>
            </a:r>
            <a:r>
              <a:rPr lang="en-US" altLang="ko-KR" sz="1100" dirty="0"/>
              <a:t>“</a:t>
            </a:r>
            <a:r>
              <a:rPr lang="ko-KR" altLang="en-US" sz="1100" dirty="0"/>
              <a:t>규모의 경제 </a:t>
            </a:r>
            <a:r>
              <a:rPr lang="en-US" altLang="ko-KR" sz="1100" dirty="0"/>
              <a:t>economies of scale” </a:t>
            </a:r>
            <a:r>
              <a:rPr lang="ko-KR" altLang="en-US" sz="1100" dirty="0"/>
              <a:t>누림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국내시장 경쟁이 증가해 국내기업들의 시장 지배력이 약화되어 사회후생 증가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endParaRPr lang="ko-KR" altLang="en-US" sz="1325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6E6402-47B0-4D12-AEF4-9D04BCD52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63" y="8003054"/>
            <a:ext cx="2609849" cy="20572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B0D5414-EAC6-435E-8261-BD485ACC2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788" y="8003054"/>
            <a:ext cx="2609849" cy="205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893443"/>
            <a:ext cx="5915025" cy="1040673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ko-KR" altLang="en-US" sz="1300" u="sng" dirty="0"/>
              <a:t>왜 어떤 사람들은 자유무역에 반대하는가</a:t>
            </a:r>
            <a:r>
              <a:rPr lang="en-US" altLang="ko-KR" sz="1300" u="sng" dirty="0"/>
              <a:t>?</a:t>
            </a:r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무역의 이득은 널리 고르게 확산되는 반면</a:t>
            </a:r>
            <a:r>
              <a:rPr lang="en-US" altLang="ko-KR" sz="1100" dirty="0"/>
              <a:t>, </a:t>
            </a:r>
            <a:r>
              <a:rPr lang="ko-KR" altLang="en-US" sz="1100" dirty="0"/>
              <a:t>무역의 손실이나 고통은 소규모 집단에게 집중되는 경향이 있기 때문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이득을 보는 사람들이 손해를 보는 사람에게 보상을 제공하면 될까</a:t>
            </a:r>
            <a:r>
              <a:rPr lang="en-US" altLang="ko-KR" sz="1100" dirty="0"/>
              <a:t>?</a:t>
            </a:r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이론적으로는 가능하나 실행</a:t>
            </a:r>
            <a:r>
              <a:rPr lang="en-US" altLang="ko-KR" sz="1100" dirty="0"/>
              <a:t>(</a:t>
            </a:r>
            <a:r>
              <a:rPr lang="ko-KR" altLang="en-US" sz="1100" dirty="0"/>
              <a:t>실제 보상</a:t>
            </a:r>
            <a:r>
              <a:rPr lang="en-US" altLang="ko-KR" sz="1100" dirty="0"/>
              <a:t>)</a:t>
            </a:r>
            <a:r>
              <a:rPr lang="ko-KR" altLang="en-US" sz="1100" dirty="0"/>
              <a:t>이 매우 어려움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b="1" u="sng" dirty="0"/>
              <a:t>관세부과의</a:t>
            </a:r>
            <a:r>
              <a:rPr lang="en-US" altLang="ko-KR" sz="1300" b="1" u="sng" dirty="0"/>
              <a:t> </a:t>
            </a:r>
            <a:r>
              <a:rPr lang="ko-KR" altLang="en-US" sz="1300" b="1" u="sng" dirty="0"/>
              <a:t>효과 분석</a:t>
            </a:r>
            <a:endParaRPr lang="en-US" altLang="ko-KR" sz="1300" b="1" u="sng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자유무역 </a:t>
            </a:r>
            <a:r>
              <a:rPr lang="en-US" altLang="ko-KR" sz="1100" dirty="0"/>
              <a:t>vs. </a:t>
            </a:r>
            <a:r>
              <a:rPr lang="ko-KR" altLang="en-US" sz="1100" dirty="0"/>
              <a:t>관세부과 두 경우의 </a:t>
            </a:r>
            <a:r>
              <a:rPr lang="ko-KR" altLang="en-US" sz="1100" dirty="0" err="1"/>
              <a:t>총잉여</a:t>
            </a:r>
            <a:r>
              <a:rPr lang="ko-KR" altLang="en-US" sz="1100" dirty="0"/>
              <a:t> 비교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자유무역 시의 </a:t>
            </a:r>
            <a:r>
              <a:rPr lang="ko-KR" altLang="en-US" sz="1100" dirty="0" err="1"/>
              <a:t>총잉여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관세부과 시의 </a:t>
            </a:r>
            <a:r>
              <a:rPr lang="ko-KR" altLang="en-US" sz="1100" dirty="0" err="1"/>
              <a:t>총잉여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100" b="1" dirty="0"/>
          </a:p>
          <a:p>
            <a:pPr lvl="1">
              <a:lnSpc>
                <a:spcPct val="160000"/>
              </a:lnSpc>
            </a:pPr>
            <a:r>
              <a:rPr lang="en-US" altLang="ko-KR" sz="1100" b="1" dirty="0"/>
              <a:t>D+F </a:t>
            </a:r>
            <a:r>
              <a:rPr lang="ko-KR" altLang="en-US" sz="1100" b="1" dirty="0"/>
              <a:t>만큼의</a:t>
            </a:r>
            <a:r>
              <a:rPr lang="en-US" altLang="ko-KR" sz="1100" b="1" dirty="0"/>
              <a:t> </a:t>
            </a:r>
            <a:r>
              <a:rPr lang="ko-KR" altLang="en-US" sz="1100" b="1" dirty="0"/>
              <a:t>자중손실 발생 </a:t>
            </a:r>
            <a:r>
              <a:rPr lang="en-US" altLang="ko-KR" sz="1100" b="1" dirty="0"/>
              <a:t>:</a:t>
            </a:r>
          </a:p>
          <a:p>
            <a:pPr lvl="2">
              <a:lnSpc>
                <a:spcPct val="160000"/>
              </a:lnSpc>
            </a:pPr>
            <a:r>
              <a:rPr lang="en-US" altLang="ko-KR" sz="1100" b="1" u="sng" dirty="0"/>
              <a:t>D</a:t>
            </a:r>
            <a:r>
              <a:rPr lang="ko-KR" altLang="en-US" sz="1100" b="1" u="sng" dirty="0"/>
              <a:t>는 과잉생산에서 오는 자중손실</a:t>
            </a:r>
            <a:endParaRPr lang="en-US" altLang="ko-KR" sz="1100" dirty="0"/>
          </a:p>
          <a:p>
            <a:pPr lvl="2">
              <a:lnSpc>
                <a:spcPct val="160000"/>
              </a:lnSpc>
            </a:pPr>
            <a:r>
              <a:rPr lang="en-US" altLang="ko-KR" sz="1100" b="1" u="sng" dirty="0"/>
              <a:t>F</a:t>
            </a:r>
            <a:r>
              <a:rPr lang="ko-KR" altLang="en-US" sz="1100" b="1" u="sng" dirty="0"/>
              <a:t>는 소비감소에 따른 자중손실</a:t>
            </a:r>
            <a:endParaRPr lang="en-US" altLang="ko-KR" sz="1100" b="1" u="sng" dirty="0"/>
          </a:p>
          <a:p>
            <a:pPr lvl="2">
              <a:lnSpc>
                <a:spcPct val="160000"/>
              </a:lnSpc>
            </a:pPr>
            <a:endParaRPr lang="en-US" altLang="ko-KR" sz="400" dirty="0"/>
          </a:p>
          <a:p>
            <a:pPr>
              <a:lnSpc>
                <a:spcPct val="160000"/>
              </a:lnSpc>
            </a:pPr>
            <a:r>
              <a:rPr lang="ko-KR" altLang="en-US" sz="1300" b="1" u="sng" dirty="0"/>
              <a:t>수입쿼터 </a:t>
            </a:r>
            <a:r>
              <a:rPr lang="en-US" altLang="ko-KR" sz="1300" b="1" u="sng" dirty="0"/>
              <a:t>Import Quotas</a:t>
            </a:r>
            <a:r>
              <a:rPr lang="ko-KR" altLang="en-US" sz="1300" b="1" u="sng" dirty="0"/>
              <a:t>  </a:t>
            </a:r>
            <a:r>
              <a:rPr lang="en-US" altLang="ko-KR" sz="1300" dirty="0"/>
              <a:t>: </a:t>
            </a:r>
            <a:r>
              <a:rPr lang="ko-KR" altLang="en-US" sz="1300" dirty="0"/>
              <a:t>어떤 재화의 수입에 부과되는 양적 제한 조치로서</a:t>
            </a:r>
            <a:r>
              <a:rPr lang="en-US" altLang="ko-KR" sz="1300" dirty="0"/>
              <a:t> </a:t>
            </a:r>
            <a:r>
              <a:rPr lang="ko-KR" altLang="en-US" sz="1300" dirty="0"/>
              <a:t>대부분의 경우 관세와 같은 효과</a:t>
            </a:r>
            <a:endParaRPr lang="en-US" altLang="ko-KR" sz="1300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가격상승</a:t>
            </a:r>
            <a:r>
              <a:rPr lang="en-US" altLang="ko-KR" sz="1100" dirty="0"/>
              <a:t>, </a:t>
            </a:r>
            <a:r>
              <a:rPr lang="ko-KR" altLang="en-US" sz="1100" dirty="0"/>
              <a:t>수입물량 감소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구매자의 후생은 감소하나 국내 생산 및 판매자의 후생은 증가함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b="1" u="sng" dirty="0"/>
              <a:t>무역규제를 찬성하는 다섯가지 주장들</a:t>
            </a:r>
            <a:endParaRPr lang="en-US" altLang="ko-KR" sz="1300" b="1" u="sng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① </a:t>
            </a:r>
            <a:r>
              <a:rPr lang="ko-KR" altLang="en-US" sz="1300" b="1" dirty="0"/>
              <a:t>일자리파괴론 </a:t>
            </a:r>
            <a:r>
              <a:rPr lang="en-US" altLang="ko-KR" sz="1300" b="1" dirty="0"/>
              <a:t>Jobs argument</a:t>
            </a:r>
          </a:p>
          <a:p>
            <a:pPr>
              <a:lnSpc>
                <a:spcPct val="160000"/>
              </a:lnSpc>
            </a:pPr>
            <a:r>
              <a:rPr lang="ko-KR" altLang="ko-KR" sz="1300" dirty="0"/>
              <a:t>②</a:t>
            </a:r>
            <a:r>
              <a:rPr lang="en-US" altLang="ko-KR" sz="1300" dirty="0"/>
              <a:t> </a:t>
            </a:r>
            <a:r>
              <a:rPr lang="ko-KR" altLang="en-US" sz="1300" b="1" dirty="0"/>
              <a:t>국가안보위협론 </a:t>
            </a:r>
            <a:r>
              <a:rPr lang="en-US" altLang="ko-KR" sz="1300" b="1" dirty="0"/>
              <a:t>National-security argument</a:t>
            </a:r>
          </a:p>
          <a:p>
            <a:pPr>
              <a:lnSpc>
                <a:spcPct val="160000"/>
              </a:lnSpc>
            </a:pPr>
            <a:r>
              <a:rPr lang="ko-KR" altLang="en-US" sz="1325" dirty="0"/>
              <a:t>③ </a:t>
            </a:r>
            <a:r>
              <a:rPr lang="ko-KR" altLang="en-US" sz="1300" b="1" dirty="0"/>
              <a:t>유치산업보호론 </a:t>
            </a:r>
            <a:r>
              <a:rPr lang="en-US" altLang="ko-KR" sz="1300" b="1" dirty="0"/>
              <a:t>Infant-industry argument</a:t>
            </a:r>
          </a:p>
          <a:p>
            <a:pPr>
              <a:lnSpc>
                <a:spcPct val="160000"/>
              </a:lnSpc>
            </a:pPr>
            <a:r>
              <a:rPr lang="ko-KR" altLang="en-US" sz="1325" dirty="0"/>
              <a:t>④ </a:t>
            </a:r>
            <a:r>
              <a:rPr lang="ko-KR" altLang="en-US" sz="1300" b="1" dirty="0"/>
              <a:t>불공정경쟁론 </a:t>
            </a:r>
            <a:r>
              <a:rPr lang="en-US" altLang="ko-KR" sz="1300" b="1" dirty="0"/>
              <a:t>Unfair-competition argument</a:t>
            </a:r>
          </a:p>
          <a:p>
            <a:pPr>
              <a:lnSpc>
                <a:spcPct val="160000"/>
              </a:lnSpc>
            </a:pPr>
            <a:r>
              <a:rPr lang="ko-KR" altLang="en-US" sz="1325" dirty="0"/>
              <a:t>⑤ </a:t>
            </a:r>
            <a:r>
              <a:rPr lang="ko-KR" altLang="en-US" sz="1300" b="1" dirty="0"/>
              <a:t>무역협상카드론 </a:t>
            </a:r>
            <a:r>
              <a:rPr lang="en-US" altLang="ko-KR" sz="1300" b="1" dirty="0"/>
              <a:t>Protection-as-a-bargaining-chip argument</a:t>
            </a:r>
          </a:p>
          <a:p>
            <a:pPr>
              <a:lnSpc>
                <a:spcPct val="160000"/>
              </a:lnSpc>
            </a:pPr>
            <a:endParaRPr lang="ko-KR" altLang="en-US" sz="1325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6BDFFE-C092-4914-8D48-1C6395BD9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48" y="3825622"/>
            <a:ext cx="2667093" cy="251789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951D198-58DC-4786-84B4-1D8FF4A2C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883" y="3825622"/>
            <a:ext cx="2658262" cy="25016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AB4D4DC-4BE3-48EB-8AB7-34CBA6AC8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675" y="5708766"/>
            <a:ext cx="257175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1033</TotalTime>
  <Words>382</Words>
  <Application>Microsoft Office PowerPoint</Application>
  <PresentationFormat>와이드스크린</PresentationFormat>
  <Paragraphs>63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9장 국제무역과 후생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LG</cp:lastModifiedBy>
  <cp:revision>89</cp:revision>
  <dcterms:created xsi:type="dcterms:W3CDTF">2021-06-28T02:08:57Z</dcterms:created>
  <dcterms:modified xsi:type="dcterms:W3CDTF">2023-04-09T00:54:49Z</dcterms:modified>
</cp:coreProperties>
</file>