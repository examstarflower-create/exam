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3"/>
  </p:notesMasterIdLst>
  <p:sldIdLst>
    <p:sldId id="257" r:id="rId2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2</a:t>
            </a:r>
            <a:r>
              <a:rPr lang="ko-KR" altLang="en-US" dirty="0"/>
              <a:t>장 경제학자처럼 생각하기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18294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400" dirty="0" smtClean="0"/>
              <a:t>경제학자들은 복잡한 </a:t>
            </a:r>
            <a:r>
              <a:rPr lang="ko-KR" altLang="en-US" sz="1400" dirty="0"/>
              <a:t>세상을 단순하고 이해하기 쉽도록 만들기 </a:t>
            </a:r>
            <a:r>
              <a:rPr lang="ko-KR" altLang="en-US" sz="1400" dirty="0" smtClean="0"/>
              <a:t>위해</a:t>
            </a:r>
            <a:endParaRPr lang="en-US" altLang="ko-KR" sz="1400" dirty="0" smtClean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200" dirty="0" smtClean="0"/>
              <a:t>- </a:t>
            </a:r>
            <a:r>
              <a:rPr lang="ko-KR" altLang="en-US" sz="1200" dirty="0" smtClean="0"/>
              <a:t>많은 가정 </a:t>
            </a:r>
            <a:r>
              <a:rPr lang="en-US" altLang="ko-KR" sz="1200" dirty="0" smtClean="0"/>
              <a:t>assumptions</a:t>
            </a:r>
            <a:r>
              <a:rPr lang="ko-KR" altLang="en-US" sz="1200" dirty="0" smtClean="0"/>
              <a:t>과 매우 </a:t>
            </a:r>
            <a:r>
              <a:rPr lang="ko-KR" altLang="en-US" sz="1200" dirty="0"/>
              <a:t>단순화된 모형 </a:t>
            </a:r>
            <a:r>
              <a:rPr lang="en-US" altLang="ko-KR" sz="1200" dirty="0"/>
              <a:t>models</a:t>
            </a:r>
            <a:r>
              <a:rPr lang="ko-KR" altLang="en-US" sz="1200" dirty="0" smtClean="0"/>
              <a:t>을 사용</a:t>
            </a:r>
            <a:endParaRPr lang="en-US" altLang="ko-KR" sz="1200" dirty="0"/>
          </a:p>
          <a:p>
            <a:pPr marL="0" indent="0">
              <a:lnSpc>
                <a:spcPct val="160000"/>
              </a:lnSpc>
              <a:buNone/>
            </a:pPr>
            <a:endParaRPr lang="en-US" altLang="ko-KR" sz="1300" dirty="0" smtClean="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400" dirty="0" smtClean="0"/>
              <a:t>1</a:t>
            </a:r>
            <a:r>
              <a:rPr lang="en-US" altLang="ko-KR" sz="1400" dirty="0"/>
              <a:t>. </a:t>
            </a:r>
            <a:r>
              <a:rPr lang="ko-KR" altLang="en-US" sz="1400" dirty="0"/>
              <a:t>경제순환모형 </a:t>
            </a:r>
            <a:r>
              <a:rPr lang="en-US" altLang="ko-KR" sz="1400" dirty="0"/>
              <a:t>Circular-flow diagram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200" dirty="0" smtClean="0"/>
              <a:t>경제를</a:t>
            </a:r>
            <a:r>
              <a:rPr lang="en-US" altLang="ko-KR" sz="1200" dirty="0" smtClean="0"/>
              <a:t> </a:t>
            </a:r>
            <a:r>
              <a:rPr lang="ko-KR" altLang="en-US" sz="1200" dirty="0"/>
              <a:t>보여주는 시각적 </a:t>
            </a:r>
            <a:r>
              <a:rPr lang="ko-KR" altLang="en-US" sz="1200" dirty="0" smtClean="0"/>
              <a:t>모형</a:t>
            </a:r>
            <a:r>
              <a:rPr lang="en-US" altLang="ko-KR" sz="1200" dirty="0" smtClean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200" dirty="0" smtClean="0"/>
              <a:t>가계와 </a:t>
            </a:r>
            <a:r>
              <a:rPr lang="ko-KR" altLang="en-US" sz="1200" dirty="0"/>
              <a:t>기업은 ①재화와 서비스시장</a:t>
            </a:r>
            <a:r>
              <a:rPr lang="en-US" altLang="ko-KR" sz="1200" dirty="0"/>
              <a:t>, ②</a:t>
            </a:r>
            <a:r>
              <a:rPr lang="ko-KR" altLang="en-US" sz="1200" dirty="0"/>
              <a:t>생산요소시장에서 상호작용을 함</a:t>
            </a:r>
            <a:r>
              <a:rPr lang="en-US" altLang="ko-KR" sz="1200" dirty="0"/>
              <a:t>. </a:t>
            </a:r>
          </a:p>
          <a:p>
            <a:pPr marL="0" indent="0">
              <a:lnSpc>
                <a:spcPct val="160000"/>
              </a:lnSpc>
              <a:buNone/>
            </a:pPr>
            <a:endParaRPr lang="en-US" altLang="ko-KR" sz="1300" dirty="0" smtClean="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400" dirty="0" smtClean="0"/>
              <a:t>2</a:t>
            </a:r>
            <a:r>
              <a:rPr lang="en-US" altLang="ko-KR" sz="1400" dirty="0"/>
              <a:t>. </a:t>
            </a:r>
            <a:r>
              <a:rPr lang="ko-KR" altLang="en-US" sz="1400" dirty="0"/>
              <a:t>생산가능곡선 </a:t>
            </a:r>
            <a:r>
              <a:rPr lang="en-US" altLang="ko-KR" sz="1400" dirty="0"/>
              <a:t>Production Possibilities Frontier, PPF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한 경제가 주어진 생산요소들과 기술을 사용해</a:t>
            </a:r>
            <a:r>
              <a:rPr lang="en-US" altLang="ko-KR" sz="1100" dirty="0"/>
              <a:t> </a:t>
            </a:r>
            <a:r>
              <a:rPr lang="ko-KR" altLang="en-US" sz="1100" dirty="0"/>
              <a:t>최대 생산가능한 산출물의 </a:t>
            </a:r>
            <a:r>
              <a:rPr lang="ko-KR" altLang="en-US" sz="1100" dirty="0" smtClean="0"/>
              <a:t>조합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생산가능곡선 상에 있는 점들</a:t>
            </a:r>
            <a:r>
              <a:rPr lang="en-US" altLang="ko-KR" sz="1300" dirty="0"/>
              <a:t>: </a:t>
            </a:r>
            <a:r>
              <a:rPr lang="ko-KR" altLang="en-US" sz="1300" dirty="0"/>
              <a:t>달성 가능하며</a:t>
            </a:r>
            <a:r>
              <a:rPr lang="en-US" altLang="ko-KR" sz="1300" dirty="0"/>
              <a:t>, </a:t>
            </a:r>
            <a:r>
              <a:rPr lang="ko-KR" altLang="en-US" sz="1300" dirty="0"/>
              <a:t>효율적</a:t>
            </a:r>
            <a:r>
              <a:rPr lang="en-US" altLang="ko-KR" sz="1300" dirty="0"/>
              <a:t>(</a:t>
            </a:r>
            <a:r>
              <a:rPr lang="ko-KR" altLang="en-US" sz="1300" dirty="0"/>
              <a:t>모든 자원 완전 활용</a:t>
            </a:r>
            <a:r>
              <a:rPr lang="en-US" altLang="ko-KR" sz="1300" dirty="0"/>
              <a:t>)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생산가능곡선 </a:t>
            </a:r>
            <a:r>
              <a:rPr lang="en-US" altLang="ko-KR" sz="1300" dirty="0"/>
              <a:t>PPF</a:t>
            </a:r>
            <a:r>
              <a:rPr lang="ko-KR" altLang="en-US" sz="1300" dirty="0"/>
              <a:t>을 벗어나는 경우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dirty="0" smtClean="0"/>
              <a:t>PPF</a:t>
            </a:r>
            <a:r>
              <a:rPr lang="ko-KR" altLang="en-US" sz="1100" dirty="0"/>
              <a:t>의 아래에 있는 어떤 점들</a:t>
            </a:r>
            <a:r>
              <a:rPr lang="en-US" altLang="ko-KR" sz="1100" dirty="0"/>
              <a:t>(=</a:t>
            </a:r>
            <a:r>
              <a:rPr lang="ko-KR" altLang="en-US" sz="1100" dirty="0"/>
              <a:t>조합</a:t>
            </a:r>
            <a:r>
              <a:rPr lang="en-US" altLang="ko-KR" sz="1100" dirty="0"/>
              <a:t>): </a:t>
            </a:r>
            <a:r>
              <a:rPr lang="ko-KR" altLang="en-US" sz="1100" dirty="0"/>
              <a:t>생산 가능하지만 효율적이지 </a:t>
            </a:r>
            <a:r>
              <a:rPr lang="ko-KR" altLang="en-US" sz="1100" dirty="0" smtClean="0"/>
              <a:t>않음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dirty="0" smtClean="0"/>
              <a:t>PPF</a:t>
            </a:r>
            <a:r>
              <a:rPr lang="ko-KR" altLang="en-US" sz="1100" dirty="0"/>
              <a:t>의 바깥에 있는 어떤 점들</a:t>
            </a:r>
            <a:r>
              <a:rPr lang="en-US" altLang="ko-KR" sz="1100" dirty="0"/>
              <a:t>: </a:t>
            </a:r>
            <a:r>
              <a:rPr lang="ko-KR" altLang="en-US" sz="1100" dirty="0"/>
              <a:t>달성 </a:t>
            </a:r>
            <a:r>
              <a:rPr lang="ko-KR" altLang="en-US" sz="1100" dirty="0" smtClean="0"/>
              <a:t>불가능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생산가능곡선의 </a:t>
            </a:r>
            <a:r>
              <a:rPr lang="en-US" altLang="ko-KR" sz="1300" dirty="0"/>
              <a:t>‘</a:t>
            </a:r>
            <a:r>
              <a:rPr lang="ko-KR" altLang="en-US" sz="1300" dirty="0"/>
              <a:t>기울기 </a:t>
            </a:r>
            <a:r>
              <a:rPr lang="en-US" altLang="ko-KR" sz="1300" dirty="0"/>
              <a:t>slope’: </a:t>
            </a:r>
            <a:r>
              <a:rPr lang="ko-KR" altLang="en-US" sz="1300" dirty="0"/>
              <a:t>재화 관점에서 본 </a:t>
            </a:r>
            <a:r>
              <a:rPr lang="en-US" altLang="ko-KR" sz="1300" dirty="0"/>
              <a:t>‘</a:t>
            </a:r>
            <a:r>
              <a:rPr lang="ko-KR" altLang="en-US" sz="1300" dirty="0"/>
              <a:t>기회비용</a:t>
            </a:r>
            <a:r>
              <a:rPr lang="en-US" altLang="ko-KR" sz="1300" dirty="0" smtClean="0"/>
              <a:t>’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생산가능곡선의 </a:t>
            </a:r>
            <a:r>
              <a:rPr lang="ko-KR" altLang="en-US" sz="1300" dirty="0"/>
              <a:t>확장</a:t>
            </a:r>
            <a:r>
              <a:rPr lang="en-US" altLang="ko-KR" sz="1300" dirty="0"/>
              <a:t>(</a:t>
            </a:r>
            <a:r>
              <a:rPr lang="ko-KR" altLang="en-US" sz="1300" dirty="0"/>
              <a:t>기울기 변화없이 수평이동</a:t>
            </a:r>
            <a:r>
              <a:rPr lang="en-US" altLang="ko-KR" sz="1300" dirty="0"/>
              <a:t>):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추가로 </a:t>
            </a:r>
            <a:r>
              <a:rPr lang="ko-KR" altLang="en-US" sz="1100" dirty="0"/>
              <a:t>자원이 생겨나거나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기술이 </a:t>
            </a:r>
            <a:r>
              <a:rPr lang="ko-KR" altLang="en-US" sz="1100" dirty="0"/>
              <a:t>진보하면 같은 조건에서 더 많은 컴퓨터와 밀을 생산할 수 있음</a:t>
            </a:r>
            <a:r>
              <a:rPr lang="en-US" altLang="ko-KR" sz="1100" dirty="0"/>
              <a:t>. </a:t>
            </a:r>
            <a:r>
              <a:rPr lang="ko-KR" altLang="en-US" sz="1100" dirty="0"/>
              <a:t>경제성장의 또다른 표현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생산가능곡선의 모양</a:t>
            </a:r>
            <a:r>
              <a:rPr lang="en-US" altLang="ko-KR" sz="1300" dirty="0"/>
              <a:t>: </a:t>
            </a:r>
            <a:r>
              <a:rPr lang="ko-KR" altLang="en-US" sz="1300" dirty="0"/>
              <a:t>직선 </a:t>
            </a:r>
            <a:r>
              <a:rPr lang="en-US" altLang="ko-KR" sz="1300" dirty="0"/>
              <a:t>vs. </a:t>
            </a:r>
            <a:r>
              <a:rPr lang="ko-KR" altLang="en-US" sz="1300" dirty="0" smtClean="0"/>
              <a:t>곡선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기울기</a:t>
            </a:r>
            <a:r>
              <a:rPr lang="en-US" altLang="ko-KR" sz="1100" dirty="0"/>
              <a:t>, </a:t>
            </a:r>
            <a:r>
              <a:rPr lang="ko-KR" altLang="en-US" sz="1100" dirty="0"/>
              <a:t>또는 기회비용이 항상 일정한 경우 </a:t>
            </a:r>
            <a:r>
              <a:rPr lang="en-US" altLang="ko-KR" sz="1100" dirty="0"/>
              <a:t>PPF</a:t>
            </a:r>
            <a:r>
              <a:rPr lang="ko-KR" altLang="en-US" sz="1100" dirty="0"/>
              <a:t>는 </a:t>
            </a:r>
            <a:r>
              <a:rPr lang="ko-KR" altLang="en-US" sz="1100" dirty="0" smtClean="0"/>
              <a:t>직선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기회비용이 </a:t>
            </a:r>
            <a:r>
              <a:rPr lang="ko-KR" altLang="en-US" sz="1100" dirty="0"/>
              <a:t>증가하는 경우</a:t>
            </a:r>
            <a:r>
              <a:rPr lang="en-US" altLang="ko-KR" sz="1100" dirty="0"/>
              <a:t>(</a:t>
            </a:r>
            <a:r>
              <a:rPr lang="ko-KR" altLang="en-US" sz="1100" dirty="0"/>
              <a:t>기울기가 점점 가팔라지는 경우</a:t>
            </a:r>
            <a:r>
              <a:rPr lang="en-US" altLang="ko-KR" sz="1100" dirty="0"/>
              <a:t>) PPF</a:t>
            </a:r>
            <a:r>
              <a:rPr lang="ko-KR" altLang="en-US" sz="1100" dirty="0"/>
              <a:t>는 바깥으로 </a:t>
            </a:r>
            <a:r>
              <a:rPr lang="ko-KR" altLang="en-US" sz="1100" dirty="0" smtClean="0"/>
              <a:t>볼록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바깥으로 </a:t>
            </a:r>
            <a:r>
              <a:rPr lang="ko-KR" altLang="en-US" sz="1100" dirty="0"/>
              <a:t>볼록한 생산가능곡선이 좀 더 </a:t>
            </a:r>
            <a:r>
              <a:rPr lang="ko-KR" altLang="en-US" sz="1100" dirty="0" smtClean="0"/>
              <a:t>현실적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178</Words>
  <Application>Microsoft Office PowerPoint</Application>
  <PresentationFormat>와이드스크린</PresentationFormat>
  <Paragraphs>24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2장 경제학자처럼 생각하기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mainlibinfo11</cp:lastModifiedBy>
  <cp:revision>28</cp:revision>
  <dcterms:created xsi:type="dcterms:W3CDTF">2021-06-28T02:08:57Z</dcterms:created>
  <dcterms:modified xsi:type="dcterms:W3CDTF">2023-02-27T06:23:59Z</dcterms:modified>
</cp:coreProperties>
</file>