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31" r:id="rId1"/>
  </p:sldMasterIdLst>
  <p:notesMasterIdLst>
    <p:notesMasterId r:id="rId4"/>
  </p:notesMasterIdLst>
  <p:sldIdLst>
    <p:sldId id="257" r:id="rId2"/>
    <p:sldId id="258" r:id="rId3"/>
  </p:sldIdLst>
  <p:sldSz cx="6858000" cy="12192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6" d="100"/>
          <a:sy n="66" d="100"/>
        </p:scale>
        <p:origin x="335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3ACC92-CB11-4036-ADF7-E0BC6A6A1264}" type="datetimeFigureOut">
              <a:rPr lang="ko-KR" altLang="en-US" smtClean="0"/>
              <a:t>2023-03-13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EE10A1-D3FC-451D-B227-50AB5FD54F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385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68940-2C76-495C-8FB7-F4A9D28239AA}" type="datetime1">
              <a:rPr lang="ko-KR" altLang="en-US" smtClean="0"/>
              <a:t>2023-03-13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845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3A891-E498-4678-8D06-486FCC2BADEF}" type="datetime1">
              <a:rPr lang="ko-KR" altLang="en-US" smtClean="0"/>
              <a:t>2023-03-13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678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7916" y="3039535"/>
            <a:ext cx="5915025" cy="5071532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67916" y="8159046"/>
            <a:ext cx="5915025" cy="266699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4FA93-A02B-42D6-A8B3-8681C853C7B8}" type="datetime1">
              <a:rPr lang="ko-KR" altLang="en-US" smtClean="0"/>
              <a:t>2023-03-13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947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91E48-2200-4646-B2AF-8A65E8AA4025}" type="datetime1">
              <a:rPr lang="ko-KR" altLang="en-US" smtClean="0"/>
              <a:t>2023-03-13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456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649112"/>
            <a:ext cx="5915025" cy="235655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F0A6E-CDCA-463B-AB9C-2AD65F7DC7CE}" type="datetime1">
              <a:rPr lang="ko-KR" altLang="en-US" smtClean="0"/>
              <a:t>2023-03-13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9918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2F37D-F6B4-429A-93F0-670EB34C6EF1}" type="datetime1">
              <a:rPr lang="ko-KR" altLang="en-US" smtClean="0"/>
              <a:t>2023-03-13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359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75B21-6647-4787-AAB5-A8BA543A8A03}" type="datetime1">
              <a:rPr lang="ko-KR" altLang="en-US" smtClean="0"/>
              <a:t>2023-03-13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135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F1AC2-CEA2-4AD0-9EED-9798843472E1}" type="datetime1">
              <a:rPr lang="ko-KR" altLang="en-US" smtClean="0"/>
              <a:t>2023-03-13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768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37C7C-8297-41A4-AED2-93F81127B44B}" type="datetime1">
              <a:rPr lang="ko-KR" altLang="en-US" smtClean="0"/>
              <a:t>2023-03-13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451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448E2-EAB7-4DB0-B809-DCB379E8731B}" type="datetime1">
              <a:rPr lang="ko-KR" altLang="en-US" smtClean="0"/>
              <a:t>2023-03-13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11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03C7-C7FA-46F0-BB19-A2462D02B89C}" type="datetime1">
              <a:rPr lang="ko-KR" altLang="en-US" smtClean="0"/>
              <a:t>2023-03-13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099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6E84B-CCB9-4E10-8C0E-8C6664F6450B}" type="datetime1">
              <a:rPr lang="ko-KR" altLang="en-US" smtClean="0"/>
              <a:t>2023-03-13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197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2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hf hdr="0" ftr="0" dt="0"/>
  <p:txStyles>
    <p:titleStyle>
      <a:lvl1pPr algn="l" defTabSz="514350" rtl="0" eaLnBrk="1" latinLnBrk="1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114920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5</a:t>
            </a:r>
            <a:r>
              <a:rPr lang="ko-KR" altLang="en-US" dirty="0"/>
              <a:t>장 탄력성과</a:t>
            </a:r>
            <a:r>
              <a:rPr lang="en-US" altLang="ko-KR" dirty="0"/>
              <a:t> </a:t>
            </a:r>
            <a:r>
              <a:rPr lang="ko-KR" altLang="en-US" dirty="0"/>
              <a:t>응용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1488" y="1798320"/>
            <a:ext cx="5915025" cy="9650730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ko-KR" altLang="en-US" sz="1300" dirty="0" smtClean="0"/>
              <a:t>수요의</a:t>
            </a:r>
            <a:r>
              <a:rPr lang="en-US" altLang="ko-KR" sz="1300" dirty="0" smtClean="0"/>
              <a:t> </a:t>
            </a:r>
            <a:r>
              <a:rPr lang="ko-KR" altLang="en-US" sz="1300" dirty="0"/>
              <a:t>가격탄력성 </a:t>
            </a:r>
            <a:r>
              <a:rPr lang="en-US" altLang="ko-KR" sz="1300" dirty="0"/>
              <a:t>Price elasticity of demand</a:t>
            </a:r>
          </a:p>
          <a:p>
            <a:pPr marL="257175" lvl="1" indent="0">
              <a:lnSpc>
                <a:spcPct val="160000"/>
              </a:lnSpc>
              <a:buNone/>
            </a:pPr>
            <a:r>
              <a:rPr lang="en-US" altLang="ko-KR" sz="1100" dirty="0" smtClean="0"/>
              <a:t>- </a:t>
            </a:r>
            <a:r>
              <a:rPr lang="ko-KR" altLang="en-US" sz="1100" dirty="0" smtClean="0"/>
              <a:t>어떤 </a:t>
            </a:r>
            <a:r>
              <a:rPr lang="ko-KR" altLang="en-US" sz="1100" dirty="0"/>
              <a:t>재화의 수요량이 그 재화 가격의 변화에 얼마만큼 반응하는지를 </a:t>
            </a:r>
            <a:r>
              <a:rPr lang="ko-KR" altLang="en-US" sz="1100" dirty="0" smtClean="0"/>
              <a:t>보여주는</a:t>
            </a:r>
            <a:r>
              <a:rPr lang="en-US" altLang="ko-KR" sz="1100" dirty="0" smtClean="0"/>
              <a:t> </a:t>
            </a:r>
            <a:r>
              <a:rPr lang="ko-KR" altLang="en-US" sz="1100" dirty="0" smtClean="0"/>
              <a:t>척도</a:t>
            </a:r>
            <a:r>
              <a:rPr lang="en-US" altLang="ko-KR" sz="1100" dirty="0" smtClean="0"/>
              <a:t> </a:t>
            </a:r>
            <a:endParaRPr lang="en-US" altLang="ko-KR" sz="1100" dirty="0"/>
          </a:p>
          <a:p>
            <a:pPr>
              <a:lnSpc>
                <a:spcPct val="160000"/>
              </a:lnSpc>
            </a:pPr>
            <a:r>
              <a:rPr lang="ko-KR" altLang="en-US" sz="1300" dirty="0" smtClean="0"/>
              <a:t>수요의 </a:t>
            </a:r>
            <a:r>
              <a:rPr lang="ko-KR" altLang="en-US" sz="1300" dirty="0"/>
              <a:t>가격탄력성 </a:t>
            </a:r>
            <a:r>
              <a:rPr lang="en-US" altLang="ko-KR" sz="1300" dirty="0"/>
              <a:t>= (</a:t>
            </a:r>
            <a:r>
              <a:rPr lang="ko-KR" altLang="en-US" sz="1300" dirty="0"/>
              <a:t>수요량의</a:t>
            </a:r>
            <a:r>
              <a:rPr lang="en-US" altLang="ko-KR" sz="1300" dirty="0"/>
              <a:t> </a:t>
            </a:r>
            <a:r>
              <a:rPr lang="ko-KR" altLang="en-US" sz="1300" dirty="0"/>
              <a:t>변화율</a:t>
            </a:r>
            <a:r>
              <a:rPr lang="en-US" altLang="ko-KR" sz="1300" dirty="0"/>
              <a:t>) / (</a:t>
            </a:r>
            <a:r>
              <a:rPr lang="ko-KR" altLang="en-US" sz="1300" dirty="0"/>
              <a:t>가격변화율</a:t>
            </a:r>
            <a:r>
              <a:rPr lang="en-US" altLang="ko-KR" sz="1300" dirty="0"/>
              <a:t>) </a:t>
            </a:r>
            <a:endParaRPr lang="en-US" altLang="ko-KR" sz="1100" dirty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ko-KR" altLang="en-US" sz="1300" dirty="0">
                <a:sym typeface="Wingdings" panose="05000000000000000000" pitchFamily="2" charset="2"/>
              </a:rPr>
              <a:t>수요의 가격탄력성 결정요인</a:t>
            </a:r>
            <a:endParaRPr lang="en-US" altLang="ko-KR" sz="1300" dirty="0">
              <a:sym typeface="Wingdings" panose="05000000000000000000" pitchFamily="2" charset="2"/>
            </a:endParaRPr>
          </a:p>
          <a:p>
            <a:pPr marL="257175" lvl="1" indent="0">
              <a:lnSpc>
                <a:spcPct val="160000"/>
              </a:lnSpc>
              <a:buNone/>
            </a:pPr>
            <a:r>
              <a:rPr lang="en-US" altLang="ko-KR" sz="1100" dirty="0" smtClean="0">
                <a:sym typeface="Wingdings" panose="05000000000000000000" pitchFamily="2" charset="2"/>
              </a:rPr>
              <a:t>- </a:t>
            </a:r>
            <a:r>
              <a:rPr lang="ko-KR" altLang="en-US" sz="1100" dirty="0" smtClean="0">
                <a:sym typeface="Wingdings" panose="05000000000000000000" pitchFamily="2" charset="2"/>
              </a:rPr>
              <a:t>일반적으로 </a:t>
            </a:r>
            <a:r>
              <a:rPr lang="ko-KR" altLang="en-US" sz="1100" dirty="0">
                <a:sym typeface="Wingdings" panose="05000000000000000000" pitchFamily="2" charset="2"/>
              </a:rPr>
              <a:t>다음 네 가지 결정요인을 거론</a:t>
            </a:r>
            <a:endParaRPr lang="en-US" altLang="ko-KR" sz="1100" dirty="0">
              <a:sym typeface="Wingdings" panose="05000000000000000000" pitchFamily="2" charset="2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ko-KR" altLang="en-US" sz="1300" dirty="0">
                <a:sym typeface="Wingdings" panose="05000000000000000000" pitchFamily="2" charset="2"/>
              </a:rPr>
              <a:t> </a:t>
            </a:r>
            <a:r>
              <a:rPr lang="ko-KR" altLang="en-US" sz="1300" dirty="0" smtClean="0">
                <a:sym typeface="Wingdings" panose="05000000000000000000" pitchFamily="2" charset="2"/>
              </a:rPr>
              <a:t> </a:t>
            </a:r>
            <a:r>
              <a:rPr lang="en-US" altLang="ko-KR" sz="1300" dirty="0" smtClean="0">
                <a:sym typeface="Wingdings" panose="05000000000000000000" pitchFamily="2" charset="2"/>
              </a:rPr>
              <a:t>① </a:t>
            </a:r>
            <a:r>
              <a:rPr lang="ko-KR" altLang="en-US" sz="1300" dirty="0">
                <a:sym typeface="Wingdings" panose="05000000000000000000" pitchFamily="2" charset="2"/>
              </a:rPr>
              <a:t>시리얼 </a:t>
            </a:r>
            <a:r>
              <a:rPr lang="en-US" altLang="ko-KR" sz="1300" dirty="0">
                <a:sym typeface="Wingdings" panose="05000000000000000000" pitchFamily="2" charset="2"/>
              </a:rPr>
              <a:t>vs. </a:t>
            </a:r>
            <a:r>
              <a:rPr lang="ko-KR" altLang="en-US" sz="1300" dirty="0" err="1">
                <a:sym typeface="Wingdings" panose="05000000000000000000" pitchFamily="2" charset="2"/>
              </a:rPr>
              <a:t>선크림</a:t>
            </a:r>
            <a:r>
              <a:rPr lang="en-US" altLang="ko-KR" sz="1300" dirty="0">
                <a:sym typeface="Wingdings" panose="05000000000000000000" pitchFamily="2" charset="2"/>
              </a:rPr>
              <a:t>  </a:t>
            </a:r>
            <a:r>
              <a:rPr lang="ko-KR" altLang="en-US" sz="1300" dirty="0">
                <a:sym typeface="Wingdings" panose="05000000000000000000" pitchFamily="2" charset="2"/>
              </a:rPr>
              <a:t>가까운 대체재가 </a:t>
            </a:r>
            <a:r>
              <a:rPr lang="ko-KR" altLang="en-US" sz="1300" dirty="0" smtClean="0">
                <a:sym typeface="Wingdings" panose="05000000000000000000" pitchFamily="2" charset="2"/>
              </a:rPr>
              <a:t>있느냐 여부</a:t>
            </a:r>
            <a:endParaRPr lang="en-US" altLang="ko-KR" sz="1300" dirty="0">
              <a:sym typeface="Wingdings" panose="05000000000000000000" pitchFamily="2" charset="2"/>
            </a:endParaRPr>
          </a:p>
          <a:p>
            <a:pPr marL="257175" lvl="1" indent="0">
              <a:lnSpc>
                <a:spcPct val="160000"/>
              </a:lnSpc>
              <a:buNone/>
            </a:pPr>
            <a:r>
              <a:rPr lang="en-US" altLang="ko-KR" sz="1100" dirty="0" smtClean="0">
                <a:sym typeface="Wingdings" panose="05000000000000000000" pitchFamily="2" charset="2"/>
              </a:rPr>
              <a:t>- </a:t>
            </a:r>
            <a:r>
              <a:rPr lang="ko-KR" altLang="en-US" sz="1100" dirty="0" smtClean="0">
                <a:sym typeface="Wingdings" panose="05000000000000000000" pitchFamily="2" charset="2"/>
              </a:rPr>
              <a:t>시리얼은 </a:t>
            </a:r>
            <a:r>
              <a:rPr lang="ko-KR" altLang="en-US" sz="1100" dirty="0">
                <a:sym typeface="Wingdings" panose="05000000000000000000" pitchFamily="2" charset="2"/>
              </a:rPr>
              <a:t>가까운 대체재가 많기 때문에 가격상승 시 쉽게 다른 재화로 전환 가능</a:t>
            </a:r>
            <a:endParaRPr lang="en-US" altLang="ko-KR" sz="1100" dirty="0">
              <a:sym typeface="Wingdings" panose="05000000000000000000" pitchFamily="2" charset="2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altLang="ko-KR" sz="1300" dirty="0" smtClean="0">
                <a:sym typeface="Wingdings" panose="05000000000000000000" pitchFamily="2" charset="2"/>
              </a:rPr>
              <a:t>  ② </a:t>
            </a:r>
            <a:r>
              <a:rPr lang="en-US" altLang="ko-KR" sz="1300" dirty="0">
                <a:sym typeface="Wingdings" panose="05000000000000000000" pitchFamily="2" charset="2"/>
              </a:rPr>
              <a:t>CK </a:t>
            </a:r>
            <a:r>
              <a:rPr lang="ko-KR" altLang="en-US" sz="1300" dirty="0">
                <a:sym typeface="Wingdings" panose="05000000000000000000" pitchFamily="2" charset="2"/>
              </a:rPr>
              <a:t>청바지 </a:t>
            </a:r>
            <a:r>
              <a:rPr lang="en-US" altLang="ko-KR" sz="1300" dirty="0">
                <a:sym typeface="Wingdings" panose="05000000000000000000" pitchFamily="2" charset="2"/>
              </a:rPr>
              <a:t>vs. </a:t>
            </a:r>
            <a:r>
              <a:rPr lang="ko-KR" altLang="en-US" sz="1300" dirty="0">
                <a:sym typeface="Wingdings" panose="05000000000000000000" pitchFamily="2" charset="2"/>
              </a:rPr>
              <a:t>모든 바지</a:t>
            </a:r>
            <a:r>
              <a:rPr lang="en-US" altLang="ko-KR" sz="1300" dirty="0">
                <a:sym typeface="Wingdings" panose="05000000000000000000" pitchFamily="2" charset="2"/>
              </a:rPr>
              <a:t>  </a:t>
            </a:r>
            <a:r>
              <a:rPr lang="ko-KR" altLang="en-US" sz="1300" dirty="0" smtClean="0">
                <a:sym typeface="Wingdings" panose="05000000000000000000" pitchFamily="2" charset="2"/>
              </a:rPr>
              <a:t>재화의 </a:t>
            </a:r>
            <a:r>
              <a:rPr lang="en-US" altLang="ko-KR" sz="1300" dirty="0" smtClean="0">
                <a:sym typeface="Wingdings" panose="05000000000000000000" pitchFamily="2" charset="2"/>
              </a:rPr>
              <a:t>definition</a:t>
            </a:r>
            <a:endParaRPr lang="en-US" altLang="ko-KR" sz="1300" dirty="0">
              <a:sym typeface="Wingdings" panose="05000000000000000000" pitchFamily="2" charset="2"/>
            </a:endParaRPr>
          </a:p>
          <a:p>
            <a:pPr marL="257175" lvl="1" indent="0">
              <a:lnSpc>
                <a:spcPct val="160000"/>
              </a:lnSpc>
              <a:buNone/>
            </a:pPr>
            <a:r>
              <a:rPr lang="en-US" altLang="ko-KR" sz="1100" dirty="0" smtClean="0">
                <a:sym typeface="Wingdings" panose="05000000000000000000" pitchFamily="2" charset="2"/>
              </a:rPr>
              <a:t>- </a:t>
            </a:r>
            <a:r>
              <a:rPr lang="ko-KR" altLang="en-US" sz="1100" dirty="0" smtClean="0">
                <a:sym typeface="Wingdings" panose="05000000000000000000" pitchFamily="2" charset="2"/>
              </a:rPr>
              <a:t>재화를 </a:t>
            </a:r>
            <a:r>
              <a:rPr lang="ko-KR" altLang="en-US" sz="1100" dirty="0">
                <a:sym typeface="Wingdings" panose="05000000000000000000" pitchFamily="2" charset="2"/>
              </a:rPr>
              <a:t>좁게 정의할 </a:t>
            </a:r>
            <a:r>
              <a:rPr lang="en-US" altLang="ko-KR" sz="1100" dirty="0">
                <a:sym typeface="Wingdings" panose="05000000000000000000" pitchFamily="2" charset="2"/>
              </a:rPr>
              <a:t>define </a:t>
            </a:r>
            <a:r>
              <a:rPr lang="ko-KR" altLang="en-US" sz="1100" dirty="0">
                <a:sym typeface="Wingdings" panose="05000000000000000000" pitchFamily="2" charset="2"/>
              </a:rPr>
              <a:t>경우</a:t>
            </a:r>
            <a:r>
              <a:rPr lang="en-US" altLang="ko-KR" sz="1100" dirty="0">
                <a:sym typeface="Wingdings" panose="05000000000000000000" pitchFamily="2" charset="2"/>
              </a:rPr>
              <a:t>, </a:t>
            </a:r>
            <a:r>
              <a:rPr lang="ko-KR" altLang="en-US" sz="1100" dirty="0">
                <a:sym typeface="Wingdings" panose="05000000000000000000" pitchFamily="2" charset="2"/>
              </a:rPr>
              <a:t>대체재가 많기 때문에 가격탄력성이 큰 값을 가짐</a:t>
            </a:r>
            <a:r>
              <a:rPr lang="en-US" altLang="ko-KR" sz="1100" dirty="0">
                <a:sym typeface="Wingdings" panose="05000000000000000000" pitchFamily="2" charset="2"/>
              </a:rPr>
              <a:t>.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altLang="ko-KR" sz="1300" dirty="0" smtClean="0">
                <a:sym typeface="Wingdings" panose="05000000000000000000" pitchFamily="2" charset="2"/>
              </a:rPr>
              <a:t>  ③ </a:t>
            </a:r>
            <a:r>
              <a:rPr lang="ko-KR" altLang="en-US" sz="1300" dirty="0">
                <a:sym typeface="Wingdings" panose="05000000000000000000" pitchFamily="2" charset="2"/>
              </a:rPr>
              <a:t>인슐린 </a:t>
            </a:r>
            <a:r>
              <a:rPr lang="en-US" altLang="ko-KR" sz="1300" dirty="0">
                <a:sym typeface="Wingdings" panose="05000000000000000000" pitchFamily="2" charset="2"/>
              </a:rPr>
              <a:t>vs. </a:t>
            </a:r>
            <a:r>
              <a:rPr lang="ko-KR" altLang="en-US" sz="1300" dirty="0">
                <a:sym typeface="Wingdings" panose="05000000000000000000" pitchFamily="2" charset="2"/>
              </a:rPr>
              <a:t>요트 </a:t>
            </a:r>
            <a:r>
              <a:rPr lang="en-US" altLang="ko-KR" sz="1300" dirty="0">
                <a:sym typeface="Wingdings" panose="05000000000000000000" pitchFamily="2" charset="2"/>
              </a:rPr>
              <a:t> </a:t>
            </a:r>
            <a:r>
              <a:rPr lang="ko-KR" altLang="en-US" sz="1300" dirty="0" err="1" smtClean="0">
                <a:sym typeface="Wingdings" panose="05000000000000000000" pitchFamily="2" charset="2"/>
              </a:rPr>
              <a:t>사치재</a:t>
            </a:r>
            <a:r>
              <a:rPr lang="ko-KR" altLang="en-US" sz="1300" dirty="0" smtClean="0">
                <a:sym typeface="Wingdings" panose="05000000000000000000" pitchFamily="2" charset="2"/>
              </a:rPr>
              <a:t> 또는 </a:t>
            </a:r>
            <a:r>
              <a:rPr lang="ko-KR" altLang="en-US" sz="1300" dirty="0" err="1" smtClean="0">
                <a:sym typeface="Wingdings" panose="05000000000000000000" pitchFamily="2" charset="2"/>
              </a:rPr>
              <a:t>필수재</a:t>
            </a:r>
            <a:r>
              <a:rPr lang="ko-KR" altLang="en-US" sz="1300" dirty="0" smtClean="0">
                <a:sym typeface="Wingdings" panose="05000000000000000000" pitchFamily="2" charset="2"/>
              </a:rPr>
              <a:t> 여부</a:t>
            </a:r>
            <a:endParaRPr lang="en-US" altLang="ko-KR" sz="1300" dirty="0">
              <a:sym typeface="Wingdings" panose="05000000000000000000" pitchFamily="2" charset="2"/>
            </a:endParaRP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>
                <a:sym typeface="Wingdings" panose="05000000000000000000" pitchFamily="2" charset="2"/>
              </a:rPr>
              <a:t>필수적 </a:t>
            </a:r>
            <a:r>
              <a:rPr lang="ko-KR" altLang="en-US" sz="1100" dirty="0">
                <a:sym typeface="Wingdings" panose="05000000000000000000" pitchFamily="2" charset="2"/>
              </a:rPr>
              <a:t>재화 </a:t>
            </a:r>
            <a:r>
              <a:rPr lang="en-US" altLang="ko-KR" sz="1100" dirty="0" smtClean="0">
                <a:sym typeface="Wingdings" panose="05000000000000000000" pitchFamily="2" charset="2"/>
              </a:rPr>
              <a:t>necessity</a:t>
            </a:r>
            <a:r>
              <a:rPr lang="ko-KR" altLang="en-US" sz="1100" dirty="0" smtClean="0">
                <a:sym typeface="Wingdings" panose="05000000000000000000" pitchFamily="2" charset="2"/>
              </a:rPr>
              <a:t>는</a:t>
            </a:r>
            <a:r>
              <a:rPr lang="en-US" altLang="ko-KR" sz="1100" dirty="0" smtClean="0">
                <a:sym typeface="Wingdings" panose="05000000000000000000" pitchFamily="2" charset="2"/>
              </a:rPr>
              <a:t> </a:t>
            </a:r>
            <a:r>
              <a:rPr lang="ko-KR" altLang="en-US" sz="1100" dirty="0">
                <a:sym typeface="Wingdings" panose="05000000000000000000" pitchFamily="2" charset="2"/>
              </a:rPr>
              <a:t>가격상승에도</a:t>
            </a:r>
            <a:r>
              <a:rPr lang="en-US" altLang="ko-KR" sz="1100" dirty="0">
                <a:sym typeface="Wingdings" panose="05000000000000000000" pitchFamily="2" charset="2"/>
              </a:rPr>
              <a:t> </a:t>
            </a:r>
            <a:r>
              <a:rPr lang="ko-KR" altLang="en-US" sz="1100" dirty="0" err="1" smtClean="0">
                <a:sym typeface="Wingdings" panose="05000000000000000000" pitchFamily="2" charset="2"/>
              </a:rPr>
              <a:t>수요변화가</a:t>
            </a:r>
            <a:r>
              <a:rPr lang="ko-KR" altLang="en-US" sz="1100" dirty="0" smtClean="0">
                <a:sym typeface="Wingdings" panose="05000000000000000000" pitchFamily="2" charset="2"/>
              </a:rPr>
              <a:t> </a:t>
            </a:r>
            <a:r>
              <a:rPr lang="ko-KR" altLang="en-US" sz="1100" dirty="0">
                <a:sym typeface="Wingdings" panose="05000000000000000000" pitchFamily="2" charset="2"/>
              </a:rPr>
              <a:t>미미할 </a:t>
            </a:r>
            <a:r>
              <a:rPr lang="ko-KR" altLang="en-US" sz="1100" dirty="0" smtClean="0">
                <a:sym typeface="Wingdings" panose="05000000000000000000" pitchFamily="2" charset="2"/>
              </a:rPr>
              <a:t>것</a:t>
            </a:r>
            <a:endParaRPr lang="en-US" altLang="ko-KR" sz="1100" dirty="0" smtClean="0">
              <a:sym typeface="Wingdings" panose="05000000000000000000" pitchFamily="2" charset="2"/>
            </a:endParaRP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err="1" smtClean="0">
                <a:sym typeface="Wingdings" panose="05000000000000000000" pitchFamily="2" charset="2"/>
              </a:rPr>
              <a:t>사치재</a:t>
            </a:r>
            <a:r>
              <a:rPr lang="ko-KR" altLang="en-US" sz="1100" dirty="0" smtClean="0">
                <a:sym typeface="Wingdings" panose="05000000000000000000" pitchFamily="2" charset="2"/>
              </a:rPr>
              <a:t> </a:t>
            </a:r>
            <a:r>
              <a:rPr lang="en-US" altLang="ko-KR" sz="1100" dirty="0" err="1" smtClean="0">
                <a:sym typeface="Wingdings" panose="05000000000000000000" pitchFamily="2" charset="2"/>
              </a:rPr>
              <a:t>luxur</a:t>
            </a:r>
            <a:r>
              <a:rPr lang="ko-KR" altLang="en-US" sz="1100" dirty="0" smtClean="0">
                <a:sym typeface="Wingdings" panose="05000000000000000000" pitchFamily="2" charset="2"/>
              </a:rPr>
              <a:t>는</a:t>
            </a:r>
            <a:r>
              <a:rPr lang="en-US" altLang="ko-KR" sz="1100" dirty="0" smtClean="0">
                <a:sym typeface="Wingdings" panose="05000000000000000000" pitchFamily="2" charset="2"/>
              </a:rPr>
              <a:t> </a:t>
            </a:r>
            <a:r>
              <a:rPr lang="ko-KR" altLang="en-US" sz="1100" dirty="0" smtClean="0">
                <a:sym typeface="Wingdings" panose="05000000000000000000" pitchFamily="2" charset="2"/>
              </a:rPr>
              <a:t>가격변동에 </a:t>
            </a:r>
            <a:r>
              <a:rPr lang="ko-KR" altLang="en-US" sz="1100" dirty="0">
                <a:sym typeface="Wingdings" panose="05000000000000000000" pitchFamily="2" charset="2"/>
              </a:rPr>
              <a:t>상당히 </a:t>
            </a:r>
            <a:r>
              <a:rPr lang="ko-KR" altLang="en-US" sz="1100" dirty="0" smtClean="0">
                <a:sym typeface="Wingdings" panose="05000000000000000000" pitchFamily="2" charset="2"/>
              </a:rPr>
              <a:t>민감</a:t>
            </a:r>
            <a:endParaRPr lang="en-US" altLang="ko-KR" sz="1100" dirty="0">
              <a:sym typeface="Wingdings" panose="05000000000000000000" pitchFamily="2" charset="2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altLang="ko-KR" sz="1300" dirty="0" smtClean="0">
                <a:sym typeface="Wingdings" panose="05000000000000000000" pitchFamily="2" charset="2"/>
              </a:rPr>
              <a:t>  ④ </a:t>
            </a:r>
            <a:r>
              <a:rPr lang="ko-KR" altLang="en-US" sz="1300" dirty="0">
                <a:sym typeface="Wingdings" panose="05000000000000000000" pitchFamily="2" charset="2"/>
              </a:rPr>
              <a:t>휘발유</a:t>
            </a:r>
            <a:r>
              <a:rPr lang="en-US" altLang="ko-KR" sz="1300" dirty="0">
                <a:sym typeface="Wingdings" panose="05000000000000000000" pitchFamily="2" charset="2"/>
              </a:rPr>
              <a:t>(</a:t>
            </a:r>
            <a:r>
              <a:rPr lang="ko-KR" altLang="en-US" sz="1300" dirty="0">
                <a:sym typeface="Wingdings" panose="05000000000000000000" pitchFamily="2" charset="2"/>
              </a:rPr>
              <a:t>단기</a:t>
            </a:r>
            <a:r>
              <a:rPr lang="en-US" altLang="ko-KR" sz="1300" dirty="0">
                <a:sym typeface="Wingdings" panose="05000000000000000000" pitchFamily="2" charset="2"/>
              </a:rPr>
              <a:t>)</a:t>
            </a:r>
            <a:r>
              <a:rPr lang="ko-KR" altLang="en-US" sz="1300" dirty="0">
                <a:sym typeface="Wingdings" panose="05000000000000000000" pitchFamily="2" charset="2"/>
              </a:rPr>
              <a:t> </a:t>
            </a:r>
            <a:r>
              <a:rPr lang="en-US" altLang="ko-KR" sz="1300" dirty="0">
                <a:sym typeface="Wingdings" panose="05000000000000000000" pitchFamily="2" charset="2"/>
              </a:rPr>
              <a:t>vs. </a:t>
            </a:r>
            <a:r>
              <a:rPr lang="ko-KR" altLang="en-US" sz="1300" dirty="0">
                <a:sym typeface="Wingdings" panose="05000000000000000000" pitchFamily="2" charset="2"/>
              </a:rPr>
              <a:t>휘발유</a:t>
            </a:r>
            <a:r>
              <a:rPr lang="en-US" altLang="ko-KR" sz="1300" dirty="0">
                <a:sym typeface="Wingdings" panose="05000000000000000000" pitchFamily="2" charset="2"/>
              </a:rPr>
              <a:t>(</a:t>
            </a:r>
            <a:r>
              <a:rPr lang="ko-KR" altLang="en-US" sz="1300" dirty="0">
                <a:sym typeface="Wingdings" panose="05000000000000000000" pitchFamily="2" charset="2"/>
              </a:rPr>
              <a:t>장기</a:t>
            </a:r>
            <a:r>
              <a:rPr lang="en-US" altLang="ko-KR" sz="1300" dirty="0">
                <a:sym typeface="Wingdings" panose="05000000000000000000" pitchFamily="2" charset="2"/>
              </a:rPr>
              <a:t>) </a:t>
            </a:r>
            <a:r>
              <a:rPr lang="en-US" altLang="ko-KR" sz="1300" dirty="0" smtClean="0">
                <a:sym typeface="Wingdings" panose="05000000000000000000" pitchFamily="2" charset="2"/>
              </a:rPr>
              <a:t> </a:t>
            </a:r>
            <a:r>
              <a:rPr lang="ko-KR" altLang="en-US" sz="1300" dirty="0" smtClean="0">
                <a:sym typeface="Wingdings" panose="05000000000000000000" pitchFamily="2" charset="2"/>
              </a:rPr>
              <a:t>고려하는 시간</a:t>
            </a:r>
            <a:r>
              <a:rPr lang="en-US" altLang="ko-KR" sz="1300" dirty="0" smtClean="0">
                <a:sym typeface="Wingdings" panose="05000000000000000000" pitchFamily="2" charset="2"/>
              </a:rPr>
              <a:t>(</a:t>
            </a:r>
            <a:r>
              <a:rPr lang="ko-KR" altLang="en-US" sz="1300" dirty="0" smtClean="0">
                <a:sym typeface="Wingdings" panose="05000000000000000000" pitchFamily="2" charset="2"/>
              </a:rPr>
              <a:t>장기 또는 단기 여부</a:t>
            </a:r>
            <a:r>
              <a:rPr lang="en-US" altLang="ko-KR" sz="1300" dirty="0" smtClean="0">
                <a:sym typeface="Wingdings" panose="05000000000000000000" pitchFamily="2" charset="2"/>
              </a:rPr>
              <a:t>)</a:t>
            </a:r>
            <a:endParaRPr lang="en-US" altLang="ko-KR" sz="1300" dirty="0">
              <a:sym typeface="Wingdings" panose="05000000000000000000" pitchFamily="2" charset="2"/>
            </a:endParaRP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>
                <a:sym typeface="Wingdings" panose="05000000000000000000" pitchFamily="2" charset="2"/>
              </a:rPr>
              <a:t>단기에는 소비자들이 행동</a:t>
            </a:r>
            <a:r>
              <a:rPr lang="en-US" altLang="ko-KR" sz="1100" dirty="0">
                <a:sym typeface="Wingdings" panose="05000000000000000000" pitchFamily="2" charset="2"/>
              </a:rPr>
              <a:t>(</a:t>
            </a:r>
            <a:r>
              <a:rPr lang="ko-KR" altLang="en-US" sz="1100" dirty="0">
                <a:sym typeface="Wingdings" panose="05000000000000000000" pitchFamily="2" charset="2"/>
              </a:rPr>
              <a:t>수요</a:t>
            </a:r>
            <a:r>
              <a:rPr lang="en-US" altLang="ko-KR" sz="1100" dirty="0">
                <a:sym typeface="Wingdings" panose="05000000000000000000" pitchFamily="2" charset="2"/>
              </a:rPr>
              <a:t>)</a:t>
            </a:r>
            <a:r>
              <a:rPr lang="ko-KR" altLang="en-US" sz="1100" dirty="0">
                <a:sym typeface="Wingdings" panose="05000000000000000000" pitchFamily="2" charset="2"/>
              </a:rPr>
              <a:t>를 크게 바꾸지 않음</a:t>
            </a:r>
            <a:r>
              <a:rPr lang="en-US" altLang="ko-KR" sz="1100" dirty="0" smtClean="0">
                <a:sym typeface="Wingdings" panose="05000000000000000000" pitchFamily="2" charset="2"/>
              </a:rPr>
              <a:t>.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>
                <a:sym typeface="Wingdings" panose="05000000000000000000" pitchFamily="2" charset="2"/>
              </a:rPr>
              <a:t>장기에는 수요에 </a:t>
            </a:r>
            <a:r>
              <a:rPr lang="ko-KR" altLang="en-US" sz="1100" dirty="0">
                <a:sym typeface="Wingdings" panose="05000000000000000000" pitchFamily="2" charset="2"/>
              </a:rPr>
              <a:t>구조적 변화가 생김</a:t>
            </a:r>
            <a:r>
              <a:rPr lang="en-US" altLang="ko-KR" sz="1100" dirty="0" smtClean="0">
                <a:sym typeface="Wingdings" panose="05000000000000000000" pitchFamily="2" charset="2"/>
              </a:rPr>
              <a:t>.</a:t>
            </a:r>
          </a:p>
          <a:p>
            <a:pPr lvl="1">
              <a:lnSpc>
                <a:spcPct val="160000"/>
              </a:lnSpc>
              <a:buFontTx/>
              <a:buChar char="-"/>
            </a:pPr>
            <a:endParaRPr lang="en-US" altLang="ko-KR" sz="1100" dirty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ko-KR" altLang="en-US" sz="1300" dirty="0"/>
              <a:t>여러 가지 모양의 수요곡선</a:t>
            </a:r>
            <a:endParaRPr lang="en-US" altLang="ko-KR" sz="1300" dirty="0"/>
          </a:p>
          <a:p>
            <a:pPr marL="257175" lvl="1" indent="0">
              <a:lnSpc>
                <a:spcPct val="160000"/>
              </a:lnSpc>
              <a:buNone/>
            </a:pPr>
            <a:r>
              <a:rPr lang="ko-KR" altLang="en-US" sz="1100" dirty="0" smtClean="0"/>
              <a:t>① 완전 </a:t>
            </a:r>
            <a:r>
              <a:rPr lang="ko-KR" altLang="en-US" sz="1100" dirty="0" err="1"/>
              <a:t>비탄력적</a:t>
            </a:r>
            <a:r>
              <a:rPr lang="ko-KR" altLang="en-US" sz="1100" dirty="0"/>
              <a:t> 수요 </a:t>
            </a:r>
            <a:r>
              <a:rPr lang="en-US" altLang="ko-KR" sz="1100" dirty="0"/>
              <a:t>: </a:t>
            </a:r>
            <a:r>
              <a:rPr lang="ko-KR" altLang="en-US" sz="1100" dirty="0"/>
              <a:t>수요곡선 수직</a:t>
            </a:r>
            <a:r>
              <a:rPr lang="en-US" altLang="ko-KR" sz="1100" dirty="0"/>
              <a:t>, </a:t>
            </a:r>
            <a:r>
              <a:rPr lang="ko-KR" altLang="en-US" sz="1100" dirty="0"/>
              <a:t>소비자들의 가격 민감도 </a:t>
            </a:r>
            <a:r>
              <a:rPr lang="en-US" altLang="ko-KR" sz="1100" dirty="0"/>
              <a:t>0, </a:t>
            </a:r>
            <a:r>
              <a:rPr lang="ko-KR" altLang="en-US" sz="1100" dirty="0"/>
              <a:t>탄력성</a:t>
            </a:r>
            <a:r>
              <a:rPr lang="en-US" altLang="ko-KR" sz="1100" dirty="0"/>
              <a:t> </a:t>
            </a:r>
            <a:r>
              <a:rPr lang="ko-KR" altLang="en-US" sz="1100" dirty="0"/>
              <a:t>값 </a:t>
            </a:r>
            <a:r>
              <a:rPr lang="en-US" altLang="ko-KR" sz="1100" dirty="0"/>
              <a:t>= 0</a:t>
            </a:r>
          </a:p>
          <a:p>
            <a:pPr marL="257175" lvl="1" indent="0">
              <a:lnSpc>
                <a:spcPct val="160000"/>
              </a:lnSpc>
              <a:buNone/>
            </a:pPr>
            <a:r>
              <a:rPr lang="en-US" altLang="ko-KR" sz="1100" dirty="0"/>
              <a:t>② </a:t>
            </a:r>
            <a:r>
              <a:rPr lang="ko-KR" altLang="en-US" sz="1100" dirty="0" err="1"/>
              <a:t>비탄력적</a:t>
            </a:r>
            <a:r>
              <a:rPr lang="ko-KR" altLang="en-US" sz="1100" dirty="0"/>
              <a:t> 수요</a:t>
            </a:r>
            <a:r>
              <a:rPr lang="en-US" altLang="ko-KR" sz="1100" dirty="0"/>
              <a:t>: </a:t>
            </a:r>
            <a:r>
              <a:rPr lang="ko-KR" altLang="en-US" sz="1100" dirty="0"/>
              <a:t>수요곡선 가파름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가격민감도</a:t>
            </a:r>
            <a:r>
              <a:rPr lang="ko-KR" altLang="en-US" sz="1100" dirty="0"/>
              <a:t> 비교적 낮음</a:t>
            </a:r>
            <a:r>
              <a:rPr lang="en-US" altLang="ko-KR" sz="1100" dirty="0"/>
              <a:t>, </a:t>
            </a:r>
            <a:r>
              <a:rPr lang="ko-KR" altLang="en-US" sz="1100" dirty="0"/>
              <a:t>탄력성 값 </a:t>
            </a:r>
            <a:r>
              <a:rPr lang="en-US" altLang="ko-KR" sz="1100" dirty="0"/>
              <a:t>&lt; 1</a:t>
            </a:r>
          </a:p>
          <a:p>
            <a:pPr marL="257175" lvl="1" indent="0">
              <a:lnSpc>
                <a:spcPct val="160000"/>
              </a:lnSpc>
              <a:buNone/>
            </a:pPr>
            <a:r>
              <a:rPr lang="en-US" altLang="ko-KR" sz="1100" dirty="0"/>
              <a:t>③ </a:t>
            </a:r>
            <a:r>
              <a:rPr lang="ko-KR" altLang="en-US" sz="1100" dirty="0" err="1"/>
              <a:t>단위탄력적</a:t>
            </a:r>
            <a:r>
              <a:rPr lang="ko-KR" altLang="en-US" sz="1100" dirty="0"/>
              <a:t> </a:t>
            </a:r>
            <a:r>
              <a:rPr lang="en-US" altLang="ko-KR" sz="1100" dirty="0"/>
              <a:t>unit elastic </a:t>
            </a:r>
            <a:r>
              <a:rPr lang="ko-KR" altLang="en-US" sz="1100" dirty="0"/>
              <a:t>수요</a:t>
            </a:r>
            <a:r>
              <a:rPr lang="en-US" altLang="ko-KR" sz="1100" dirty="0"/>
              <a:t>: </a:t>
            </a:r>
            <a:r>
              <a:rPr lang="ko-KR" altLang="en-US" sz="1100" dirty="0"/>
              <a:t>중간 기울기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가격민감도</a:t>
            </a:r>
            <a:r>
              <a:rPr lang="ko-KR" altLang="en-US" sz="1100" dirty="0"/>
              <a:t> 중간</a:t>
            </a:r>
            <a:r>
              <a:rPr lang="en-US" altLang="ko-KR" sz="1100" dirty="0"/>
              <a:t>, </a:t>
            </a:r>
            <a:r>
              <a:rPr lang="ko-KR" altLang="en-US" sz="1100" dirty="0"/>
              <a:t>탄력성 값 </a:t>
            </a:r>
            <a:r>
              <a:rPr lang="en-US" altLang="ko-KR" sz="1100" dirty="0"/>
              <a:t>= 1</a:t>
            </a:r>
          </a:p>
          <a:p>
            <a:pPr marL="257175" lvl="1" indent="0">
              <a:lnSpc>
                <a:spcPct val="160000"/>
              </a:lnSpc>
              <a:buNone/>
            </a:pPr>
            <a:r>
              <a:rPr lang="en-US" altLang="ko-KR" sz="1100" dirty="0"/>
              <a:t>④ </a:t>
            </a:r>
            <a:r>
              <a:rPr lang="ko-KR" altLang="en-US" sz="1100" dirty="0"/>
              <a:t>탄력적 수요</a:t>
            </a:r>
            <a:r>
              <a:rPr lang="en-US" altLang="ko-KR" sz="1100" dirty="0"/>
              <a:t>: </a:t>
            </a:r>
            <a:r>
              <a:rPr lang="ko-KR" altLang="en-US" sz="1100" dirty="0"/>
              <a:t>비교적 평평한 </a:t>
            </a:r>
            <a:r>
              <a:rPr lang="en-US" altLang="ko-KR" sz="1100" dirty="0"/>
              <a:t>flat</a:t>
            </a:r>
            <a:r>
              <a:rPr lang="ko-KR" altLang="en-US" sz="1100" dirty="0"/>
              <a:t> 곡선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가격민감도</a:t>
            </a:r>
            <a:r>
              <a:rPr lang="en-US" altLang="ko-KR" sz="1100" dirty="0"/>
              <a:t> </a:t>
            </a:r>
            <a:r>
              <a:rPr lang="ko-KR" altLang="en-US" sz="1100" dirty="0"/>
              <a:t>높음</a:t>
            </a:r>
            <a:r>
              <a:rPr lang="en-US" altLang="ko-KR" sz="1100" dirty="0"/>
              <a:t>, </a:t>
            </a:r>
            <a:r>
              <a:rPr lang="ko-KR" altLang="en-US" sz="1100" dirty="0"/>
              <a:t>탄력성 값 </a:t>
            </a:r>
            <a:r>
              <a:rPr lang="en-US" altLang="ko-KR" sz="1100" dirty="0"/>
              <a:t>&gt; 1</a:t>
            </a:r>
          </a:p>
          <a:p>
            <a:pPr marL="257175" lvl="1" indent="0">
              <a:lnSpc>
                <a:spcPct val="160000"/>
              </a:lnSpc>
              <a:buNone/>
            </a:pPr>
            <a:r>
              <a:rPr lang="ko-KR" altLang="en-US" sz="1100" dirty="0"/>
              <a:t>⑤ 완전 탄력적 수요</a:t>
            </a:r>
            <a:r>
              <a:rPr lang="en-US" altLang="ko-KR" sz="1100" dirty="0"/>
              <a:t>: </a:t>
            </a:r>
            <a:r>
              <a:rPr lang="ko-KR" altLang="en-US" sz="1100" dirty="0"/>
              <a:t>수요곡선 수평</a:t>
            </a:r>
            <a:r>
              <a:rPr lang="en-US" altLang="ko-KR" sz="1100" dirty="0"/>
              <a:t>, </a:t>
            </a:r>
            <a:r>
              <a:rPr lang="ko-KR" altLang="en-US" sz="1100" dirty="0"/>
              <a:t>소비자 가격에 극도로 민감</a:t>
            </a:r>
            <a:r>
              <a:rPr lang="en-US" altLang="ko-KR" sz="1100" dirty="0"/>
              <a:t>, </a:t>
            </a:r>
            <a:r>
              <a:rPr lang="ko-KR" altLang="en-US" sz="1100" dirty="0"/>
              <a:t>탄력성 값 </a:t>
            </a:r>
            <a:r>
              <a:rPr lang="en-US" altLang="ko-KR" sz="1100" dirty="0"/>
              <a:t>= ∞</a:t>
            </a:r>
          </a:p>
          <a:p>
            <a:pPr lvl="1">
              <a:lnSpc>
                <a:spcPct val="160000"/>
              </a:lnSpc>
              <a:buFontTx/>
              <a:buChar char="-"/>
            </a:pPr>
            <a:endParaRPr lang="en-US" altLang="ko-KR" sz="1100" dirty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ko-KR" altLang="en-US" sz="1300" dirty="0"/>
              <a:t>가격탄력성과</a:t>
            </a:r>
            <a:r>
              <a:rPr lang="en-US" altLang="ko-KR" sz="1300" dirty="0"/>
              <a:t> </a:t>
            </a:r>
            <a:r>
              <a:rPr lang="ko-KR" altLang="en-US" sz="1300" dirty="0"/>
              <a:t>총수입</a:t>
            </a:r>
            <a:endParaRPr lang="en-US" altLang="ko-KR" sz="1300" dirty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수요가 </a:t>
            </a:r>
            <a:r>
              <a:rPr lang="ko-KR" altLang="en-US" sz="1100" dirty="0"/>
              <a:t>탄력적인 경우</a:t>
            </a:r>
            <a:r>
              <a:rPr lang="en-US" altLang="ko-KR" sz="1100" dirty="0"/>
              <a:t>: </a:t>
            </a:r>
            <a:r>
              <a:rPr lang="ko-KR" altLang="en-US" sz="1100" dirty="0"/>
              <a:t>판매량의 변화율 </a:t>
            </a:r>
            <a:r>
              <a:rPr lang="en-US" altLang="ko-KR" sz="1100" dirty="0"/>
              <a:t>&gt; </a:t>
            </a:r>
            <a:r>
              <a:rPr lang="ko-KR" altLang="en-US" sz="1100" dirty="0"/>
              <a:t>가격 변화율 </a:t>
            </a:r>
            <a:r>
              <a:rPr lang="en-US" altLang="ko-KR" sz="1100" dirty="0">
                <a:sym typeface="Wingdings" panose="05000000000000000000" pitchFamily="2" charset="2"/>
              </a:rPr>
              <a:t> </a:t>
            </a:r>
            <a:r>
              <a:rPr lang="ko-KR" altLang="en-US" sz="1100" dirty="0">
                <a:sym typeface="Wingdings" panose="05000000000000000000" pitchFamily="2" charset="2"/>
              </a:rPr>
              <a:t>총수입 </a:t>
            </a:r>
            <a:r>
              <a:rPr lang="ko-KR" altLang="en-US" sz="1100" dirty="0" smtClean="0">
                <a:sym typeface="Wingdings" panose="05000000000000000000" pitchFamily="2" charset="2"/>
              </a:rPr>
              <a:t>감소</a:t>
            </a:r>
            <a:endParaRPr lang="en-US" altLang="ko-KR" sz="1100" dirty="0">
              <a:sym typeface="Wingdings" panose="05000000000000000000" pitchFamily="2" charset="2"/>
            </a:endParaRP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>
                <a:sym typeface="Wingdings" panose="05000000000000000000" pitchFamily="2" charset="2"/>
              </a:rPr>
              <a:t>수요가 </a:t>
            </a:r>
            <a:r>
              <a:rPr lang="ko-KR" altLang="en-US" sz="1100" dirty="0">
                <a:sym typeface="Wingdings" panose="05000000000000000000" pitchFamily="2" charset="2"/>
              </a:rPr>
              <a:t>비탄력적인 경우</a:t>
            </a:r>
            <a:r>
              <a:rPr lang="en-US" altLang="ko-KR" sz="1100" dirty="0">
                <a:sym typeface="Wingdings" panose="05000000000000000000" pitchFamily="2" charset="2"/>
              </a:rPr>
              <a:t>: </a:t>
            </a:r>
            <a:r>
              <a:rPr lang="ko-KR" altLang="en-US" sz="1100" dirty="0">
                <a:sym typeface="Wingdings" panose="05000000000000000000" pitchFamily="2" charset="2"/>
              </a:rPr>
              <a:t>판매량의 변화율 </a:t>
            </a:r>
            <a:r>
              <a:rPr lang="en-US" altLang="ko-KR" sz="1100" dirty="0">
                <a:sym typeface="Wingdings" panose="05000000000000000000" pitchFamily="2" charset="2"/>
              </a:rPr>
              <a:t>&lt; </a:t>
            </a:r>
            <a:r>
              <a:rPr lang="ko-KR" altLang="en-US" sz="1100" dirty="0">
                <a:sym typeface="Wingdings" panose="05000000000000000000" pitchFamily="2" charset="2"/>
              </a:rPr>
              <a:t>가격 변화율 </a:t>
            </a:r>
            <a:r>
              <a:rPr lang="en-US" altLang="ko-KR" sz="1100" dirty="0">
                <a:sym typeface="Wingdings" panose="05000000000000000000" pitchFamily="2" charset="2"/>
              </a:rPr>
              <a:t> </a:t>
            </a:r>
            <a:r>
              <a:rPr lang="ko-KR" altLang="en-US" sz="1100" dirty="0">
                <a:sym typeface="Wingdings" panose="05000000000000000000" pitchFamily="2" charset="2"/>
              </a:rPr>
              <a:t>총수입 증가</a:t>
            </a:r>
            <a:endParaRPr lang="en-US" altLang="ko-KR" sz="1100" dirty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ko-KR" altLang="en-US" sz="1200" dirty="0">
                <a:sym typeface="Wingdings" panose="05000000000000000000" pitchFamily="2" charset="2"/>
              </a:rPr>
              <a:t>사례</a:t>
            </a:r>
            <a:r>
              <a:rPr lang="en-US" altLang="ko-KR" sz="1200" dirty="0">
                <a:sym typeface="Wingdings" panose="05000000000000000000" pitchFamily="2" charset="2"/>
              </a:rPr>
              <a:t>. </a:t>
            </a:r>
            <a:r>
              <a:rPr lang="ko-KR" altLang="en-US" sz="1200" dirty="0">
                <a:sym typeface="Wingdings" panose="05000000000000000000" pitchFamily="2" charset="2"/>
              </a:rPr>
              <a:t>제약회사의</a:t>
            </a:r>
            <a:r>
              <a:rPr lang="en-US" altLang="ko-KR" sz="1200" dirty="0">
                <a:sym typeface="Wingdings" panose="05000000000000000000" pitchFamily="2" charset="2"/>
              </a:rPr>
              <a:t> </a:t>
            </a:r>
            <a:r>
              <a:rPr lang="ko-KR" altLang="en-US" sz="1200" dirty="0">
                <a:sym typeface="Wingdings" panose="05000000000000000000" pitchFamily="2" charset="2"/>
              </a:rPr>
              <a:t>인슐린 가격 </a:t>
            </a:r>
            <a:r>
              <a:rPr lang="en-US" altLang="ko-KR" sz="1200" dirty="0">
                <a:sym typeface="Wingdings" panose="05000000000000000000" pitchFamily="2" charset="2"/>
              </a:rPr>
              <a:t>10% </a:t>
            </a:r>
            <a:r>
              <a:rPr lang="ko-KR" altLang="en-US" sz="1200" dirty="0">
                <a:sym typeface="Wingdings" panose="05000000000000000000" pitchFamily="2" charset="2"/>
              </a:rPr>
              <a:t>인상의 효과는</a:t>
            </a:r>
            <a:r>
              <a:rPr lang="en-US" altLang="ko-KR" sz="1200" dirty="0">
                <a:sym typeface="Wingdings" panose="05000000000000000000" pitchFamily="2" charset="2"/>
              </a:rPr>
              <a:t>? </a:t>
            </a:r>
            <a:endParaRPr lang="en-US" altLang="ko-KR" sz="1200" dirty="0" smtClean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ko-KR" altLang="en-US" sz="1200" dirty="0" smtClean="0">
                <a:sym typeface="Wingdings" panose="05000000000000000000" pitchFamily="2" charset="2"/>
              </a:rPr>
              <a:t>사례</a:t>
            </a:r>
            <a:r>
              <a:rPr lang="en-US" altLang="ko-KR" sz="1200" dirty="0" smtClean="0">
                <a:sym typeface="Wingdings" panose="05000000000000000000" pitchFamily="2" charset="2"/>
              </a:rPr>
              <a:t>. </a:t>
            </a:r>
            <a:r>
              <a:rPr lang="ko-KR" altLang="en-US" sz="1200" dirty="0" err="1" smtClean="0">
                <a:sym typeface="Wingdings" panose="05000000000000000000" pitchFamily="2" charset="2"/>
              </a:rPr>
              <a:t>럭셔리</a:t>
            </a:r>
            <a:r>
              <a:rPr lang="en-US" altLang="ko-KR" sz="1200" dirty="0" smtClean="0">
                <a:sym typeface="Wingdings" panose="05000000000000000000" pitchFamily="2" charset="2"/>
              </a:rPr>
              <a:t> </a:t>
            </a:r>
            <a:r>
              <a:rPr lang="ko-KR" altLang="en-US" sz="1200" dirty="0" err="1">
                <a:sym typeface="Wingdings" panose="05000000000000000000" pitchFamily="2" charset="2"/>
              </a:rPr>
              <a:t>크루즈여행</a:t>
            </a:r>
            <a:r>
              <a:rPr lang="ko-KR" altLang="en-US" sz="1200" dirty="0">
                <a:sym typeface="Wingdings" panose="05000000000000000000" pitchFamily="2" charset="2"/>
              </a:rPr>
              <a:t> 상품의 가격 </a:t>
            </a:r>
            <a:r>
              <a:rPr lang="en-US" altLang="ko-KR" sz="1200" dirty="0">
                <a:sym typeface="Wingdings" panose="05000000000000000000" pitchFamily="2" charset="2"/>
              </a:rPr>
              <a:t>20% </a:t>
            </a:r>
            <a:r>
              <a:rPr lang="ko-KR" altLang="en-US" sz="1200" dirty="0">
                <a:sym typeface="Wingdings" panose="05000000000000000000" pitchFamily="2" charset="2"/>
              </a:rPr>
              <a:t>인하의 효과는</a:t>
            </a:r>
            <a:r>
              <a:rPr lang="en-US" altLang="ko-KR" sz="1200" dirty="0">
                <a:sym typeface="Wingdings" panose="05000000000000000000" pitchFamily="2" charset="2"/>
              </a:rPr>
              <a:t>?</a:t>
            </a:r>
          </a:p>
          <a:p>
            <a:pPr lvl="1">
              <a:lnSpc>
                <a:spcPct val="160000"/>
              </a:lnSpc>
            </a:pPr>
            <a:endParaRPr lang="en-US" altLang="ko-KR" sz="1100" dirty="0">
              <a:sym typeface="Wingdings" panose="05000000000000000000" pitchFamily="2" charset="2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060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500063" y="893444"/>
            <a:ext cx="5915025" cy="10060306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ko-KR" altLang="en-US" sz="1300" dirty="0" smtClean="0"/>
              <a:t>공급의</a:t>
            </a:r>
            <a:r>
              <a:rPr lang="en-US" altLang="ko-KR" sz="1300" dirty="0" smtClean="0"/>
              <a:t> </a:t>
            </a:r>
            <a:r>
              <a:rPr lang="ko-KR" altLang="en-US" sz="1300" dirty="0"/>
              <a:t>가격탄력성 </a:t>
            </a:r>
            <a:r>
              <a:rPr lang="en-US" altLang="ko-KR" sz="1300" dirty="0"/>
              <a:t>Price elasticity of supply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어떤 </a:t>
            </a:r>
            <a:r>
              <a:rPr lang="ko-KR" altLang="en-US" sz="1100" dirty="0"/>
              <a:t>재화의 공급량이 그 재화 가격의 변화에 얼마만큼 반응하는지를 보여줌</a:t>
            </a:r>
            <a:r>
              <a:rPr lang="en-US" altLang="ko-KR" sz="1100" dirty="0"/>
              <a:t>. </a:t>
            </a:r>
            <a:endParaRPr lang="en-US" altLang="ko-KR" sz="1100" dirty="0" smtClean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err="1" smtClean="0"/>
              <a:t>판매자들의</a:t>
            </a:r>
            <a:r>
              <a:rPr lang="ko-KR" altLang="en-US" sz="1100" dirty="0" smtClean="0"/>
              <a:t> </a:t>
            </a:r>
            <a:r>
              <a:rPr lang="ko-KR" altLang="en-US" sz="1100" dirty="0"/>
              <a:t>가격민감도 </a:t>
            </a:r>
            <a:r>
              <a:rPr lang="en-US" altLang="ko-KR" sz="1100" dirty="0"/>
              <a:t>price sensitivity</a:t>
            </a:r>
            <a:r>
              <a:rPr lang="ko-KR" altLang="en-US" sz="1100" dirty="0"/>
              <a:t>를 측정하는 방법</a:t>
            </a:r>
            <a:endParaRPr lang="en-US" altLang="ko-KR" sz="1100" dirty="0"/>
          </a:p>
          <a:p>
            <a:pPr>
              <a:lnSpc>
                <a:spcPct val="160000"/>
              </a:lnSpc>
            </a:pPr>
            <a:r>
              <a:rPr lang="ko-KR" altLang="en-US" sz="1300" dirty="0"/>
              <a:t>공급의 가격탄력성 </a:t>
            </a:r>
            <a:r>
              <a:rPr lang="en-US" altLang="ko-KR" sz="1300" dirty="0"/>
              <a:t>= (</a:t>
            </a:r>
            <a:r>
              <a:rPr lang="ko-KR" altLang="en-US" sz="1300" dirty="0"/>
              <a:t>공급량의</a:t>
            </a:r>
            <a:r>
              <a:rPr lang="en-US" altLang="ko-KR" sz="1300" dirty="0"/>
              <a:t> </a:t>
            </a:r>
            <a:r>
              <a:rPr lang="ko-KR" altLang="en-US" sz="1300" dirty="0"/>
              <a:t>변화율</a:t>
            </a:r>
            <a:r>
              <a:rPr lang="en-US" altLang="ko-KR" sz="1300" dirty="0"/>
              <a:t>) / (</a:t>
            </a:r>
            <a:r>
              <a:rPr lang="ko-KR" altLang="en-US" sz="1300" dirty="0"/>
              <a:t>가격변화율</a:t>
            </a:r>
            <a:r>
              <a:rPr lang="en-US" altLang="ko-KR" sz="1300" dirty="0"/>
              <a:t>) </a:t>
            </a:r>
          </a:p>
          <a:p>
            <a:pPr>
              <a:lnSpc>
                <a:spcPct val="160000"/>
              </a:lnSpc>
            </a:pPr>
            <a:r>
              <a:rPr lang="ko-KR" altLang="en-US" sz="1300" dirty="0"/>
              <a:t>여러가지</a:t>
            </a:r>
            <a:r>
              <a:rPr lang="en-US" altLang="ko-KR" sz="1300" dirty="0"/>
              <a:t> </a:t>
            </a:r>
            <a:r>
              <a:rPr lang="ko-KR" altLang="en-US" sz="1300" dirty="0"/>
              <a:t>모양의 </a:t>
            </a:r>
            <a:r>
              <a:rPr lang="ko-KR" altLang="en-US" sz="1300" dirty="0" err="1"/>
              <a:t>공급곡선</a:t>
            </a:r>
            <a:endParaRPr lang="en-US" altLang="ko-KR" sz="1300" dirty="0"/>
          </a:p>
          <a:p>
            <a:pPr marL="257175" lvl="1" indent="0">
              <a:lnSpc>
                <a:spcPct val="160000"/>
              </a:lnSpc>
              <a:buNone/>
            </a:pPr>
            <a:r>
              <a:rPr lang="ko-KR" altLang="en-US" sz="1100" dirty="0"/>
              <a:t>①완전 </a:t>
            </a:r>
            <a:r>
              <a:rPr lang="ko-KR" altLang="en-US" sz="1100" dirty="0" err="1"/>
              <a:t>비탄력적</a:t>
            </a:r>
            <a:r>
              <a:rPr lang="ko-KR" altLang="en-US" sz="1100" dirty="0"/>
              <a:t> 공급 </a:t>
            </a:r>
            <a:r>
              <a:rPr lang="en-US" altLang="ko-KR" sz="1100" dirty="0"/>
              <a:t>: </a:t>
            </a:r>
            <a:r>
              <a:rPr lang="ko-KR" altLang="en-US" sz="1100" dirty="0" err="1"/>
              <a:t>공급곡선</a:t>
            </a:r>
            <a:r>
              <a:rPr lang="ko-KR" altLang="en-US" sz="1100" dirty="0"/>
              <a:t> 수직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판매자들의</a:t>
            </a:r>
            <a:r>
              <a:rPr lang="ko-KR" altLang="en-US" sz="1100" dirty="0"/>
              <a:t> 가격 민감도 </a:t>
            </a:r>
            <a:r>
              <a:rPr lang="en-US" altLang="ko-KR" sz="1100" dirty="0"/>
              <a:t>0, </a:t>
            </a:r>
            <a:r>
              <a:rPr lang="ko-KR" altLang="en-US" sz="1100" dirty="0"/>
              <a:t>탄력성</a:t>
            </a:r>
            <a:r>
              <a:rPr lang="en-US" altLang="ko-KR" sz="1100" dirty="0"/>
              <a:t> </a:t>
            </a:r>
            <a:r>
              <a:rPr lang="ko-KR" altLang="en-US" sz="1100" dirty="0"/>
              <a:t>값 </a:t>
            </a:r>
            <a:r>
              <a:rPr lang="en-US" altLang="ko-KR" sz="1100" dirty="0"/>
              <a:t>= 0</a:t>
            </a:r>
          </a:p>
          <a:p>
            <a:pPr marL="257175" lvl="1" indent="0">
              <a:lnSpc>
                <a:spcPct val="160000"/>
              </a:lnSpc>
              <a:buNone/>
            </a:pPr>
            <a:r>
              <a:rPr lang="en-US" altLang="ko-KR" sz="1100" dirty="0"/>
              <a:t>② </a:t>
            </a:r>
            <a:r>
              <a:rPr lang="ko-KR" altLang="en-US" sz="1100" dirty="0" err="1"/>
              <a:t>비탄력적</a:t>
            </a:r>
            <a:r>
              <a:rPr lang="ko-KR" altLang="en-US" sz="1100" dirty="0"/>
              <a:t> 공급 </a:t>
            </a:r>
            <a:r>
              <a:rPr lang="en-US" altLang="ko-KR" sz="1100" dirty="0"/>
              <a:t>: </a:t>
            </a:r>
            <a:r>
              <a:rPr lang="ko-KR" altLang="en-US" sz="1100" dirty="0" err="1"/>
              <a:t>공급곡선</a:t>
            </a:r>
            <a:r>
              <a:rPr lang="ko-KR" altLang="en-US" sz="1100" dirty="0"/>
              <a:t> 가파름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가격민감도</a:t>
            </a:r>
            <a:r>
              <a:rPr lang="ko-KR" altLang="en-US" sz="1100" dirty="0"/>
              <a:t> 비교적 낮음</a:t>
            </a:r>
            <a:r>
              <a:rPr lang="en-US" altLang="ko-KR" sz="1100" dirty="0"/>
              <a:t>, </a:t>
            </a:r>
            <a:r>
              <a:rPr lang="ko-KR" altLang="en-US" sz="1100" dirty="0"/>
              <a:t>탄력성 값 </a:t>
            </a:r>
            <a:r>
              <a:rPr lang="en-US" altLang="ko-KR" sz="1100" dirty="0"/>
              <a:t>&lt; 1</a:t>
            </a:r>
          </a:p>
          <a:p>
            <a:pPr marL="257175" lvl="1" indent="0">
              <a:lnSpc>
                <a:spcPct val="160000"/>
              </a:lnSpc>
              <a:buNone/>
            </a:pPr>
            <a:r>
              <a:rPr lang="en-US" altLang="ko-KR" sz="1100" dirty="0"/>
              <a:t>③ </a:t>
            </a:r>
            <a:r>
              <a:rPr lang="ko-KR" altLang="en-US" sz="1100" dirty="0" err="1"/>
              <a:t>단위탄력적</a:t>
            </a:r>
            <a:r>
              <a:rPr lang="ko-KR" altLang="en-US" sz="1100" dirty="0"/>
              <a:t> </a:t>
            </a:r>
            <a:r>
              <a:rPr lang="en-US" altLang="ko-KR" sz="1100" dirty="0"/>
              <a:t>unit elastic </a:t>
            </a:r>
            <a:r>
              <a:rPr lang="ko-KR" altLang="en-US" sz="1100" dirty="0"/>
              <a:t>공급 </a:t>
            </a:r>
            <a:r>
              <a:rPr lang="en-US" altLang="ko-KR" sz="1100" dirty="0"/>
              <a:t>: </a:t>
            </a:r>
            <a:r>
              <a:rPr lang="ko-KR" altLang="en-US" sz="1100" dirty="0"/>
              <a:t>중간 기울기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가격민감도</a:t>
            </a:r>
            <a:r>
              <a:rPr lang="ko-KR" altLang="en-US" sz="1100" dirty="0"/>
              <a:t> 중간</a:t>
            </a:r>
            <a:r>
              <a:rPr lang="en-US" altLang="ko-KR" sz="1100" dirty="0"/>
              <a:t>, </a:t>
            </a:r>
            <a:r>
              <a:rPr lang="ko-KR" altLang="en-US" sz="1100" dirty="0"/>
              <a:t>탄력성 값 </a:t>
            </a:r>
            <a:r>
              <a:rPr lang="en-US" altLang="ko-KR" sz="1100" dirty="0"/>
              <a:t>= 1</a:t>
            </a:r>
          </a:p>
          <a:p>
            <a:pPr marL="257175" lvl="1" indent="0">
              <a:lnSpc>
                <a:spcPct val="160000"/>
              </a:lnSpc>
              <a:buNone/>
            </a:pPr>
            <a:r>
              <a:rPr lang="en-US" altLang="ko-KR" sz="1100" dirty="0"/>
              <a:t>④ </a:t>
            </a:r>
            <a:r>
              <a:rPr lang="ko-KR" altLang="en-US" sz="1100" dirty="0"/>
              <a:t>탄력적 공급 </a:t>
            </a:r>
            <a:r>
              <a:rPr lang="en-US" altLang="ko-KR" sz="1100" dirty="0"/>
              <a:t>: </a:t>
            </a:r>
            <a:r>
              <a:rPr lang="ko-KR" altLang="en-US" sz="1100" dirty="0"/>
              <a:t>비교적 평평한 </a:t>
            </a:r>
            <a:r>
              <a:rPr lang="en-US" altLang="ko-KR" sz="1100" dirty="0"/>
              <a:t>flat</a:t>
            </a:r>
            <a:r>
              <a:rPr lang="ko-KR" altLang="en-US" sz="1100" dirty="0"/>
              <a:t> 곡선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가격민감도</a:t>
            </a:r>
            <a:r>
              <a:rPr lang="en-US" altLang="ko-KR" sz="1100" dirty="0"/>
              <a:t> </a:t>
            </a:r>
            <a:r>
              <a:rPr lang="ko-KR" altLang="en-US" sz="1100" dirty="0"/>
              <a:t>높음</a:t>
            </a:r>
            <a:r>
              <a:rPr lang="en-US" altLang="ko-KR" sz="1100" dirty="0"/>
              <a:t>, </a:t>
            </a:r>
            <a:r>
              <a:rPr lang="ko-KR" altLang="en-US" sz="1100" dirty="0"/>
              <a:t>탄력성 값 </a:t>
            </a:r>
            <a:r>
              <a:rPr lang="en-US" altLang="ko-KR" sz="1100" dirty="0"/>
              <a:t>&gt; 1</a:t>
            </a:r>
          </a:p>
          <a:p>
            <a:pPr marL="257175" lvl="1" indent="0">
              <a:lnSpc>
                <a:spcPct val="160000"/>
              </a:lnSpc>
              <a:buNone/>
            </a:pPr>
            <a:r>
              <a:rPr lang="ko-KR" altLang="en-US" sz="1100" dirty="0"/>
              <a:t>⑤ 완전 탄력적 공급</a:t>
            </a:r>
            <a:r>
              <a:rPr lang="en-US" altLang="ko-KR" sz="1100" dirty="0"/>
              <a:t>: </a:t>
            </a:r>
            <a:r>
              <a:rPr lang="ko-KR" altLang="en-US" sz="1100" dirty="0" err="1"/>
              <a:t>공급곡선</a:t>
            </a:r>
            <a:r>
              <a:rPr lang="ko-KR" altLang="en-US" sz="1100" dirty="0"/>
              <a:t> 수평</a:t>
            </a:r>
            <a:r>
              <a:rPr lang="en-US" altLang="ko-KR" sz="1100" dirty="0"/>
              <a:t>, </a:t>
            </a:r>
            <a:r>
              <a:rPr lang="ko-KR" altLang="en-US" sz="1100" dirty="0"/>
              <a:t>판매자가 가격에 극도로 민감</a:t>
            </a:r>
            <a:r>
              <a:rPr lang="en-US" altLang="ko-KR" sz="1100" dirty="0"/>
              <a:t>, </a:t>
            </a:r>
            <a:r>
              <a:rPr lang="ko-KR" altLang="en-US" sz="1100" dirty="0"/>
              <a:t>탄력성 값 </a:t>
            </a:r>
            <a:r>
              <a:rPr lang="en-US" altLang="ko-KR" sz="1100" dirty="0"/>
              <a:t>= ∞</a:t>
            </a:r>
          </a:p>
          <a:p>
            <a:pPr>
              <a:lnSpc>
                <a:spcPct val="160000"/>
              </a:lnSpc>
            </a:pPr>
            <a:r>
              <a:rPr lang="ko-KR" altLang="en-US" sz="1300" dirty="0">
                <a:sym typeface="Wingdings" panose="05000000000000000000" pitchFamily="2" charset="2"/>
              </a:rPr>
              <a:t>공급의 </a:t>
            </a:r>
            <a:r>
              <a:rPr lang="ko-KR" altLang="en-US" sz="1300" dirty="0" err="1">
                <a:sym typeface="Wingdings" panose="05000000000000000000" pitchFamily="2" charset="2"/>
              </a:rPr>
              <a:t>가격탄력성</a:t>
            </a:r>
            <a:r>
              <a:rPr lang="ko-KR" altLang="en-US" sz="1300" dirty="0">
                <a:sym typeface="Wingdings" panose="05000000000000000000" pitchFamily="2" charset="2"/>
              </a:rPr>
              <a:t> 결정요인</a:t>
            </a:r>
            <a:endParaRPr lang="en-US" altLang="ko-KR" sz="1300" dirty="0">
              <a:sym typeface="Wingdings" panose="05000000000000000000" pitchFamily="2" charset="2"/>
            </a:endParaRP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075" dirty="0" err="1" smtClean="0">
                <a:sym typeface="Wingdings" panose="05000000000000000000" pitchFamily="2" charset="2"/>
              </a:rPr>
              <a:t>판매자들이</a:t>
            </a:r>
            <a:r>
              <a:rPr lang="ko-KR" altLang="en-US" sz="1075" dirty="0" smtClean="0">
                <a:sym typeface="Wingdings" panose="05000000000000000000" pitchFamily="2" charset="2"/>
              </a:rPr>
              <a:t> </a:t>
            </a:r>
            <a:r>
              <a:rPr lang="ko-KR" altLang="en-US" sz="1075" dirty="0">
                <a:sym typeface="Wingdings" panose="05000000000000000000" pitchFamily="2" charset="2"/>
              </a:rPr>
              <a:t>생산량을 쉽게 변경할 </a:t>
            </a:r>
            <a:r>
              <a:rPr lang="ko-KR" altLang="en-US" sz="1075" dirty="0" smtClean="0">
                <a:sym typeface="Wingdings" panose="05000000000000000000" pitchFamily="2" charset="2"/>
              </a:rPr>
              <a:t>수 있는가 여부</a:t>
            </a:r>
            <a:endParaRPr lang="en-US" altLang="ko-KR" sz="1075" dirty="0" smtClean="0">
              <a:sym typeface="Wingdings" panose="05000000000000000000" pitchFamily="2" charset="2"/>
            </a:endParaRP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075" dirty="0" smtClean="0">
                <a:sym typeface="Wingdings" panose="05000000000000000000" pitchFamily="2" charset="2"/>
              </a:rPr>
              <a:t>고려하는 시간의 길이</a:t>
            </a:r>
            <a:r>
              <a:rPr lang="en-US" altLang="ko-KR" sz="1075" dirty="0" smtClean="0">
                <a:sym typeface="Wingdings" panose="05000000000000000000" pitchFamily="2" charset="2"/>
              </a:rPr>
              <a:t>(</a:t>
            </a:r>
            <a:r>
              <a:rPr lang="ko-KR" altLang="en-US" sz="1075" dirty="0" smtClean="0">
                <a:sym typeface="Wingdings" panose="05000000000000000000" pitchFamily="2" charset="2"/>
              </a:rPr>
              <a:t>단기 또는 장기 여부</a:t>
            </a:r>
            <a:r>
              <a:rPr lang="en-US" altLang="ko-KR" sz="1075" dirty="0" smtClean="0">
                <a:sym typeface="Wingdings" panose="05000000000000000000" pitchFamily="2" charset="2"/>
              </a:rPr>
              <a:t>) </a:t>
            </a:r>
            <a:endParaRPr lang="en-US" altLang="ko-KR" sz="1075" dirty="0">
              <a:sym typeface="Wingdings" panose="05000000000000000000" pitchFamily="2" charset="2"/>
            </a:endParaRPr>
          </a:p>
          <a:p>
            <a:pPr marL="257175" lvl="1" indent="0">
              <a:lnSpc>
                <a:spcPct val="160000"/>
              </a:lnSpc>
              <a:buNone/>
            </a:pPr>
            <a:endParaRPr lang="en-US" altLang="ko-KR" sz="1075" dirty="0" smtClean="0"/>
          </a:p>
          <a:p>
            <a:pPr>
              <a:lnSpc>
                <a:spcPct val="160000"/>
              </a:lnSpc>
            </a:pPr>
            <a:r>
              <a:rPr lang="ko-KR" altLang="en-US" sz="1300" dirty="0"/>
              <a:t>수요의 </a:t>
            </a:r>
            <a:r>
              <a:rPr lang="ko-KR" altLang="en-US" sz="1300" dirty="0" err="1"/>
              <a:t>소득탄력성</a:t>
            </a:r>
            <a:r>
              <a:rPr lang="ko-KR" altLang="en-US" sz="1300" dirty="0"/>
              <a:t> </a:t>
            </a:r>
            <a:r>
              <a:rPr lang="en-US" altLang="ko-KR" sz="1300" dirty="0"/>
              <a:t>Income elasticity</a:t>
            </a:r>
          </a:p>
          <a:p>
            <a:pPr marL="257175" lvl="1" indent="0">
              <a:lnSpc>
                <a:spcPct val="160000"/>
              </a:lnSpc>
              <a:buNone/>
            </a:pPr>
            <a:r>
              <a:rPr lang="en-US" altLang="ko-KR" sz="1075" dirty="0" smtClean="0"/>
              <a:t>- </a:t>
            </a:r>
            <a:r>
              <a:rPr lang="ko-KR" altLang="en-US" sz="1075" dirty="0" err="1" smtClean="0"/>
              <a:t>소득변화에</a:t>
            </a:r>
            <a:r>
              <a:rPr lang="en-US" altLang="ko-KR" sz="1075" dirty="0" smtClean="0"/>
              <a:t> </a:t>
            </a:r>
            <a:r>
              <a:rPr lang="ko-KR" altLang="en-US" sz="1075" dirty="0"/>
              <a:t>따라 수요량이 얼마나 변하는가를 보여줌</a:t>
            </a:r>
            <a:r>
              <a:rPr lang="en-US" altLang="ko-KR" sz="1075" dirty="0"/>
              <a:t>. </a:t>
            </a:r>
          </a:p>
          <a:p>
            <a:pPr marL="257175" lvl="1" indent="0">
              <a:lnSpc>
                <a:spcPct val="160000"/>
              </a:lnSpc>
              <a:buNone/>
            </a:pPr>
            <a:r>
              <a:rPr lang="en-US" altLang="ko-KR" sz="1075" dirty="0" smtClean="0"/>
              <a:t>- </a:t>
            </a:r>
            <a:r>
              <a:rPr lang="ko-KR" altLang="en-US" sz="1075" dirty="0" smtClean="0"/>
              <a:t>수요량의 </a:t>
            </a:r>
            <a:r>
              <a:rPr lang="ko-KR" altLang="en-US" sz="1075" dirty="0"/>
              <a:t>변화율 </a:t>
            </a:r>
            <a:r>
              <a:rPr lang="en-US" altLang="ko-KR" sz="1075" dirty="0"/>
              <a:t>/ </a:t>
            </a:r>
            <a:r>
              <a:rPr lang="ko-KR" altLang="en-US" sz="1075" dirty="0"/>
              <a:t>소득의 변화율</a:t>
            </a:r>
            <a:endParaRPr lang="en-US" altLang="ko-KR" sz="1075" dirty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075" dirty="0" err="1" smtClean="0"/>
              <a:t>정상재</a:t>
            </a:r>
            <a:r>
              <a:rPr lang="en-US" altLang="ko-KR" sz="1075" dirty="0" smtClean="0"/>
              <a:t> </a:t>
            </a:r>
            <a:r>
              <a:rPr lang="en-US" altLang="ko-KR" sz="1075" dirty="0"/>
              <a:t>: </a:t>
            </a:r>
            <a:r>
              <a:rPr lang="ko-KR" altLang="en-US" sz="1075" dirty="0" err="1"/>
              <a:t>소득탄력성</a:t>
            </a:r>
            <a:r>
              <a:rPr lang="ko-KR" altLang="en-US" sz="1075" dirty="0"/>
              <a:t> </a:t>
            </a:r>
            <a:r>
              <a:rPr lang="en-US" altLang="ko-KR" sz="1075" dirty="0"/>
              <a:t>&gt; 0 </a:t>
            </a:r>
            <a:r>
              <a:rPr lang="en-US" altLang="ko-KR" sz="1075" dirty="0">
                <a:sym typeface="Wingdings" panose="05000000000000000000" pitchFamily="2" charset="2"/>
              </a:rPr>
              <a:t> </a:t>
            </a:r>
            <a:r>
              <a:rPr lang="ko-KR" altLang="en-US" sz="1075" dirty="0">
                <a:sym typeface="Wingdings" panose="05000000000000000000" pitchFamily="2" charset="2"/>
              </a:rPr>
              <a:t>소득이 증가하면 수요량이 증가함</a:t>
            </a:r>
            <a:r>
              <a:rPr lang="en-US" altLang="ko-KR" sz="1075" dirty="0">
                <a:sym typeface="Wingdings" panose="05000000000000000000" pitchFamily="2" charset="2"/>
              </a:rPr>
              <a:t>. </a:t>
            </a:r>
            <a:endParaRPr lang="en-US" altLang="ko-KR" sz="1075" dirty="0" smtClean="0">
              <a:sym typeface="Wingdings" panose="05000000000000000000" pitchFamily="2" charset="2"/>
            </a:endParaRPr>
          </a:p>
          <a:p>
            <a:pPr marL="514350" lvl="2" indent="0">
              <a:lnSpc>
                <a:spcPct val="160000"/>
              </a:lnSpc>
              <a:buNone/>
            </a:pPr>
            <a:r>
              <a:rPr lang="en-US" altLang="ko-KR" sz="1000" dirty="0" smtClean="0">
                <a:sym typeface="Wingdings" panose="05000000000000000000" pitchFamily="2" charset="2"/>
              </a:rPr>
              <a:t> </a:t>
            </a:r>
            <a:r>
              <a:rPr lang="ko-KR" altLang="en-US" sz="1000" dirty="0" err="1" smtClean="0">
                <a:sym typeface="Wingdings" panose="05000000000000000000" pitchFamily="2" charset="2"/>
              </a:rPr>
              <a:t>사치재와</a:t>
            </a:r>
            <a:r>
              <a:rPr lang="en-US" altLang="ko-KR" sz="1000" dirty="0" smtClean="0">
                <a:sym typeface="Wingdings" panose="05000000000000000000" pitchFamily="2" charset="2"/>
              </a:rPr>
              <a:t> </a:t>
            </a:r>
            <a:r>
              <a:rPr lang="ko-KR" altLang="en-US" sz="1000" dirty="0" err="1" smtClean="0">
                <a:sym typeface="Wingdings" panose="05000000000000000000" pitchFamily="2" charset="2"/>
              </a:rPr>
              <a:t>필수재의</a:t>
            </a:r>
            <a:r>
              <a:rPr lang="ko-KR" altLang="en-US" sz="1000" dirty="0" smtClean="0">
                <a:sym typeface="Wingdings" panose="05000000000000000000" pitchFamily="2" charset="2"/>
              </a:rPr>
              <a:t> 구분</a:t>
            </a:r>
            <a:r>
              <a:rPr lang="en-US" altLang="ko-KR" sz="1000" dirty="0" smtClean="0">
                <a:sym typeface="Wingdings" panose="05000000000000000000" pitchFamily="2" charset="2"/>
              </a:rPr>
              <a:t>. </a:t>
            </a:r>
            <a:r>
              <a:rPr lang="ko-KR" altLang="en-US" sz="1000" dirty="0" smtClean="0">
                <a:sym typeface="Wingdings" panose="05000000000000000000" pitchFamily="2" charset="2"/>
              </a:rPr>
              <a:t>둘다 </a:t>
            </a:r>
            <a:r>
              <a:rPr lang="ko-KR" altLang="en-US" sz="1000" dirty="0" err="1" smtClean="0">
                <a:sym typeface="Wingdings" panose="05000000000000000000" pitchFamily="2" charset="2"/>
              </a:rPr>
              <a:t>정상재</a:t>
            </a:r>
            <a:endParaRPr lang="en-US" altLang="ko-KR" sz="1000" dirty="0"/>
          </a:p>
          <a:p>
            <a:pPr marL="257175" lvl="1" indent="0">
              <a:lnSpc>
                <a:spcPct val="160000"/>
              </a:lnSpc>
              <a:buNone/>
            </a:pPr>
            <a:r>
              <a:rPr lang="en-US" altLang="ko-KR" sz="1075" dirty="0" smtClean="0"/>
              <a:t>- </a:t>
            </a:r>
            <a:r>
              <a:rPr lang="ko-KR" altLang="en-US" sz="1075" dirty="0" err="1" smtClean="0"/>
              <a:t>열등재</a:t>
            </a:r>
            <a:r>
              <a:rPr lang="ko-KR" altLang="en-US" sz="1075" dirty="0" smtClean="0"/>
              <a:t> </a:t>
            </a:r>
            <a:r>
              <a:rPr lang="en-US" altLang="ko-KR" sz="1075" dirty="0"/>
              <a:t>: </a:t>
            </a:r>
            <a:r>
              <a:rPr lang="ko-KR" altLang="en-US" sz="1075" dirty="0" err="1"/>
              <a:t>소득탄력성</a:t>
            </a:r>
            <a:r>
              <a:rPr lang="ko-KR" altLang="en-US" sz="1075" dirty="0"/>
              <a:t> </a:t>
            </a:r>
            <a:r>
              <a:rPr lang="en-US" altLang="ko-KR" sz="1075" dirty="0"/>
              <a:t>&lt; 0 </a:t>
            </a:r>
            <a:r>
              <a:rPr lang="en-US" altLang="ko-KR" sz="1075" dirty="0">
                <a:sym typeface="Wingdings" panose="05000000000000000000" pitchFamily="2" charset="2"/>
              </a:rPr>
              <a:t></a:t>
            </a:r>
            <a:r>
              <a:rPr lang="en-US" altLang="ko-KR" sz="1075" dirty="0"/>
              <a:t> </a:t>
            </a:r>
            <a:r>
              <a:rPr lang="ko-KR" altLang="en-US" sz="1075" dirty="0"/>
              <a:t>소득이 늘어나면 수요량이 오히려 감소함</a:t>
            </a:r>
            <a:r>
              <a:rPr lang="en-US" altLang="ko-KR" sz="1075" dirty="0"/>
              <a:t>. </a:t>
            </a:r>
          </a:p>
          <a:p>
            <a:pPr lvl="1">
              <a:lnSpc>
                <a:spcPct val="160000"/>
              </a:lnSpc>
            </a:pPr>
            <a:endParaRPr lang="en-US" altLang="ko-KR" sz="1075" dirty="0"/>
          </a:p>
          <a:p>
            <a:pPr>
              <a:lnSpc>
                <a:spcPct val="160000"/>
              </a:lnSpc>
            </a:pPr>
            <a:r>
              <a:rPr lang="ko-KR" altLang="en-US" sz="1300" dirty="0"/>
              <a:t>수요의 </a:t>
            </a:r>
            <a:r>
              <a:rPr lang="ko-KR" altLang="en-US" sz="1300" dirty="0" smtClean="0"/>
              <a:t>교차가격탄력성 </a:t>
            </a:r>
            <a:r>
              <a:rPr lang="en-US" altLang="ko-KR" sz="1300" dirty="0" smtClean="0"/>
              <a:t>cross-price elasticity</a:t>
            </a:r>
            <a:endParaRPr lang="en-US" altLang="ko-KR" sz="1300" dirty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075" dirty="0" smtClean="0"/>
              <a:t>어떤 </a:t>
            </a:r>
            <a:r>
              <a:rPr lang="ko-KR" altLang="en-US" sz="1075" dirty="0"/>
              <a:t>재화 </a:t>
            </a:r>
            <a:r>
              <a:rPr lang="en-US" altLang="ko-KR" sz="1075" dirty="0"/>
              <a:t>A</a:t>
            </a:r>
            <a:r>
              <a:rPr lang="ko-KR" altLang="en-US" sz="1075" dirty="0"/>
              <a:t>의 수요량이 다른 재화 </a:t>
            </a:r>
            <a:r>
              <a:rPr lang="en-US" altLang="ko-KR" sz="1075" dirty="0"/>
              <a:t>B</a:t>
            </a:r>
            <a:r>
              <a:rPr lang="ko-KR" altLang="en-US" sz="1075" dirty="0"/>
              <a:t>의 가격 변화에 따라 얼마나 변하는가</a:t>
            </a:r>
            <a:r>
              <a:rPr lang="en-US" altLang="ko-KR" sz="1075" dirty="0" smtClean="0"/>
              <a:t>?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075" dirty="0" smtClean="0"/>
              <a:t>A </a:t>
            </a:r>
            <a:r>
              <a:rPr lang="ko-KR" altLang="en-US" sz="1075" dirty="0"/>
              <a:t>재화의 수요량 변화율 </a:t>
            </a:r>
            <a:r>
              <a:rPr lang="en-US" altLang="ko-KR" sz="1075" dirty="0"/>
              <a:t>/ B </a:t>
            </a:r>
            <a:r>
              <a:rPr lang="ko-KR" altLang="en-US" sz="1075" dirty="0"/>
              <a:t>재화의 </a:t>
            </a:r>
            <a:r>
              <a:rPr lang="ko-KR" altLang="en-US" sz="1075" dirty="0" err="1" smtClean="0"/>
              <a:t>가격변화율</a:t>
            </a:r>
            <a:endParaRPr lang="en-US" altLang="ko-KR" sz="1075" dirty="0" smtClean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075" dirty="0" smtClean="0"/>
              <a:t>대체재 </a:t>
            </a:r>
            <a:r>
              <a:rPr lang="en-US" altLang="ko-KR" sz="1075" dirty="0"/>
              <a:t>: </a:t>
            </a:r>
            <a:r>
              <a:rPr lang="ko-KR" altLang="en-US" sz="1075" dirty="0" err="1"/>
              <a:t>교차가격</a:t>
            </a:r>
            <a:r>
              <a:rPr lang="ko-KR" altLang="en-US" sz="1075" dirty="0"/>
              <a:t> 탄력성 </a:t>
            </a:r>
            <a:r>
              <a:rPr lang="en-US" altLang="ko-KR" sz="1075" dirty="0"/>
              <a:t>&gt; </a:t>
            </a:r>
            <a:r>
              <a:rPr lang="en-US" altLang="ko-KR" sz="1075" dirty="0" smtClean="0"/>
              <a:t>0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075" dirty="0" err="1" smtClean="0"/>
              <a:t>보완재</a:t>
            </a:r>
            <a:r>
              <a:rPr lang="ko-KR" altLang="en-US" sz="1075" dirty="0" smtClean="0"/>
              <a:t> </a:t>
            </a:r>
            <a:r>
              <a:rPr lang="en-US" altLang="ko-KR" sz="1075" dirty="0"/>
              <a:t>: </a:t>
            </a:r>
            <a:r>
              <a:rPr lang="ko-KR" altLang="en-US" sz="1075" dirty="0" err="1"/>
              <a:t>교차가격</a:t>
            </a:r>
            <a:r>
              <a:rPr lang="ko-KR" altLang="en-US" sz="1075" dirty="0"/>
              <a:t> 탄력성 </a:t>
            </a:r>
            <a:r>
              <a:rPr lang="en-US" altLang="ko-KR" sz="1075" dirty="0"/>
              <a:t>&lt; 0 </a:t>
            </a:r>
          </a:p>
          <a:p>
            <a:pPr marL="257175" lvl="1" indent="0">
              <a:lnSpc>
                <a:spcPct val="160000"/>
              </a:lnSpc>
              <a:buNone/>
            </a:pPr>
            <a:endParaRPr lang="ko-KR" altLang="en-US" sz="1075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035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548</TotalTime>
  <Words>516</Words>
  <Application>Microsoft Office PowerPoint</Application>
  <PresentationFormat>와이드스크린</PresentationFormat>
  <Paragraphs>57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Arial</vt:lpstr>
      <vt:lpstr>Wingdings</vt:lpstr>
      <vt:lpstr>Office 테마</vt:lpstr>
      <vt:lpstr>5장 탄력성과 응용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현대경제분석   강의노트</dc:title>
  <dc:creator>User</dc:creator>
  <cp:lastModifiedBy>mainlibinfo11</cp:lastModifiedBy>
  <cp:revision>59</cp:revision>
  <dcterms:created xsi:type="dcterms:W3CDTF">2021-06-28T02:08:57Z</dcterms:created>
  <dcterms:modified xsi:type="dcterms:W3CDTF">2023-03-13T05:18:00Z</dcterms:modified>
</cp:coreProperties>
</file>