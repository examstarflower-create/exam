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5"/>
  </p:notesMasterIdLst>
  <p:sldIdLst>
    <p:sldId id="257" r:id="rId2"/>
    <p:sldId id="258" r:id="rId3"/>
    <p:sldId id="259" r:id="rId4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9" autoAdjust="0"/>
    <p:restoredTop sz="94660"/>
  </p:normalViewPr>
  <p:slideViewPr>
    <p:cSldViewPr snapToGrid="0">
      <p:cViewPr>
        <p:scale>
          <a:sx n="100" d="100"/>
          <a:sy n="100" d="100"/>
        </p:scale>
        <p:origin x="28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14</a:t>
            </a:r>
            <a:r>
              <a:rPr lang="ko-KR" altLang="en-US" dirty="0"/>
              <a:t>장</a:t>
            </a:r>
            <a:r>
              <a:rPr lang="de-DE" altLang="ko-KR" dirty="0"/>
              <a:t>.</a:t>
            </a:r>
            <a:r>
              <a:rPr lang="ko-KR" altLang="en-US" dirty="0"/>
              <a:t> </a:t>
            </a:r>
            <a:r>
              <a:rPr lang="ko-KR" altLang="de-DE" dirty="0"/>
              <a:t>경쟁시장에서의 기업 행동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20"/>
            <a:ext cx="5915025" cy="9182948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de-DE" sz="1400" dirty="0"/>
              <a:t>완전경쟁시장의 세가지 조건</a:t>
            </a:r>
            <a:endParaRPr lang="de-DE" altLang="ko-KR" sz="14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75" dirty="0" smtClean="0"/>
              <a:t>무수히 </a:t>
            </a:r>
            <a:r>
              <a:rPr lang="ko-KR" altLang="de-DE" sz="1175" dirty="0"/>
              <a:t>많은 구매자와 판매자 존재</a:t>
            </a:r>
            <a:r>
              <a:rPr lang="de-DE" altLang="ko-KR" sz="1175" dirty="0"/>
              <a:t>,</a:t>
            </a:r>
            <a:r>
              <a:rPr lang="ko-KR" altLang="de-DE" sz="1175" dirty="0"/>
              <a:t> </a:t>
            </a:r>
            <a:r>
              <a:rPr lang="ko-KR" altLang="de-DE" sz="1175" dirty="0">
                <a:sym typeface="Wingdings" panose="05000000000000000000" pitchFamily="2" charset="2"/>
              </a:rPr>
              <a:t>누구도 제품의</a:t>
            </a:r>
            <a:r>
              <a:rPr lang="de-DE" altLang="ko-KR" sz="1175" dirty="0">
                <a:sym typeface="Wingdings" panose="05000000000000000000" pitchFamily="2" charset="2"/>
              </a:rPr>
              <a:t> </a:t>
            </a:r>
            <a:r>
              <a:rPr lang="ko-KR" altLang="de-DE" sz="1175" dirty="0">
                <a:sym typeface="Wingdings" panose="05000000000000000000" pitchFamily="2" charset="2"/>
              </a:rPr>
              <a:t>가격</a:t>
            </a:r>
            <a:r>
              <a:rPr lang="de-DE" altLang="ko-KR" sz="1175" dirty="0">
                <a:sym typeface="Wingdings" panose="05000000000000000000" pitchFamily="2" charset="2"/>
              </a:rPr>
              <a:t>(P)</a:t>
            </a:r>
            <a:r>
              <a:rPr lang="ko-KR" altLang="de-DE" sz="1175" dirty="0">
                <a:sym typeface="Wingdings" panose="05000000000000000000" pitchFamily="2" charset="2"/>
              </a:rPr>
              <a:t>에 영향을 주지 </a:t>
            </a:r>
            <a:r>
              <a:rPr lang="ko-KR" altLang="de-DE" sz="1175" dirty="0">
                <a:sym typeface="Wingdings" panose="05000000000000000000" pitchFamily="2" charset="2"/>
              </a:rPr>
              <a:t>못한다</a:t>
            </a:r>
            <a:r>
              <a:rPr lang="ko-KR" altLang="en-US" sz="1175" dirty="0">
                <a:sym typeface="Wingdings" panose="05000000000000000000" pitchFamily="2" charset="2"/>
              </a:rPr>
              <a:t>는</a:t>
            </a:r>
            <a:r>
              <a:rPr lang="ko-KR" altLang="de-DE" sz="1175" dirty="0">
                <a:sym typeface="Wingdings" panose="05000000000000000000" pitchFamily="2" charset="2"/>
              </a:rPr>
              <a:t> </a:t>
            </a:r>
            <a:r>
              <a:rPr lang="ko-KR" altLang="de-DE" sz="1175" dirty="0">
                <a:sym typeface="Wingdings" panose="05000000000000000000" pitchFamily="2" charset="2"/>
              </a:rPr>
              <a:t>의미 </a:t>
            </a:r>
            <a:r>
              <a:rPr lang="de-DE" altLang="ko-KR" sz="1175" dirty="0">
                <a:sym typeface="Wingdings" panose="05000000000000000000" pitchFamily="2" charset="2"/>
              </a:rPr>
              <a:t>= </a:t>
            </a:r>
            <a:r>
              <a:rPr lang="ko-KR" altLang="de-DE" sz="1175" dirty="0" err="1">
                <a:sym typeface="Wingdings" panose="05000000000000000000" pitchFamily="2" charset="2"/>
              </a:rPr>
              <a:t>가격수용자</a:t>
            </a:r>
            <a:r>
              <a:rPr lang="de-DE" altLang="ko-KR" sz="1175" dirty="0">
                <a:sym typeface="Wingdings" panose="05000000000000000000" pitchFamily="2" charset="2"/>
              </a:rPr>
              <a:t>(price taker)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>
                <a:sym typeface="Wingdings" panose="05000000000000000000" pitchFamily="2" charset="2"/>
              </a:rPr>
              <a:t>모두가 완전</a:t>
            </a:r>
            <a:r>
              <a:rPr lang="de-DE" altLang="ko-KR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>
                <a:sym typeface="Wingdings" panose="05000000000000000000" pitchFamily="2" charset="2"/>
              </a:rPr>
              <a:t>동일한 상품을 거래</a:t>
            </a:r>
            <a:endParaRPr lang="en-US" altLang="ko-KR" sz="11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장기적으로 자유롭게 시장 </a:t>
            </a:r>
            <a:r>
              <a:rPr lang="ko-KR" altLang="de-DE" sz="1100" dirty="0" err="1"/>
              <a:t>진출입</a:t>
            </a:r>
            <a:r>
              <a:rPr lang="ko-KR" altLang="de-DE" sz="1100" dirty="0"/>
              <a:t> 가능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endParaRPr lang="en-US" altLang="ko-KR" sz="1400" dirty="0"/>
          </a:p>
          <a:p>
            <a:pPr>
              <a:lnSpc>
                <a:spcPct val="160000"/>
              </a:lnSpc>
            </a:pPr>
            <a:r>
              <a:rPr lang="de-DE" altLang="ko-KR" sz="1400" dirty="0"/>
              <a:t>TR = P*Q</a:t>
            </a:r>
          </a:p>
          <a:p>
            <a:pPr>
              <a:lnSpc>
                <a:spcPct val="160000"/>
              </a:lnSpc>
            </a:pPr>
            <a:r>
              <a:rPr lang="de-DE" altLang="ko-KR" sz="1400" dirty="0"/>
              <a:t>AR = TR / Q</a:t>
            </a:r>
          </a:p>
          <a:p>
            <a:pPr>
              <a:lnSpc>
                <a:spcPct val="160000"/>
              </a:lnSpc>
            </a:pPr>
            <a:r>
              <a:rPr lang="de-DE" altLang="ko-KR" sz="1400" dirty="0"/>
              <a:t>MR = </a:t>
            </a:r>
            <a:r>
              <a:rPr lang="en-US" altLang="ko-KR" sz="1400" dirty="0"/>
              <a:t>∆TR / ∆Q = P </a:t>
            </a:r>
            <a:r>
              <a:rPr lang="ko-KR" altLang="de-DE" sz="1400" dirty="0"/>
              <a:t>한 단위의 산출량 증가는 수입을 </a:t>
            </a:r>
            <a:r>
              <a:rPr lang="de-DE" altLang="ko-KR" sz="1400" dirty="0"/>
              <a:t>P</a:t>
            </a:r>
            <a:r>
              <a:rPr lang="ko-KR" altLang="de-DE" sz="1400" dirty="0"/>
              <a:t>만큼 증가시킴</a:t>
            </a:r>
            <a:r>
              <a:rPr lang="de-DE" altLang="ko-KR" sz="1400" dirty="0"/>
              <a:t>.</a:t>
            </a:r>
            <a:endParaRPr lang="en-US" altLang="ko-KR" sz="1400" dirty="0"/>
          </a:p>
          <a:p>
            <a:pPr>
              <a:lnSpc>
                <a:spcPct val="160000"/>
              </a:lnSpc>
            </a:pPr>
            <a:r>
              <a:rPr lang="ko-KR" altLang="de-DE" sz="1400" dirty="0"/>
              <a:t>오직 </a:t>
            </a:r>
            <a:r>
              <a:rPr lang="ko-KR" altLang="de-DE" sz="1400" dirty="0" err="1"/>
              <a:t>경쟁기업들에게만</a:t>
            </a:r>
            <a:r>
              <a:rPr lang="ko-KR" altLang="de-DE" sz="1400" dirty="0"/>
              <a:t> </a:t>
            </a:r>
            <a:r>
              <a:rPr lang="de-DE" altLang="ko-KR" sz="1400" dirty="0"/>
              <a:t>MR = P</a:t>
            </a:r>
          </a:p>
          <a:p>
            <a:pPr>
              <a:lnSpc>
                <a:spcPct val="160000"/>
              </a:lnSpc>
            </a:pPr>
            <a:endParaRPr lang="de-DE" altLang="ko-KR" sz="1400" dirty="0"/>
          </a:p>
          <a:p>
            <a:pPr>
              <a:lnSpc>
                <a:spcPct val="160000"/>
              </a:lnSpc>
            </a:pPr>
            <a:r>
              <a:rPr lang="ko-KR" altLang="de-DE" sz="1400" dirty="0"/>
              <a:t>이익극대화의 공식 </a:t>
            </a:r>
            <a:r>
              <a:rPr lang="de-DE" altLang="ko-KR" sz="1400" dirty="0"/>
              <a:t>MR = MC 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75" dirty="0" smtClean="0"/>
              <a:t>- </a:t>
            </a:r>
            <a:r>
              <a:rPr lang="ko-KR" altLang="de-DE" sz="1175" dirty="0" smtClean="0"/>
              <a:t>이 </a:t>
            </a:r>
            <a:r>
              <a:rPr lang="ko-KR" altLang="de-DE" sz="1175" dirty="0"/>
              <a:t>조건을 만족하는 그런 </a:t>
            </a:r>
            <a:r>
              <a:rPr lang="de-DE" altLang="ko-KR" sz="1175" dirty="0"/>
              <a:t>Q</a:t>
            </a:r>
            <a:r>
              <a:rPr lang="ko-KR" altLang="de-DE" sz="1175" dirty="0" err="1"/>
              <a:t>를</a:t>
            </a:r>
            <a:r>
              <a:rPr lang="ko-KR" altLang="de-DE" sz="1175" dirty="0"/>
              <a:t> 찾는 것이 기업의 </a:t>
            </a:r>
            <a:r>
              <a:rPr lang="de-DE" altLang="ko-KR" sz="1175" dirty="0"/>
              <a:t>mission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75" dirty="0"/>
              <a:t>주의</a:t>
            </a:r>
            <a:r>
              <a:rPr lang="de-DE" altLang="ko-KR" sz="1175" dirty="0"/>
              <a:t>: </a:t>
            </a:r>
            <a:r>
              <a:rPr lang="ko-KR" altLang="de-DE" sz="1175" dirty="0"/>
              <a:t>경쟁기업 뿐 아니라 모든 기업</a:t>
            </a:r>
            <a:r>
              <a:rPr lang="de-DE" altLang="ko-KR" sz="1175" dirty="0"/>
              <a:t>(!!)</a:t>
            </a:r>
            <a:r>
              <a:rPr lang="ko-KR" altLang="de-DE" sz="1175" dirty="0"/>
              <a:t>에게 적용되는 </a:t>
            </a:r>
            <a:r>
              <a:rPr lang="ko-KR" altLang="de-DE" sz="1175" dirty="0" err="1"/>
              <a:t>이익극대화</a:t>
            </a:r>
            <a:r>
              <a:rPr lang="ko-KR" altLang="de-DE" sz="1175" dirty="0"/>
              <a:t> 원칙</a:t>
            </a:r>
            <a:endParaRPr lang="de-DE" altLang="ko-KR" sz="1175" dirty="0"/>
          </a:p>
          <a:p>
            <a:pPr lvl="1">
              <a:lnSpc>
                <a:spcPct val="160000"/>
              </a:lnSpc>
            </a:pPr>
            <a:endParaRPr lang="de-DE" altLang="ko-KR" sz="1175" dirty="0"/>
          </a:p>
          <a:p>
            <a:pPr>
              <a:lnSpc>
                <a:spcPct val="160000"/>
              </a:lnSpc>
            </a:pPr>
            <a:r>
              <a:rPr lang="ko-KR" altLang="de-DE" sz="1400" dirty="0"/>
              <a:t>한계비용</a:t>
            </a:r>
            <a:r>
              <a:rPr lang="de-DE" altLang="ko-KR" sz="1400" dirty="0"/>
              <a:t>(MC)</a:t>
            </a:r>
            <a:r>
              <a:rPr lang="ko-KR" altLang="de-DE" sz="1400" dirty="0"/>
              <a:t>가</a:t>
            </a:r>
            <a:r>
              <a:rPr lang="de-DE" altLang="ko-KR" sz="1400" dirty="0"/>
              <a:t> </a:t>
            </a:r>
            <a:r>
              <a:rPr lang="ko-KR" altLang="de-DE" sz="1400" dirty="0"/>
              <a:t>기업의 공급을 결정한다</a:t>
            </a:r>
            <a:r>
              <a:rPr lang="de-DE" altLang="ko-KR" sz="1400" dirty="0"/>
              <a:t>.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75" dirty="0"/>
              <a:t>그래서 </a:t>
            </a:r>
            <a:r>
              <a:rPr lang="de-DE" altLang="ko-KR" sz="1175" dirty="0"/>
              <a:t>MC </a:t>
            </a:r>
            <a:r>
              <a:rPr lang="ko-KR" altLang="de-DE" sz="1175" dirty="0"/>
              <a:t>곡선은 기업의 공급곡선이 된다</a:t>
            </a:r>
            <a:r>
              <a:rPr lang="de-DE" altLang="ko-KR" sz="1175" dirty="0"/>
              <a:t>.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75" dirty="0" err="1"/>
              <a:t>공급곡선</a:t>
            </a:r>
            <a:r>
              <a:rPr lang="de-DE" altLang="ko-KR" sz="1175" dirty="0"/>
              <a:t>: </a:t>
            </a:r>
            <a:r>
              <a:rPr lang="ko-KR" altLang="de-DE" sz="1175" dirty="0"/>
              <a:t>주어진 가격에서 공급량이 얼마나 되는 지를 보여주는 곡선</a:t>
            </a:r>
            <a:endParaRPr lang="de-DE" altLang="ko-KR" sz="1175" dirty="0"/>
          </a:p>
          <a:p>
            <a:pPr lvl="1">
              <a:lnSpc>
                <a:spcPct val="160000"/>
              </a:lnSpc>
            </a:pPr>
            <a:endParaRPr lang="de-DE" altLang="ko-KR" sz="1175" dirty="0"/>
          </a:p>
          <a:p>
            <a:pPr>
              <a:lnSpc>
                <a:spcPct val="160000"/>
              </a:lnSpc>
            </a:pPr>
            <a:r>
              <a:rPr lang="ko-KR" altLang="de-DE" sz="1400" dirty="0" err="1"/>
              <a:t>셧다운과</a:t>
            </a:r>
            <a:r>
              <a:rPr lang="ko-KR" altLang="de-DE" sz="1400" dirty="0"/>
              <a:t> 퇴장</a:t>
            </a:r>
            <a:endParaRPr lang="de-DE" altLang="ko-KR" sz="1400" dirty="0"/>
          </a:p>
          <a:p>
            <a:pPr>
              <a:lnSpc>
                <a:spcPct val="160000"/>
              </a:lnSpc>
            </a:pPr>
            <a:r>
              <a:rPr lang="ko-KR" altLang="de-DE" sz="1400" dirty="0" err="1"/>
              <a:t>셧다운</a:t>
            </a:r>
            <a:r>
              <a:rPr lang="de-DE" altLang="ko-KR" sz="1400" dirty="0"/>
              <a:t>(</a:t>
            </a:r>
            <a:r>
              <a:rPr lang="ko-KR" altLang="de-DE" sz="1400" dirty="0" err="1"/>
              <a:t>일시폐쇄</a:t>
            </a:r>
            <a:r>
              <a:rPr lang="ko-KR" altLang="de-DE" sz="1400" dirty="0"/>
              <a:t> </a:t>
            </a:r>
            <a:r>
              <a:rPr lang="de-DE" altLang="ko-KR" sz="1400" dirty="0"/>
              <a:t>shutdown</a:t>
            </a:r>
            <a:r>
              <a:rPr lang="de-DE" altLang="ko-KR" sz="1175" dirty="0" smtClean="0"/>
              <a:t>)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75" dirty="0" err="1"/>
              <a:t>이익극대화</a:t>
            </a:r>
            <a:r>
              <a:rPr lang="de-DE" altLang="ko-KR" sz="1175" dirty="0"/>
              <a:t>(=</a:t>
            </a:r>
            <a:r>
              <a:rPr lang="ko-KR" altLang="de-DE" sz="1175" dirty="0" err="1"/>
              <a:t>손실최소화</a:t>
            </a:r>
            <a:r>
              <a:rPr lang="de-DE" altLang="ko-KR" sz="1175" dirty="0"/>
              <a:t>)</a:t>
            </a:r>
            <a:r>
              <a:rPr lang="ko-KR" altLang="de-DE" sz="1175" dirty="0" err="1"/>
              <a:t>를</a:t>
            </a:r>
            <a:r>
              <a:rPr lang="de-DE" altLang="ko-KR" sz="1175" dirty="0"/>
              <a:t> </a:t>
            </a:r>
            <a:r>
              <a:rPr lang="ko-KR" altLang="de-DE" sz="1175" dirty="0"/>
              <a:t>위한 단기적 의사결정</a:t>
            </a:r>
            <a:endParaRPr lang="de-DE" altLang="ko-KR" sz="1175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75" dirty="0"/>
              <a:t>고정비</a:t>
            </a:r>
            <a:r>
              <a:rPr lang="de-DE" altLang="ko-KR" sz="1175" dirty="0"/>
              <a:t>(FC)</a:t>
            </a:r>
            <a:r>
              <a:rPr lang="ko-KR" altLang="de-DE" sz="1175" dirty="0"/>
              <a:t>가 발생하지만</a:t>
            </a:r>
            <a:r>
              <a:rPr lang="de-DE" altLang="ko-KR" sz="1175" dirty="0"/>
              <a:t>, </a:t>
            </a:r>
            <a:r>
              <a:rPr lang="ko-KR" altLang="de-DE" sz="1175" dirty="0"/>
              <a:t>변동비</a:t>
            </a:r>
            <a:r>
              <a:rPr lang="de-DE" altLang="ko-KR" sz="1175" dirty="0"/>
              <a:t>(VC)</a:t>
            </a:r>
            <a:r>
              <a:rPr lang="ko-KR" altLang="de-DE" sz="1175" dirty="0" err="1"/>
              <a:t>를</a:t>
            </a:r>
            <a:r>
              <a:rPr lang="ko-KR" altLang="de-DE" sz="1175" dirty="0"/>
              <a:t> 절약할 수 있기</a:t>
            </a:r>
            <a:r>
              <a:rPr lang="de-DE" altLang="ko-KR" sz="1175" dirty="0"/>
              <a:t> </a:t>
            </a:r>
            <a:r>
              <a:rPr lang="ko-KR" altLang="de-DE" sz="1175" dirty="0"/>
              <a:t>때문</a:t>
            </a:r>
            <a:r>
              <a:rPr lang="de-DE" altLang="ko-KR" sz="1175" dirty="0"/>
              <a:t>.</a:t>
            </a:r>
            <a:endParaRPr lang="ko-KR" altLang="en-US" sz="1175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71488" y="702945"/>
            <a:ext cx="5915025" cy="1027938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ko-KR" altLang="de-DE" sz="1400" dirty="0" err="1"/>
              <a:t>셧다운은</a:t>
            </a:r>
            <a:r>
              <a:rPr lang="ko-KR" altLang="de-DE" sz="1400" dirty="0"/>
              <a:t> </a:t>
            </a:r>
            <a:r>
              <a:rPr lang="ko-KR" altLang="de-DE" sz="1400" dirty="0" err="1"/>
              <a:t>언제하는가</a:t>
            </a:r>
            <a:r>
              <a:rPr lang="de-DE" altLang="ko-KR" sz="1400" dirty="0"/>
              <a:t>? </a:t>
            </a:r>
            <a:r>
              <a:rPr lang="ko-KR" altLang="de-DE" sz="1400" dirty="0"/>
              <a:t>생산을 하지만 평균변동비도 건지지 못하는 때</a:t>
            </a:r>
            <a:endParaRPr lang="de-DE" altLang="ko-KR" sz="1400" dirty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de-DE" altLang="ko-KR" sz="1300" dirty="0"/>
              <a:t>P &lt; AVC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300" dirty="0"/>
              <a:t>기업의 단기공급곡선은 </a:t>
            </a:r>
            <a:r>
              <a:rPr lang="de-DE" altLang="ko-KR" sz="1300" dirty="0"/>
              <a:t>MC </a:t>
            </a:r>
            <a:r>
              <a:rPr lang="ko-KR" altLang="de-DE" sz="1300" dirty="0"/>
              <a:t>곡선 가운데 </a:t>
            </a:r>
            <a:r>
              <a:rPr lang="de-DE" altLang="ko-KR" sz="1300" dirty="0"/>
              <a:t>AVC</a:t>
            </a:r>
            <a:r>
              <a:rPr lang="ko-KR" altLang="de-DE" sz="1300" dirty="0"/>
              <a:t>보다 큰 부분이 됨</a:t>
            </a:r>
            <a:r>
              <a:rPr lang="de-DE" altLang="ko-KR" sz="1300" dirty="0"/>
              <a:t>. </a:t>
            </a:r>
          </a:p>
          <a:p>
            <a:pPr lvl="1">
              <a:lnSpc>
                <a:spcPct val="160000"/>
              </a:lnSpc>
            </a:pPr>
            <a:endParaRPr lang="de-DE" altLang="ko-KR" sz="1175" dirty="0"/>
          </a:p>
          <a:p>
            <a:pPr>
              <a:lnSpc>
                <a:spcPct val="160000"/>
              </a:lnSpc>
            </a:pPr>
            <a:r>
              <a:rPr lang="ko-KR" altLang="de-DE" sz="1400" dirty="0"/>
              <a:t>매몰비용 </a:t>
            </a:r>
            <a:r>
              <a:rPr lang="de-DE" altLang="ko-KR" sz="1400" dirty="0"/>
              <a:t>Sunk Cost : 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300" dirty="0"/>
              <a:t>이미 투입되어 복구할 수 없는 비용</a:t>
            </a:r>
            <a:r>
              <a:rPr lang="de-DE" altLang="ko-KR" sz="1300" dirty="0"/>
              <a:t>. </a:t>
            </a:r>
            <a:r>
              <a:rPr lang="ko-KR" altLang="de-DE" sz="1300" dirty="0" err="1"/>
              <a:t>셧다운</a:t>
            </a:r>
            <a:r>
              <a:rPr lang="ko-KR" altLang="de-DE" sz="1300" dirty="0"/>
              <a:t> 시에 생각하지 말아야 할 비용</a:t>
            </a:r>
            <a:r>
              <a:rPr lang="de-DE" altLang="ko-KR" sz="1300" dirty="0"/>
              <a:t>. 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300" dirty="0"/>
              <a:t>한번 쓰면 버린 것으로 보는 비용</a:t>
            </a:r>
            <a:r>
              <a:rPr lang="de-DE" altLang="ko-KR" sz="1300" dirty="0"/>
              <a:t>. </a:t>
            </a:r>
            <a:r>
              <a:rPr lang="ko-KR" altLang="de-DE" sz="1300" dirty="0"/>
              <a:t>연구개발비</a:t>
            </a:r>
            <a:r>
              <a:rPr lang="de-DE" altLang="ko-KR" sz="1300" dirty="0"/>
              <a:t>, </a:t>
            </a:r>
            <a:r>
              <a:rPr lang="ko-KR" altLang="de-DE" sz="1300" dirty="0"/>
              <a:t>광고비</a:t>
            </a:r>
            <a:r>
              <a:rPr lang="de-DE" altLang="ko-KR" sz="1300" dirty="0"/>
              <a:t>, </a:t>
            </a:r>
            <a:r>
              <a:rPr lang="ko-KR" altLang="de-DE" sz="1300" dirty="0"/>
              <a:t>인테리어 비용</a:t>
            </a:r>
            <a:r>
              <a:rPr lang="de-DE" altLang="ko-KR" sz="1300" dirty="0"/>
              <a:t>, </a:t>
            </a:r>
            <a:r>
              <a:rPr lang="ko-KR" altLang="de-DE" sz="1300" dirty="0"/>
              <a:t>여타 단기에서의 고정비</a:t>
            </a:r>
            <a:endParaRPr lang="de-DE" altLang="ko-KR" sz="1300" dirty="0"/>
          </a:p>
          <a:p>
            <a:pPr>
              <a:lnSpc>
                <a:spcPct val="160000"/>
              </a:lnSpc>
            </a:pPr>
            <a:endParaRPr lang="de-DE" altLang="ko-KR" sz="1400" dirty="0"/>
          </a:p>
          <a:p>
            <a:pPr>
              <a:lnSpc>
                <a:spcPct val="160000"/>
              </a:lnSpc>
            </a:pPr>
            <a:r>
              <a:rPr lang="ko-KR" altLang="de-DE" sz="1400" dirty="0"/>
              <a:t>퇴장</a:t>
            </a:r>
            <a:r>
              <a:rPr lang="de-DE" altLang="ko-KR" sz="1400" dirty="0"/>
              <a:t>(Exit): </a:t>
            </a:r>
            <a:r>
              <a:rPr lang="ko-KR" altLang="de-DE" sz="1400" dirty="0"/>
              <a:t>장기적으로 기업이 시장에서 빠져 나가기로하는 의사결정</a:t>
            </a:r>
            <a:endParaRPr lang="de-DE" altLang="ko-KR" sz="1400" dirty="0"/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de-DE" altLang="ko-KR" sz="1300" dirty="0"/>
              <a:t>P &lt; ATC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300" dirty="0"/>
              <a:t>장기에는</a:t>
            </a:r>
            <a:r>
              <a:rPr lang="de-DE" altLang="ko-KR" sz="1300" dirty="0"/>
              <a:t> </a:t>
            </a:r>
            <a:r>
              <a:rPr lang="ko-KR" altLang="de-DE" sz="1300" dirty="0" err="1"/>
              <a:t>고정비라는</a:t>
            </a:r>
            <a:r>
              <a:rPr lang="ko-KR" altLang="de-DE" sz="1300" dirty="0"/>
              <a:t> 개념이 없어지며 모든 비용이 총비용 하나로 </a:t>
            </a:r>
            <a:endParaRPr lang="de-DE" altLang="ko-KR" sz="1300" dirty="0"/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de-DE" altLang="ko-KR" sz="1300" dirty="0"/>
              <a:t> </a:t>
            </a:r>
            <a:r>
              <a:rPr lang="ko-KR" altLang="de-DE" sz="1300" dirty="0"/>
              <a:t>기업의 장기공급곡선은 </a:t>
            </a:r>
            <a:r>
              <a:rPr lang="de-DE" altLang="ko-KR" sz="1300" dirty="0"/>
              <a:t>MC </a:t>
            </a:r>
            <a:r>
              <a:rPr lang="ko-KR" altLang="de-DE" sz="1300" dirty="0"/>
              <a:t>곡선 가운데 </a:t>
            </a:r>
            <a:r>
              <a:rPr lang="de-DE" altLang="ko-KR" sz="1300" dirty="0"/>
              <a:t>ATC</a:t>
            </a:r>
            <a:r>
              <a:rPr lang="ko-KR" altLang="de-DE" sz="1300" dirty="0"/>
              <a:t>보다 큰 부분이 됨</a:t>
            </a:r>
            <a:r>
              <a:rPr lang="de-DE" altLang="ko-KR" sz="1300" dirty="0"/>
              <a:t>. </a:t>
            </a:r>
          </a:p>
          <a:p>
            <a:pPr lvl="1">
              <a:lnSpc>
                <a:spcPct val="160000"/>
              </a:lnSpc>
            </a:pPr>
            <a:endParaRPr lang="de-DE" altLang="ko-KR" sz="1175" dirty="0"/>
          </a:p>
          <a:p>
            <a:pPr>
              <a:lnSpc>
                <a:spcPct val="160000"/>
              </a:lnSpc>
            </a:pPr>
            <a:r>
              <a:rPr lang="ko-KR" altLang="de-DE" sz="1400" dirty="0"/>
              <a:t>경쟁시장의 기업은 </a:t>
            </a:r>
            <a:r>
              <a:rPr lang="ko-KR" altLang="de-DE" sz="1400" u="sng" dirty="0"/>
              <a:t>단기적으로</a:t>
            </a:r>
            <a:r>
              <a:rPr lang="ko-KR" altLang="de-DE" sz="1400" dirty="0"/>
              <a:t>는 이익과 손실을 보는 일이 가능하다</a:t>
            </a:r>
            <a:r>
              <a:rPr lang="de-DE" altLang="ko-KR" sz="1400" dirty="0"/>
              <a:t>. </a:t>
            </a:r>
            <a:r>
              <a:rPr lang="ko-KR" altLang="de-DE" sz="1400" dirty="0"/>
              <a:t> </a:t>
            </a:r>
            <a:endParaRPr lang="de-DE" altLang="ko-KR" sz="1400" dirty="0"/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300" dirty="0"/>
              <a:t>반면</a:t>
            </a:r>
            <a:r>
              <a:rPr lang="de-DE" altLang="ko-KR" sz="1300" dirty="0"/>
              <a:t>, </a:t>
            </a:r>
            <a:r>
              <a:rPr lang="ko-KR" altLang="de-DE" sz="1300" dirty="0"/>
              <a:t>장기적으로는 이익도 손해도 없음</a:t>
            </a:r>
            <a:r>
              <a:rPr lang="de-DE" altLang="ko-KR" sz="1300" dirty="0"/>
              <a:t>(</a:t>
            </a:r>
            <a:r>
              <a:rPr lang="ko-KR" altLang="de-DE" sz="1300" dirty="0"/>
              <a:t>조금 뒤에 나옴</a:t>
            </a:r>
            <a:r>
              <a:rPr lang="de-DE" altLang="ko-KR" sz="1300" dirty="0"/>
              <a:t>). </a:t>
            </a:r>
          </a:p>
          <a:p>
            <a:pPr lvl="1">
              <a:lnSpc>
                <a:spcPct val="160000"/>
              </a:lnSpc>
            </a:pPr>
            <a:endParaRPr lang="de-DE" altLang="ko-KR" sz="1175" dirty="0"/>
          </a:p>
          <a:p>
            <a:pPr>
              <a:lnSpc>
                <a:spcPct val="160000"/>
              </a:lnSpc>
            </a:pPr>
            <a:r>
              <a:rPr lang="ko-KR" altLang="de-DE" sz="1400" dirty="0"/>
              <a:t>이제 시장 전체의 </a:t>
            </a:r>
            <a:r>
              <a:rPr lang="ko-KR" altLang="de-DE" sz="1400" dirty="0" err="1"/>
              <a:t>공급곡선을</a:t>
            </a:r>
            <a:r>
              <a:rPr lang="ko-KR" altLang="de-DE" sz="1400" dirty="0"/>
              <a:t> 살펴 봄</a:t>
            </a:r>
            <a:endParaRPr lang="de-DE" altLang="ko-KR" sz="1400" dirty="0"/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300" dirty="0"/>
              <a:t>개별기업</a:t>
            </a:r>
            <a:r>
              <a:rPr lang="de-DE" altLang="ko-KR" sz="1300" dirty="0"/>
              <a:t> vs. </a:t>
            </a:r>
            <a:r>
              <a:rPr lang="ko-KR" altLang="de-DE" sz="1300" dirty="0"/>
              <a:t>시장 전체</a:t>
            </a:r>
            <a:r>
              <a:rPr lang="de-DE" altLang="ko-KR" sz="1300" dirty="0"/>
              <a:t>, </a:t>
            </a:r>
            <a:r>
              <a:rPr lang="ko-KR" altLang="de-DE" sz="1300" dirty="0"/>
              <a:t>단기 </a:t>
            </a:r>
            <a:r>
              <a:rPr lang="de-DE" altLang="ko-KR" sz="1300" dirty="0"/>
              <a:t>vs. </a:t>
            </a:r>
            <a:r>
              <a:rPr lang="ko-KR" altLang="de-DE" sz="1300" dirty="0"/>
              <a:t>장기  </a:t>
            </a:r>
            <a:endParaRPr lang="de-DE" altLang="ko-KR" sz="1300" dirty="0"/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de-DE" altLang="ko-KR" sz="1300" dirty="0"/>
              <a:t>2X2</a:t>
            </a:r>
            <a:r>
              <a:rPr lang="ko-KR" altLang="de-DE" sz="1300" dirty="0"/>
              <a:t>로 기억</a:t>
            </a:r>
            <a:endParaRPr lang="de-DE" altLang="ko-KR" sz="1300" dirty="0"/>
          </a:p>
          <a:p>
            <a:pPr>
              <a:lnSpc>
                <a:spcPct val="160000"/>
              </a:lnSpc>
            </a:pPr>
            <a:r>
              <a:rPr lang="ko-KR" altLang="de-DE" sz="1400" dirty="0"/>
              <a:t>일단</a:t>
            </a:r>
            <a:r>
              <a:rPr lang="de-DE" altLang="ko-KR" sz="1400" dirty="0"/>
              <a:t>, </a:t>
            </a:r>
            <a:r>
              <a:rPr lang="ko-KR" altLang="de-DE" sz="1400" dirty="0"/>
              <a:t>세가지의 가정 하에서 논의를 진행 </a:t>
            </a:r>
            <a:r>
              <a:rPr lang="de-DE" altLang="ko-KR" sz="1400" dirty="0"/>
              <a:t>: </a:t>
            </a:r>
            <a:r>
              <a:rPr lang="ko-KR" altLang="de-DE" sz="1400" dirty="0"/>
              <a:t>나중에 이 가정을 완화</a:t>
            </a:r>
            <a:r>
              <a:rPr lang="de-DE" altLang="ko-KR" sz="1400" dirty="0"/>
              <a:t>.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300" dirty="0"/>
              <a:t>모든 기업들이 동일한 생산비용구조를 갖는다</a:t>
            </a:r>
            <a:r>
              <a:rPr lang="de-DE" altLang="ko-KR" sz="1300" dirty="0"/>
              <a:t>= </a:t>
            </a:r>
            <a:r>
              <a:rPr lang="ko-KR" altLang="de-DE" sz="1300" dirty="0"/>
              <a:t>모두가 같은 </a:t>
            </a:r>
            <a:r>
              <a:rPr lang="ko-KR" altLang="de-DE" sz="1300" dirty="0" err="1"/>
              <a:t>비용곡선을</a:t>
            </a:r>
            <a:r>
              <a:rPr lang="ko-KR" altLang="de-DE" sz="1300" dirty="0"/>
              <a:t> 가짐</a:t>
            </a:r>
            <a:r>
              <a:rPr lang="de-DE" altLang="ko-KR" sz="1300" dirty="0"/>
              <a:t>. 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300" dirty="0"/>
              <a:t>다른 기업들의 </a:t>
            </a:r>
            <a:r>
              <a:rPr lang="ko-KR" altLang="de-DE" sz="1300" dirty="0" err="1"/>
              <a:t>진출입에도</a:t>
            </a:r>
            <a:r>
              <a:rPr lang="ko-KR" altLang="de-DE" sz="1300" dirty="0"/>
              <a:t> 생산비용은 바뀌지 않는다</a:t>
            </a:r>
            <a:r>
              <a:rPr lang="de-DE" altLang="ko-KR" sz="1300" dirty="0"/>
              <a:t>. 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300" dirty="0"/>
              <a:t>기업의 숫자는 단기적으로 고정</a:t>
            </a:r>
            <a:r>
              <a:rPr lang="de-DE" altLang="ko-KR" sz="1300" dirty="0"/>
              <a:t>, </a:t>
            </a:r>
            <a:r>
              <a:rPr lang="ko-KR" altLang="de-DE" sz="1300" dirty="0"/>
              <a:t>장기에는 </a:t>
            </a:r>
            <a:r>
              <a:rPr lang="ko-KR" altLang="de-DE" sz="1300" dirty="0" smtClean="0"/>
              <a:t>변동 가능</a:t>
            </a:r>
            <a:endParaRPr lang="de-DE" altLang="ko-KR" sz="1300" dirty="0"/>
          </a:p>
          <a:p>
            <a:pPr lvl="1">
              <a:lnSpc>
                <a:spcPct val="160000"/>
              </a:lnSpc>
            </a:pPr>
            <a:endParaRPr lang="de-DE" altLang="ko-KR" sz="1175" dirty="0"/>
          </a:p>
          <a:p>
            <a:pPr>
              <a:lnSpc>
                <a:spcPct val="160000"/>
              </a:lnSpc>
            </a:pPr>
            <a:r>
              <a:rPr lang="ko-KR" altLang="de-DE" sz="1400" dirty="0"/>
              <a:t>이런 가정하에서 장기적으로 </a:t>
            </a:r>
            <a:r>
              <a:rPr lang="de-DE" altLang="ko-KR" sz="1400" dirty="0"/>
              <a:t>“</a:t>
            </a:r>
            <a:r>
              <a:rPr lang="ko-KR" altLang="de-DE" sz="1400" dirty="0" err="1"/>
              <a:t>제로이익</a:t>
            </a:r>
            <a:r>
              <a:rPr lang="de-DE" altLang="ko-KR" sz="1400" dirty="0"/>
              <a:t>(Zero profit)“</a:t>
            </a:r>
            <a:r>
              <a:rPr lang="ko-KR" altLang="de-DE" sz="1400" dirty="0"/>
              <a:t> 균형이 달성됨</a:t>
            </a:r>
            <a:r>
              <a:rPr lang="de-DE" altLang="ko-KR" sz="1400" dirty="0"/>
              <a:t>. 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300" dirty="0"/>
              <a:t>기업들의 꾸준한 </a:t>
            </a:r>
            <a:r>
              <a:rPr lang="ko-KR" altLang="de-DE" sz="1300" dirty="0" err="1"/>
              <a:t>진출입으로</a:t>
            </a:r>
            <a:r>
              <a:rPr lang="ko-KR" altLang="de-DE" sz="1300" dirty="0"/>
              <a:t> 시장 전체의 공급량이 바뀌고 가격도 변동</a:t>
            </a:r>
            <a:endParaRPr lang="de-DE" altLang="ko-KR" sz="1300" dirty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400" dirty="0"/>
              <a:t>시장 내부의 이익이나 손실이 사라질 때까지 </a:t>
            </a:r>
            <a:r>
              <a:rPr lang="ko-KR" altLang="de-DE" sz="1400" dirty="0" err="1"/>
              <a:t>진출입이</a:t>
            </a:r>
            <a:r>
              <a:rPr lang="ko-KR" altLang="de-DE" sz="1400" dirty="0"/>
              <a:t> 지속됨</a:t>
            </a:r>
            <a:r>
              <a:rPr lang="de-DE" altLang="ko-KR" sz="1400" dirty="0"/>
              <a:t>. 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400" dirty="0"/>
              <a:t>경쟁시장의 기업들은 경제적 이익을 전혀 누리지 못함</a:t>
            </a:r>
            <a:r>
              <a:rPr lang="de-DE" altLang="ko-KR" sz="1400" dirty="0"/>
              <a:t>. </a:t>
            </a:r>
          </a:p>
          <a:p>
            <a:pPr lvl="1">
              <a:lnSpc>
                <a:spcPct val="160000"/>
              </a:lnSpc>
            </a:pPr>
            <a:endParaRPr lang="de-DE" altLang="ko-KR" sz="1175" dirty="0"/>
          </a:p>
          <a:p>
            <a:pPr>
              <a:lnSpc>
                <a:spcPct val="160000"/>
              </a:lnSpc>
            </a:pPr>
            <a:r>
              <a:rPr lang="ko-KR" altLang="de-DE" sz="1400" dirty="0" err="1"/>
              <a:t>제로이익</a:t>
            </a:r>
            <a:r>
              <a:rPr lang="ko-KR" altLang="de-DE" sz="1400" dirty="0"/>
              <a:t> 조건 </a:t>
            </a:r>
            <a:r>
              <a:rPr lang="de-DE" altLang="ko-KR" sz="1400" dirty="0"/>
              <a:t>: P = min</a:t>
            </a:r>
            <a:r>
              <a:rPr lang="ko-KR" altLang="de-DE" sz="1400" dirty="0"/>
              <a:t> </a:t>
            </a:r>
            <a:r>
              <a:rPr lang="de-DE" altLang="ko-KR" sz="1400" dirty="0"/>
              <a:t>ATC 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400" dirty="0"/>
              <a:t>그런데 왜 기업들은 시장에서 비즈니스를 계속할까</a:t>
            </a:r>
            <a:r>
              <a:rPr lang="de-DE" altLang="ko-KR" sz="1400" dirty="0"/>
              <a:t>? 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0538" y="940506"/>
            <a:ext cx="5915025" cy="105656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de-DE" sz="1400" dirty="0"/>
              <a:t>경쟁시장의 장기시장공급곡선 </a:t>
            </a:r>
            <a:r>
              <a:rPr lang="de-DE" altLang="ko-KR" sz="1400" dirty="0"/>
              <a:t>: </a:t>
            </a:r>
            <a:r>
              <a:rPr lang="ko-KR" altLang="de-DE" sz="1400" dirty="0"/>
              <a:t>수평</a:t>
            </a:r>
            <a:endParaRPr lang="de-DE" altLang="ko-KR" sz="1400" dirty="0"/>
          </a:p>
          <a:p>
            <a:pPr>
              <a:lnSpc>
                <a:spcPct val="150000"/>
              </a:lnSpc>
            </a:pPr>
            <a:r>
              <a:rPr lang="ko-KR" altLang="de-DE" sz="1400" dirty="0"/>
              <a:t>앞에서 본 두 가지 가정들</a:t>
            </a:r>
            <a:r>
              <a:rPr lang="de-DE" altLang="ko-KR" sz="1400" dirty="0"/>
              <a:t>(</a:t>
            </a:r>
            <a:r>
              <a:rPr lang="ko-KR" altLang="de-DE" sz="1400" dirty="0"/>
              <a:t>동일한 비용구조</a:t>
            </a:r>
            <a:r>
              <a:rPr lang="de-DE" altLang="ko-KR" sz="1400" dirty="0"/>
              <a:t>, </a:t>
            </a:r>
            <a:r>
              <a:rPr lang="ko-KR" altLang="de-DE" sz="1400" dirty="0"/>
              <a:t>타 기업의 </a:t>
            </a:r>
            <a:r>
              <a:rPr lang="ko-KR" altLang="de-DE" sz="1400" dirty="0" err="1"/>
              <a:t>진출입에도</a:t>
            </a:r>
            <a:r>
              <a:rPr lang="ko-KR" altLang="de-DE" sz="1400" dirty="0"/>
              <a:t> 생산비용은 동일하다</a:t>
            </a:r>
            <a:r>
              <a:rPr lang="de-DE" altLang="ko-KR" sz="1400" dirty="0"/>
              <a:t>)</a:t>
            </a:r>
            <a:r>
              <a:rPr lang="ko-KR" altLang="de-DE" sz="1400" dirty="0"/>
              <a:t>이 풀리면</a:t>
            </a:r>
            <a:r>
              <a:rPr lang="de-DE" altLang="ko-KR" sz="1400" dirty="0"/>
              <a:t>…? </a:t>
            </a:r>
          </a:p>
          <a:p>
            <a:pPr>
              <a:lnSpc>
                <a:spcPct val="150000"/>
              </a:lnSpc>
            </a:pPr>
            <a:r>
              <a:rPr lang="ko-KR" altLang="de-DE" sz="1400" dirty="0"/>
              <a:t>경쟁시장의 장기공급곡선은 </a:t>
            </a:r>
            <a:r>
              <a:rPr lang="ko-KR" altLang="de-DE" sz="1400" dirty="0" err="1"/>
              <a:t>우상향함</a:t>
            </a:r>
            <a:r>
              <a:rPr lang="de-DE" altLang="ko-KR" sz="1400" dirty="0"/>
              <a:t>. </a:t>
            </a:r>
          </a:p>
          <a:p>
            <a:pPr>
              <a:lnSpc>
                <a:spcPct val="150000"/>
              </a:lnSpc>
            </a:pPr>
            <a:endParaRPr lang="de-DE" altLang="ko-KR" sz="1400" dirty="0"/>
          </a:p>
          <a:p>
            <a:pPr>
              <a:lnSpc>
                <a:spcPct val="150000"/>
              </a:lnSpc>
            </a:pPr>
            <a:r>
              <a:rPr lang="ko-KR" altLang="de-DE" sz="1400" dirty="0"/>
              <a:t>경쟁시장의 효율성</a:t>
            </a:r>
            <a:r>
              <a:rPr lang="de-DE" altLang="ko-KR" sz="1400" dirty="0"/>
              <a:t>: “</a:t>
            </a:r>
            <a:r>
              <a:rPr lang="ko-KR" altLang="de-DE" sz="1400" dirty="0"/>
              <a:t>경쟁시장은 </a:t>
            </a:r>
            <a:r>
              <a:rPr lang="ko-KR" altLang="de-DE" sz="1400" dirty="0" err="1"/>
              <a:t>총잉여를</a:t>
            </a:r>
            <a:r>
              <a:rPr lang="ko-KR" altLang="de-DE" sz="1400" dirty="0"/>
              <a:t> 극대화해 준다</a:t>
            </a:r>
            <a:r>
              <a:rPr lang="de-DE" altLang="ko-KR" sz="1400" dirty="0"/>
              <a:t>“. </a:t>
            </a:r>
          </a:p>
          <a:p>
            <a:pPr>
              <a:lnSpc>
                <a:spcPct val="150000"/>
              </a:lnSpc>
            </a:pPr>
            <a:r>
              <a:rPr lang="ko-KR" altLang="de-DE" sz="1400" dirty="0"/>
              <a:t>조건</a:t>
            </a:r>
            <a:r>
              <a:rPr lang="de-DE" altLang="ko-KR" sz="1400" dirty="0"/>
              <a:t>: P = MC </a:t>
            </a:r>
          </a:p>
          <a:p>
            <a:pPr>
              <a:lnSpc>
                <a:spcPct val="150000"/>
              </a:lnSpc>
            </a:pPr>
            <a:r>
              <a:rPr lang="ko-KR" altLang="de-DE" sz="1400" dirty="0"/>
              <a:t>가격과 한계비용이 동일</a:t>
            </a:r>
            <a:endParaRPr lang="de-DE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 marL="342900" lvl="1" indent="0">
              <a:lnSpc>
                <a:spcPct val="150000"/>
              </a:lnSpc>
              <a:buNone/>
            </a:pPr>
            <a:endParaRPr lang="en-US" altLang="ko-KR" sz="1100" dirty="0"/>
          </a:p>
          <a:p>
            <a:pPr>
              <a:lnSpc>
                <a:spcPct val="150000"/>
              </a:lnSpc>
            </a:pPr>
            <a:endParaRPr lang="ko-KR" altLang="en-US" sz="1400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223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426</Words>
  <Application>Microsoft Office PowerPoint</Application>
  <PresentationFormat>와이드스크린</PresentationFormat>
  <Paragraphs>66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Wingdings</vt:lpstr>
      <vt:lpstr>Office 테마</vt:lpstr>
      <vt:lpstr>14장. 경쟁시장에서의 기업 행동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User</cp:lastModifiedBy>
  <cp:revision>15</cp:revision>
  <dcterms:created xsi:type="dcterms:W3CDTF">2021-06-28T02:08:57Z</dcterms:created>
  <dcterms:modified xsi:type="dcterms:W3CDTF">2022-12-18T08:26:52Z</dcterms:modified>
</cp:coreProperties>
</file>