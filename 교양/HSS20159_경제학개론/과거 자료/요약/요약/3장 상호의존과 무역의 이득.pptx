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3"/>
  </p:notesMasterIdLst>
  <p:sldIdLst>
    <p:sldId id="257" r:id="rId2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33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3</a:t>
            </a:r>
            <a:r>
              <a:rPr lang="ko-KR" altLang="en-US" dirty="0" smtClean="0"/>
              <a:t>장 상호의존과 무역의 이득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20"/>
            <a:ext cx="5915025" cy="9744566"/>
          </a:xfrm>
        </p:spPr>
        <p:txBody>
          <a:bodyPr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en-US" altLang="ko-KR" sz="1300" dirty="0"/>
              <a:t>“</a:t>
            </a:r>
            <a:r>
              <a:rPr lang="ko-KR" altLang="en-US" sz="1300" dirty="0"/>
              <a:t>교역</a:t>
            </a:r>
            <a:r>
              <a:rPr lang="en-US" altLang="ko-KR" sz="1300" dirty="0"/>
              <a:t>, </a:t>
            </a:r>
            <a:r>
              <a:rPr lang="ko-KR" altLang="en-US" sz="1300" dirty="0"/>
              <a:t>거래</a:t>
            </a:r>
            <a:r>
              <a:rPr lang="en-US" altLang="ko-KR" sz="1300" dirty="0"/>
              <a:t>, </a:t>
            </a:r>
            <a:r>
              <a:rPr lang="ko-KR" altLang="en-US" sz="1300" dirty="0"/>
              <a:t>또는 무역은 모든 사람들에게 이득이 된다</a:t>
            </a:r>
            <a:r>
              <a:rPr lang="en-US" altLang="ko-KR" sz="1300" dirty="0" smtClean="0"/>
              <a:t>.”</a:t>
            </a: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무역의</a:t>
            </a:r>
            <a:r>
              <a:rPr lang="en-US" altLang="ko-KR" sz="1300" dirty="0" smtClean="0"/>
              <a:t> </a:t>
            </a:r>
            <a:r>
              <a:rPr lang="ko-KR" altLang="en-US" sz="1300" dirty="0"/>
              <a:t>이득을 설명하기 위한 매우</a:t>
            </a:r>
            <a:r>
              <a:rPr lang="en-US" altLang="ko-KR" sz="1300" dirty="0"/>
              <a:t> </a:t>
            </a:r>
            <a:r>
              <a:rPr lang="ko-KR" altLang="en-US" sz="1300" dirty="0"/>
              <a:t>단순한 모형을 사용</a:t>
            </a:r>
            <a:endParaRPr lang="en-US" altLang="ko-KR" sz="1300" dirty="0"/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/>
              <a:t>- </a:t>
            </a:r>
            <a:r>
              <a:rPr lang="ko-KR" altLang="en-US" sz="1100" dirty="0" smtClean="0"/>
              <a:t>지구상에 </a:t>
            </a:r>
            <a:r>
              <a:rPr lang="ko-KR" altLang="en-US" sz="1100" dirty="0"/>
              <a:t>두개의 나라</a:t>
            </a:r>
            <a:r>
              <a:rPr lang="en-US" altLang="ko-KR" sz="1100" dirty="0"/>
              <a:t>(</a:t>
            </a:r>
            <a:r>
              <a:rPr lang="ko-KR" altLang="en-US" sz="1100" dirty="0" err="1"/>
              <a:t>나니아와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네버랜드</a:t>
            </a:r>
            <a:r>
              <a:rPr lang="en-US" altLang="ko-KR" sz="1100" dirty="0"/>
              <a:t>), </a:t>
            </a:r>
            <a:r>
              <a:rPr lang="ko-KR" altLang="en-US" sz="1100" dirty="0"/>
              <a:t>두개의 재화</a:t>
            </a:r>
            <a:r>
              <a:rPr lang="en-US" altLang="ko-KR" sz="1100" dirty="0"/>
              <a:t>(</a:t>
            </a:r>
            <a:r>
              <a:rPr lang="ko-KR" altLang="en-US" sz="1100" dirty="0"/>
              <a:t>밀과 컴퓨터</a:t>
            </a:r>
            <a:r>
              <a:rPr lang="en-US" altLang="ko-KR" sz="1100" dirty="0"/>
              <a:t>)</a:t>
            </a:r>
            <a:r>
              <a:rPr lang="ko-KR" altLang="en-US" sz="1100" dirty="0"/>
              <a:t>만 있다고 가정</a:t>
            </a:r>
            <a:endParaRPr lang="en-US" altLang="ko-KR" sz="1100" dirty="0"/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/>
              <a:t>- </a:t>
            </a:r>
            <a:r>
              <a:rPr lang="ko-KR" altLang="en-US" sz="1100" dirty="0" smtClean="0"/>
              <a:t>자원은 </a:t>
            </a:r>
            <a:r>
              <a:rPr lang="ko-KR" altLang="en-US" sz="1100" dirty="0"/>
              <a:t>단 한가지</a:t>
            </a:r>
            <a:r>
              <a:rPr lang="en-US" altLang="ko-KR" sz="1100" dirty="0"/>
              <a:t>: </a:t>
            </a:r>
            <a:r>
              <a:rPr lang="ko-KR" altLang="en-US" sz="1100" dirty="0"/>
              <a:t>시간으로 측정된 노동</a:t>
            </a:r>
            <a:r>
              <a:rPr lang="en-US" altLang="ko-KR" sz="1100" dirty="0"/>
              <a:t>(labor hour)</a:t>
            </a:r>
          </a:p>
          <a:p>
            <a:pPr>
              <a:lnSpc>
                <a:spcPct val="160000"/>
              </a:lnSpc>
            </a:pPr>
            <a:r>
              <a:rPr lang="ko-KR" altLang="en-US" sz="1300" dirty="0"/>
              <a:t>두 나라는 </a:t>
            </a:r>
            <a:r>
              <a:rPr lang="ko-KR" altLang="en-US" sz="1300" dirty="0" smtClean="0"/>
              <a:t>최종적으로 각각의 </a:t>
            </a:r>
            <a:r>
              <a:rPr lang="ko-KR" altLang="en-US" sz="1300" dirty="0"/>
              <a:t>재화를 얼마만큼 생산하고 </a:t>
            </a:r>
            <a:r>
              <a:rPr lang="ko-KR" altLang="en-US" sz="1300" dirty="0" smtClean="0"/>
              <a:t>소비하는가</a:t>
            </a:r>
            <a:r>
              <a:rPr lang="en-US" altLang="ko-KR" sz="1300" dirty="0" smtClean="0"/>
              <a:t>?</a:t>
            </a: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ko-KR" altLang="en-US" sz="1300" dirty="0" err="1"/>
              <a:t>나니아</a:t>
            </a:r>
            <a:r>
              <a:rPr lang="ko-KR" altLang="en-US" sz="1300" dirty="0"/>
              <a:t> </a:t>
            </a:r>
            <a:r>
              <a:rPr lang="en-US" altLang="ko-KR" sz="1300" dirty="0"/>
              <a:t>Narnia </a:t>
            </a:r>
            <a:r>
              <a:rPr lang="ko-KR" altLang="en-US" sz="1300" dirty="0"/>
              <a:t>왕국의 생산가능곡선 </a:t>
            </a:r>
            <a:r>
              <a:rPr lang="en-US" altLang="ko-KR" sz="1300" dirty="0" smtClean="0"/>
              <a:t>PPF:</a:t>
            </a:r>
            <a:r>
              <a:rPr lang="ko-KR" altLang="en-US" sz="1300" dirty="0"/>
              <a:t> </a:t>
            </a:r>
            <a:r>
              <a:rPr lang="en-US" altLang="ko-KR" sz="1300" dirty="0" smtClean="0"/>
              <a:t>2</a:t>
            </a:r>
            <a:r>
              <a:rPr lang="ko-KR" altLang="en-US" sz="1300" dirty="0" smtClean="0"/>
              <a:t>장과 동일</a:t>
            </a: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ko-KR" altLang="en-US" sz="1300" dirty="0" err="1" smtClean="0"/>
              <a:t>네버랜드</a:t>
            </a:r>
            <a:r>
              <a:rPr lang="ko-KR" altLang="en-US" sz="1300" dirty="0" smtClean="0"/>
              <a:t> </a:t>
            </a:r>
            <a:r>
              <a:rPr lang="en-US" altLang="ko-KR" sz="1300" dirty="0"/>
              <a:t>Neverland</a:t>
            </a:r>
            <a:r>
              <a:rPr lang="ko-KR" altLang="en-US" sz="1300" dirty="0"/>
              <a:t>의 생산가능곡선 </a:t>
            </a:r>
            <a:r>
              <a:rPr lang="en-US" altLang="ko-KR" sz="1300" dirty="0"/>
              <a:t>PPF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/>
              <a:t>- </a:t>
            </a:r>
            <a:r>
              <a:rPr lang="ko-KR" altLang="en-US" sz="1100" dirty="0" err="1" smtClean="0"/>
              <a:t>총노동시간</a:t>
            </a:r>
            <a:r>
              <a:rPr lang="ko-KR" altLang="en-US" sz="1100" dirty="0" smtClean="0"/>
              <a:t> </a:t>
            </a:r>
            <a:r>
              <a:rPr lang="en-US" altLang="ko-KR" sz="1100" dirty="0"/>
              <a:t>30,000, </a:t>
            </a:r>
            <a:r>
              <a:rPr lang="ko-KR" altLang="en-US" sz="1100" dirty="0"/>
              <a:t>컴퓨터</a:t>
            </a:r>
            <a:r>
              <a:rPr lang="en-US" altLang="ko-KR" sz="1100" dirty="0"/>
              <a:t> 1</a:t>
            </a:r>
            <a:r>
              <a:rPr lang="ko-KR" altLang="en-US" sz="1100" dirty="0"/>
              <a:t>대 생산에 </a:t>
            </a:r>
            <a:r>
              <a:rPr lang="en-US" altLang="ko-KR" sz="1100" dirty="0"/>
              <a:t>125 </a:t>
            </a:r>
            <a:r>
              <a:rPr lang="ko-KR" altLang="en-US" sz="1100" dirty="0"/>
              <a:t>노동시간</a:t>
            </a:r>
            <a:r>
              <a:rPr lang="en-US" altLang="ko-KR" sz="1100" dirty="0"/>
              <a:t>, </a:t>
            </a:r>
            <a:r>
              <a:rPr lang="ko-KR" altLang="en-US" sz="1100" dirty="0"/>
              <a:t>밀</a:t>
            </a:r>
            <a:r>
              <a:rPr lang="en-US" altLang="ko-KR" sz="1100" dirty="0"/>
              <a:t> 1</a:t>
            </a:r>
            <a:r>
              <a:rPr lang="ko-KR" altLang="en-US" sz="1100" dirty="0"/>
              <a:t>톤 생산에</a:t>
            </a:r>
            <a:r>
              <a:rPr lang="en-US" altLang="ko-KR" sz="1100" dirty="0"/>
              <a:t> 25</a:t>
            </a:r>
            <a:r>
              <a:rPr lang="ko-KR" altLang="en-US" sz="1100" dirty="0"/>
              <a:t>시간 소요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무역이 </a:t>
            </a:r>
            <a:r>
              <a:rPr lang="ko-KR" altLang="en-US" sz="1300" dirty="0"/>
              <a:t>없는 경우의 </a:t>
            </a:r>
            <a:r>
              <a:rPr lang="ko-KR" altLang="en-US" sz="1300" dirty="0" smtClean="0"/>
              <a:t>밀과 컴퓨터 생산과 소비량</a:t>
            </a:r>
            <a:r>
              <a:rPr lang="en-US" altLang="ko-KR" sz="1300" dirty="0" smtClean="0"/>
              <a:t>(</a:t>
            </a:r>
            <a:r>
              <a:rPr lang="ko-KR" altLang="en-US" sz="1300" dirty="0" smtClean="0"/>
              <a:t>자급자족경제</a:t>
            </a:r>
            <a:r>
              <a:rPr lang="en-US" altLang="ko-KR" sz="1300" dirty="0" smtClean="0"/>
              <a:t>)</a:t>
            </a:r>
            <a:endParaRPr lang="en-US" altLang="ko-KR" sz="1300" dirty="0"/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/>
              <a:t>- </a:t>
            </a:r>
            <a:r>
              <a:rPr lang="ko-KR" altLang="en-US" sz="1100" dirty="0" err="1" smtClean="0"/>
              <a:t>나니아의</a:t>
            </a:r>
            <a:r>
              <a:rPr lang="ko-KR" altLang="en-US" sz="1100" dirty="0" smtClean="0"/>
              <a:t> 경우</a:t>
            </a:r>
            <a:r>
              <a:rPr lang="en-US" altLang="ko-KR" sz="1100" dirty="0" smtClean="0"/>
              <a:t>?</a:t>
            </a:r>
            <a:endParaRPr lang="en-US" altLang="ko-KR" sz="11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err="1" smtClean="0"/>
              <a:t>네버랜드의</a:t>
            </a:r>
            <a:r>
              <a:rPr lang="ko-KR" altLang="en-US" sz="1100" dirty="0" smtClean="0"/>
              <a:t> 경우</a:t>
            </a:r>
            <a:r>
              <a:rPr lang="en-US" altLang="ko-KR" sz="1100" dirty="0" smtClean="0"/>
              <a:t>? </a:t>
            </a: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무역이 이루어진 다음 두 나라의 </a:t>
            </a:r>
            <a:r>
              <a:rPr lang="ko-KR" altLang="en-US" sz="1300" dirty="0" smtClean="0"/>
              <a:t>밀과 컴퓨터 소비량은</a:t>
            </a:r>
            <a:r>
              <a:rPr lang="en-US" altLang="ko-KR" sz="1300" dirty="0" smtClean="0"/>
              <a:t>?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/>
              <a:t>- </a:t>
            </a:r>
            <a:r>
              <a:rPr lang="ko-KR" altLang="en-US" sz="1100" dirty="0" err="1" smtClean="0"/>
              <a:t>나니아의</a:t>
            </a:r>
            <a:r>
              <a:rPr lang="ko-KR" altLang="en-US" sz="1100" dirty="0" smtClean="0"/>
              <a:t> </a:t>
            </a:r>
            <a:r>
              <a:rPr lang="ko-KR" altLang="en-US" sz="1100" dirty="0"/>
              <a:t>소비자들은</a:t>
            </a:r>
            <a:r>
              <a:rPr lang="en-US" altLang="ko-KR" sz="1100" dirty="0"/>
              <a:t>?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err="1" smtClean="0"/>
              <a:t>네버랜드의</a:t>
            </a:r>
            <a:r>
              <a:rPr lang="ko-KR" altLang="en-US" sz="1100" dirty="0" smtClean="0"/>
              <a:t> </a:t>
            </a:r>
            <a:r>
              <a:rPr lang="ko-KR" altLang="en-US" sz="1100" dirty="0"/>
              <a:t>소비자들은</a:t>
            </a:r>
            <a:r>
              <a:rPr lang="en-US" altLang="ko-KR" sz="1100" dirty="0"/>
              <a:t>? </a:t>
            </a:r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두나라 </a:t>
            </a:r>
            <a:r>
              <a:rPr lang="ko-KR" altLang="en-US" sz="1300" dirty="0"/>
              <a:t>모두 이전보다 더 많은 밀과 컴퓨터를 소비할 수 있게 </a:t>
            </a:r>
            <a:r>
              <a:rPr lang="ko-KR" altLang="en-US" sz="1300" dirty="0" smtClean="0"/>
              <a:t>되며</a:t>
            </a:r>
            <a:r>
              <a:rPr lang="en-US" altLang="ko-KR" sz="1300" dirty="0" smtClean="0"/>
              <a:t>, </a:t>
            </a:r>
            <a:r>
              <a:rPr lang="ko-KR" altLang="en-US" sz="1300" dirty="0" smtClean="0">
                <a:sym typeface="Wingdings" panose="05000000000000000000" pitchFamily="2" charset="2"/>
              </a:rPr>
              <a:t>양국 </a:t>
            </a:r>
            <a:r>
              <a:rPr lang="ko-KR" altLang="en-US" sz="1300" dirty="0">
                <a:sym typeface="Wingdings" panose="05000000000000000000" pitchFamily="2" charset="2"/>
              </a:rPr>
              <a:t>모두 무역의 이득을 누림</a:t>
            </a:r>
            <a:r>
              <a:rPr lang="en-US" altLang="ko-KR" sz="1300" dirty="0">
                <a:sym typeface="Wingdings" panose="05000000000000000000" pitchFamily="2" charset="2"/>
              </a:rPr>
              <a:t>. </a:t>
            </a:r>
            <a:endParaRPr lang="en-US" altLang="ko-KR" sz="1300" dirty="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무역의 이득은 어디에서 오는가</a:t>
            </a: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ko-KR" altLang="en-US" sz="1300" dirty="0" err="1" smtClean="0"/>
              <a:t>절대우위</a:t>
            </a:r>
            <a:r>
              <a:rPr lang="ko-KR" altLang="en-US" sz="1300" dirty="0" smtClean="0"/>
              <a:t> </a:t>
            </a:r>
            <a:r>
              <a:rPr lang="en-US" altLang="ko-KR" sz="1300" dirty="0"/>
              <a:t>Absolute advantage: </a:t>
            </a:r>
            <a:r>
              <a:rPr lang="ko-KR" altLang="en-US" sz="1300" dirty="0"/>
              <a:t>어떤 재화를 다른</a:t>
            </a:r>
            <a:r>
              <a:rPr lang="en-US" altLang="ko-KR" sz="1300" dirty="0"/>
              <a:t> </a:t>
            </a:r>
            <a:r>
              <a:rPr lang="ko-KR" altLang="en-US" sz="1300" dirty="0"/>
              <a:t>생산자</a:t>
            </a:r>
            <a:r>
              <a:rPr lang="en-US" altLang="ko-KR" sz="1300" dirty="0"/>
              <a:t>(</a:t>
            </a:r>
            <a:r>
              <a:rPr lang="ko-KR" altLang="en-US" sz="1300" dirty="0"/>
              <a:t>기업</a:t>
            </a:r>
            <a:r>
              <a:rPr lang="en-US" altLang="ko-KR" sz="1300" dirty="0"/>
              <a:t>, </a:t>
            </a:r>
            <a:r>
              <a:rPr lang="ko-KR" altLang="en-US" sz="1300" dirty="0"/>
              <a:t>국가</a:t>
            </a:r>
            <a:r>
              <a:rPr lang="en-US" altLang="ko-KR" sz="1300" dirty="0"/>
              <a:t>)</a:t>
            </a:r>
            <a:r>
              <a:rPr lang="ko-KR" altLang="en-US" sz="1300" dirty="0"/>
              <a:t>에 비해 더 적은 자원의 투입</a:t>
            </a:r>
            <a:r>
              <a:rPr lang="en-US" altLang="ko-KR" sz="1300" dirty="0"/>
              <a:t>(inputs)</a:t>
            </a:r>
            <a:r>
              <a:rPr lang="ko-KR" altLang="en-US" sz="1300" dirty="0"/>
              <a:t>으로 생산할 수 있는 능력</a:t>
            </a: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비교우위 </a:t>
            </a:r>
            <a:r>
              <a:rPr lang="en-US" altLang="ko-KR" sz="1300" dirty="0"/>
              <a:t>Comparative advantage: </a:t>
            </a:r>
            <a:r>
              <a:rPr lang="ko-KR" altLang="en-US" sz="1300" dirty="0"/>
              <a:t>다른</a:t>
            </a:r>
            <a:r>
              <a:rPr lang="en-US" altLang="ko-KR" sz="1300" dirty="0"/>
              <a:t> </a:t>
            </a:r>
            <a:r>
              <a:rPr lang="ko-KR" altLang="en-US" sz="1300" dirty="0"/>
              <a:t>생산자와 비교할 때</a:t>
            </a:r>
            <a:r>
              <a:rPr lang="en-US" altLang="ko-KR" sz="1300" dirty="0"/>
              <a:t>, </a:t>
            </a:r>
            <a:r>
              <a:rPr lang="ko-KR" altLang="en-US" sz="1300" dirty="0"/>
              <a:t>상대적으로 더 작은 비용으로 어떤 재화를 생산할 수 있는 능력</a:t>
            </a: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유치산업보호론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/>
              <a:t>유치산업</a:t>
            </a:r>
            <a:r>
              <a:rPr lang="en-US" altLang="ko-KR" sz="1075" dirty="0"/>
              <a:t>(infant industry)</a:t>
            </a:r>
            <a:r>
              <a:rPr lang="ko-KR" altLang="en-US" sz="1075" dirty="0"/>
              <a:t>은</a:t>
            </a:r>
            <a:r>
              <a:rPr lang="en-US" altLang="ko-KR" sz="1075" dirty="0"/>
              <a:t> </a:t>
            </a:r>
            <a:r>
              <a:rPr lang="ko-KR" altLang="en-US" sz="1075" dirty="0"/>
              <a:t>규모의 경제에 도달할 때까지 보호되어야 한다는 주장</a:t>
            </a:r>
            <a:endParaRPr lang="en-US" altLang="ko-KR" sz="1075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/>
              <a:t>알렉산더 해밀턴</a:t>
            </a:r>
            <a:r>
              <a:rPr lang="en-US" altLang="ko-KR" sz="1075" dirty="0"/>
              <a:t>(</a:t>
            </a:r>
            <a:r>
              <a:rPr lang="ko-KR" altLang="en-US" sz="1075" dirty="0"/>
              <a:t>미국</a:t>
            </a:r>
            <a:r>
              <a:rPr lang="en-US" altLang="ko-KR" sz="1075" dirty="0"/>
              <a:t>), </a:t>
            </a:r>
            <a:r>
              <a:rPr lang="ko-KR" altLang="en-US" sz="1075" dirty="0"/>
              <a:t>프리드리히 리스트</a:t>
            </a:r>
            <a:r>
              <a:rPr lang="en-US" altLang="ko-KR" sz="1075" dirty="0"/>
              <a:t>(</a:t>
            </a:r>
            <a:r>
              <a:rPr lang="ko-KR" altLang="en-US" sz="1075" dirty="0"/>
              <a:t>독일</a:t>
            </a:r>
            <a:r>
              <a:rPr lang="en-US" altLang="ko-KR" sz="1075" dirty="0"/>
              <a:t>)</a:t>
            </a:r>
          </a:p>
          <a:p>
            <a:pPr>
              <a:lnSpc>
                <a:spcPct val="160000"/>
              </a:lnSpc>
            </a:pPr>
            <a:r>
              <a:rPr lang="ko-KR" altLang="en-US" sz="1300" dirty="0"/>
              <a:t>보호무역주의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/>
              <a:t>자국 시장</a:t>
            </a:r>
            <a:r>
              <a:rPr lang="en-US" altLang="ko-KR" sz="1075" dirty="0"/>
              <a:t>, </a:t>
            </a:r>
            <a:r>
              <a:rPr lang="ko-KR" altLang="en-US" sz="1075" dirty="0"/>
              <a:t>또는 산업의 보호를 위해 관세</a:t>
            </a:r>
            <a:r>
              <a:rPr lang="en-US" altLang="ko-KR" sz="1075" dirty="0"/>
              <a:t>, </a:t>
            </a:r>
            <a:r>
              <a:rPr lang="ko-KR" altLang="en-US" sz="1075" dirty="0"/>
              <a:t>수입쿼터</a:t>
            </a:r>
            <a:r>
              <a:rPr lang="en-US" altLang="ko-KR" sz="1075" dirty="0"/>
              <a:t>, </a:t>
            </a:r>
            <a:r>
              <a:rPr lang="ko-KR" altLang="en-US" sz="1075" dirty="0"/>
              <a:t>기술 및 특허에 대한 보호</a:t>
            </a:r>
            <a:r>
              <a:rPr lang="en-US" altLang="ko-KR" sz="1075" dirty="0"/>
              <a:t>, </a:t>
            </a:r>
            <a:r>
              <a:rPr lang="ko-KR" altLang="en-US" sz="1075" dirty="0"/>
              <a:t>외국인투자자 </a:t>
            </a:r>
            <a:r>
              <a:rPr lang="ko-KR" altLang="en-US" sz="1075" dirty="0" err="1"/>
              <a:t>진입제한</a:t>
            </a:r>
            <a:r>
              <a:rPr lang="ko-KR" altLang="en-US" sz="1075" dirty="0"/>
              <a:t> 등 다양한 수단을 사용</a:t>
            </a:r>
            <a:endParaRPr lang="en-US" altLang="ko-KR" sz="1075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dirty="0"/>
              <a:t>사다리 걷어차기</a:t>
            </a:r>
            <a:r>
              <a:rPr lang="en-US" altLang="ko-KR" sz="1075" dirty="0"/>
              <a:t>(2004, </a:t>
            </a:r>
            <a:r>
              <a:rPr lang="ko-KR" altLang="en-US" sz="1075" dirty="0"/>
              <a:t>장하준</a:t>
            </a:r>
            <a:r>
              <a:rPr lang="en-US" altLang="ko-KR" sz="1075" dirty="0"/>
              <a:t>)</a:t>
            </a:r>
          </a:p>
          <a:p>
            <a:pPr>
              <a:lnSpc>
                <a:spcPct val="160000"/>
              </a:lnSpc>
            </a:pPr>
            <a:endParaRPr lang="en-US" altLang="ko-KR" sz="1300" dirty="0" smtClean="0"/>
          </a:p>
          <a:p>
            <a:pPr lvl="1">
              <a:lnSpc>
                <a:spcPct val="160000"/>
              </a:lnSpc>
            </a:pPr>
            <a:endParaRPr lang="ko-KR" altLang="en-US" sz="1075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</TotalTime>
  <Words>252</Words>
  <Application>Microsoft Office PowerPoint</Application>
  <PresentationFormat>와이드스크린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3장 상호의존과 무역의 이득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TETRA</cp:lastModifiedBy>
  <cp:revision>40</cp:revision>
  <dcterms:created xsi:type="dcterms:W3CDTF">2021-06-28T02:08:57Z</dcterms:created>
  <dcterms:modified xsi:type="dcterms:W3CDTF">2023-03-05T11:04:58Z</dcterms:modified>
</cp:coreProperties>
</file>