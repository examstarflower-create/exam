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7" r:id="rId2"/>
    <p:sldId id="258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25" d="100"/>
          <a:sy n="25" d="100"/>
        </p:scale>
        <p:origin x="189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10</a:t>
            </a:r>
            <a:r>
              <a:rPr lang="ko-KR" altLang="en-US" dirty="0"/>
              <a:t>장 외부효과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19"/>
            <a:ext cx="5915025" cy="9744567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1300" b="1" u="sng" dirty="0"/>
              <a:t>외부효과</a:t>
            </a:r>
            <a:r>
              <a:rPr lang="en-US" altLang="ko-KR" sz="1300" b="1" u="sng" dirty="0"/>
              <a:t> Externalities </a:t>
            </a:r>
          </a:p>
          <a:p>
            <a:pPr>
              <a:lnSpc>
                <a:spcPct val="160000"/>
              </a:lnSpc>
            </a:pPr>
            <a:r>
              <a:rPr lang="ko-KR" altLang="en-US" sz="1300" dirty="0"/>
              <a:t>시장실패 </a:t>
            </a:r>
            <a:r>
              <a:rPr lang="en-US" altLang="ko-KR" sz="1300" dirty="0"/>
              <a:t>market failure</a:t>
            </a:r>
            <a:r>
              <a:rPr lang="ko-KR" altLang="en-US" sz="1300" dirty="0"/>
              <a:t>의 한 유형으로서</a:t>
            </a:r>
            <a:r>
              <a:rPr lang="en-US" altLang="ko-KR" sz="1300" dirty="0"/>
              <a:t>, </a:t>
            </a:r>
            <a:r>
              <a:rPr lang="ko-KR" altLang="en-US" sz="1300" dirty="0"/>
              <a:t>어떤 개인의 </a:t>
            </a:r>
            <a:r>
              <a:rPr lang="ko-KR" altLang="en-US" sz="1300" u="sng" dirty="0"/>
              <a:t>보상을 동반하지 않은 행동</a:t>
            </a:r>
            <a:r>
              <a:rPr lang="ko-KR" altLang="en-US" sz="1300" dirty="0"/>
              <a:t>이 외부자</a:t>
            </a:r>
            <a:r>
              <a:rPr lang="en-US" altLang="ko-KR" sz="1300" dirty="0"/>
              <a:t>(</a:t>
            </a:r>
            <a:r>
              <a:rPr lang="ko-KR" altLang="en-US" sz="1300" dirty="0"/>
              <a:t>제</a:t>
            </a:r>
            <a:r>
              <a:rPr lang="en-US" altLang="ko-KR" sz="1300" dirty="0"/>
              <a:t>3</a:t>
            </a:r>
            <a:r>
              <a:rPr lang="ko-KR" altLang="en-US" sz="1300" dirty="0"/>
              <a:t>자</a:t>
            </a:r>
            <a:r>
              <a:rPr lang="en-US" altLang="ko-KR" sz="1300" dirty="0"/>
              <a:t>)</a:t>
            </a:r>
            <a:r>
              <a:rPr lang="ko-KR" altLang="en-US" sz="1300" dirty="0"/>
              <a:t>의 후생에 중대한 영향을 미치는 경우를 말함</a:t>
            </a:r>
            <a:r>
              <a:rPr lang="en-US" altLang="ko-KR" sz="1300" dirty="0"/>
              <a:t>. </a:t>
            </a:r>
            <a:r>
              <a:rPr lang="ko-KR" altLang="en-US" sz="1300" dirty="0"/>
              <a:t> </a:t>
            </a:r>
            <a:endParaRPr lang="en-US" altLang="ko-KR" sz="1300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부정적</a:t>
            </a:r>
            <a:r>
              <a:rPr lang="en-US" altLang="ko-KR" sz="1100" dirty="0"/>
              <a:t> negative</a:t>
            </a:r>
            <a:r>
              <a:rPr lang="ko-KR" altLang="en-US" sz="1100" dirty="0"/>
              <a:t> 외부효과와 긍정적 </a:t>
            </a:r>
            <a:r>
              <a:rPr lang="en-US" altLang="ko-KR" sz="1100" dirty="0"/>
              <a:t>positive </a:t>
            </a:r>
            <a:r>
              <a:rPr lang="ko-KR" altLang="en-US" sz="1100" dirty="0"/>
              <a:t>외부효과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외부효과가</a:t>
            </a:r>
            <a:r>
              <a:rPr lang="en-US" altLang="ko-KR" sz="1100" dirty="0"/>
              <a:t> </a:t>
            </a:r>
            <a:r>
              <a:rPr lang="ko-KR" altLang="en-US" sz="1100" dirty="0"/>
              <a:t>있는 경우</a:t>
            </a:r>
            <a:r>
              <a:rPr lang="en-US" altLang="ko-KR" sz="1100" dirty="0"/>
              <a:t>, </a:t>
            </a:r>
            <a:r>
              <a:rPr lang="ko-KR" altLang="en-US" sz="1100" dirty="0"/>
              <a:t>시장의 결과물은 효율적이지 않으며</a:t>
            </a:r>
            <a:r>
              <a:rPr lang="en-US" altLang="ko-KR" sz="1100" dirty="0"/>
              <a:t>, </a:t>
            </a:r>
            <a:r>
              <a:rPr lang="ko-KR" altLang="en-US" sz="1100" dirty="0"/>
              <a:t>정부가 개입해 시장의 자원배분 상태를 개선할 수 있음</a:t>
            </a:r>
            <a:r>
              <a:rPr lang="en-US" altLang="ko-KR" sz="1100" dirty="0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 sz="1325" b="1" dirty="0"/>
              <a:t>부정적 외부효과 </a:t>
            </a:r>
            <a:r>
              <a:rPr lang="en-US" altLang="ko-KR" sz="1325" b="1" dirty="0"/>
              <a:t>negative</a:t>
            </a:r>
            <a:r>
              <a:rPr lang="ko-KR" altLang="en-US" sz="1325" b="1" dirty="0"/>
              <a:t> </a:t>
            </a:r>
            <a:r>
              <a:rPr lang="en-US" altLang="ko-KR" sz="1325" b="1" dirty="0"/>
              <a:t>externalities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ex. </a:t>
            </a:r>
            <a:r>
              <a:rPr lang="ko-KR" altLang="en-US" sz="1100" dirty="0"/>
              <a:t>공장 굴뚝에서 나오는 대기오염물질</a:t>
            </a:r>
            <a:r>
              <a:rPr lang="en-US" altLang="ko-KR" sz="1100" dirty="0"/>
              <a:t>, </a:t>
            </a:r>
            <a:r>
              <a:rPr lang="ko-KR" altLang="en-US" sz="1100" dirty="0"/>
              <a:t>이웃집의 소음</a:t>
            </a:r>
            <a:r>
              <a:rPr lang="en-US" altLang="ko-KR" sz="1100" dirty="0"/>
              <a:t>, </a:t>
            </a:r>
            <a:r>
              <a:rPr lang="ko-KR" altLang="en-US" sz="1100" dirty="0"/>
              <a:t>간접흡연 피해 등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25" dirty="0"/>
              <a:t>앞에서 배운 것처럼</a:t>
            </a:r>
            <a:r>
              <a:rPr lang="en-US" altLang="ko-KR" sz="1325" dirty="0"/>
              <a:t>, </a:t>
            </a:r>
            <a:r>
              <a:rPr lang="ko-KR" altLang="en-US" sz="1325" dirty="0"/>
              <a:t>시장균형에서 사회의 총잉여는 극대화</a:t>
            </a:r>
            <a:endParaRPr lang="en-US" altLang="ko-KR" sz="1325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공급곡선은 판매자의 사적 비용 </a:t>
            </a:r>
            <a:r>
              <a:rPr lang="en-US" altLang="ko-KR" sz="1100" dirty="0"/>
              <a:t>private cost (</a:t>
            </a:r>
            <a:r>
              <a:rPr lang="ko-KR" altLang="en-US" sz="1100" dirty="0"/>
              <a:t>자신에게 직접 발생하는 비용</a:t>
            </a:r>
            <a:r>
              <a:rPr lang="en-US" altLang="ko-KR" sz="1100" dirty="0"/>
              <a:t>)</a:t>
            </a:r>
            <a:r>
              <a:rPr lang="ko-KR" altLang="en-US" sz="1100" dirty="0"/>
              <a:t>를</a:t>
            </a:r>
            <a:r>
              <a:rPr lang="en-US" altLang="ko-KR" sz="1100" dirty="0"/>
              <a:t> </a:t>
            </a:r>
            <a:r>
              <a:rPr lang="ko-KR" altLang="en-US" sz="1100" dirty="0"/>
              <a:t>반영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수요곡선은 구매자 개인의 사적 가치 </a:t>
            </a:r>
            <a:r>
              <a:rPr lang="en-US" altLang="ko-KR" sz="1100" dirty="0"/>
              <a:t>private value (</a:t>
            </a:r>
            <a:r>
              <a:rPr lang="ko-KR" altLang="en-US" sz="1100" dirty="0"/>
              <a:t>재화에</a:t>
            </a:r>
            <a:r>
              <a:rPr lang="en-US" altLang="ko-KR" sz="1100" dirty="0"/>
              <a:t> </a:t>
            </a:r>
            <a:r>
              <a:rPr lang="ko-KR" altLang="en-US" sz="1100" dirty="0"/>
              <a:t>대한 자신의 가치</a:t>
            </a:r>
            <a:r>
              <a:rPr lang="en-US" altLang="ko-KR" sz="1100" dirty="0"/>
              <a:t>)</a:t>
            </a:r>
            <a:r>
              <a:rPr lang="ko-KR" altLang="en-US" sz="1100" dirty="0"/>
              <a:t>를 반영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부정적 외부효과에 대해 정부의 개입</a:t>
            </a:r>
            <a:r>
              <a:rPr lang="en-US" altLang="ko-KR" sz="1100" dirty="0"/>
              <a:t>(=</a:t>
            </a:r>
            <a:r>
              <a:rPr lang="ko-KR" altLang="en-US" sz="1100" dirty="0"/>
              <a:t>규제</a:t>
            </a:r>
            <a:r>
              <a:rPr lang="en-US" altLang="ko-KR" sz="1100" dirty="0"/>
              <a:t>)</a:t>
            </a:r>
            <a:r>
              <a:rPr lang="ko-KR" altLang="en-US" sz="1100" dirty="0"/>
              <a:t>가 없다면</a:t>
            </a:r>
            <a:r>
              <a:rPr lang="en-US" altLang="ko-KR" sz="1100" dirty="0"/>
              <a:t>, </a:t>
            </a:r>
            <a:r>
              <a:rPr lang="ko-KR" altLang="en-US" sz="1100" b="1" u="sng" dirty="0"/>
              <a:t>제</a:t>
            </a:r>
            <a:r>
              <a:rPr lang="en-US" altLang="ko-KR" sz="1100" b="1" u="sng" dirty="0"/>
              <a:t>3</a:t>
            </a:r>
            <a:r>
              <a:rPr lang="ko-KR" altLang="en-US" sz="1100" b="1" u="sng" dirty="0"/>
              <a:t>자에 대한 부정적 파급효과의 가치</a:t>
            </a:r>
            <a:r>
              <a:rPr lang="en-US" altLang="ko-KR" sz="1100" b="1" u="sng" dirty="0"/>
              <a:t>(=</a:t>
            </a:r>
            <a:r>
              <a:rPr lang="ko-KR" altLang="en-US" sz="1100" b="1" u="sng" dirty="0"/>
              <a:t>외부비용</a:t>
            </a:r>
            <a:r>
              <a:rPr lang="en-US" altLang="ko-KR" sz="1100" b="1" u="sng" dirty="0"/>
              <a:t>)</a:t>
            </a:r>
            <a:r>
              <a:rPr lang="ko-KR" altLang="en-US" sz="1100" dirty="0"/>
              <a:t>는 반영되지 않음</a:t>
            </a:r>
            <a:r>
              <a:rPr lang="en-US" altLang="ko-KR" sz="1100" dirty="0"/>
              <a:t>. </a:t>
            </a:r>
          </a:p>
          <a:p>
            <a:pPr lvl="2">
              <a:lnSpc>
                <a:spcPct val="160000"/>
              </a:lnSpc>
            </a:pPr>
            <a:r>
              <a:rPr lang="en-US" altLang="ko-KR" sz="875" dirty="0"/>
              <a:t>Ex. </a:t>
            </a:r>
            <a:r>
              <a:rPr lang="ko-KR" altLang="en-US" sz="875" dirty="0"/>
              <a:t>휘발유가 만들어내는 온실가스</a:t>
            </a:r>
            <a:r>
              <a:rPr lang="en-US" altLang="ko-KR" sz="875" dirty="0"/>
              <a:t>, </a:t>
            </a:r>
            <a:r>
              <a:rPr lang="ko-KR" altLang="en-US" sz="875" dirty="0"/>
              <a:t>소음 등으로 인한 해악의 금전적 가치</a:t>
            </a:r>
            <a:endParaRPr lang="en-US" altLang="ko-KR" sz="875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그 결과 시장이 만들어 낸 생산</a:t>
            </a:r>
            <a:r>
              <a:rPr lang="en-US" altLang="ko-KR" sz="1100" dirty="0"/>
              <a:t>-</a:t>
            </a:r>
            <a:r>
              <a:rPr lang="ko-KR" altLang="en-US" sz="1100" dirty="0"/>
              <a:t>소비량은 사회적으로 바람직한 수준보다 많아지게 됨</a:t>
            </a:r>
            <a:r>
              <a:rPr lang="en-US" altLang="ko-KR" sz="1100" dirty="0"/>
              <a:t>. </a:t>
            </a:r>
          </a:p>
          <a:p>
            <a:pPr>
              <a:lnSpc>
                <a:spcPct val="160000"/>
              </a:lnSpc>
            </a:pPr>
            <a:r>
              <a:rPr lang="ko-KR" altLang="en-US" sz="1300" b="1" dirty="0"/>
              <a:t>사회적 비용 </a:t>
            </a:r>
            <a:r>
              <a:rPr lang="en-US" altLang="ko-KR" sz="1300" b="1" dirty="0"/>
              <a:t>Social cost = </a:t>
            </a:r>
            <a:r>
              <a:rPr lang="ko-KR" altLang="en-US" sz="1300" b="1" dirty="0"/>
              <a:t>사적 비용 </a:t>
            </a:r>
            <a:r>
              <a:rPr lang="en-US" altLang="ko-KR" sz="1300" b="1" dirty="0"/>
              <a:t>+ </a:t>
            </a:r>
            <a:r>
              <a:rPr lang="ko-KR" altLang="en-US" sz="1300" b="1" dirty="0"/>
              <a:t>외부비용</a:t>
            </a:r>
            <a:endParaRPr lang="en-US" altLang="ko-KR" sz="1300" b="1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생산과 소비 주체들이 자신의 사적비용이 아닌 </a:t>
            </a:r>
            <a:r>
              <a:rPr lang="ko-KR" altLang="en-US" sz="1100" b="1" dirty="0"/>
              <a:t>사회적 비용</a:t>
            </a:r>
            <a:r>
              <a:rPr lang="ko-KR" altLang="en-US" sz="1100" dirty="0"/>
              <a:t>을 고려하도록 하면 사회적으로 최적인 생산</a:t>
            </a:r>
            <a:r>
              <a:rPr lang="en-US" altLang="ko-KR" sz="1100" dirty="0"/>
              <a:t>-</a:t>
            </a:r>
            <a:r>
              <a:rPr lang="ko-KR" altLang="en-US" sz="1100" dirty="0"/>
              <a:t>소비량</a:t>
            </a:r>
            <a:r>
              <a:rPr lang="en-US" altLang="ko-KR" sz="1100" dirty="0"/>
              <a:t>(social</a:t>
            </a:r>
            <a:r>
              <a:rPr lang="ko-KR" altLang="en-US" sz="1100" dirty="0"/>
              <a:t> </a:t>
            </a:r>
            <a:r>
              <a:rPr lang="en-US" altLang="ko-KR" sz="1100" dirty="0"/>
              <a:t>optimal)</a:t>
            </a:r>
            <a:r>
              <a:rPr lang="ko-KR" altLang="en-US" sz="1100" dirty="0"/>
              <a:t>을 달성할 수 있음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b="1" dirty="0"/>
              <a:t>외부효과의</a:t>
            </a:r>
            <a:r>
              <a:rPr lang="en-US" altLang="ko-KR" sz="1300" b="1" dirty="0"/>
              <a:t> </a:t>
            </a:r>
            <a:r>
              <a:rPr lang="ko-KR" altLang="en-US" sz="1300" b="1" dirty="0"/>
              <a:t>내부화 </a:t>
            </a:r>
            <a:r>
              <a:rPr lang="en-US" altLang="ko-KR" sz="1300" b="1" dirty="0"/>
              <a:t>internalization</a:t>
            </a:r>
            <a:r>
              <a:rPr lang="ko-KR" altLang="en-US" sz="1300" b="1" dirty="0"/>
              <a:t> </a:t>
            </a:r>
            <a:endParaRPr lang="en-US" altLang="ko-KR" sz="1300" b="1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사람들이 자신의 행동에 따른 외부효과를 충분히 고려하도록 유인체계를 바꾸는 일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“</a:t>
            </a:r>
            <a:r>
              <a:rPr lang="ko-KR" altLang="en-US" sz="1100" dirty="0"/>
              <a:t>시장균형 </a:t>
            </a:r>
            <a:r>
              <a:rPr lang="en-US" altLang="ko-KR" sz="1100" dirty="0"/>
              <a:t>market equilibrium = </a:t>
            </a:r>
            <a:r>
              <a:rPr lang="ko-KR" altLang="en-US" sz="1100" dirty="0"/>
              <a:t>사회 최적 수준 </a:t>
            </a:r>
            <a:r>
              <a:rPr lang="en-US" altLang="ko-KR" sz="1100" dirty="0"/>
              <a:t>social optimal”</a:t>
            </a:r>
            <a:r>
              <a:rPr lang="ko-KR" altLang="en-US" sz="1100" dirty="0"/>
              <a:t>이 달성 가능함</a:t>
            </a:r>
            <a:r>
              <a:rPr lang="en-US" altLang="ko-KR" sz="1100" dirty="0"/>
              <a:t>.</a:t>
            </a:r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FF1304-28BE-4D35-8343-B5DB2D3E1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458" y="7682047"/>
            <a:ext cx="2333625" cy="212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893443"/>
            <a:ext cx="5915025" cy="10708007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1300" dirty="0"/>
              <a:t>긍정적 외부효과 </a:t>
            </a:r>
            <a:r>
              <a:rPr lang="en-US" altLang="ko-KR" sz="1300" dirty="0"/>
              <a:t>positive externalities</a:t>
            </a:r>
          </a:p>
          <a:p>
            <a:pPr lvl="1">
              <a:lnSpc>
                <a:spcPct val="160000"/>
              </a:lnSpc>
            </a:pPr>
            <a:r>
              <a:rPr lang="en-US" altLang="ko-KR" sz="1075" dirty="0"/>
              <a:t>Ex. </a:t>
            </a:r>
            <a:r>
              <a:rPr lang="ko-KR" altLang="en-US" sz="1075" dirty="0"/>
              <a:t>전염병</a:t>
            </a:r>
            <a:r>
              <a:rPr lang="en-US" altLang="ko-KR" sz="1075" dirty="0"/>
              <a:t> </a:t>
            </a:r>
            <a:r>
              <a:rPr lang="ko-KR" altLang="en-US" sz="1075" dirty="0"/>
              <a:t>예방백신 접종</a:t>
            </a:r>
            <a:r>
              <a:rPr lang="en-US" altLang="ko-KR" sz="1075" dirty="0"/>
              <a:t>, </a:t>
            </a:r>
            <a:r>
              <a:rPr lang="ko-KR" altLang="en-US" sz="1075" dirty="0"/>
              <a:t>공공 연구기관의 </a:t>
            </a:r>
            <a:r>
              <a:rPr lang="en-US" altLang="ko-KR" sz="1075" dirty="0"/>
              <a:t>R&amp;D </a:t>
            </a:r>
            <a:r>
              <a:rPr lang="ko-KR" altLang="en-US" sz="1075" dirty="0"/>
              <a:t>활동</a:t>
            </a:r>
            <a:r>
              <a:rPr lang="en-US" altLang="ko-KR" sz="1075" dirty="0"/>
              <a:t>, </a:t>
            </a:r>
            <a:r>
              <a:rPr lang="ko-KR" altLang="en-US" sz="1075" dirty="0"/>
              <a:t>대학 진학 등</a:t>
            </a:r>
            <a:endParaRPr lang="en-US" altLang="ko-KR" sz="1075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긍정적</a:t>
            </a:r>
            <a:r>
              <a:rPr lang="en-US" altLang="ko-KR" sz="1100" dirty="0"/>
              <a:t> </a:t>
            </a:r>
            <a:r>
              <a:rPr lang="ko-KR" altLang="en-US" sz="1100" dirty="0"/>
              <a:t>외부효과 시에는 시장에서 결정된 양이 사회적으로 바람직한 양 </a:t>
            </a:r>
            <a:r>
              <a:rPr lang="en-US" altLang="ko-KR" sz="1100" dirty="0"/>
              <a:t>social optimal </a:t>
            </a:r>
            <a:r>
              <a:rPr lang="ko-KR" altLang="en-US" sz="1100" dirty="0"/>
              <a:t>보다</a:t>
            </a:r>
            <a:r>
              <a:rPr lang="en-US" altLang="ko-KR" sz="1100" dirty="0"/>
              <a:t> </a:t>
            </a:r>
            <a:r>
              <a:rPr lang="ko-KR" altLang="en-US" sz="1100" dirty="0"/>
              <a:t>작음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사회적 가치 </a:t>
            </a:r>
            <a:r>
              <a:rPr lang="en-US" altLang="ko-KR" sz="1100" dirty="0"/>
              <a:t>social value = </a:t>
            </a:r>
            <a:r>
              <a:rPr lang="ko-KR" altLang="en-US" sz="1100" dirty="0"/>
              <a:t>사적 가치</a:t>
            </a:r>
            <a:r>
              <a:rPr lang="en-US" altLang="ko-KR" sz="1100" dirty="0"/>
              <a:t> + </a:t>
            </a:r>
            <a:r>
              <a:rPr lang="ko-KR" altLang="en-US" sz="1100" dirty="0"/>
              <a:t>외부편익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긍정적 외부효과를 </a:t>
            </a:r>
            <a:r>
              <a:rPr lang="ko-KR" altLang="en-US" sz="1100" dirty="0" err="1"/>
              <a:t>내부화하기</a:t>
            </a:r>
            <a:r>
              <a:rPr lang="ko-KR" altLang="en-US" sz="1100" dirty="0"/>
              <a:t> 위해 </a:t>
            </a:r>
            <a:r>
              <a:rPr lang="ko-KR" altLang="en-US" sz="1100" b="1" u="sng" dirty="0"/>
              <a:t>보조금</a:t>
            </a:r>
            <a:r>
              <a:rPr lang="ko-KR" altLang="en-US" sz="1100" dirty="0"/>
              <a:t>을 지급하면 문제가 해결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800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외부효과와 공공정책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명령통제형 정책수단</a:t>
            </a:r>
            <a:endParaRPr lang="en-US" altLang="ko-KR" sz="1300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행위에 대한 직접 규제방식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Ex.  </a:t>
            </a:r>
            <a:r>
              <a:rPr lang="ko-KR" altLang="en-US" sz="1100" dirty="0"/>
              <a:t>오염물질 배출량 한도 부여</a:t>
            </a:r>
            <a:r>
              <a:rPr lang="en-US" altLang="ko-KR" sz="1100" dirty="0"/>
              <a:t>, </a:t>
            </a:r>
            <a:r>
              <a:rPr lang="ko-KR" altLang="en-US" sz="1100" dirty="0"/>
              <a:t>오염 감축 특정기술 채택 의무화 등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시장기반형 </a:t>
            </a:r>
            <a:r>
              <a:rPr lang="en-US" altLang="ko-KR" sz="1300" dirty="0"/>
              <a:t>market based</a:t>
            </a:r>
            <a:r>
              <a:rPr lang="ko-KR" altLang="en-US" sz="1300" dirty="0"/>
              <a:t> 정책수단</a:t>
            </a:r>
            <a:endParaRPr lang="en-US" altLang="ko-KR" sz="1300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스스로</a:t>
            </a:r>
            <a:r>
              <a:rPr lang="en-US" altLang="ko-KR" sz="1100" dirty="0"/>
              <a:t> </a:t>
            </a:r>
            <a:r>
              <a:rPr lang="ko-KR" altLang="en-US" sz="1100" dirty="0"/>
              <a:t>문제를 해결하도록 인센티브를 제공하는 방식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Ex. </a:t>
            </a:r>
            <a:r>
              <a:rPr lang="ko-KR" altLang="en-US" sz="1100" dirty="0"/>
              <a:t>세금부과나</a:t>
            </a:r>
            <a:r>
              <a:rPr lang="en-US" altLang="ko-KR" sz="1100" dirty="0"/>
              <a:t> </a:t>
            </a:r>
            <a:r>
              <a:rPr lang="ko-KR" altLang="en-US" sz="1100" dirty="0"/>
              <a:t>보조금 지급</a:t>
            </a:r>
            <a:r>
              <a:rPr lang="en-US" altLang="ko-KR" sz="1100" dirty="0"/>
              <a:t>, </a:t>
            </a:r>
            <a:r>
              <a:rPr lang="ko-KR" altLang="en-US" sz="1100" dirty="0"/>
              <a:t>탄소배출권 거래제 사용 등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dirty="0" err="1"/>
              <a:t>피구세</a:t>
            </a:r>
            <a:r>
              <a:rPr lang="ko-KR" altLang="en-US" sz="1300" dirty="0"/>
              <a:t> </a:t>
            </a:r>
            <a:r>
              <a:rPr lang="en-US" altLang="ko-KR" sz="1300" dirty="0" err="1"/>
              <a:t>Pigovian</a:t>
            </a:r>
            <a:r>
              <a:rPr lang="en-US" altLang="ko-KR" sz="1300" dirty="0"/>
              <a:t> taxes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1920</a:t>
            </a:r>
            <a:r>
              <a:rPr lang="ko-KR" altLang="en-US" sz="1100" dirty="0"/>
              <a:t>년대 영국 경제학자 아서 피구</a:t>
            </a:r>
            <a:r>
              <a:rPr lang="en-US" altLang="ko-KR" sz="1100" dirty="0"/>
              <a:t>(A.</a:t>
            </a:r>
            <a:r>
              <a:rPr lang="ko-KR" altLang="en-US" sz="1100" dirty="0"/>
              <a:t> </a:t>
            </a:r>
            <a:r>
              <a:rPr lang="en-US" altLang="ko-KR" sz="1100" dirty="0"/>
              <a:t>Pigou)</a:t>
            </a:r>
            <a:r>
              <a:rPr lang="ko-KR" altLang="en-US" sz="1100" dirty="0"/>
              <a:t>가 제안</a:t>
            </a:r>
            <a:r>
              <a:rPr lang="en-US" altLang="ko-KR" sz="1100" dirty="0"/>
              <a:t>.. </a:t>
            </a:r>
            <a:r>
              <a:rPr lang="ko-KR" altLang="en-US" sz="1100" dirty="0"/>
              <a:t>세금을 통한 부정적 외부효과</a:t>
            </a:r>
            <a:r>
              <a:rPr lang="en-US" altLang="ko-KR" sz="1100" dirty="0"/>
              <a:t>(ex. </a:t>
            </a:r>
            <a:r>
              <a:rPr lang="ko-KR" altLang="en-US" sz="1100" dirty="0"/>
              <a:t>기업의 환경오염 물질 배출 등</a:t>
            </a:r>
            <a:r>
              <a:rPr lang="en-US" altLang="ko-KR" sz="1100" dirty="0"/>
              <a:t>) </a:t>
            </a:r>
            <a:r>
              <a:rPr lang="ko-KR" altLang="en-US" sz="1100" dirty="0"/>
              <a:t>교정방식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500" dirty="0"/>
          </a:p>
          <a:p>
            <a:pPr>
              <a:lnSpc>
                <a:spcPct val="160000"/>
              </a:lnSpc>
            </a:pPr>
            <a:r>
              <a:rPr lang="ko-KR" altLang="en-US" sz="1300" b="1" dirty="0"/>
              <a:t>외부효과에 대한 사적 해법 </a:t>
            </a:r>
            <a:r>
              <a:rPr lang="en-US" altLang="ko-KR" sz="1300" b="1" dirty="0"/>
              <a:t>private solutions : </a:t>
            </a:r>
            <a:r>
              <a:rPr lang="ko-KR" altLang="en-US" sz="1300" b="1" dirty="0"/>
              <a:t>정부의 개입없이 해결</a:t>
            </a:r>
            <a:r>
              <a:rPr lang="en-US" altLang="ko-KR" sz="1300" b="1" dirty="0"/>
              <a:t>…?</a:t>
            </a:r>
          </a:p>
          <a:p>
            <a:pPr>
              <a:lnSpc>
                <a:spcPct val="160000"/>
              </a:lnSpc>
            </a:pPr>
            <a:r>
              <a:rPr lang="ko-KR" altLang="en-US" sz="1300" b="1" u="sng" dirty="0" err="1"/>
              <a:t>코우즈</a:t>
            </a:r>
            <a:r>
              <a:rPr lang="ko-KR" altLang="en-US" sz="1300" b="1" u="sng" dirty="0"/>
              <a:t> 정리 </a:t>
            </a:r>
            <a:r>
              <a:rPr lang="en-US" altLang="ko-KR" sz="1300" b="1" u="sng" dirty="0"/>
              <a:t>The Coase Theorem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“</a:t>
            </a:r>
            <a:r>
              <a:rPr lang="ko-KR" altLang="en-US" sz="1100" dirty="0"/>
              <a:t>이해당사자들이</a:t>
            </a:r>
            <a:r>
              <a:rPr lang="en-US" altLang="ko-KR" sz="1100" dirty="0"/>
              <a:t> </a:t>
            </a:r>
            <a:r>
              <a:rPr lang="ko-KR" altLang="en-US" sz="1100" dirty="0"/>
              <a:t>자원의 배분 상태에 관해 </a:t>
            </a:r>
            <a:r>
              <a:rPr lang="ko-KR" altLang="en-US" sz="1100" u="sng" dirty="0"/>
              <a:t>비용을 들이지 않고 서로 협상</a:t>
            </a:r>
            <a:r>
              <a:rPr lang="en-US" altLang="ko-KR" sz="1100" u="sng" dirty="0"/>
              <a:t>(bargain)</a:t>
            </a:r>
            <a:r>
              <a:rPr lang="ko-KR" altLang="en-US" sz="1100" u="sng" dirty="0"/>
              <a:t>을</a:t>
            </a:r>
            <a:r>
              <a:rPr lang="en-US" altLang="ko-KR" sz="1100" u="sng" dirty="0"/>
              <a:t> </a:t>
            </a:r>
            <a:r>
              <a:rPr lang="ko-KR" altLang="en-US" sz="1100" u="sng" dirty="0"/>
              <a:t>할 수 있다면</a:t>
            </a:r>
            <a:r>
              <a:rPr lang="en-US" altLang="ko-KR" sz="1100" dirty="0"/>
              <a:t>, </a:t>
            </a:r>
            <a:r>
              <a:rPr lang="ko-KR" altLang="en-US" sz="1100" dirty="0"/>
              <a:t>외부효과의 문제를 이해당사자들끼리 자체 해결 가능하다</a:t>
            </a:r>
            <a:r>
              <a:rPr lang="en-US" altLang="ko-KR" sz="1100" dirty="0"/>
              <a:t>”</a:t>
            </a:r>
          </a:p>
          <a:p>
            <a:pPr>
              <a:lnSpc>
                <a:spcPct val="160000"/>
              </a:lnSpc>
            </a:pPr>
            <a:r>
              <a:rPr lang="ko-KR" altLang="en-US" sz="1300" b="1" dirty="0" err="1"/>
              <a:t>코우즈정리가</a:t>
            </a:r>
            <a:r>
              <a:rPr lang="ko-KR" altLang="en-US" sz="1300" b="1" dirty="0"/>
              <a:t> 현실에 잘 적용되지 않는 이유</a:t>
            </a:r>
            <a:endParaRPr lang="en-US" altLang="ko-KR" sz="1300" b="1" dirty="0"/>
          </a:p>
          <a:p>
            <a:pPr>
              <a:lnSpc>
                <a:spcPct val="160000"/>
              </a:lnSpc>
            </a:pPr>
            <a:endParaRPr lang="en-US" altLang="ko-KR" sz="1300" b="1" dirty="0"/>
          </a:p>
          <a:p>
            <a:pPr marL="257175" lvl="1" indent="0">
              <a:lnSpc>
                <a:spcPct val="160000"/>
              </a:lnSpc>
              <a:buNone/>
            </a:pPr>
            <a:endParaRPr lang="en-US" altLang="ko-KR" sz="1075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1171</TotalTime>
  <Words>395</Words>
  <Application>Microsoft Office PowerPoint</Application>
  <PresentationFormat>와이드스크린</PresentationFormat>
  <Paragraphs>48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10장 외부효과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LG</cp:lastModifiedBy>
  <cp:revision>97</cp:revision>
  <dcterms:created xsi:type="dcterms:W3CDTF">2021-06-28T02:08:57Z</dcterms:created>
  <dcterms:modified xsi:type="dcterms:W3CDTF">2023-04-09T00:59:34Z</dcterms:modified>
</cp:coreProperties>
</file>