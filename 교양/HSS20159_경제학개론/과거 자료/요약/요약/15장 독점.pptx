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</p:sldIdLst>
  <p:sldSz cx="6858000" cy="12192000"/>
  <p:notesSz cx="6858000" cy="9144000"/>
  <p:defaultTextStyle>
    <a:defPPr>
      <a:defRPr lang="ko-KR"/>
    </a:defPPr>
    <a:lvl1pPr marL="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334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1_shape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  <a:prstGeom prst="rect">
            <a:avLst/>
          </a:prstGeom>
        </p:spPr>
        <p:txBody>
          <a:bodyPr lIns="91440" tIns="45720" rIns="91440" bIns="45720" anchor="b"/>
          <a:lstStyle>
            <a:lvl1pPr algn="ctr">
              <a:defRPr sz="3375"/>
            </a:lvl1pPr>
          </a:lstStyle>
          <a:p>
            <a:pPr algn="ctr"/>
            <a:r>
              <a:rPr lang="ko-KR" altLang="en-US" sz="3375"/>
              <a:t>마스터</a:t>
            </a:r>
            <a:r>
              <a:rPr lang="en-US" altLang="en-US" sz="3375"/>
              <a:t> </a:t>
            </a:r>
            <a:r>
              <a:rPr lang="ko-KR" altLang="en-US" sz="3375"/>
              <a:t>제목</a:t>
            </a:r>
            <a:r>
              <a:rPr lang="en-US" altLang="en-US" sz="3375"/>
              <a:t> </a:t>
            </a:r>
            <a:r>
              <a:rPr lang="ko-KR" altLang="en-US" sz="3375"/>
              <a:t>스타일</a:t>
            </a:r>
            <a:r>
              <a:rPr lang="en-US" altLang="en-US" sz="3375"/>
              <a:t> </a:t>
            </a:r>
            <a:r>
              <a:rPr lang="ko-KR" altLang="en-US" sz="3375"/>
              <a:t>편집</a:t>
            </a:r>
            <a:endParaRPr sz="3375"/>
          </a:p>
        </p:txBody>
      </p:sp>
      <p:sp>
        <p:nvSpPr>
          <p:cNvPr id="4" name="layout1_shape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pPr marL="0" lvl="0" indent="0" algn="ctr">
              <a:buNone/>
            </a:pPr>
            <a:r>
              <a:rPr lang="ko-KR" altLang="en-US" sz="1350"/>
              <a:t>클릭하여</a:t>
            </a:r>
            <a:r>
              <a:rPr lang="en-US" altLang="en-US" sz="1350"/>
              <a:t> </a:t>
            </a:r>
            <a:r>
              <a:rPr lang="ko-KR" altLang="en-US" sz="1350"/>
              <a:t>마스터</a:t>
            </a:r>
            <a:r>
              <a:rPr lang="en-US" altLang="en-US" sz="1350"/>
              <a:t> </a:t>
            </a:r>
            <a:r>
              <a:rPr lang="ko-KR" altLang="en-US" sz="1350"/>
              <a:t>부제목</a:t>
            </a:r>
            <a:r>
              <a:rPr lang="en-US" altLang="en-US" sz="1350"/>
              <a:t> </a:t>
            </a:r>
            <a:r>
              <a:rPr lang="ko-KR" altLang="en-US" sz="1350"/>
              <a:t>스타일</a:t>
            </a:r>
            <a:r>
              <a:rPr lang="en-US" altLang="en-US" sz="1350"/>
              <a:t> </a:t>
            </a:r>
            <a:r>
              <a:rPr lang="ko-KR" altLang="en-US" sz="1350"/>
              <a:t>편집</a:t>
            </a:r>
            <a:endParaRPr sz="1350"/>
          </a:p>
        </p:txBody>
      </p:sp>
      <p:sp>
        <p:nvSpPr>
          <p:cNvPr id="5" name="layout1_shape3"/>
          <p:cNvSpPr>
            <a:spLocks noGrp="1"/>
          </p:cNvSpPr>
          <p:nvPr>
            <p:ph type="dt" sz="half" idx="10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A658C7C3-8D3A-4C0D-B60E-240C4DE6BC36}" type="datetime1">
              <a:rPr lang="en-US" altLang="ko-KR" sz="675">
                <a:solidFill>
                  <a:schemeClr val="tx1">
                    <a:tint val="75000"/>
                  </a:schemeClr>
                </a:solidFill>
              </a:rPr>
              <a:t>5/6/2023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layout1_shape4"/>
          <p:cNvSpPr>
            <a:spLocks noGrp="1"/>
          </p:cNvSpPr>
          <p:nvPr>
            <p:ph type="ftr" sz="quarter" idx="11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layout1_shape5"/>
          <p:cNvSpPr>
            <a:spLocks noGrp="1"/>
          </p:cNvSpPr>
          <p:nvPr>
            <p:ph type="sldNum" sz="quarter" idx="12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4BEDD84E-25D4-4983-8AA1-2863C96F08D9}" type="slidenum">
              <a:rPr lang="ko-KR" sz="675">
                <a:solidFill>
                  <a:schemeClr val="tx1">
                    <a:tint val="75000"/>
                  </a:schemeClr>
                </a:solidFill>
              </a:rPr>
              <a:t>‹#›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2_shape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lIns="91440" tIns="45720" rIns="91440" bIns="45720" anchor="ctr"/>
          <a:lstStyle/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layout2_shape2"/>
          <p:cNvSpPr>
            <a:spLocks noGrp="1"/>
          </p:cNvSpPr>
          <p:nvPr>
            <p:ph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  <a:endParaRPr/>
          </a:p>
        </p:txBody>
      </p:sp>
      <p:sp>
        <p:nvSpPr>
          <p:cNvPr id="5" name="layout2_shape3"/>
          <p:cNvSpPr>
            <a:spLocks noGrp="1"/>
          </p:cNvSpPr>
          <p:nvPr>
            <p:ph type="dt" sz="half" idx="10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A658C7C3-8D3A-4C0D-B60E-240C4DE6BC36}" type="datetime1">
              <a:rPr lang="en-US" altLang="ko-KR" sz="675">
                <a:solidFill>
                  <a:schemeClr val="tx1">
                    <a:tint val="75000"/>
                  </a:schemeClr>
                </a:solidFill>
              </a:rPr>
              <a:t>5/6/2023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layout2_shape4"/>
          <p:cNvSpPr>
            <a:spLocks noGrp="1"/>
          </p:cNvSpPr>
          <p:nvPr>
            <p:ph type="ftr" sz="quarter" idx="11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layout2_shape5"/>
          <p:cNvSpPr>
            <a:spLocks noGrp="1"/>
          </p:cNvSpPr>
          <p:nvPr>
            <p:ph type="sldNum" sz="quarter" idx="12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4BEDD84E-25D4-4983-8AA1-2863C96F08D9}" type="slidenum">
              <a:rPr lang="ko-KR" sz="675">
                <a:solidFill>
                  <a:schemeClr val="tx1">
                    <a:tint val="75000"/>
                  </a:schemeClr>
                </a:solidFill>
              </a:rPr>
              <a:t>‹#›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3_shape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  <a:prstGeom prst="rect">
            <a:avLst/>
          </a:prstGeo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layout3_shape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5" name="layout3_shape3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5/6/2023</a:t>
            </a:fld>
            <a:endParaRPr/>
          </a:p>
        </p:txBody>
      </p:sp>
      <p:sp>
        <p:nvSpPr>
          <p:cNvPr id="6" name="layout3_shape4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layout3_shape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4_shape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layout4_shape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  <a:endParaRPr/>
          </a:p>
        </p:txBody>
      </p:sp>
      <p:sp>
        <p:nvSpPr>
          <p:cNvPr id="5" name="layout4_shape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  <a:endParaRPr/>
          </a:p>
        </p:txBody>
      </p:sp>
      <p:sp>
        <p:nvSpPr>
          <p:cNvPr id="6" name="layout4_shape4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5/6/2023</a:t>
            </a:fld>
            <a:endParaRPr/>
          </a:p>
        </p:txBody>
      </p:sp>
      <p:sp>
        <p:nvSpPr>
          <p:cNvPr id="7" name="layout4_shape5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" name="layout4_shape6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5_shape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layout5_shape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5" name="layout5_shape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  <a:endParaRPr/>
          </a:p>
        </p:txBody>
      </p:sp>
      <p:sp>
        <p:nvSpPr>
          <p:cNvPr id="6" name="layout5_shape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7" name="layout5_shape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  <a:endParaRPr/>
          </a:p>
        </p:txBody>
      </p:sp>
      <p:sp>
        <p:nvSpPr>
          <p:cNvPr id="8" name="layout5_shape6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5/6/2023</a:t>
            </a:fld>
            <a:endParaRPr/>
          </a:p>
        </p:txBody>
      </p:sp>
      <p:sp>
        <p:nvSpPr>
          <p:cNvPr id="9" name="layout5_shape7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" name="layout5_shape8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6_shape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layout6_shape2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5/6/2023</a:t>
            </a:fld>
            <a:endParaRPr/>
          </a:p>
        </p:txBody>
      </p:sp>
      <p:sp>
        <p:nvSpPr>
          <p:cNvPr id="5" name="layout6_shape3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layout6_shape4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7_shape1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5/6/2023</a:t>
            </a:fld>
            <a:endParaRPr/>
          </a:p>
        </p:txBody>
      </p:sp>
      <p:sp>
        <p:nvSpPr>
          <p:cNvPr id="4" name="layout7_shape2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layout7_shape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8_shape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  <a:prstGeom prst="rect">
            <a:avLst/>
          </a:prstGeo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layout8_shape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  <a:endParaRPr/>
          </a:p>
        </p:txBody>
      </p:sp>
      <p:sp>
        <p:nvSpPr>
          <p:cNvPr id="5" name="layout8_shape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6" name="layout8_shape4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5/6/2023</a:t>
            </a:fld>
            <a:endParaRPr/>
          </a:p>
        </p:txBody>
      </p:sp>
      <p:sp>
        <p:nvSpPr>
          <p:cNvPr id="7" name="layout8_shape5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" name="layout8_shape6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9_shape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  <a:prstGeom prst="rect">
            <a:avLst/>
          </a:prstGeo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layout9_shape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/>
          </a:p>
        </p:txBody>
      </p:sp>
      <p:sp>
        <p:nvSpPr>
          <p:cNvPr id="5" name="layout9_shape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6" name="layout9_shape4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5/6/2023</a:t>
            </a:fld>
            <a:endParaRPr/>
          </a:p>
        </p:txBody>
      </p:sp>
      <p:sp>
        <p:nvSpPr>
          <p:cNvPr id="7" name="layout9_shape5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" name="layout9_shape6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10_shape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layout10_shape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  <a:endParaRPr/>
          </a:p>
        </p:txBody>
      </p:sp>
      <p:sp>
        <p:nvSpPr>
          <p:cNvPr id="5" name="layout10_shape3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5/6/2023</a:t>
            </a:fld>
            <a:endParaRPr/>
          </a:p>
        </p:txBody>
      </p:sp>
      <p:sp>
        <p:nvSpPr>
          <p:cNvPr id="6" name="layout10_shape4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layout10_shape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11_shape1"/>
          <p:cNvSpPr>
            <a:spLocks noGrp="1"/>
          </p:cNvSpPr>
          <p:nvPr>
            <p:ph type="title"/>
          </p:nvPr>
        </p:nvSpPr>
        <p:spPr>
          <a:xfrm>
            <a:off x="4907756" y="649111"/>
            <a:ext cx="1478756" cy="10332156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layout11_shape2"/>
          <p:cNvSpPr>
            <a:spLocks noGrp="1"/>
          </p:cNvSpPr>
          <p:nvPr>
            <p:ph type="body" idx="1"/>
          </p:nvPr>
        </p:nvSpPr>
        <p:spPr>
          <a:xfrm>
            <a:off x="471487" y="649111"/>
            <a:ext cx="4350544" cy="1033215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  <a:endParaRPr/>
          </a:p>
        </p:txBody>
      </p:sp>
      <p:sp>
        <p:nvSpPr>
          <p:cNvPr id="5" name="layout11_shape3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5/6/2023</a:t>
            </a:fld>
            <a:endParaRPr/>
          </a:p>
        </p:txBody>
      </p:sp>
      <p:sp>
        <p:nvSpPr>
          <p:cNvPr id="6" name="layout11_shape4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layout11_shape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ster1_shape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lIns="91440" tIns="45720" rIns="91440" bIns="45720" anchor="ctr"/>
          <a:lstStyle/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master1_shape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  <a:endParaRPr/>
          </a:p>
        </p:txBody>
      </p:sp>
      <p:sp>
        <p:nvSpPr>
          <p:cNvPr id="5" name="master1_shape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A658C7C3-8D3A-4C0D-B60E-240C4DE6BC36}" type="datetime1">
              <a:rPr lang="en-US" altLang="ko-KR" sz="675">
                <a:solidFill>
                  <a:schemeClr val="tx1">
                    <a:tint val="75000"/>
                  </a:schemeClr>
                </a:solidFill>
              </a:rPr>
              <a:t>5/6/2023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master1_shape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master1_shape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4BEDD84E-25D4-4983-8AA1-2863C96F08D9}" type="slidenum">
              <a:rPr lang="ko-KR" sz="675">
                <a:solidFill>
                  <a:schemeClr val="tx1">
                    <a:tint val="75000"/>
                  </a:schemeClr>
                </a:solidFill>
              </a:rPr>
              <a:t>‹#›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defTabSz="514350" latinLnBrk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latinLnBrk="1">
        <a:lnSpc>
          <a:spcPct val="90000"/>
        </a:lnSpc>
        <a:spcBef>
          <a:spcPts val="563"/>
        </a:spcBef>
        <a:buFont typeface="Arial" pitchFamily="2" charset="2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2_shape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  <a:prstGeom prst="rect">
            <a:avLst/>
          </a:prstGeom>
        </p:spPr>
        <p:txBody>
          <a:bodyPr lIns="91440" tIns="45720" rIns="91440" bIns="45720" anchor="ctr"/>
          <a:lstStyle/>
          <a:p>
            <a:pPr algn="l" defTabSz="514350" latinLnBrk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ko-KR" sz="2475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15</a:t>
            </a:r>
            <a:r>
              <a:rPr lang="ko-KR" altLang="en-US" sz="2475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장</a:t>
            </a:r>
            <a:r>
              <a:rPr lang="en-US" altLang="ko-KR" sz="2475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  <a:r>
              <a:rPr lang="en-US" altLang="en-US" sz="2475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ko-KR" altLang="de-DE" sz="2475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독점</a:t>
            </a:r>
            <a:r>
              <a:rPr lang="en-US" altLang="de-DE" sz="2475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ko-KR" sz="2475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(Monopoly)</a:t>
            </a:r>
            <a:endParaRPr sz="2475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2_shape2"/>
          <p:cNvSpPr>
            <a:spLocks noGrp="1"/>
          </p:cNvSpPr>
          <p:nvPr>
            <p:ph idx="1"/>
          </p:nvPr>
        </p:nvSpPr>
        <p:spPr>
          <a:xfrm>
            <a:off x="471488" y="1798320"/>
            <a:ext cx="5915025" cy="9574530"/>
          </a:xfrm>
          <a:prstGeom prst="rect">
            <a:avLst/>
          </a:prstGeom>
        </p:spPr>
        <p:txBody>
          <a:bodyPr lIns="91440" tIns="45720" rIns="91440" bIns="45720"/>
          <a:lstStyle/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가까운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대체재가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없는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어떤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제품을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유일하게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판매하는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기업</a:t>
            </a:r>
            <a:endParaRPr sz="1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/>
              <a:t>시장</a:t>
            </a:r>
            <a:r>
              <a:rPr lang="en-US" altLang="de-DE" sz="1100" dirty="0"/>
              <a:t> </a:t>
            </a:r>
            <a:r>
              <a:rPr lang="ko-KR" altLang="de-DE" sz="1100" dirty="0"/>
              <a:t>지배력</a:t>
            </a:r>
            <a:r>
              <a:rPr lang="en-US" altLang="de-DE" sz="1100" dirty="0"/>
              <a:t> </a:t>
            </a:r>
            <a:r>
              <a:rPr lang="en-US" altLang="ko-KR" sz="1100" dirty="0"/>
              <a:t>= </a:t>
            </a:r>
            <a:r>
              <a:rPr lang="ko-KR" altLang="de-DE" sz="1100" dirty="0"/>
              <a:t>가격에</a:t>
            </a:r>
            <a:r>
              <a:rPr lang="en-US" altLang="de-DE" sz="1100" dirty="0"/>
              <a:t> </a:t>
            </a:r>
            <a:r>
              <a:rPr lang="ko-KR" altLang="de-DE" sz="1100" dirty="0"/>
              <a:t>절대적</a:t>
            </a:r>
            <a:r>
              <a:rPr lang="en-US" altLang="de-DE" sz="1100" dirty="0"/>
              <a:t> </a:t>
            </a:r>
            <a:r>
              <a:rPr lang="ko-KR" altLang="de-DE" sz="1100" dirty="0"/>
              <a:t>영향력</a:t>
            </a:r>
            <a:endParaRPr sz="1100" dirty="0"/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독점은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왜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생기는가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</a:t>
            </a: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세가지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진입장벽</a:t>
            </a:r>
            <a:endParaRPr sz="1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/>
              <a:t>독점</a:t>
            </a:r>
            <a:r>
              <a:rPr lang="en-US" altLang="de-DE" sz="1100" dirty="0"/>
              <a:t> </a:t>
            </a:r>
            <a:r>
              <a:rPr lang="ko-KR" altLang="de-DE" sz="1100" dirty="0"/>
              <a:t>자원</a:t>
            </a:r>
            <a:r>
              <a:rPr lang="en-US" altLang="ko-KR" sz="1100" dirty="0"/>
              <a:t>: ex. </a:t>
            </a:r>
            <a:r>
              <a:rPr lang="ko-KR" altLang="de-DE" sz="1100" dirty="0"/>
              <a:t>다이아몬드</a:t>
            </a:r>
            <a:r>
              <a:rPr lang="en-US" altLang="de-DE" sz="1100" dirty="0"/>
              <a:t> </a:t>
            </a:r>
            <a:r>
              <a:rPr lang="ko-KR" altLang="de-DE" sz="1100" dirty="0"/>
              <a:t>광산</a:t>
            </a:r>
            <a:endParaRPr sz="1100" dirty="0"/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/>
              <a:t>정부의</a:t>
            </a:r>
            <a:r>
              <a:rPr lang="en-US" altLang="de-DE" sz="1100" dirty="0"/>
              <a:t> </a:t>
            </a:r>
            <a:r>
              <a:rPr lang="ko-KR" altLang="de-DE" sz="1100" dirty="0"/>
              <a:t>규제를</a:t>
            </a:r>
            <a:r>
              <a:rPr lang="en-US" altLang="ko-KR" sz="1100" dirty="0"/>
              <a:t> </a:t>
            </a:r>
            <a:r>
              <a:rPr lang="ko-KR" altLang="de-DE" sz="1100" dirty="0"/>
              <a:t>통해</a:t>
            </a:r>
            <a:r>
              <a:rPr lang="en-US" altLang="de-DE" sz="1100" dirty="0"/>
              <a:t> </a:t>
            </a:r>
            <a:r>
              <a:rPr lang="ko-KR" altLang="de-DE" sz="1100" dirty="0"/>
              <a:t>배타적</a:t>
            </a:r>
            <a:r>
              <a:rPr lang="en-US" altLang="de-DE" sz="1100" dirty="0"/>
              <a:t> </a:t>
            </a:r>
            <a:r>
              <a:rPr lang="ko-KR" altLang="de-DE" sz="1100" dirty="0"/>
              <a:t>권리를</a:t>
            </a:r>
            <a:r>
              <a:rPr lang="en-US" altLang="de-DE" sz="1100" dirty="0"/>
              <a:t> </a:t>
            </a:r>
            <a:r>
              <a:rPr lang="ko-KR" altLang="de-DE" sz="1100" dirty="0"/>
              <a:t>보유</a:t>
            </a:r>
            <a:r>
              <a:rPr lang="en-US" altLang="ko-KR" sz="1100" dirty="0"/>
              <a:t> ex. </a:t>
            </a:r>
            <a:r>
              <a:rPr lang="ko-KR" altLang="de-DE" sz="1100" dirty="0"/>
              <a:t>전매권</a:t>
            </a:r>
            <a:r>
              <a:rPr lang="en-US" altLang="ko-KR" sz="1100" dirty="0"/>
              <a:t>, </a:t>
            </a:r>
            <a:r>
              <a:rPr lang="ko-KR" altLang="de-DE" sz="1100" dirty="0"/>
              <a:t>특허</a:t>
            </a:r>
            <a:r>
              <a:rPr lang="en-US" altLang="ko-KR" sz="1100" dirty="0"/>
              <a:t>, </a:t>
            </a:r>
            <a:r>
              <a:rPr lang="ko-KR" altLang="de-DE" sz="1100" dirty="0"/>
              <a:t>저작권법</a:t>
            </a:r>
            <a:r>
              <a:rPr lang="en-US" altLang="de-DE" sz="1100" dirty="0"/>
              <a:t> </a:t>
            </a:r>
            <a:r>
              <a:rPr lang="ko-KR" altLang="de-DE" sz="1100" dirty="0"/>
              <a:t>등</a:t>
            </a:r>
            <a:endParaRPr sz="1100" dirty="0"/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/>
              <a:t>생산</a:t>
            </a:r>
            <a:r>
              <a:rPr lang="en-US" altLang="de-DE" sz="1100" dirty="0"/>
              <a:t> </a:t>
            </a:r>
            <a:r>
              <a:rPr lang="ko-KR" altLang="de-DE" sz="1100" dirty="0"/>
              <a:t>프로세스</a:t>
            </a:r>
            <a:r>
              <a:rPr lang="en-US" altLang="de-DE" sz="1100" dirty="0"/>
              <a:t> </a:t>
            </a:r>
            <a:endParaRPr sz="1100" dirty="0"/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ko-KR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“</a:t>
            </a:r>
            <a:r>
              <a:rPr lang="ko-KR" altLang="de-DE" sz="1325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자연독점</a:t>
            </a:r>
            <a:r>
              <a:rPr lang="en-US" altLang="de-DE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en-US" altLang="ko-KR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(natural monopoly)</a:t>
            </a:r>
            <a:r>
              <a:rPr lang="ko-KR" altLang="ko-KR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“</a:t>
            </a:r>
            <a:r>
              <a:rPr lang="en-US" altLang="ko-KR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: FC</a:t>
            </a:r>
            <a:r>
              <a:rPr lang="ko-KR" altLang="de-DE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가</a:t>
            </a:r>
            <a:r>
              <a:rPr lang="en-US" altLang="de-DE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ko-KR" altLang="de-DE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매우</a:t>
            </a:r>
            <a:r>
              <a:rPr lang="en-US" altLang="de-DE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ko-KR" altLang="de-DE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크고</a:t>
            </a:r>
            <a:r>
              <a:rPr lang="en-US" altLang="de-DE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en-US" altLang="ko-KR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MC</a:t>
            </a:r>
            <a:r>
              <a:rPr lang="ko-KR" altLang="de-DE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는</a:t>
            </a:r>
            <a:r>
              <a:rPr lang="en-US" altLang="de-DE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ko-KR" altLang="de-DE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작은</a:t>
            </a:r>
            <a:r>
              <a:rPr lang="en-US" altLang="de-DE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ko-KR" altLang="de-DE" sz="1325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경우</a:t>
            </a:r>
            <a:endParaRPr sz="1325" kern="1200" dirty="0">
              <a:solidFill>
                <a:schemeClr val="tx1"/>
              </a:solidFill>
              <a:latin typeface="+mn-lt"/>
              <a:ea typeface="+mn-ea"/>
              <a:cs typeface="+mn-cs"/>
              <a:sym typeface="Wingdings"/>
            </a:endParaRP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>
                <a:sym typeface="Wingdings"/>
              </a:rPr>
              <a:t>전력</a:t>
            </a:r>
            <a:r>
              <a:rPr lang="en-US" altLang="ko-KR" sz="1100" dirty="0">
                <a:sym typeface="Wingdings"/>
              </a:rPr>
              <a:t>, </a:t>
            </a:r>
            <a:r>
              <a:rPr lang="ko-KR" altLang="de-DE" sz="1100" dirty="0">
                <a:sym typeface="Wingdings"/>
              </a:rPr>
              <a:t>철도</a:t>
            </a:r>
            <a:r>
              <a:rPr lang="en-US" altLang="ko-KR" sz="1100" dirty="0">
                <a:sym typeface="Wingdings"/>
              </a:rPr>
              <a:t>, </a:t>
            </a:r>
            <a:r>
              <a:rPr lang="ko-KR" altLang="de-DE" sz="1100" dirty="0">
                <a:sym typeface="Wingdings"/>
              </a:rPr>
              <a:t>통신</a:t>
            </a:r>
            <a:r>
              <a:rPr lang="en-US" altLang="ko-KR" sz="1100" dirty="0">
                <a:sym typeface="Wingdings"/>
              </a:rPr>
              <a:t>, </a:t>
            </a:r>
            <a:r>
              <a:rPr lang="ko-KR" altLang="de-DE" sz="1100" dirty="0">
                <a:sym typeface="Wingdings"/>
              </a:rPr>
              <a:t>수고정비용도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등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사회인프라업종에서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많이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발생함</a:t>
            </a:r>
            <a:r>
              <a:rPr lang="en-US" altLang="ko-KR" sz="1100" dirty="0">
                <a:sym typeface="Wingdings"/>
              </a:rPr>
              <a:t>. </a:t>
            </a: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>
                <a:sym typeface="Wingdings"/>
              </a:rPr>
              <a:t>사업초기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막대한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투자가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필요한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경우</a:t>
            </a:r>
            <a:endParaRPr sz="1100" dirty="0">
              <a:sym typeface="Wingdings"/>
            </a:endParaRPr>
          </a:p>
          <a:p>
            <a:pPr marL="257175" lvl="1" indent="0" algn="l" defTabSz="514350" latinLnBrk="1">
              <a:lnSpc>
                <a:spcPct val="160000"/>
              </a:lnSpc>
              <a:spcBef>
                <a:spcPts val="281"/>
              </a:spcBef>
              <a:buNone/>
            </a:pPr>
            <a:endParaRPr sz="1075" kern="1200" dirty="0">
              <a:solidFill>
                <a:schemeClr val="tx1"/>
              </a:solidFill>
              <a:latin typeface="+mn-lt"/>
              <a:ea typeface="+mn-ea"/>
              <a:cs typeface="+mn-cs"/>
              <a:sym typeface="Wingdings"/>
            </a:endParaRP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독점기업의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수요곡선은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ko-KR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‘</a:t>
            </a:r>
            <a:r>
              <a:rPr lang="ko-KR" altLang="de-DE" sz="13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우하향</a:t>
            </a:r>
            <a:r>
              <a:rPr lang="ko-KR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‘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: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더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팔기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위해서는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가격을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내려야만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함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.</a:t>
            </a: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MR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≠ P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이며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, MR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곡선은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P(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수요곡선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)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보다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기울기가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더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큼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.</a:t>
            </a: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en-US" sz="1100" dirty="0">
                <a:sym typeface="Wingdings"/>
              </a:rPr>
              <a:t>간단한 수학적 이해 필수</a:t>
            </a:r>
            <a:endParaRPr lang="en-US" altLang="ko-KR" sz="1100" dirty="0">
              <a:sym typeface="Wingdings"/>
            </a:endParaRP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>
                <a:sym typeface="Wingdings"/>
              </a:rPr>
              <a:t>가격을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내리면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두가지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효과</a:t>
            </a:r>
            <a:r>
              <a:rPr lang="en-US" altLang="ko-KR" sz="1100" dirty="0">
                <a:sym typeface="Wingdings"/>
              </a:rPr>
              <a:t>(</a:t>
            </a:r>
            <a:r>
              <a:rPr lang="ko-KR" altLang="de-DE" sz="1100" dirty="0" err="1">
                <a:sym typeface="Wingdings"/>
              </a:rPr>
              <a:t>산출량효과</a:t>
            </a:r>
            <a:r>
              <a:rPr lang="en-US" altLang="ko-KR" sz="1100" dirty="0">
                <a:sym typeface="Wingdings"/>
              </a:rPr>
              <a:t>+</a:t>
            </a:r>
            <a:r>
              <a:rPr lang="ko-KR" altLang="de-DE" sz="1100" dirty="0" err="1">
                <a:sym typeface="Wingdings"/>
              </a:rPr>
              <a:t>가격효과</a:t>
            </a:r>
            <a:r>
              <a:rPr lang="en-US" altLang="ko-KR" sz="1100" dirty="0">
                <a:sym typeface="Wingdings"/>
              </a:rPr>
              <a:t>)</a:t>
            </a:r>
            <a:r>
              <a:rPr lang="ko-KR" altLang="de-DE" sz="1100" dirty="0">
                <a:sym typeface="Wingdings"/>
              </a:rPr>
              <a:t>가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발생하기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때문</a:t>
            </a:r>
            <a:endParaRPr sz="1100" dirty="0">
              <a:sym typeface="Wingdings"/>
            </a:endParaRP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 err="1">
                <a:sym typeface="Wingdings"/>
              </a:rPr>
              <a:t>가격효과</a:t>
            </a:r>
            <a:r>
              <a:rPr lang="en-US" altLang="de-DE" sz="1100" dirty="0">
                <a:sym typeface="Wingdings"/>
              </a:rPr>
              <a:t> </a:t>
            </a:r>
            <a:r>
              <a:rPr lang="en-US" altLang="ko-KR" sz="1100" dirty="0">
                <a:sym typeface="Wingdings"/>
              </a:rPr>
              <a:t>&gt; </a:t>
            </a:r>
            <a:r>
              <a:rPr lang="ko-KR" altLang="de-DE" sz="1100" dirty="0">
                <a:sym typeface="Wingdings"/>
              </a:rPr>
              <a:t>산출량효과인</a:t>
            </a:r>
            <a:r>
              <a:rPr lang="en-US" altLang="ko-KR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경우</a:t>
            </a:r>
            <a:r>
              <a:rPr lang="en-US" altLang="ko-KR" sz="1100" dirty="0">
                <a:sym typeface="Wingdings"/>
              </a:rPr>
              <a:t>, MR</a:t>
            </a:r>
            <a:r>
              <a:rPr lang="ko-KR" altLang="de-DE" sz="1100" dirty="0">
                <a:sym typeface="Wingdings"/>
              </a:rPr>
              <a:t>은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마이너스</a:t>
            </a:r>
            <a:endParaRPr sz="1100" dirty="0">
              <a:sym typeface="Wingdings"/>
            </a:endParaRP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endParaRPr sz="1300" kern="1200" dirty="0">
              <a:solidFill>
                <a:schemeClr val="tx1"/>
              </a:solidFill>
              <a:latin typeface="+mn-lt"/>
              <a:ea typeface="+mn-ea"/>
              <a:cs typeface="+mn-cs"/>
              <a:sym typeface="Wingdings"/>
            </a:endParaRP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독점기업의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ko-KR" altLang="de-DE" sz="13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이익극대화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,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기본원리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MR = MC </a:t>
            </a: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독점기업은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ko-KR" altLang="de-DE" sz="13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가격설정자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 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price maker</a:t>
            </a: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en-US" altLang="ko-KR" sz="1100" dirty="0">
                <a:sym typeface="Wingdings"/>
              </a:rPr>
              <a:t> </a:t>
            </a:r>
            <a:r>
              <a:rPr lang="ko-KR" altLang="ko-KR" sz="1100" dirty="0">
                <a:sym typeface="Wingdings"/>
              </a:rPr>
              <a:t>“</a:t>
            </a:r>
            <a:r>
              <a:rPr lang="ko-KR" altLang="de-DE" sz="1100" dirty="0">
                <a:sym typeface="Wingdings"/>
              </a:rPr>
              <a:t>독점기업은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공급곡선이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없다</a:t>
            </a:r>
            <a:r>
              <a:rPr lang="ko-KR" altLang="ko-KR" sz="1100" dirty="0">
                <a:sym typeface="Wingdings"/>
              </a:rPr>
              <a:t>“</a:t>
            </a:r>
            <a:r>
              <a:rPr lang="en-US" altLang="ko-KR" sz="1100" dirty="0">
                <a:sym typeface="Wingdings"/>
              </a:rPr>
              <a:t> </a:t>
            </a: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endParaRPr sz="1300" kern="1200" dirty="0">
              <a:solidFill>
                <a:schemeClr val="tx1"/>
              </a:solidFill>
              <a:latin typeface="+mn-lt"/>
              <a:ea typeface="+mn-ea"/>
              <a:cs typeface="+mn-cs"/>
              <a:sym typeface="Wingdings"/>
            </a:endParaRP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독점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vs.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ko-KR" altLang="de-DE" sz="13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경쟁시장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후생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비교</a:t>
            </a:r>
            <a:endParaRPr sz="1300" kern="1200" dirty="0">
              <a:solidFill>
                <a:schemeClr val="tx1"/>
              </a:solidFill>
              <a:latin typeface="+mn-lt"/>
              <a:ea typeface="+mn-ea"/>
              <a:cs typeface="+mn-cs"/>
              <a:sym typeface="Wingdings"/>
            </a:endParaRP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>
                <a:sym typeface="Wingdings"/>
              </a:rPr>
              <a:t>경쟁시장에서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사회의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후생</a:t>
            </a:r>
            <a:r>
              <a:rPr lang="en-US" altLang="ko-KR" sz="1100" dirty="0">
                <a:sym typeface="Wingdings"/>
              </a:rPr>
              <a:t>(</a:t>
            </a:r>
            <a:r>
              <a:rPr lang="ko-KR" altLang="de-DE" sz="1100" dirty="0" err="1">
                <a:sym typeface="Wingdings"/>
              </a:rPr>
              <a:t>총잉여</a:t>
            </a:r>
            <a:r>
              <a:rPr lang="en-US" altLang="ko-KR" sz="1100" dirty="0">
                <a:sym typeface="Wingdings"/>
              </a:rPr>
              <a:t>)</a:t>
            </a:r>
            <a:r>
              <a:rPr lang="ko-KR" altLang="de-DE" sz="1100" dirty="0">
                <a:sym typeface="Wingdings"/>
              </a:rPr>
              <a:t>는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극대화된다</a:t>
            </a:r>
            <a:r>
              <a:rPr lang="en-US" altLang="ko-KR" sz="1100" dirty="0">
                <a:sym typeface="Wingdings"/>
              </a:rPr>
              <a:t>.</a:t>
            </a: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>
                <a:sym typeface="Wingdings"/>
              </a:rPr>
              <a:t>독점의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경우</a:t>
            </a:r>
            <a:r>
              <a:rPr lang="en-US" altLang="ko-KR" sz="1100" dirty="0">
                <a:sym typeface="Wingdings"/>
              </a:rPr>
              <a:t>,</a:t>
            </a:r>
            <a:r>
              <a:rPr lang="en-US" altLang="de-DE" sz="1100" dirty="0">
                <a:sym typeface="Wingdings"/>
              </a:rPr>
              <a:t> </a:t>
            </a:r>
            <a:r>
              <a:rPr lang="en-US" altLang="ko-KR" sz="1100" dirty="0">
                <a:sym typeface="Wingdings"/>
              </a:rPr>
              <a:t>(</a:t>
            </a:r>
            <a:r>
              <a:rPr lang="ko-KR" altLang="de-DE" sz="1100" dirty="0" err="1">
                <a:sym typeface="Wingdings"/>
              </a:rPr>
              <a:t>경쟁시장에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비해</a:t>
            </a:r>
            <a:r>
              <a:rPr lang="en-US" altLang="ko-KR" sz="1100" dirty="0">
                <a:sym typeface="Wingdings"/>
              </a:rPr>
              <a:t>) </a:t>
            </a:r>
            <a:r>
              <a:rPr lang="ko-KR" altLang="de-DE" sz="1100" dirty="0">
                <a:sym typeface="Wingdings"/>
              </a:rPr>
              <a:t>가격은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비싸고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생산량은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적다</a:t>
            </a:r>
            <a:r>
              <a:rPr lang="en-US" altLang="ko-KR" sz="1100" dirty="0">
                <a:sym typeface="Wingdings"/>
              </a:rPr>
              <a:t>. </a:t>
            </a: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>
                <a:sym typeface="Wingdings"/>
              </a:rPr>
              <a:t>그래서</a:t>
            </a:r>
            <a:r>
              <a:rPr lang="en-US" altLang="ko-KR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후생에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손실이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생긴다</a:t>
            </a:r>
            <a:r>
              <a:rPr lang="en-US" altLang="ko-KR" sz="1100" dirty="0">
                <a:sym typeface="Wingdings"/>
              </a:rPr>
              <a:t>.  </a:t>
            </a:r>
            <a:r>
              <a:rPr lang="ko-KR" altLang="de-DE" sz="1100" dirty="0">
                <a:sym typeface="Wingdings"/>
              </a:rPr>
              <a:t>독점의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ko-KR" sz="1100" dirty="0">
                <a:sym typeface="Wingdings"/>
              </a:rPr>
              <a:t>“</a:t>
            </a:r>
            <a:r>
              <a:rPr lang="ko-KR" altLang="de-DE" sz="1100" dirty="0" err="1">
                <a:sym typeface="Wingdings"/>
              </a:rPr>
              <a:t>자중손실</a:t>
            </a:r>
            <a:r>
              <a:rPr lang="en-US" altLang="ko-KR" sz="1100" dirty="0">
                <a:sym typeface="Wingdings"/>
              </a:rPr>
              <a:t>(deadweight loss)</a:t>
            </a:r>
            <a:r>
              <a:rPr lang="ko-KR" altLang="ko-KR" sz="1100" dirty="0">
                <a:sym typeface="Wingdings"/>
              </a:rPr>
              <a:t>“</a:t>
            </a:r>
          </a:p>
          <a:p>
            <a:pPr marL="128588" lvl="0" indent="-128588" algn="l" defTabSz="514350" latinLnBrk="1">
              <a:lnSpc>
                <a:spcPct val="16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de-DE" sz="13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독점</a:t>
            </a:r>
            <a:r>
              <a:rPr lang="ko-KR" altLang="en-US" sz="13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약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vs. </a:t>
            </a:r>
            <a:r>
              <a:rPr lang="ko-KR" altLang="de-DE" sz="13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복제약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시장의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사례</a:t>
            </a:r>
            <a:endParaRPr sz="1300" kern="1200" dirty="0">
              <a:solidFill>
                <a:schemeClr val="tx1"/>
              </a:solidFill>
              <a:latin typeface="+mn-lt"/>
              <a:ea typeface="+mn-ea"/>
              <a:cs typeface="+mn-cs"/>
              <a:sym typeface="Wingdings"/>
            </a:endParaRP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>
                <a:sym typeface="Wingdings"/>
              </a:rPr>
              <a:t>어떤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제약사가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특정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약에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특허를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가지고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있으면서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독점을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형성</a:t>
            </a:r>
            <a:endParaRPr sz="1100" dirty="0">
              <a:sym typeface="Wingdings"/>
            </a:endParaRP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>
                <a:sym typeface="Wingdings"/>
              </a:rPr>
              <a:t>시간이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지나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특허가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만료되면서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 err="1">
                <a:sym typeface="Wingdings"/>
              </a:rPr>
              <a:t>복제약이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등장하고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시장은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경쟁시장으로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전환됨</a:t>
            </a:r>
            <a:r>
              <a:rPr lang="en-US" altLang="ko-KR" sz="1100" dirty="0">
                <a:sym typeface="Wingdings"/>
              </a:rPr>
              <a:t>. </a:t>
            </a: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en-US" altLang="ko-KR" sz="1100" dirty="0">
                <a:sym typeface="Wingdings"/>
              </a:rPr>
              <a:t>MC</a:t>
            </a:r>
            <a:r>
              <a:rPr lang="ko-KR" altLang="de-DE" sz="1100" dirty="0">
                <a:sym typeface="Wingdings"/>
              </a:rPr>
              <a:t>가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수평인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이유</a:t>
            </a:r>
            <a:r>
              <a:rPr lang="en-US" altLang="ko-KR" sz="1100" dirty="0">
                <a:sym typeface="Wingdings"/>
              </a:rPr>
              <a:t>? </a:t>
            </a:r>
            <a:endParaRPr sz="1100" dirty="0">
              <a:sym typeface="Wingdings"/>
            </a:endParaRPr>
          </a:p>
        </p:txBody>
      </p:sp>
      <p:sp>
        <p:nvSpPr>
          <p:cNvPr id="5" name="slide2_shape3"/>
          <p:cNvSpPr>
            <a:spLocks noGrp="1"/>
          </p:cNvSpPr>
          <p:nvPr>
            <p:ph type="sldNum" sz="quarter" idx="12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algn="r" defTabSz="914400" latinLnBrk="1"/>
            <a:fld id="{4BEDD84E-25D4-4983-8AA1-2863C96F08D9}" type="slidenum">
              <a:rPr lang="en-US" altLang="ko-KR"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1</a:t>
            </a:fld>
            <a:endParaRPr sz="675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3_shape1"/>
          <p:cNvSpPr>
            <a:spLocks noGrp="1"/>
          </p:cNvSpPr>
          <p:nvPr>
            <p:ph idx="1"/>
          </p:nvPr>
        </p:nvSpPr>
        <p:spPr>
          <a:xfrm>
            <a:off x="471488" y="702944"/>
            <a:ext cx="5915025" cy="10708005"/>
          </a:xfrm>
          <a:prstGeom prst="rect">
            <a:avLst/>
          </a:prstGeom>
        </p:spPr>
        <p:txBody>
          <a:bodyPr lIns="91440" tIns="45720" rIns="91440" bIns="45720"/>
          <a:lstStyle/>
          <a:p>
            <a:pPr marL="128588" lvl="0" indent="-128588" algn="l" defTabSz="514350" latinLnBrk="1">
              <a:lnSpc>
                <a:spcPct val="15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de-DE" sz="1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가격차별</a:t>
            </a:r>
            <a:r>
              <a:rPr lang="en-US" altLang="ko-K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(price discrimination) </a:t>
            </a: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>
                <a:sym typeface="Wingdings"/>
              </a:rPr>
              <a:t>독점기업이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이익을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극대화하는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하나의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전략</a:t>
            </a:r>
            <a:endParaRPr sz="1100" dirty="0">
              <a:sym typeface="Wingdings"/>
            </a:endParaRPr>
          </a:p>
          <a:p>
            <a:pPr marL="128588" lvl="0" indent="-128588" algn="l" defTabSz="514350" latinLnBrk="1">
              <a:lnSpc>
                <a:spcPct val="15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완전가격차별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(Perfect price discrimination)</a:t>
            </a: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>
                <a:sym typeface="Wingdings"/>
              </a:rPr>
              <a:t>모든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구매자들에게</a:t>
            </a:r>
            <a:r>
              <a:rPr lang="en-US" altLang="ko-KR" sz="1100" dirty="0">
                <a:sym typeface="Wingdings"/>
              </a:rPr>
              <a:t> </a:t>
            </a:r>
            <a:r>
              <a:rPr lang="ko-KR" altLang="de-DE" sz="1100" dirty="0" err="1">
                <a:sym typeface="Wingdings"/>
              </a:rPr>
              <a:t>지불의사</a:t>
            </a:r>
            <a:r>
              <a:rPr lang="en-US" altLang="ko-KR" sz="1100" dirty="0">
                <a:sym typeface="Wingdings"/>
              </a:rPr>
              <a:t>(WTP) </a:t>
            </a:r>
            <a:r>
              <a:rPr lang="ko-KR" altLang="de-DE" sz="1100" dirty="0">
                <a:sym typeface="Wingdings"/>
              </a:rPr>
              <a:t>만큼을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가격으로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부과함</a:t>
            </a:r>
            <a:r>
              <a:rPr lang="en-US" altLang="ko-KR" sz="1100" dirty="0">
                <a:sym typeface="Wingdings"/>
              </a:rPr>
              <a:t>. </a:t>
            </a: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 err="1">
                <a:sym typeface="Wingdings"/>
              </a:rPr>
              <a:t>지불의사</a:t>
            </a:r>
            <a:r>
              <a:rPr lang="en-US" altLang="ko-KR" sz="1100" dirty="0">
                <a:sym typeface="Wingdings"/>
              </a:rPr>
              <a:t> willingness to pay : </a:t>
            </a:r>
            <a:r>
              <a:rPr lang="ko-KR" altLang="de-DE" sz="1100" dirty="0">
                <a:sym typeface="Wingdings"/>
              </a:rPr>
              <a:t>어떤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재화에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대해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소비자가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최대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얼마까지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지불할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의사가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있는가를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나타내는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금액</a:t>
            </a:r>
            <a:endParaRPr sz="1100" dirty="0">
              <a:sym typeface="Wingdings"/>
            </a:endParaRP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en-US" altLang="ko-KR" sz="1100" dirty="0">
                <a:sym typeface="Wingdings"/>
              </a:rPr>
              <a:t>1</a:t>
            </a:r>
            <a:r>
              <a:rPr lang="ko-KR" altLang="de-DE" sz="1100" dirty="0">
                <a:sym typeface="Wingdings"/>
              </a:rPr>
              <a:t>급</a:t>
            </a:r>
            <a:r>
              <a:rPr lang="en-US" altLang="ko-KR" sz="1100" dirty="0">
                <a:sym typeface="Wingdings"/>
              </a:rPr>
              <a:t>(First degree)</a:t>
            </a:r>
            <a:r>
              <a:rPr lang="ko-KR" altLang="de-DE" sz="1100" dirty="0" err="1">
                <a:sym typeface="Wingdings"/>
              </a:rPr>
              <a:t>가격차별이라고도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부름</a:t>
            </a:r>
            <a:endParaRPr sz="1100" dirty="0">
              <a:sym typeface="Wingdings"/>
            </a:endParaRP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>
                <a:sym typeface="Wingdings"/>
              </a:rPr>
              <a:t>이론적으로는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가능하나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현실에서는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잘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일어나지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않음</a:t>
            </a:r>
            <a:r>
              <a:rPr lang="en-US" altLang="ko-KR" sz="1100" dirty="0">
                <a:sym typeface="Wingdings"/>
              </a:rPr>
              <a:t>. </a:t>
            </a:r>
          </a:p>
          <a:p>
            <a:pPr marL="128588" lvl="0" indent="-128588" algn="l" defTabSz="514350" latinLnBrk="1">
              <a:lnSpc>
                <a:spcPct val="15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단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하나의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가격만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설정하는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단일가격독점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(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또는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ko-KR" altLang="de-DE" sz="13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순수독점</a:t>
            </a:r>
            <a:r>
              <a:rPr lang="en-US" altLang="ko-KR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)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과의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/>
              </a:rPr>
              <a:t>비교</a:t>
            </a:r>
            <a:endParaRPr sz="1300" kern="1200" dirty="0">
              <a:solidFill>
                <a:schemeClr val="tx1"/>
              </a:solidFill>
              <a:latin typeface="+mn-lt"/>
              <a:ea typeface="+mn-ea"/>
              <a:cs typeface="+mn-cs"/>
              <a:sym typeface="Wingdings"/>
            </a:endParaRP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 err="1">
                <a:sym typeface="Wingdings"/>
              </a:rPr>
              <a:t>가격차별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시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 err="1">
                <a:sym typeface="Wingdings"/>
              </a:rPr>
              <a:t>독점기엄의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이익은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더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커진다</a:t>
            </a:r>
            <a:endParaRPr sz="1100" dirty="0">
              <a:sym typeface="Wingdings"/>
            </a:endParaRP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 err="1">
                <a:sym typeface="Wingdings"/>
              </a:rPr>
              <a:t>자중손실이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없어진다</a:t>
            </a:r>
            <a:r>
              <a:rPr lang="en-US" altLang="ko-KR" sz="1100" dirty="0">
                <a:sym typeface="Wingdings"/>
              </a:rPr>
              <a:t>  </a:t>
            </a:r>
            <a:r>
              <a:rPr lang="ko-KR" altLang="de-DE" sz="1100" dirty="0">
                <a:sym typeface="Wingdings"/>
              </a:rPr>
              <a:t>사회전체의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후생면에서는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>
                <a:sym typeface="Wingdings"/>
              </a:rPr>
              <a:t>오히려</a:t>
            </a:r>
            <a:r>
              <a:rPr lang="en-US" altLang="de-DE" sz="1100" dirty="0">
                <a:sym typeface="Wingdings"/>
              </a:rPr>
              <a:t> </a:t>
            </a:r>
            <a:r>
              <a:rPr lang="ko-KR" altLang="de-DE" sz="1100" dirty="0" err="1">
                <a:sym typeface="Wingdings"/>
              </a:rPr>
              <a:t>바람직</a:t>
            </a:r>
            <a:endParaRPr sz="1100" dirty="0">
              <a:sym typeface="Wingdings"/>
            </a:endParaRPr>
          </a:p>
          <a:p>
            <a:pPr marL="128588" lvl="0" indent="-128588" algn="l" defTabSz="514350" latinLnBrk="1">
              <a:lnSpc>
                <a:spcPct val="15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완전가격차별은</a:t>
            </a:r>
            <a:r>
              <a:rPr lang="en-US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왜</a:t>
            </a:r>
            <a:r>
              <a:rPr lang="en-US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어려운가</a:t>
            </a:r>
            <a:r>
              <a:rPr lang="en-US" altLang="ko-K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</a:t>
            </a:r>
          </a:p>
          <a:p>
            <a:pPr marL="128588" lvl="0" indent="-128588" algn="l" defTabSz="514350" latinLnBrk="1">
              <a:lnSpc>
                <a:spcPct val="15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가격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차별의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실제</a:t>
            </a:r>
            <a:r>
              <a:rPr lang="en-US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de-DE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사례</a:t>
            </a:r>
            <a:endParaRPr sz="1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/>
              <a:t>기업은</a:t>
            </a:r>
            <a:r>
              <a:rPr lang="en-US" altLang="de-DE" sz="1100" dirty="0"/>
              <a:t> </a:t>
            </a:r>
            <a:r>
              <a:rPr lang="ko-KR" altLang="de-DE" sz="1100" dirty="0"/>
              <a:t>소비자의</a:t>
            </a:r>
            <a:r>
              <a:rPr lang="en-US" altLang="de-DE" sz="1100" dirty="0"/>
              <a:t> </a:t>
            </a:r>
            <a:r>
              <a:rPr lang="ko-KR" altLang="de-DE" sz="1100" dirty="0"/>
              <a:t>구매력</a:t>
            </a:r>
            <a:r>
              <a:rPr lang="en-US" altLang="ko-KR" sz="1100" dirty="0"/>
              <a:t>, </a:t>
            </a:r>
            <a:r>
              <a:rPr lang="ko-KR" altLang="de-DE" sz="1100" dirty="0" err="1"/>
              <a:t>지불의사를</a:t>
            </a:r>
            <a:r>
              <a:rPr lang="en-US" altLang="de-DE" sz="1100" dirty="0"/>
              <a:t> </a:t>
            </a:r>
            <a:r>
              <a:rPr lang="ko-KR" altLang="de-DE" sz="1100" dirty="0"/>
              <a:t>여러가지</a:t>
            </a:r>
            <a:r>
              <a:rPr lang="en-US" altLang="de-DE" sz="1100" dirty="0"/>
              <a:t> </a:t>
            </a:r>
            <a:r>
              <a:rPr lang="ko-KR" altLang="de-DE" sz="1100" dirty="0"/>
              <a:t>채널을</a:t>
            </a:r>
            <a:r>
              <a:rPr lang="en-US" altLang="de-DE" sz="1100" dirty="0"/>
              <a:t> </a:t>
            </a:r>
            <a:r>
              <a:rPr lang="ko-KR" altLang="de-DE" sz="1100" dirty="0"/>
              <a:t>통해</a:t>
            </a:r>
            <a:r>
              <a:rPr lang="en-US" altLang="de-DE" sz="1100" dirty="0"/>
              <a:t> </a:t>
            </a:r>
            <a:r>
              <a:rPr lang="ko-KR" altLang="de-DE" sz="1100" dirty="0"/>
              <a:t>알아내려고</a:t>
            </a:r>
            <a:r>
              <a:rPr lang="en-US" altLang="de-DE" sz="1100" dirty="0"/>
              <a:t> </a:t>
            </a:r>
            <a:r>
              <a:rPr lang="ko-KR" altLang="de-DE" sz="1100" dirty="0"/>
              <a:t>애쓴다</a:t>
            </a:r>
            <a:r>
              <a:rPr lang="en-US" altLang="ko-KR" sz="1100" dirty="0"/>
              <a:t>. </a:t>
            </a: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en-US" altLang="de-DE" sz="1100" dirty="0"/>
              <a:t> </a:t>
            </a:r>
            <a:r>
              <a:rPr lang="ko-KR" altLang="de-DE" sz="1100" dirty="0"/>
              <a:t>조조할인</a:t>
            </a:r>
            <a:r>
              <a:rPr lang="en-US" altLang="ko-KR" sz="1100" dirty="0"/>
              <a:t>, </a:t>
            </a:r>
            <a:r>
              <a:rPr lang="ko-KR" altLang="de-DE" sz="1100" dirty="0"/>
              <a:t>시간대별</a:t>
            </a:r>
            <a:r>
              <a:rPr lang="en-US" altLang="de-DE" sz="1100" dirty="0"/>
              <a:t> </a:t>
            </a:r>
            <a:r>
              <a:rPr lang="ko-KR" altLang="de-DE" sz="1100" dirty="0"/>
              <a:t>항공권</a:t>
            </a:r>
            <a:r>
              <a:rPr lang="en-US" altLang="de-DE" sz="1100" dirty="0"/>
              <a:t> </a:t>
            </a:r>
            <a:r>
              <a:rPr lang="ko-KR" altLang="de-DE" sz="1100" dirty="0"/>
              <a:t>할인</a:t>
            </a:r>
            <a:r>
              <a:rPr lang="en-US" altLang="ko-KR" sz="1100" dirty="0"/>
              <a:t>, </a:t>
            </a:r>
            <a:r>
              <a:rPr lang="ko-KR" altLang="de-DE" sz="1100" dirty="0"/>
              <a:t>할인쿠폰</a:t>
            </a:r>
            <a:r>
              <a:rPr lang="en-US" altLang="ko-KR" sz="1100" dirty="0"/>
              <a:t>, </a:t>
            </a:r>
            <a:r>
              <a:rPr lang="ko-KR" altLang="de-DE" sz="1100" dirty="0"/>
              <a:t>양적</a:t>
            </a:r>
            <a:r>
              <a:rPr lang="en-US" altLang="de-DE" sz="1100" dirty="0"/>
              <a:t> </a:t>
            </a:r>
            <a:r>
              <a:rPr lang="ko-KR" altLang="de-DE" sz="1100" dirty="0"/>
              <a:t>할인</a:t>
            </a:r>
            <a:r>
              <a:rPr lang="en-US" altLang="ko-KR" sz="1100" dirty="0"/>
              <a:t>...</a:t>
            </a:r>
            <a:endParaRPr sz="1100" dirty="0"/>
          </a:p>
          <a:p>
            <a:pPr marL="128588" lvl="0" indent="-128588" algn="l" defTabSz="514350" latinLnBrk="1">
              <a:lnSpc>
                <a:spcPct val="150000"/>
              </a:lnSpc>
              <a:spcBef>
                <a:spcPts val="563"/>
              </a:spcBef>
              <a:buFont typeface="Arial" pitchFamily="2" charset="2"/>
              <a:buChar char="•"/>
            </a:pPr>
            <a:endParaRPr sz="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28588" lvl="0" indent="-128588" algn="l" defTabSz="514350" latinLnBrk="1">
              <a:lnSpc>
                <a:spcPct val="15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독점에</a:t>
            </a:r>
            <a:r>
              <a:rPr lang="en-US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대한</a:t>
            </a:r>
            <a:r>
              <a:rPr lang="en-US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정부정책</a:t>
            </a:r>
            <a:r>
              <a:rPr lang="en-US" altLang="ko-K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반독점</a:t>
            </a:r>
            <a:r>
              <a:rPr lang="en-US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정책</a:t>
            </a:r>
            <a:r>
              <a:rPr lang="en-US" altLang="ko-K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/>
              <a:t>왜</a:t>
            </a:r>
            <a:r>
              <a:rPr lang="en-US" altLang="de-DE" sz="1100" dirty="0"/>
              <a:t> </a:t>
            </a:r>
            <a:r>
              <a:rPr lang="ko-KR" altLang="de-DE" sz="1100" dirty="0"/>
              <a:t>독점을</a:t>
            </a:r>
            <a:r>
              <a:rPr lang="en-US" altLang="de-DE" sz="1100" dirty="0"/>
              <a:t> </a:t>
            </a:r>
            <a:r>
              <a:rPr lang="ko-KR" altLang="de-DE" sz="1100" dirty="0"/>
              <a:t>법으로</a:t>
            </a:r>
            <a:r>
              <a:rPr lang="en-US" altLang="de-DE" sz="1100" dirty="0"/>
              <a:t> </a:t>
            </a:r>
            <a:r>
              <a:rPr lang="ko-KR" altLang="de-DE" sz="1100" dirty="0"/>
              <a:t>규제하나</a:t>
            </a:r>
            <a:r>
              <a:rPr lang="en-US" altLang="ko-KR" sz="1100" dirty="0"/>
              <a:t>? </a:t>
            </a:r>
            <a:r>
              <a:rPr lang="ko-KR" altLang="ko-KR" sz="1100" dirty="0"/>
              <a:t>“</a:t>
            </a:r>
            <a:r>
              <a:rPr lang="ko-KR" altLang="de-DE" sz="1100" dirty="0"/>
              <a:t>정부는</a:t>
            </a:r>
            <a:r>
              <a:rPr lang="en-US" altLang="de-DE" sz="1100" dirty="0"/>
              <a:t> </a:t>
            </a:r>
            <a:r>
              <a:rPr lang="ko-KR" altLang="de-DE" sz="1100" dirty="0" err="1"/>
              <a:t>경쟁시장을</a:t>
            </a:r>
            <a:r>
              <a:rPr lang="en-US" altLang="de-DE" sz="1100" dirty="0"/>
              <a:t> </a:t>
            </a:r>
            <a:r>
              <a:rPr lang="ko-KR" altLang="de-DE" sz="1100" dirty="0"/>
              <a:t>선호</a:t>
            </a:r>
            <a:r>
              <a:rPr lang="ko-KR" altLang="ko-KR" sz="1100" dirty="0"/>
              <a:t>“</a:t>
            </a:r>
          </a:p>
          <a:p>
            <a:pPr marL="128588" lvl="0" indent="-128588" algn="l" defTabSz="514350" latinLnBrk="1">
              <a:lnSpc>
                <a:spcPct val="15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en-US" altLang="ko-K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</a:t>
            </a:r>
            <a:r>
              <a:rPr lang="ko-KR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세기</a:t>
            </a:r>
            <a:r>
              <a:rPr lang="en-US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후반</a:t>
            </a:r>
            <a:r>
              <a:rPr lang="en-US" altLang="ko-K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~20</a:t>
            </a:r>
            <a:r>
              <a:rPr lang="ko-KR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세기</a:t>
            </a:r>
            <a:r>
              <a:rPr lang="en-US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전반</a:t>
            </a:r>
            <a:r>
              <a:rPr lang="en-US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미국에서</a:t>
            </a:r>
            <a:r>
              <a:rPr lang="en-US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de-DE" sz="1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반독점법</a:t>
            </a:r>
            <a:r>
              <a:rPr lang="en-US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제정</a:t>
            </a:r>
            <a:endParaRPr sz="1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/>
              <a:t>우리나라는</a:t>
            </a:r>
            <a:r>
              <a:rPr lang="en-US" altLang="de-DE" sz="1100" dirty="0"/>
              <a:t> </a:t>
            </a:r>
            <a:r>
              <a:rPr lang="en-US" altLang="ko-KR" sz="1100" dirty="0"/>
              <a:t>1980</a:t>
            </a:r>
            <a:r>
              <a:rPr lang="ko-KR" altLang="de-DE" sz="1100" dirty="0"/>
              <a:t>년에</a:t>
            </a:r>
            <a:r>
              <a:rPr lang="en-US" altLang="de-DE" sz="1100" dirty="0"/>
              <a:t> </a:t>
            </a:r>
            <a:r>
              <a:rPr lang="ko-KR" altLang="de-DE" sz="1100" dirty="0"/>
              <a:t>독점규제</a:t>
            </a:r>
            <a:r>
              <a:rPr lang="en-US" altLang="de-DE" sz="1100" dirty="0"/>
              <a:t> </a:t>
            </a:r>
            <a:r>
              <a:rPr lang="ko-KR" altLang="de-DE" sz="1100" dirty="0"/>
              <a:t>및</a:t>
            </a:r>
            <a:r>
              <a:rPr lang="en-US" altLang="de-DE" sz="1100" dirty="0"/>
              <a:t> </a:t>
            </a:r>
            <a:r>
              <a:rPr lang="ko-KR" altLang="de-DE" sz="1100" dirty="0"/>
              <a:t>공정거래에</a:t>
            </a:r>
            <a:r>
              <a:rPr lang="en-US" altLang="de-DE" sz="1100" dirty="0"/>
              <a:t> </a:t>
            </a:r>
            <a:r>
              <a:rPr lang="ko-KR" altLang="de-DE" sz="1100" dirty="0"/>
              <a:t>관한</a:t>
            </a:r>
            <a:r>
              <a:rPr lang="en-US" altLang="de-DE" sz="1100" dirty="0"/>
              <a:t> </a:t>
            </a:r>
            <a:r>
              <a:rPr lang="ko-KR" altLang="de-DE" sz="1100" dirty="0"/>
              <a:t>법률</a:t>
            </a:r>
            <a:r>
              <a:rPr lang="en-US" altLang="de-DE" sz="1100" dirty="0"/>
              <a:t> </a:t>
            </a:r>
            <a:r>
              <a:rPr lang="ko-KR" altLang="de-DE" sz="1100" dirty="0"/>
              <a:t>제정</a:t>
            </a:r>
            <a:r>
              <a:rPr lang="en-US" altLang="ko-KR" sz="1100" dirty="0"/>
              <a:t>. </a:t>
            </a: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/>
              <a:t>공정거래위원회</a:t>
            </a:r>
            <a:r>
              <a:rPr lang="en-US" altLang="ko-KR" sz="1100" dirty="0"/>
              <a:t>(Fair Trade Commission)</a:t>
            </a:r>
            <a:r>
              <a:rPr lang="ko-KR" altLang="de-DE" sz="1100" dirty="0"/>
              <a:t>의</a:t>
            </a:r>
            <a:r>
              <a:rPr lang="en-US" altLang="de-DE" sz="1100" dirty="0"/>
              <a:t> </a:t>
            </a:r>
            <a:r>
              <a:rPr lang="ko-KR" altLang="de-DE" sz="1100" dirty="0"/>
              <a:t>활동</a:t>
            </a:r>
            <a:r>
              <a:rPr lang="en-US" altLang="de-DE" sz="1100" dirty="0"/>
              <a:t> </a:t>
            </a:r>
            <a:r>
              <a:rPr lang="ko-KR" altLang="de-DE" sz="1100" dirty="0"/>
              <a:t>근거</a:t>
            </a:r>
            <a:endParaRPr sz="1100" dirty="0"/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/>
              <a:t>합병</a:t>
            </a:r>
            <a:r>
              <a:rPr lang="en-US" altLang="de-DE" sz="1100" dirty="0"/>
              <a:t> </a:t>
            </a:r>
            <a:r>
              <a:rPr lang="ko-KR" altLang="de-DE" sz="1100" dirty="0"/>
              <a:t>심사</a:t>
            </a:r>
            <a:r>
              <a:rPr lang="en-US" altLang="de-DE" sz="1100" dirty="0"/>
              <a:t> </a:t>
            </a:r>
            <a:r>
              <a:rPr lang="ko-KR" altLang="de-DE" sz="1100" dirty="0"/>
              <a:t>및</a:t>
            </a:r>
            <a:r>
              <a:rPr lang="en-US" altLang="de-DE" sz="1100" dirty="0"/>
              <a:t> </a:t>
            </a:r>
            <a:r>
              <a:rPr lang="ko-KR" altLang="de-DE" sz="1100" dirty="0"/>
              <a:t>금지</a:t>
            </a:r>
            <a:r>
              <a:rPr lang="en-US" altLang="ko-KR" sz="1100" dirty="0"/>
              <a:t>, </a:t>
            </a:r>
            <a:r>
              <a:rPr lang="ko-KR" altLang="de-DE" sz="1100" dirty="0"/>
              <a:t>분할</a:t>
            </a:r>
            <a:r>
              <a:rPr lang="en-US" altLang="de-DE" sz="1100" dirty="0"/>
              <a:t> </a:t>
            </a:r>
            <a:r>
              <a:rPr lang="ko-KR" altLang="de-DE" sz="1100" dirty="0"/>
              <a:t>명령</a:t>
            </a:r>
            <a:r>
              <a:rPr lang="en-US" altLang="ko-KR" sz="1100" dirty="0"/>
              <a:t>, </a:t>
            </a:r>
            <a:r>
              <a:rPr lang="ko-KR" altLang="de-DE" sz="1100" dirty="0"/>
              <a:t>담합</a:t>
            </a:r>
            <a:r>
              <a:rPr lang="en-US" altLang="de-DE" sz="1100" dirty="0"/>
              <a:t> </a:t>
            </a:r>
            <a:r>
              <a:rPr lang="ko-KR" altLang="de-DE" sz="1100" dirty="0"/>
              <a:t>방지</a:t>
            </a:r>
            <a:r>
              <a:rPr lang="en-US" altLang="de-DE" sz="1100" dirty="0"/>
              <a:t> </a:t>
            </a:r>
            <a:r>
              <a:rPr lang="ko-KR" altLang="de-DE" sz="1100" dirty="0"/>
              <a:t>등</a:t>
            </a:r>
            <a:endParaRPr sz="1100" dirty="0"/>
          </a:p>
          <a:p>
            <a:pPr marL="128588" lvl="0" indent="-128588" algn="l" defTabSz="514350" latinLnBrk="1">
              <a:lnSpc>
                <a:spcPct val="15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가격규제</a:t>
            </a:r>
            <a:r>
              <a:rPr lang="en-US" altLang="ko-K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/>
              <a:t>독점기업의</a:t>
            </a:r>
            <a:r>
              <a:rPr lang="en-US" altLang="de-DE" sz="1100" dirty="0"/>
              <a:t> </a:t>
            </a:r>
            <a:r>
              <a:rPr lang="ko-KR" altLang="de-DE" sz="1100" dirty="0"/>
              <a:t>가격을</a:t>
            </a:r>
            <a:r>
              <a:rPr lang="en-US" altLang="de-DE" sz="1100" dirty="0"/>
              <a:t> </a:t>
            </a:r>
            <a:r>
              <a:rPr lang="ko-KR" altLang="de-DE" sz="1100" dirty="0"/>
              <a:t>직접적으로</a:t>
            </a:r>
            <a:r>
              <a:rPr lang="en-US" altLang="de-DE" sz="1100" dirty="0"/>
              <a:t> </a:t>
            </a:r>
            <a:r>
              <a:rPr lang="ko-KR" altLang="de-DE" sz="1100" dirty="0"/>
              <a:t>규제</a:t>
            </a:r>
            <a:endParaRPr sz="1100" dirty="0"/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/>
              <a:t>정부의</a:t>
            </a:r>
            <a:r>
              <a:rPr lang="en-US" altLang="de-DE" sz="1100" dirty="0"/>
              <a:t> </a:t>
            </a:r>
            <a:r>
              <a:rPr lang="ko-KR" altLang="de-DE" sz="1100" dirty="0"/>
              <a:t>영향력</a:t>
            </a:r>
            <a:r>
              <a:rPr lang="en-US" altLang="de-DE" sz="1100" dirty="0"/>
              <a:t> </a:t>
            </a:r>
            <a:r>
              <a:rPr lang="ko-KR" altLang="de-DE" sz="1100" dirty="0"/>
              <a:t>하에</a:t>
            </a:r>
            <a:r>
              <a:rPr lang="en-US" altLang="de-DE" sz="1100" dirty="0"/>
              <a:t> </a:t>
            </a:r>
            <a:r>
              <a:rPr lang="ko-KR" altLang="de-DE" sz="1100" dirty="0"/>
              <a:t>있는</a:t>
            </a:r>
            <a:r>
              <a:rPr lang="en-US" altLang="de-DE" sz="1100" dirty="0"/>
              <a:t> </a:t>
            </a:r>
            <a:r>
              <a:rPr lang="ko-KR" altLang="de-DE" sz="1100" dirty="0"/>
              <a:t>공기업</a:t>
            </a:r>
            <a:r>
              <a:rPr lang="en-US" altLang="ko-KR" sz="1100" dirty="0"/>
              <a:t>, </a:t>
            </a:r>
            <a:r>
              <a:rPr lang="ko-KR" altLang="de-DE" sz="1100" dirty="0" err="1"/>
              <a:t>자연독점인</a:t>
            </a:r>
            <a:r>
              <a:rPr lang="en-US" altLang="de-DE" sz="1100" dirty="0"/>
              <a:t> </a:t>
            </a:r>
            <a:r>
              <a:rPr lang="ko-KR" altLang="de-DE" sz="1100" dirty="0"/>
              <a:t>경우에</a:t>
            </a:r>
            <a:r>
              <a:rPr lang="en-US" altLang="de-DE" sz="1100" dirty="0"/>
              <a:t> </a:t>
            </a:r>
            <a:r>
              <a:rPr lang="ko-KR" altLang="de-DE" sz="1100" dirty="0"/>
              <a:t>주로</a:t>
            </a:r>
            <a:r>
              <a:rPr lang="en-US" altLang="de-DE" sz="1100" dirty="0"/>
              <a:t> </a:t>
            </a:r>
            <a:r>
              <a:rPr lang="ko-KR" altLang="de-DE" sz="1100" dirty="0"/>
              <a:t>적용</a:t>
            </a:r>
            <a:endParaRPr sz="1100" dirty="0"/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/>
              <a:t>한계비용</a:t>
            </a:r>
            <a:r>
              <a:rPr lang="en-US" altLang="ko-KR" sz="1100" dirty="0"/>
              <a:t> </a:t>
            </a:r>
            <a:r>
              <a:rPr lang="ko-KR" altLang="de-DE" sz="1100" dirty="0"/>
              <a:t>가격책정</a:t>
            </a:r>
            <a:r>
              <a:rPr lang="en-US" altLang="de-DE" sz="1100" dirty="0"/>
              <a:t> </a:t>
            </a:r>
            <a:r>
              <a:rPr lang="en-US" altLang="ko-KR" sz="1100" dirty="0"/>
              <a:t>MC Pricing : </a:t>
            </a:r>
            <a:r>
              <a:rPr lang="ko-KR" altLang="de-DE" sz="1100" dirty="0" err="1"/>
              <a:t>경쟁시장을</a:t>
            </a:r>
            <a:r>
              <a:rPr lang="en-US" altLang="de-DE" sz="1100" dirty="0"/>
              <a:t> </a:t>
            </a:r>
            <a:r>
              <a:rPr lang="ko-KR" altLang="de-DE" sz="1100" dirty="0"/>
              <a:t>벤치마킹한</a:t>
            </a:r>
            <a:r>
              <a:rPr lang="en-US" altLang="de-DE" sz="1100" dirty="0"/>
              <a:t> </a:t>
            </a:r>
            <a:r>
              <a:rPr lang="ko-KR" altLang="de-DE" sz="1100" dirty="0"/>
              <a:t>이상적</a:t>
            </a:r>
            <a:r>
              <a:rPr lang="en-US" altLang="de-DE" sz="1100" dirty="0"/>
              <a:t> </a:t>
            </a:r>
            <a:r>
              <a:rPr lang="en-US" altLang="ko-KR" sz="1100" dirty="0"/>
              <a:t>approach. </a:t>
            </a: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/>
              <a:t>단</a:t>
            </a:r>
            <a:r>
              <a:rPr lang="en-US" altLang="ko-KR" sz="1100" dirty="0"/>
              <a:t>,</a:t>
            </a:r>
            <a:r>
              <a:rPr lang="en-US" altLang="de-DE" sz="1100" dirty="0"/>
              <a:t> </a:t>
            </a:r>
            <a:r>
              <a:rPr lang="ko-KR" altLang="de-DE" sz="1100" dirty="0"/>
              <a:t>기업이</a:t>
            </a:r>
            <a:r>
              <a:rPr lang="en-US" altLang="de-DE" sz="1100" dirty="0"/>
              <a:t> </a:t>
            </a:r>
            <a:r>
              <a:rPr lang="ko-KR" altLang="de-DE" sz="1100" dirty="0"/>
              <a:t>손실을</a:t>
            </a:r>
            <a:r>
              <a:rPr lang="en-US" altLang="de-DE" sz="1100" dirty="0"/>
              <a:t> </a:t>
            </a:r>
            <a:r>
              <a:rPr lang="ko-KR" altLang="de-DE" sz="1100" dirty="0"/>
              <a:t>볼</a:t>
            </a:r>
            <a:r>
              <a:rPr lang="en-US" altLang="de-DE" sz="1100" dirty="0"/>
              <a:t> </a:t>
            </a:r>
            <a:r>
              <a:rPr lang="ko-KR" altLang="de-DE" sz="1100" dirty="0"/>
              <a:t>수도</a:t>
            </a:r>
            <a:r>
              <a:rPr lang="en-US" altLang="de-DE" sz="1100" dirty="0"/>
              <a:t> </a:t>
            </a:r>
            <a:r>
              <a:rPr lang="ko-KR" altLang="de-DE" sz="1100" dirty="0"/>
              <a:t>있음</a:t>
            </a:r>
            <a:r>
              <a:rPr lang="en-US" altLang="ko-KR" sz="1100" dirty="0"/>
              <a:t>.</a:t>
            </a: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 err="1"/>
              <a:t>평균비용</a:t>
            </a:r>
            <a:r>
              <a:rPr lang="en-US" altLang="de-DE" sz="1100" dirty="0"/>
              <a:t> </a:t>
            </a:r>
            <a:r>
              <a:rPr lang="ko-KR" altLang="de-DE" sz="1100" dirty="0"/>
              <a:t>가격책정</a:t>
            </a:r>
            <a:r>
              <a:rPr lang="en-US" altLang="de-DE" sz="1100" dirty="0"/>
              <a:t> </a:t>
            </a:r>
            <a:r>
              <a:rPr lang="en-US" altLang="ko-KR" sz="1100" dirty="0"/>
              <a:t>AC</a:t>
            </a:r>
            <a:r>
              <a:rPr lang="en-US" altLang="de-DE" sz="1100" dirty="0"/>
              <a:t> </a:t>
            </a:r>
            <a:r>
              <a:rPr lang="en-US" altLang="ko-KR" sz="1100" dirty="0"/>
              <a:t>Pricing : </a:t>
            </a:r>
            <a:r>
              <a:rPr lang="ko-KR" altLang="de-DE" sz="1100" dirty="0"/>
              <a:t>기업이</a:t>
            </a:r>
            <a:r>
              <a:rPr lang="en-US" altLang="de-DE" sz="1100" dirty="0"/>
              <a:t> </a:t>
            </a:r>
            <a:r>
              <a:rPr lang="ko-KR" altLang="de-DE" sz="1100" dirty="0"/>
              <a:t>최소한</a:t>
            </a:r>
            <a:r>
              <a:rPr lang="en-US" altLang="de-DE" sz="1100" dirty="0"/>
              <a:t> </a:t>
            </a:r>
            <a:r>
              <a:rPr lang="ko-KR" altLang="de-DE" sz="1100" dirty="0"/>
              <a:t>손실을</a:t>
            </a:r>
            <a:r>
              <a:rPr lang="en-US" altLang="de-DE" sz="1100" dirty="0"/>
              <a:t> </a:t>
            </a:r>
            <a:r>
              <a:rPr lang="ko-KR" altLang="de-DE" sz="1100" dirty="0"/>
              <a:t>내지</a:t>
            </a:r>
            <a:r>
              <a:rPr lang="en-US" altLang="de-DE" sz="1100" dirty="0"/>
              <a:t> </a:t>
            </a:r>
            <a:r>
              <a:rPr lang="ko-KR" altLang="de-DE" sz="1100" dirty="0"/>
              <a:t>않도록</a:t>
            </a:r>
            <a:endParaRPr sz="1100" dirty="0"/>
          </a:p>
          <a:p>
            <a:pPr marL="128588" lvl="0" indent="-128588" algn="l" defTabSz="514350" latinLnBrk="1">
              <a:lnSpc>
                <a:spcPct val="15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de-DE" sz="1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공공소유로</a:t>
            </a:r>
            <a:r>
              <a:rPr lang="en-US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전환</a:t>
            </a:r>
            <a:endParaRPr sz="1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1" rtl="0">
              <a:lnSpc>
                <a:spcPct val="160000"/>
              </a:lnSpc>
              <a:buFontTx/>
              <a:buChar char="-"/>
            </a:pPr>
            <a:r>
              <a:rPr lang="ko-KR" altLang="de-DE" sz="1100" dirty="0"/>
              <a:t>효율성의</a:t>
            </a:r>
            <a:r>
              <a:rPr lang="en-US" altLang="de-DE" sz="1100" dirty="0"/>
              <a:t> </a:t>
            </a:r>
            <a:r>
              <a:rPr lang="ko-KR" altLang="de-DE" sz="1100" dirty="0"/>
              <a:t>문제</a:t>
            </a:r>
            <a:r>
              <a:rPr lang="en-US" altLang="de-DE" sz="1100" dirty="0"/>
              <a:t> </a:t>
            </a:r>
            <a:endParaRPr sz="1100" dirty="0"/>
          </a:p>
          <a:p>
            <a:pPr marL="128588" lvl="0" indent="-128588" algn="l" defTabSz="514350" latinLnBrk="1">
              <a:lnSpc>
                <a:spcPct val="15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방치</a:t>
            </a:r>
            <a:r>
              <a:rPr lang="en-US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 nothing</a:t>
            </a:r>
          </a:p>
          <a:p>
            <a:pPr marL="128588" lvl="0" indent="-128588" algn="l" defTabSz="514350" latinLnBrk="1">
              <a:lnSpc>
                <a:spcPct val="150000"/>
              </a:lnSpc>
              <a:spcBef>
                <a:spcPts val="563"/>
              </a:spcBef>
              <a:buFont typeface="Arial" pitchFamily="2" charset="2"/>
              <a:buChar char="•"/>
            </a:pPr>
            <a:r>
              <a:rPr lang="ko-KR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그리고</a:t>
            </a:r>
            <a:r>
              <a:rPr lang="en-US" altLang="ko-KR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독점과</a:t>
            </a:r>
            <a:r>
              <a:rPr lang="en-US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기술</a:t>
            </a:r>
            <a:r>
              <a:rPr lang="en-US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혁신의</a:t>
            </a:r>
            <a:r>
              <a:rPr lang="en-US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문제</a:t>
            </a:r>
            <a:endParaRPr sz="1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3_shape2"/>
          <p:cNvSpPr>
            <a:spLocks noGrp="1"/>
          </p:cNvSpPr>
          <p:nvPr>
            <p:ph type="sldNum" sz="quarter" idx="12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algn="r" defTabSz="914400" latinLnBrk="1"/>
            <a:fld id="{4BEDD84E-25D4-4983-8AA1-2863C96F08D9}" type="slidenum">
              <a:rPr lang="en-US" altLang="ko-KR"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2</a:t>
            </a:fld>
            <a:endParaRPr sz="675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맑은 고딕"/>
        <a:ea typeface=""/>
        <a:cs typeface=""/>
        <a:font script="Arab" typeface="Times New Roman"/>
        <a:font script="Beng" typeface="Vrinda"/>
        <a:font script="Cans" typeface="Euphemia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ans" typeface="等线 Light"/>
        <a:font script="Hant" typeface="新細明體"/>
        <a:font script="Hebr" typeface="Times New Roman"/>
        <a:font script="Jpan" typeface="游ゴシック Light"/>
        <a:font script="Khmr" typeface="MoolBoran"/>
        <a:font script="Knda" typeface="Tunga"/>
        <a:font script="Laoo" typeface="DokChampa"/>
        <a:font script="Mlym" typeface="Kartika"/>
        <a:font script="Mong" typeface="Mongolian Baiti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Uigh" typeface="Microsoft Uighur"/>
        <a:font script="Viet" typeface="Times New Roman"/>
        <a:font script="Yiii" typeface="Microsoft Yi Baiti"/>
      </a:majorFont>
      <a:minorFont>
        <a:latin typeface="맑은 고딕"/>
        <a:ea typeface=""/>
        <a:cs typeface=""/>
        <a:font script="Arab" typeface="Arial"/>
        <a:font script="Beng" typeface="Vrinda"/>
        <a:font script="Cans" typeface="Euphemia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ans" typeface="等线"/>
        <a:font script="Hant" typeface="新細明體"/>
        <a:font script="Hebr" typeface="Arial"/>
        <a:font script="Jpan" typeface="游ゴシック"/>
        <a:font script="Khmr" typeface="DaunPenh"/>
        <a:font script="Knda" typeface="Tunga"/>
        <a:font script="Laoo" typeface="DokChampa"/>
        <a:font script="Mlym" typeface="Kartika"/>
        <a:font script="Mong" typeface="Mongolian Baiti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Uigh" typeface="Microsoft Uighur"/>
        <a:font script="Viet" typeface="Arial"/>
        <a:font script="Yiii" typeface="Microsoft Yi Baiti"/>
      </a:minorFont>
    </a:fontScheme>
    <a:fmtScheme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  <a:satMod val="105000"/>
              </a:schemeClr>
            </a:gs>
            <a:gs pos="50000">
              <a:schemeClr val="phClr">
                <a:lumMod val="105000"/>
                <a:tint val="73000"/>
                <a:satMod val="103000"/>
              </a:schemeClr>
            </a:gs>
            <a:gs pos="100000">
              <a:schemeClr val="phClr">
                <a:lumMod val="105000"/>
                <a:tint val="81000"/>
                <a:satMod val="10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lumMod val="102000"/>
                <a:tint val="94000"/>
                <a:satMod val="103000"/>
              </a:schemeClr>
            </a:gs>
            <a:gs pos="50000">
              <a:schemeClr val="phClr">
                <a:lumMod val="100000"/>
                <a:shade val="100000"/>
                <a:satMod val="110000"/>
              </a:schemeClr>
            </a:gs>
            <a:gs pos="100000">
              <a:schemeClr val="phClr">
                <a:lumMod val="99000"/>
                <a:shade val="78000"/>
                <a:satMod val="120000"/>
              </a:schemeClr>
            </a:gs>
          </a:gsLst>
          <a:lin ang="5400000" scaled="1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tint val="93000"/>
                <a:shade val="98000"/>
                <a:satMod val="150000"/>
              </a:schemeClr>
            </a:gs>
            <a:gs pos="50000">
              <a:schemeClr val="phClr">
                <a:lumMod val="103000"/>
                <a:tint val="98000"/>
                <a:shade val="90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452</Words>
  <Application>Microsoft Office PowerPoint</Application>
  <PresentationFormat>와이드스크린</PresentationFormat>
  <Paragraphs>63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Wingdings</vt:lpstr>
      <vt:lpstr/>
      <vt:lpstr>15장. 독점 (Monopoly)</vt:lpstr>
      <vt:lpstr>PowerPoint 프레젠테이션</vt:lpstr>
    </vt:vector>
  </TitlesOfParts>
  <Company>사이냅소프트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Microsoft 계정</cp:lastModifiedBy>
  <cp:revision>2</cp:revision>
  <dcterms:modified xsi:type="dcterms:W3CDTF">2023-05-06T11:54:47Z</dcterms:modified>
</cp:coreProperties>
</file>