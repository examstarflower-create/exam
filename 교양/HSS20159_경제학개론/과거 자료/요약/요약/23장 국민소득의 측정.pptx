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31" r:id="rId1"/>
  </p:sldMasterIdLst>
  <p:notesMasterIdLst>
    <p:notesMasterId r:id="rId5"/>
  </p:notesMasterIdLst>
  <p:sldIdLst>
    <p:sldId id="257" r:id="rId2"/>
    <p:sldId id="258" r:id="rId3"/>
    <p:sldId id="259" r:id="rId4"/>
  </p:sldIdLst>
  <p:sldSz cx="6858000" cy="12192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189" autoAdjust="0"/>
    <p:restoredTop sz="94660"/>
  </p:normalViewPr>
  <p:slideViewPr>
    <p:cSldViewPr snapToGrid="0">
      <p:cViewPr>
        <p:scale>
          <a:sx n="100" d="100"/>
          <a:sy n="100" d="100"/>
        </p:scale>
        <p:origin x="2868" y="-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3ACC92-CB11-4036-ADF7-E0BC6A6A1264}" type="datetimeFigureOut">
              <a:rPr lang="ko-KR" altLang="en-US" smtClean="0"/>
              <a:t>2022-12-25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EE10A1-D3FC-451D-B227-50AB5FD54F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0385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57250" y="1995312"/>
            <a:ext cx="5143500" cy="4244622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68940-2C76-495C-8FB7-F4A9D28239AA}" type="datetime1">
              <a:rPr lang="ko-KR" altLang="en-US" smtClean="0"/>
              <a:t>2022-12-25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4845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3A891-E498-4678-8D06-486FCC2BADEF}" type="datetime1">
              <a:rPr lang="ko-KR" altLang="en-US" smtClean="0"/>
              <a:t>2022-12-25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678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67916" y="3039535"/>
            <a:ext cx="5915025" cy="5071532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67916" y="8159046"/>
            <a:ext cx="5915025" cy="266699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4FA93-A02B-42D6-A8B3-8681C853C7B8}" type="datetime1">
              <a:rPr lang="ko-KR" altLang="en-US" smtClean="0"/>
              <a:t>2022-12-25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5947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91E48-2200-4646-B2AF-8A65E8AA4025}" type="datetime1">
              <a:rPr lang="ko-KR" altLang="en-US" smtClean="0"/>
              <a:t>2022-12-25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456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649112"/>
            <a:ext cx="5915025" cy="235655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F0A6E-CDCA-463B-AB9C-2AD65F7DC7CE}" type="datetime1">
              <a:rPr lang="ko-KR" altLang="en-US" smtClean="0"/>
              <a:t>2022-12-25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9918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2F37D-F6B4-429A-93F0-670EB34C6EF1}" type="datetime1">
              <a:rPr lang="ko-KR" altLang="en-US" smtClean="0"/>
              <a:t>2022-12-25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8359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75B21-6647-4787-AAB5-A8BA543A8A03}" type="datetime1">
              <a:rPr lang="ko-KR" altLang="en-US" smtClean="0"/>
              <a:t>2022-12-25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1135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F1AC2-CEA2-4AD0-9EED-9798843472E1}" type="datetime1">
              <a:rPr lang="ko-KR" altLang="en-US" smtClean="0"/>
              <a:t>2022-12-25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6768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37C7C-8297-41A4-AED2-93F81127B44B}" type="datetime1">
              <a:rPr lang="ko-KR" altLang="en-US" smtClean="0"/>
              <a:t>2022-12-25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5451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448E2-EAB7-4DB0-B809-DCB379E8731B}" type="datetime1">
              <a:rPr lang="ko-KR" altLang="en-US" smtClean="0"/>
              <a:t>2022-12-25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311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4907756" y="649111"/>
            <a:ext cx="1478756" cy="10332156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71487" y="649111"/>
            <a:ext cx="4350544" cy="10332156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703C7-C7FA-46F0-BB19-A2462D02B89C}" type="datetime1">
              <a:rPr lang="ko-KR" altLang="en-US" smtClean="0"/>
              <a:t>2022-12-25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7099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71488" y="649112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71488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36E84B-CCB9-4E10-8C0E-8C6664F6450B}" type="datetime1">
              <a:rPr lang="ko-KR" altLang="en-US" smtClean="0"/>
              <a:t>2022-12-25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271713" y="11300179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843463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2197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2" r:id="rId1"/>
    <p:sldLayoutId id="2147484133" r:id="rId2"/>
    <p:sldLayoutId id="2147484134" r:id="rId3"/>
    <p:sldLayoutId id="2147484135" r:id="rId4"/>
    <p:sldLayoutId id="2147484136" r:id="rId5"/>
    <p:sldLayoutId id="2147484137" r:id="rId6"/>
    <p:sldLayoutId id="2147484138" r:id="rId7"/>
    <p:sldLayoutId id="2147484139" r:id="rId8"/>
    <p:sldLayoutId id="2147484140" r:id="rId9"/>
    <p:sldLayoutId id="2147484141" r:id="rId10"/>
    <p:sldLayoutId id="2147484142" r:id="rId11"/>
  </p:sldLayoutIdLst>
  <p:hf hdr="0" ftr="0" dt="0"/>
  <p:txStyles>
    <p:titleStyle>
      <a:lvl1pPr algn="l" defTabSz="514350" rtl="0" eaLnBrk="1" latinLnBrk="1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1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114920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de-DE" altLang="ko-KR" dirty="0"/>
              <a:t>23</a:t>
            </a:r>
            <a:r>
              <a:rPr lang="ko-KR" altLang="en-US" dirty="0"/>
              <a:t>장</a:t>
            </a:r>
            <a:r>
              <a:rPr lang="de-DE" altLang="ko-KR" dirty="0"/>
              <a:t>.</a:t>
            </a:r>
            <a:r>
              <a:rPr lang="ko-KR" altLang="en-US" dirty="0"/>
              <a:t> </a:t>
            </a:r>
            <a:r>
              <a:rPr lang="ko-KR" altLang="de-DE" dirty="0"/>
              <a:t>국민소득의</a:t>
            </a:r>
            <a:r>
              <a:rPr lang="de-DE" altLang="ko-KR" dirty="0"/>
              <a:t> </a:t>
            </a:r>
            <a:r>
              <a:rPr lang="ko-KR" altLang="de-DE" dirty="0"/>
              <a:t>측정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1488" y="1798320"/>
            <a:ext cx="5915025" cy="9574530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ko-KR" altLang="de-DE" sz="1300" dirty="0"/>
              <a:t>국내총생산 </a:t>
            </a:r>
            <a:r>
              <a:rPr lang="de-DE" altLang="ko-KR" sz="1300" dirty="0"/>
              <a:t>Gross Domestic Product, GDP</a:t>
            </a:r>
          </a:p>
          <a:p>
            <a:pPr>
              <a:lnSpc>
                <a:spcPct val="160000"/>
              </a:lnSpc>
            </a:pPr>
            <a:r>
              <a:rPr lang="ko-KR" altLang="de-DE" sz="1300" dirty="0"/>
              <a:t>경제가 만들어낸 재화와 서비스 산출물의 총량 </a:t>
            </a:r>
            <a:r>
              <a:rPr lang="de-DE" altLang="ko-KR" sz="1300" dirty="0"/>
              <a:t>(total product)</a:t>
            </a:r>
            <a:r>
              <a:rPr lang="ko-KR" altLang="de-DE" sz="1300" dirty="0"/>
              <a:t> </a:t>
            </a:r>
            <a:r>
              <a:rPr lang="de-DE" altLang="ko-KR" sz="1300" dirty="0"/>
              <a:t>= </a:t>
            </a:r>
            <a:r>
              <a:rPr lang="ko-KR" altLang="de-DE" sz="1300" dirty="0"/>
              <a:t>경제 내 모든 사람의 총소득 </a:t>
            </a:r>
            <a:r>
              <a:rPr lang="de-DE" altLang="ko-KR" sz="1300" dirty="0"/>
              <a:t>(total income) = </a:t>
            </a:r>
            <a:r>
              <a:rPr lang="ko-KR" altLang="de-DE" sz="1300" dirty="0"/>
              <a:t>재화와 서비스 산출물에 대한 총지출</a:t>
            </a:r>
            <a:r>
              <a:rPr lang="de-DE" altLang="ko-KR" sz="1300" dirty="0"/>
              <a:t>(total expenditure)</a:t>
            </a:r>
          </a:p>
          <a:p>
            <a:pPr>
              <a:lnSpc>
                <a:spcPct val="160000"/>
              </a:lnSpc>
            </a:pPr>
            <a:r>
              <a:rPr lang="de-DE" altLang="ko-KR" sz="1300" dirty="0"/>
              <a:t>3</a:t>
            </a:r>
            <a:r>
              <a:rPr lang="ko-KR" altLang="de-DE" sz="1300" dirty="0"/>
              <a:t>면 등가</a:t>
            </a:r>
            <a:r>
              <a:rPr lang="de-DE" altLang="ko-KR" sz="1300" dirty="0"/>
              <a:t>(</a:t>
            </a:r>
            <a:r>
              <a:rPr lang="ko-KR" altLang="de-DE" sz="1300" dirty="0"/>
              <a:t>等價</a:t>
            </a:r>
            <a:r>
              <a:rPr lang="de-DE" altLang="ko-KR" sz="1300" dirty="0"/>
              <a:t>)</a:t>
            </a:r>
            <a:r>
              <a:rPr lang="ko-KR" altLang="de-DE" sz="1300" dirty="0"/>
              <a:t>의 원칙 </a:t>
            </a:r>
            <a:r>
              <a:rPr lang="de-DE" altLang="ko-KR" sz="1300" dirty="0"/>
              <a:t>: “</a:t>
            </a:r>
            <a:r>
              <a:rPr lang="ko-KR" altLang="de-DE" sz="1300" dirty="0"/>
              <a:t>생산과 소득과 지출은 모두 같은 크기를 갖는다</a:t>
            </a:r>
            <a:r>
              <a:rPr lang="de-DE" altLang="ko-KR" sz="1300" dirty="0"/>
              <a:t>“. </a:t>
            </a:r>
          </a:p>
          <a:p>
            <a:pPr>
              <a:lnSpc>
                <a:spcPct val="160000"/>
              </a:lnSpc>
            </a:pPr>
            <a:endParaRPr lang="de-DE" altLang="ko-KR" sz="1300" dirty="0"/>
          </a:p>
          <a:p>
            <a:pPr>
              <a:lnSpc>
                <a:spcPct val="160000"/>
              </a:lnSpc>
            </a:pPr>
            <a:r>
              <a:rPr lang="ko-KR" altLang="de-DE" sz="1300" dirty="0"/>
              <a:t>경제순환모형</a:t>
            </a:r>
            <a:r>
              <a:rPr lang="de-DE" altLang="ko-KR" sz="1300" dirty="0"/>
              <a:t>: </a:t>
            </a:r>
            <a:r>
              <a:rPr lang="ko-KR" altLang="de-DE" sz="1300" dirty="0"/>
              <a:t>거시경제의 단순 묘사</a:t>
            </a:r>
            <a:endParaRPr lang="de-DE" altLang="ko-KR" sz="1300" dirty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de-DE" sz="1100" dirty="0" smtClean="0"/>
              <a:t>기업</a:t>
            </a:r>
            <a:r>
              <a:rPr lang="de-DE" altLang="ko-KR" sz="1100" dirty="0"/>
              <a:t>, </a:t>
            </a:r>
            <a:r>
              <a:rPr lang="ko-KR" altLang="de-DE" sz="1100" dirty="0"/>
              <a:t>가계</a:t>
            </a:r>
            <a:r>
              <a:rPr lang="de-DE" altLang="ko-KR" sz="1100" dirty="0"/>
              <a:t>, </a:t>
            </a:r>
            <a:r>
              <a:rPr lang="ko-KR" altLang="de-DE" sz="1100" dirty="0"/>
              <a:t>시장</a:t>
            </a:r>
            <a:r>
              <a:rPr lang="de-DE" altLang="ko-KR" sz="1100" dirty="0"/>
              <a:t>(</a:t>
            </a:r>
            <a:r>
              <a:rPr lang="ko-KR" altLang="de-DE" sz="1100" dirty="0"/>
              <a:t>재화와 서비스 시장</a:t>
            </a:r>
            <a:r>
              <a:rPr lang="de-DE" altLang="ko-KR" sz="1100" dirty="0"/>
              <a:t>, </a:t>
            </a:r>
            <a:r>
              <a:rPr lang="ko-KR" altLang="de-DE" sz="1100" dirty="0"/>
              <a:t>생산요소시장</a:t>
            </a:r>
            <a:r>
              <a:rPr lang="de-DE" altLang="ko-KR" sz="1100" dirty="0" smtClean="0"/>
              <a:t>)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de-DE" sz="1100" dirty="0" smtClean="0"/>
              <a:t>여기에 </a:t>
            </a:r>
            <a:r>
              <a:rPr lang="ko-KR" altLang="de-DE" sz="1100" dirty="0"/>
              <a:t>정부</a:t>
            </a:r>
            <a:r>
              <a:rPr lang="de-DE" altLang="ko-KR" sz="1100" dirty="0"/>
              <a:t>, </a:t>
            </a:r>
            <a:r>
              <a:rPr lang="ko-KR" altLang="de-DE" sz="1100" dirty="0"/>
              <a:t>금융시스템</a:t>
            </a:r>
            <a:r>
              <a:rPr lang="de-DE" altLang="ko-KR" sz="1100" dirty="0"/>
              <a:t>, </a:t>
            </a:r>
            <a:r>
              <a:rPr lang="ko-KR" altLang="de-DE" sz="1100" dirty="0" err="1"/>
              <a:t>국외분야</a:t>
            </a:r>
            <a:r>
              <a:rPr lang="de-DE" altLang="ko-KR" sz="1100" dirty="0"/>
              <a:t>(foreign sector)</a:t>
            </a:r>
            <a:r>
              <a:rPr lang="ko-KR" altLang="de-DE" sz="1100" dirty="0" err="1"/>
              <a:t>를</a:t>
            </a:r>
            <a:r>
              <a:rPr lang="ko-KR" altLang="de-DE" sz="1100" dirty="0"/>
              <a:t> 포함</a:t>
            </a:r>
            <a:endParaRPr lang="de-DE" altLang="ko-KR" sz="1100" dirty="0"/>
          </a:p>
          <a:p>
            <a:pPr>
              <a:lnSpc>
                <a:spcPct val="160000"/>
              </a:lnSpc>
            </a:pPr>
            <a:endParaRPr lang="de-DE" altLang="ko-KR" sz="1300" dirty="0"/>
          </a:p>
          <a:p>
            <a:pPr>
              <a:lnSpc>
                <a:spcPct val="160000"/>
              </a:lnSpc>
            </a:pPr>
            <a:r>
              <a:rPr lang="ko-KR" altLang="de-DE" sz="1300" dirty="0"/>
              <a:t>국내총생산</a:t>
            </a:r>
            <a:r>
              <a:rPr lang="de-DE" altLang="ko-KR" sz="1300" dirty="0"/>
              <a:t> GDP : 1)</a:t>
            </a:r>
            <a:r>
              <a:rPr lang="ko-KR" altLang="de-DE" sz="1300" dirty="0"/>
              <a:t> </a:t>
            </a:r>
            <a:r>
              <a:rPr lang="ko-KR" altLang="de-DE" sz="1300" u="sng" dirty="0"/>
              <a:t>한 나라에서</a:t>
            </a:r>
            <a:r>
              <a:rPr lang="ko-KR" altLang="de-DE" sz="1300" dirty="0"/>
              <a:t> </a:t>
            </a:r>
            <a:r>
              <a:rPr lang="de-DE" altLang="ko-KR" sz="1300" dirty="0"/>
              <a:t>2) </a:t>
            </a:r>
            <a:r>
              <a:rPr lang="ko-KR" altLang="de-DE" sz="1300" u="sng" dirty="0"/>
              <a:t>일정기간 동안</a:t>
            </a:r>
            <a:r>
              <a:rPr lang="ko-KR" altLang="de-DE" sz="1300" dirty="0"/>
              <a:t> 생산된 </a:t>
            </a:r>
            <a:r>
              <a:rPr lang="de-DE" altLang="ko-KR" sz="1300" dirty="0"/>
              <a:t>3) </a:t>
            </a:r>
            <a:r>
              <a:rPr lang="ko-KR" altLang="de-DE" sz="1300" u="sng" dirty="0"/>
              <a:t>모든 최종 재화와 서비스</a:t>
            </a:r>
            <a:r>
              <a:rPr lang="ko-KR" altLang="de-DE" sz="1300" dirty="0"/>
              <a:t>의 </a:t>
            </a:r>
            <a:r>
              <a:rPr lang="de-DE" altLang="ko-KR" sz="1300" dirty="0"/>
              <a:t>4) </a:t>
            </a:r>
            <a:r>
              <a:rPr lang="ko-KR" altLang="de-DE" sz="1300" u="sng" dirty="0"/>
              <a:t>시장 가치</a:t>
            </a:r>
            <a:r>
              <a:rPr lang="de-DE" altLang="ko-KR" sz="1300" u="sng" dirty="0"/>
              <a:t> </a:t>
            </a:r>
          </a:p>
          <a:p>
            <a:pPr>
              <a:lnSpc>
                <a:spcPct val="160000"/>
              </a:lnSpc>
            </a:pPr>
            <a:r>
              <a:rPr lang="ko-KR" altLang="de-DE" sz="1300" dirty="0"/>
              <a:t>한 나라에서</a:t>
            </a:r>
            <a:r>
              <a:rPr lang="de-DE" altLang="ko-KR" sz="1300" dirty="0"/>
              <a:t>: </a:t>
            </a:r>
            <a:r>
              <a:rPr lang="ko-KR" altLang="de-DE" sz="1300" dirty="0"/>
              <a:t>어떤 국가의 경계 안에서 일어난 생산물의 가치</a:t>
            </a:r>
            <a:r>
              <a:rPr lang="de-DE" altLang="ko-KR" sz="1300" dirty="0"/>
              <a:t>. </a:t>
            </a:r>
          </a:p>
          <a:p>
            <a:pPr marL="257175" lvl="1" indent="0">
              <a:lnSpc>
                <a:spcPct val="160000"/>
              </a:lnSpc>
              <a:buNone/>
            </a:pPr>
            <a:r>
              <a:rPr lang="en-US" altLang="ko-KR" sz="1100" dirty="0" smtClean="0"/>
              <a:t>- </a:t>
            </a:r>
            <a:r>
              <a:rPr lang="ko-KR" altLang="de-DE" sz="1100" dirty="0" smtClean="0"/>
              <a:t>자국내 </a:t>
            </a:r>
            <a:r>
              <a:rPr lang="ko-KR" altLang="de-DE" sz="1100" dirty="0"/>
              <a:t>외국인도 </a:t>
            </a:r>
            <a:r>
              <a:rPr lang="ko-KR" altLang="de-DE" sz="1100" dirty="0" smtClean="0"/>
              <a:t>포함</a:t>
            </a:r>
            <a:endParaRPr lang="de-DE" altLang="ko-KR" sz="1100" dirty="0"/>
          </a:p>
          <a:p>
            <a:pPr>
              <a:lnSpc>
                <a:spcPct val="160000"/>
              </a:lnSpc>
            </a:pPr>
            <a:r>
              <a:rPr lang="ko-KR" altLang="de-DE" sz="1300" dirty="0"/>
              <a:t>일정기간</a:t>
            </a:r>
            <a:r>
              <a:rPr lang="ko-KR" altLang="en-US" sz="1300" dirty="0"/>
              <a:t> </a:t>
            </a:r>
            <a:r>
              <a:rPr lang="ko-KR" altLang="de-DE" sz="1300" dirty="0"/>
              <a:t>동안</a:t>
            </a:r>
            <a:r>
              <a:rPr lang="de-DE" altLang="ko-KR" sz="1300" dirty="0"/>
              <a:t>: </a:t>
            </a:r>
            <a:r>
              <a:rPr lang="ko-KR" altLang="de-DE" sz="1300" dirty="0"/>
              <a:t>연간 혹은 분기</a:t>
            </a:r>
            <a:r>
              <a:rPr lang="ko-KR" altLang="en-US" sz="1300" dirty="0"/>
              <a:t> </a:t>
            </a:r>
            <a:r>
              <a:rPr lang="ko-KR" altLang="de-DE" sz="1300" dirty="0"/>
              <a:t>단위로 측정</a:t>
            </a:r>
            <a:endParaRPr lang="de-DE" altLang="ko-KR" sz="1300" dirty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de-DE" sz="1100" dirty="0"/>
              <a:t>통상 한해 동안 생산된 재화와 서비스를 포함</a:t>
            </a:r>
            <a:r>
              <a:rPr lang="de-DE" altLang="ko-KR" sz="1100" dirty="0"/>
              <a:t>. </a:t>
            </a:r>
            <a:endParaRPr lang="de-DE" altLang="ko-KR" sz="1100" dirty="0" smtClean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de-DE" sz="1100" dirty="0" smtClean="0"/>
              <a:t>과거에 </a:t>
            </a:r>
            <a:r>
              <a:rPr lang="ko-KR" altLang="de-DE" sz="1100" dirty="0"/>
              <a:t>생산된 것들은 포함하지 </a:t>
            </a:r>
            <a:r>
              <a:rPr lang="ko-KR" altLang="de-DE" sz="1100" dirty="0" smtClean="0"/>
              <a:t>않음</a:t>
            </a:r>
            <a:r>
              <a:rPr lang="en-US" altLang="ko-KR" sz="1100" dirty="0" smtClean="0"/>
              <a:t>.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de-DE" sz="1100" dirty="0" smtClean="0"/>
              <a:t>그 </a:t>
            </a:r>
            <a:r>
              <a:rPr lang="ko-KR" altLang="de-DE" sz="1100" dirty="0"/>
              <a:t>해에 만든 것 중 팔리지 않은 것들은 </a:t>
            </a:r>
            <a:r>
              <a:rPr lang="ko-KR" altLang="de-DE" sz="1100" dirty="0" err="1"/>
              <a:t>재고투자로</a:t>
            </a:r>
            <a:r>
              <a:rPr lang="ko-KR" altLang="de-DE" sz="1100" dirty="0"/>
              <a:t> </a:t>
            </a:r>
            <a:r>
              <a:rPr lang="de-DE" altLang="ko-KR" sz="1100" dirty="0"/>
              <a:t>GDP</a:t>
            </a:r>
            <a:r>
              <a:rPr lang="ko-KR" altLang="de-DE" sz="1100" dirty="0"/>
              <a:t>에 포함</a:t>
            </a:r>
            <a:r>
              <a:rPr lang="de-DE" altLang="ko-KR" sz="1100" dirty="0"/>
              <a:t>.</a:t>
            </a:r>
          </a:p>
          <a:p>
            <a:pPr>
              <a:lnSpc>
                <a:spcPct val="160000"/>
              </a:lnSpc>
            </a:pPr>
            <a:r>
              <a:rPr lang="ko-KR" altLang="de-DE" sz="1300" dirty="0"/>
              <a:t>모든 최종 재화와 서비스</a:t>
            </a:r>
            <a:endParaRPr lang="de-DE" altLang="ko-KR" sz="1300" dirty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de-DE" sz="1100" dirty="0"/>
              <a:t>합법적인 것들만 </a:t>
            </a:r>
            <a:r>
              <a:rPr lang="ko-KR" altLang="de-DE" sz="1100" dirty="0"/>
              <a:t>포함</a:t>
            </a:r>
            <a:r>
              <a:rPr lang="en-US" altLang="ko-KR" sz="1100" dirty="0"/>
              <a:t>.</a:t>
            </a:r>
            <a:endParaRPr lang="de-DE" altLang="ko-KR" sz="1100" dirty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de-DE" sz="1100" dirty="0"/>
              <a:t>가정에서 자가소비용으로</a:t>
            </a:r>
            <a:r>
              <a:rPr lang="de-DE" altLang="ko-KR" sz="1100" dirty="0"/>
              <a:t> </a:t>
            </a:r>
            <a:r>
              <a:rPr lang="ko-KR" altLang="de-DE" sz="1100" dirty="0"/>
              <a:t>생산 및 소비된 품목 </a:t>
            </a:r>
            <a:r>
              <a:rPr lang="ko-KR" altLang="de-DE" sz="1100" dirty="0"/>
              <a:t>제외</a:t>
            </a:r>
            <a:r>
              <a:rPr lang="en-US" altLang="ko-KR" sz="1100" dirty="0"/>
              <a:t>.</a:t>
            </a:r>
            <a:endParaRPr lang="de-DE" altLang="ko-KR" sz="1100" dirty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de-DE" sz="1100" dirty="0" err="1"/>
              <a:t>최종재만</a:t>
            </a:r>
            <a:r>
              <a:rPr lang="ko-KR" altLang="de-DE" sz="1100" dirty="0"/>
              <a:t> 포함시키며 중간재</a:t>
            </a:r>
            <a:r>
              <a:rPr lang="de-DE" altLang="ko-KR" sz="1100" dirty="0"/>
              <a:t>(</a:t>
            </a:r>
            <a:r>
              <a:rPr lang="ko-KR" altLang="de-DE" sz="1100" dirty="0"/>
              <a:t>부품</a:t>
            </a:r>
            <a:r>
              <a:rPr lang="de-DE" altLang="ko-KR" sz="1100" dirty="0"/>
              <a:t>, </a:t>
            </a:r>
            <a:r>
              <a:rPr lang="ko-KR" altLang="de-DE" sz="1100" dirty="0"/>
              <a:t>원재료</a:t>
            </a:r>
            <a:r>
              <a:rPr lang="de-DE" altLang="ko-KR" sz="1100" dirty="0"/>
              <a:t>)</a:t>
            </a:r>
            <a:r>
              <a:rPr lang="ko-KR" altLang="de-DE" sz="1100" dirty="0"/>
              <a:t>는 제외함</a:t>
            </a:r>
            <a:r>
              <a:rPr lang="de-DE" altLang="ko-KR" sz="1100" dirty="0"/>
              <a:t>. 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de-DE" sz="1100" dirty="0"/>
              <a:t>중간재의 경우는 수출 시에는 </a:t>
            </a:r>
            <a:r>
              <a:rPr lang="de-DE" altLang="ko-KR" sz="1100" dirty="0"/>
              <a:t>GDP</a:t>
            </a:r>
            <a:r>
              <a:rPr lang="ko-KR" altLang="de-DE" sz="1100" dirty="0"/>
              <a:t>에 </a:t>
            </a:r>
            <a:r>
              <a:rPr lang="ko-KR" altLang="de-DE" sz="1100" dirty="0"/>
              <a:t>포함</a:t>
            </a:r>
            <a:endParaRPr lang="de-DE" altLang="ko-KR" sz="1100" dirty="0"/>
          </a:p>
          <a:p>
            <a:pPr>
              <a:lnSpc>
                <a:spcPct val="160000"/>
              </a:lnSpc>
            </a:pPr>
            <a:r>
              <a:rPr lang="ko-KR" altLang="de-DE" sz="1300" dirty="0"/>
              <a:t>시장가치</a:t>
            </a:r>
            <a:r>
              <a:rPr lang="de-DE" altLang="ko-KR" sz="1300" dirty="0"/>
              <a:t>: </a:t>
            </a:r>
            <a:r>
              <a:rPr lang="ko-KR" altLang="de-DE" sz="1300" dirty="0"/>
              <a:t>시장가격이 없는 것들은 제외됨</a:t>
            </a:r>
            <a:r>
              <a:rPr lang="de-DE" altLang="ko-KR" sz="1300" dirty="0"/>
              <a:t>. ex. </a:t>
            </a:r>
            <a:r>
              <a:rPr lang="ko-KR" altLang="de-DE" sz="1300" dirty="0"/>
              <a:t>주부의</a:t>
            </a:r>
            <a:r>
              <a:rPr lang="de-DE" altLang="ko-KR" sz="1300" dirty="0"/>
              <a:t> </a:t>
            </a:r>
            <a:r>
              <a:rPr lang="ko-KR" altLang="de-DE" sz="1300" dirty="0"/>
              <a:t>가사노동 </a:t>
            </a:r>
            <a:endParaRPr lang="de-DE" altLang="ko-KR" sz="1300" dirty="0"/>
          </a:p>
          <a:p>
            <a:pPr>
              <a:lnSpc>
                <a:spcPct val="160000"/>
              </a:lnSpc>
            </a:pPr>
            <a:endParaRPr lang="de-DE" altLang="ko-KR" sz="10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2060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71488" y="702944"/>
            <a:ext cx="5915025" cy="10708005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60000"/>
              </a:lnSpc>
            </a:pPr>
            <a:r>
              <a:rPr lang="ko-KR" altLang="en-US" sz="1400" dirty="0"/>
              <a:t>이렇게 </a:t>
            </a:r>
            <a:r>
              <a:rPr lang="ko-KR" altLang="de-DE" sz="1400" dirty="0"/>
              <a:t>만들어진 재화나 서비스는 누가 사용하나</a:t>
            </a:r>
            <a:r>
              <a:rPr lang="de-DE" altLang="ko-KR" sz="1400" dirty="0"/>
              <a:t>? </a:t>
            </a:r>
          </a:p>
          <a:p>
            <a:pPr>
              <a:lnSpc>
                <a:spcPct val="160000"/>
              </a:lnSpc>
            </a:pPr>
            <a:r>
              <a:rPr lang="de-DE" altLang="ko-KR" sz="1400" dirty="0"/>
              <a:t>GDP</a:t>
            </a:r>
            <a:r>
              <a:rPr lang="ko-KR" altLang="de-DE" sz="1400" dirty="0" err="1"/>
              <a:t>를</a:t>
            </a:r>
            <a:r>
              <a:rPr lang="de-DE" altLang="ko-KR" sz="1400" dirty="0"/>
              <a:t> </a:t>
            </a:r>
            <a:r>
              <a:rPr lang="ko-KR" altLang="de-DE" sz="1400" dirty="0"/>
              <a:t>지출측면에서 보면</a:t>
            </a:r>
            <a:r>
              <a:rPr lang="de-DE" altLang="ko-KR" sz="1400" dirty="0"/>
              <a:t>... </a:t>
            </a:r>
          </a:p>
          <a:p>
            <a:pPr lvl="1">
              <a:lnSpc>
                <a:spcPct val="170000"/>
              </a:lnSpc>
              <a:buFontTx/>
              <a:buChar char="-"/>
            </a:pPr>
            <a:r>
              <a:rPr lang="ko-KR" altLang="de-DE" sz="1200" dirty="0"/>
              <a:t>소비</a:t>
            </a:r>
            <a:r>
              <a:rPr lang="de-DE" altLang="ko-KR" sz="1200" dirty="0"/>
              <a:t>(C), </a:t>
            </a:r>
            <a:r>
              <a:rPr lang="ko-KR" altLang="de-DE" sz="1200" dirty="0"/>
              <a:t>투자</a:t>
            </a:r>
            <a:r>
              <a:rPr lang="de-DE" altLang="ko-KR" sz="1200" dirty="0"/>
              <a:t>(I), </a:t>
            </a:r>
            <a:r>
              <a:rPr lang="ko-KR" altLang="de-DE" sz="1200" dirty="0" err="1"/>
              <a:t>정부구입</a:t>
            </a:r>
            <a:r>
              <a:rPr lang="de-DE" altLang="ko-KR" sz="1200" dirty="0"/>
              <a:t>(G), </a:t>
            </a:r>
            <a:r>
              <a:rPr lang="ko-KR" altLang="de-DE" sz="1200" dirty="0" err="1"/>
              <a:t>순수출</a:t>
            </a:r>
            <a:r>
              <a:rPr lang="de-DE" altLang="ko-KR" sz="1200" dirty="0"/>
              <a:t>(NX) </a:t>
            </a:r>
            <a:r>
              <a:rPr lang="ko-KR" altLang="de-DE" sz="1200" dirty="0"/>
              <a:t>등 </a:t>
            </a:r>
            <a:r>
              <a:rPr lang="de-DE" altLang="ko-KR" sz="1200" dirty="0"/>
              <a:t>4</a:t>
            </a:r>
            <a:r>
              <a:rPr lang="ko-KR" altLang="de-DE" sz="1200" dirty="0"/>
              <a:t>가지 항목으로 구성</a:t>
            </a:r>
            <a:endParaRPr lang="de-DE" altLang="ko-KR" sz="1200" dirty="0"/>
          </a:p>
          <a:p>
            <a:pPr lvl="1">
              <a:lnSpc>
                <a:spcPct val="170000"/>
              </a:lnSpc>
              <a:buFontTx/>
              <a:buChar char="-"/>
            </a:pPr>
            <a:r>
              <a:rPr lang="de-DE" altLang="ko-KR" sz="1200" dirty="0"/>
              <a:t>Y = C + I + G + NX (</a:t>
            </a:r>
            <a:r>
              <a:rPr lang="ko-KR" altLang="de-DE" sz="1200" dirty="0"/>
              <a:t>항등식</a:t>
            </a:r>
            <a:r>
              <a:rPr lang="de-DE" altLang="ko-KR" sz="1200" dirty="0"/>
              <a:t>)</a:t>
            </a:r>
          </a:p>
          <a:p>
            <a:pPr>
              <a:lnSpc>
                <a:spcPct val="160000"/>
              </a:lnSpc>
            </a:pPr>
            <a:endParaRPr lang="en-US" altLang="ko-KR" sz="1300" dirty="0" smtClean="0">
              <a:sym typeface="Wingdings" panose="05000000000000000000" pitchFamily="2" charset="2"/>
            </a:endParaRPr>
          </a:p>
          <a:p>
            <a:pPr>
              <a:lnSpc>
                <a:spcPct val="160000"/>
              </a:lnSpc>
            </a:pPr>
            <a:r>
              <a:rPr lang="ko-KR" altLang="de-DE" sz="1400" dirty="0" smtClean="0">
                <a:sym typeface="Wingdings" panose="05000000000000000000" pitchFamily="2" charset="2"/>
              </a:rPr>
              <a:t>소비</a:t>
            </a:r>
            <a:r>
              <a:rPr lang="de-DE" altLang="ko-KR" sz="1400" dirty="0">
                <a:sym typeface="Wingdings" panose="05000000000000000000" pitchFamily="2" charset="2"/>
              </a:rPr>
              <a:t>(consumption, C)</a:t>
            </a:r>
            <a:r>
              <a:rPr lang="ko-KR" altLang="de-DE" sz="1400" dirty="0">
                <a:sym typeface="Wingdings" panose="05000000000000000000" pitchFamily="2" charset="2"/>
              </a:rPr>
              <a:t> </a:t>
            </a:r>
            <a:r>
              <a:rPr lang="de-DE" altLang="ko-KR" sz="1400" dirty="0">
                <a:sym typeface="Wingdings" panose="05000000000000000000" pitchFamily="2" charset="2"/>
              </a:rPr>
              <a:t>: </a:t>
            </a:r>
            <a:r>
              <a:rPr lang="ko-KR" altLang="de-DE" sz="1400" dirty="0">
                <a:sym typeface="Wingdings" panose="05000000000000000000" pitchFamily="2" charset="2"/>
              </a:rPr>
              <a:t>재화와 서비스에 대한 가계의 총지출</a:t>
            </a:r>
            <a:endParaRPr lang="de-DE" altLang="ko-KR" sz="1400" dirty="0">
              <a:sym typeface="Wingdings" panose="05000000000000000000" pitchFamily="2" charset="2"/>
            </a:endParaRPr>
          </a:p>
          <a:p>
            <a:pPr lvl="1">
              <a:lnSpc>
                <a:spcPct val="170000"/>
              </a:lnSpc>
              <a:buFontTx/>
              <a:buChar char="-"/>
            </a:pPr>
            <a:r>
              <a:rPr lang="ko-KR" altLang="de-DE" sz="1200" dirty="0">
                <a:sym typeface="Wingdings" panose="05000000000000000000" pitchFamily="2" charset="2"/>
              </a:rPr>
              <a:t>단</a:t>
            </a:r>
            <a:r>
              <a:rPr lang="de-DE" altLang="ko-KR" sz="1200" dirty="0">
                <a:sym typeface="Wingdings" panose="05000000000000000000" pitchFamily="2" charset="2"/>
              </a:rPr>
              <a:t>, </a:t>
            </a:r>
            <a:r>
              <a:rPr lang="ko-KR" altLang="de-DE" sz="1200" dirty="0">
                <a:sym typeface="Wingdings" panose="05000000000000000000" pitchFamily="2" charset="2"/>
              </a:rPr>
              <a:t>주거비의 경우 주의할 필요</a:t>
            </a:r>
            <a:r>
              <a:rPr lang="de-DE" altLang="ko-KR" sz="1200" dirty="0">
                <a:sym typeface="Wingdings" panose="05000000000000000000" pitchFamily="2" charset="2"/>
              </a:rPr>
              <a:t>!</a:t>
            </a:r>
          </a:p>
          <a:p>
            <a:pPr lvl="1">
              <a:lnSpc>
                <a:spcPct val="170000"/>
              </a:lnSpc>
              <a:buFontTx/>
              <a:buChar char="-"/>
            </a:pPr>
            <a:r>
              <a:rPr lang="ko-KR" altLang="de-DE" sz="1200" dirty="0">
                <a:sym typeface="Wingdings" panose="05000000000000000000" pitchFamily="2" charset="2"/>
              </a:rPr>
              <a:t>임대료 지불액은 소비에 포함</a:t>
            </a:r>
            <a:r>
              <a:rPr lang="de-DE" altLang="ko-KR" sz="1200" dirty="0">
                <a:sym typeface="Wingdings" panose="05000000000000000000" pitchFamily="2" charset="2"/>
              </a:rPr>
              <a:t>. </a:t>
            </a:r>
          </a:p>
          <a:p>
            <a:pPr lvl="1">
              <a:lnSpc>
                <a:spcPct val="170000"/>
              </a:lnSpc>
              <a:buFontTx/>
              <a:buChar char="-"/>
            </a:pPr>
            <a:r>
              <a:rPr lang="ko-KR" altLang="de-DE" sz="1200" dirty="0">
                <a:sym typeface="Wingdings" panose="05000000000000000000" pitchFamily="2" charset="2"/>
              </a:rPr>
              <a:t>자가 주택소유자의 경우 임대료 만큼은 소비에 포함되지만</a:t>
            </a:r>
            <a:r>
              <a:rPr lang="de-DE" altLang="ko-KR" sz="1200" dirty="0">
                <a:sym typeface="Wingdings" panose="05000000000000000000" pitchFamily="2" charset="2"/>
              </a:rPr>
              <a:t>, </a:t>
            </a:r>
            <a:endParaRPr lang="de-DE" altLang="ko-KR" sz="1200" dirty="0">
              <a:sym typeface="Wingdings" panose="05000000000000000000" pitchFamily="2" charset="2"/>
            </a:endParaRPr>
          </a:p>
          <a:p>
            <a:pPr lvl="1">
              <a:lnSpc>
                <a:spcPct val="170000"/>
              </a:lnSpc>
              <a:buFontTx/>
              <a:buChar char="-"/>
            </a:pPr>
            <a:r>
              <a:rPr lang="ko-KR" altLang="de-DE" sz="1200" dirty="0">
                <a:sym typeface="Wingdings" panose="05000000000000000000" pitchFamily="2" charset="2"/>
              </a:rPr>
              <a:t>주택구입비나</a:t>
            </a:r>
            <a:r>
              <a:rPr lang="ko-KR" altLang="de-DE" sz="1200" dirty="0">
                <a:sym typeface="Wingdings" panose="05000000000000000000" pitchFamily="2" charset="2"/>
              </a:rPr>
              <a:t> </a:t>
            </a:r>
            <a:r>
              <a:rPr lang="ko-KR" altLang="de-DE" sz="1200" dirty="0">
                <a:sym typeface="Wingdings" panose="05000000000000000000" pitchFamily="2" charset="2"/>
              </a:rPr>
              <a:t>대출 </a:t>
            </a:r>
            <a:r>
              <a:rPr lang="ko-KR" altLang="de-DE" sz="1200" dirty="0" err="1">
                <a:sym typeface="Wingdings" panose="05000000000000000000" pitchFamily="2" charset="2"/>
              </a:rPr>
              <a:t>상환금액은</a:t>
            </a:r>
            <a:r>
              <a:rPr lang="ko-KR" altLang="de-DE" sz="1200" dirty="0">
                <a:sym typeface="Wingdings" panose="05000000000000000000" pitchFamily="2" charset="2"/>
              </a:rPr>
              <a:t> 소비에 포함시키지 않음</a:t>
            </a:r>
            <a:r>
              <a:rPr lang="de-DE" altLang="ko-KR" sz="1200" dirty="0">
                <a:sym typeface="Wingdings" panose="05000000000000000000" pitchFamily="2" charset="2"/>
              </a:rPr>
              <a:t>. </a:t>
            </a:r>
          </a:p>
          <a:p>
            <a:pPr lvl="1">
              <a:lnSpc>
                <a:spcPct val="170000"/>
              </a:lnSpc>
              <a:buFontTx/>
              <a:buChar char="-"/>
            </a:pPr>
            <a:r>
              <a:rPr lang="ko-KR" altLang="de-DE" sz="1200" dirty="0">
                <a:sym typeface="Wingdings" panose="05000000000000000000" pitchFamily="2" charset="2"/>
              </a:rPr>
              <a:t>신축주택을 사는 경우 </a:t>
            </a:r>
            <a:r>
              <a:rPr lang="de-DE" altLang="ko-KR" sz="1200" dirty="0">
                <a:sym typeface="Wingdings" panose="05000000000000000000" pitchFamily="2" charset="2"/>
              </a:rPr>
              <a:t> </a:t>
            </a:r>
            <a:r>
              <a:rPr lang="ko-KR" altLang="de-DE" sz="1200" dirty="0">
                <a:sym typeface="Wingdings" panose="05000000000000000000" pitchFamily="2" charset="2"/>
              </a:rPr>
              <a:t>소비가 아니라 </a:t>
            </a:r>
            <a:r>
              <a:rPr lang="ko-KR" altLang="de-DE" sz="1200" dirty="0">
                <a:sym typeface="Wingdings" panose="05000000000000000000" pitchFamily="2" charset="2"/>
              </a:rPr>
              <a:t>투자</a:t>
            </a:r>
            <a:r>
              <a:rPr lang="de-DE" altLang="ko-KR" sz="1200" dirty="0">
                <a:sym typeface="Wingdings" panose="05000000000000000000" pitchFamily="2" charset="2"/>
              </a:rPr>
              <a:t> </a:t>
            </a:r>
            <a:endParaRPr lang="de-DE" altLang="ko-KR" sz="1200" dirty="0">
              <a:sym typeface="Wingdings" panose="05000000000000000000" pitchFamily="2" charset="2"/>
            </a:endParaRPr>
          </a:p>
          <a:p>
            <a:pPr>
              <a:lnSpc>
                <a:spcPct val="160000"/>
              </a:lnSpc>
            </a:pPr>
            <a:r>
              <a:rPr lang="ko-KR" altLang="de-DE" sz="1400" dirty="0">
                <a:sym typeface="Wingdings" panose="05000000000000000000" pitchFamily="2" charset="2"/>
              </a:rPr>
              <a:t>투자</a:t>
            </a:r>
            <a:r>
              <a:rPr lang="de-DE" altLang="ko-KR" sz="1400" dirty="0">
                <a:sym typeface="Wingdings" panose="05000000000000000000" pitchFamily="2" charset="2"/>
              </a:rPr>
              <a:t>(investment, I) : </a:t>
            </a:r>
            <a:r>
              <a:rPr lang="ko-KR" altLang="de-DE" sz="1400" dirty="0">
                <a:sym typeface="Wingdings" panose="05000000000000000000" pitchFamily="2" charset="2"/>
              </a:rPr>
              <a:t>미래에 더 많은 재화</a:t>
            </a:r>
            <a:r>
              <a:rPr lang="de-DE" altLang="ko-KR" sz="1400" dirty="0">
                <a:sym typeface="Wingdings" panose="05000000000000000000" pitchFamily="2" charset="2"/>
              </a:rPr>
              <a:t> </a:t>
            </a:r>
            <a:r>
              <a:rPr lang="ko-KR" altLang="de-DE" sz="1400" dirty="0">
                <a:sym typeface="Wingdings" panose="05000000000000000000" pitchFamily="2" charset="2"/>
              </a:rPr>
              <a:t>또는 서비스를 생산하기 위해 사용되는 재화를 구입하는 행동</a:t>
            </a:r>
            <a:r>
              <a:rPr lang="de-DE" altLang="ko-KR" sz="1400" dirty="0">
                <a:sym typeface="Wingdings" panose="05000000000000000000" pitchFamily="2" charset="2"/>
              </a:rPr>
              <a:t>, </a:t>
            </a:r>
            <a:r>
              <a:rPr lang="ko-KR" altLang="de-DE" sz="1400" dirty="0">
                <a:sym typeface="Wingdings" panose="05000000000000000000" pitchFamily="2" charset="2"/>
              </a:rPr>
              <a:t>자본재에 대한 총지출</a:t>
            </a:r>
            <a:endParaRPr lang="de-DE" altLang="ko-KR" sz="1400" dirty="0">
              <a:sym typeface="Wingdings" panose="05000000000000000000" pitchFamily="2" charset="2"/>
            </a:endParaRPr>
          </a:p>
          <a:p>
            <a:pPr lvl="1">
              <a:lnSpc>
                <a:spcPct val="170000"/>
              </a:lnSpc>
              <a:buFontTx/>
              <a:buChar char="-"/>
            </a:pPr>
            <a:r>
              <a:rPr lang="ko-KR" altLang="de-DE" sz="1200" dirty="0" err="1">
                <a:sym typeface="Wingdings" panose="05000000000000000000" pitchFamily="2" charset="2"/>
              </a:rPr>
              <a:t>기업자본</a:t>
            </a:r>
            <a:r>
              <a:rPr lang="de-DE" altLang="ko-KR" sz="1200" dirty="0">
                <a:sym typeface="Wingdings" panose="05000000000000000000" pitchFamily="2" charset="2"/>
              </a:rPr>
              <a:t>: </a:t>
            </a:r>
            <a:r>
              <a:rPr lang="ko-KR" altLang="de-DE" sz="1200" dirty="0">
                <a:sym typeface="Wingdings" panose="05000000000000000000" pitchFamily="2" charset="2"/>
              </a:rPr>
              <a:t>사업용 건물</a:t>
            </a:r>
            <a:r>
              <a:rPr lang="de-DE" altLang="ko-KR" sz="1200" dirty="0">
                <a:sym typeface="Wingdings" panose="05000000000000000000" pitchFamily="2" charset="2"/>
              </a:rPr>
              <a:t>, </a:t>
            </a:r>
            <a:r>
              <a:rPr lang="ko-KR" altLang="de-DE" sz="1200" dirty="0">
                <a:sym typeface="Wingdings" panose="05000000000000000000" pitchFamily="2" charset="2"/>
              </a:rPr>
              <a:t>장비</a:t>
            </a:r>
            <a:r>
              <a:rPr lang="de-DE" altLang="ko-KR" sz="1200" dirty="0">
                <a:sym typeface="Wingdings" panose="05000000000000000000" pitchFamily="2" charset="2"/>
              </a:rPr>
              <a:t>, </a:t>
            </a:r>
            <a:r>
              <a:rPr lang="ko-KR" altLang="de-DE" sz="1200" dirty="0">
                <a:sym typeface="Wingdings" panose="05000000000000000000" pitchFamily="2" charset="2"/>
              </a:rPr>
              <a:t>지적 재산 등</a:t>
            </a:r>
            <a:endParaRPr lang="de-DE" altLang="ko-KR" sz="1200" dirty="0">
              <a:sym typeface="Wingdings" panose="05000000000000000000" pitchFamily="2" charset="2"/>
            </a:endParaRPr>
          </a:p>
          <a:p>
            <a:pPr lvl="1">
              <a:lnSpc>
                <a:spcPct val="170000"/>
              </a:lnSpc>
              <a:buFontTx/>
              <a:buChar char="-"/>
            </a:pPr>
            <a:r>
              <a:rPr lang="ko-KR" altLang="de-DE" sz="1200" dirty="0" err="1">
                <a:sym typeface="Wingdings" panose="05000000000000000000" pitchFamily="2" charset="2"/>
              </a:rPr>
              <a:t>주거자본</a:t>
            </a:r>
            <a:r>
              <a:rPr lang="de-DE" altLang="ko-KR" sz="1200" dirty="0">
                <a:sym typeface="Wingdings" panose="05000000000000000000" pitchFamily="2" charset="2"/>
              </a:rPr>
              <a:t>: </a:t>
            </a:r>
            <a:r>
              <a:rPr lang="ko-KR" altLang="de-DE" sz="1200" dirty="0">
                <a:sym typeface="Wingdings" panose="05000000000000000000" pitchFamily="2" charset="2"/>
              </a:rPr>
              <a:t>임대사업자들의 사업용 건물</a:t>
            </a:r>
            <a:r>
              <a:rPr lang="de-DE" altLang="ko-KR" sz="1200" dirty="0">
                <a:sym typeface="Wingdings" panose="05000000000000000000" pitchFamily="2" charset="2"/>
              </a:rPr>
              <a:t>, </a:t>
            </a:r>
            <a:r>
              <a:rPr lang="ko-KR" altLang="de-DE" sz="1200" dirty="0">
                <a:sym typeface="Wingdings" panose="05000000000000000000" pitchFamily="2" charset="2"/>
              </a:rPr>
              <a:t>주택</a:t>
            </a:r>
            <a:r>
              <a:rPr lang="de-DE" altLang="ko-KR" sz="1200" dirty="0">
                <a:sym typeface="Wingdings" panose="05000000000000000000" pitchFamily="2" charset="2"/>
              </a:rPr>
              <a:t>, </a:t>
            </a:r>
            <a:r>
              <a:rPr lang="ko-KR" altLang="de-DE" sz="1200" dirty="0">
                <a:sym typeface="Wingdings" panose="05000000000000000000" pitchFamily="2" charset="2"/>
              </a:rPr>
              <a:t>그리고 개인들의 거주용 주택</a:t>
            </a:r>
            <a:endParaRPr lang="de-DE" altLang="ko-KR" sz="1200" dirty="0">
              <a:sym typeface="Wingdings" panose="05000000000000000000" pitchFamily="2" charset="2"/>
            </a:endParaRPr>
          </a:p>
          <a:p>
            <a:pPr lvl="1">
              <a:lnSpc>
                <a:spcPct val="170000"/>
              </a:lnSpc>
              <a:buFontTx/>
              <a:buChar char="-"/>
            </a:pPr>
            <a:r>
              <a:rPr lang="ko-KR" altLang="de-DE" sz="1200" dirty="0">
                <a:sym typeface="Wingdings" panose="05000000000000000000" pitchFamily="2" charset="2"/>
              </a:rPr>
              <a:t>재고</a:t>
            </a:r>
            <a:r>
              <a:rPr lang="de-DE" altLang="ko-KR" sz="1200" dirty="0">
                <a:sym typeface="Wingdings" panose="05000000000000000000" pitchFamily="2" charset="2"/>
              </a:rPr>
              <a:t>(inventory) </a:t>
            </a:r>
            <a:r>
              <a:rPr lang="ko-KR" altLang="de-DE" sz="1200" dirty="0">
                <a:sym typeface="Wingdings" panose="05000000000000000000" pitchFamily="2" charset="2"/>
              </a:rPr>
              <a:t>축적</a:t>
            </a:r>
            <a:r>
              <a:rPr lang="de-DE" altLang="ko-KR" sz="1200" dirty="0">
                <a:sym typeface="Wingdings" panose="05000000000000000000" pitchFamily="2" charset="2"/>
              </a:rPr>
              <a:t>: </a:t>
            </a:r>
            <a:r>
              <a:rPr lang="ko-KR" altLang="de-DE" sz="1200" dirty="0">
                <a:sym typeface="Wingdings" panose="05000000000000000000" pitchFamily="2" charset="2"/>
              </a:rPr>
              <a:t>생산했지만 아직 팔리지 않은 재화</a:t>
            </a:r>
            <a:endParaRPr lang="de-DE" altLang="ko-KR" sz="1200" dirty="0">
              <a:sym typeface="Wingdings" panose="05000000000000000000" pitchFamily="2" charset="2"/>
            </a:endParaRPr>
          </a:p>
          <a:p>
            <a:pPr lvl="1">
              <a:lnSpc>
                <a:spcPct val="170000"/>
              </a:lnSpc>
              <a:buFontTx/>
              <a:buChar char="-"/>
            </a:pPr>
            <a:r>
              <a:rPr lang="ko-KR" altLang="de-DE" sz="1200" dirty="0">
                <a:sym typeface="Wingdings" panose="05000000000000000000" pitchFamily="2" charset="2"/>
              </a:rPr>
              <a:t>일반적으로 말하는 주식</a:t>
            </a:r>
            <a:r>
              <a:rPr lang="de-DE" altLang="ko-KR" sz="1200" dirty="0">
                <a:sym typeface="Wingdings" panose="05000000000000000000" pitchFamily="2" charset="2"/>
              </a:rPr>
              <a:t>, </a:t>
            </a:r>
            <a:r>
              <a:rPr lang="ko-KR" altLang="de-DE" sz="1200" dirty="0">
                <a:sym typeface="Wingdings" panose="05000000000000000000" pitchFamily="2" charset="2"/>
              </a:rPr>
              <a:t>채권과 같은 투자가 아님에 주의</a:t>
            </a:r>
            <a:r>
              <a:rPr lang="de-DE" altLang="ko-KR" sz="1200" dirty="0">
                <a:sym typeface="Wingdings" panose="05000000000000000000" pitchFamily="2" charset="2"/>
              </a:rPr>
              <a:t>!! </a:t>
            </a:r>
          </a:p>
          <a:p>
            <a:pPr lvl="1">
              <a:lnSpc>
                <a:spcPct val="170000"/>
              </a:lnSpc>
              <a:buFontTx/>
              <a:buChar char="-"/>
            </a:pPr>
            <a:r>
              <a:rPr lang="ko-KR" altLang="de-DE" sz="1200" dirty="0">
                <a:sym typeface="Wingdings" panose="05000000000000000000" pitchFamily="2" charset="2"/>
              </a:rPr>
              <a:t>주식이나 채권</a:t>
            </a:r>
            <a:r>
              <a:rPr lang="de-DE" altLang="ko-KR" sz="1200" dirty="0">
                <a:sym typeface="Wingdings" panose="05000000000000000000" pitchFamily="2" charset="2"/>
              </a:rPr>
              <a:t>, </a:t>
            </a:r>
            <a:r>
              <a:rPr lang="ko-KR" altLang="de-DE" sz="1200" dirty="0">
                <a:sym typeface="Wingdings" panose="05000000000000000000" pitchFamily="2" charset="2"/>
              </a:rPr>
              <a:t>금융상품에 투자하는 경우 </a:t>
            </a:r>
            <a:r>
              <a:rPr lang="de-DE" altLang="ko-KR" sz="1200" dirty="0">
                <a:sym typeface="Wingdings" panose="05000000000000000000" pitchFamily="2" charset="2"/>
              </a:rPr>
              <a:t>GDP</a:t>
            </a:r>
            <a:r>
              <a:rPr lang="ko-KR" altLang="de-DE" sz="1200" dirty="0">
                <a:sym typeface="Wingdings" panose="05000000000000000000" pitchFamily="2" charset="2"/>
              </a:rPr>
              <a:t>에 영향을 주지 않으며</a:t>
            </a:r>
            <a:r>
              <a:rPr lang="de-DE" altLang="ko-KR" sz="1200" dirty="0">
                <a:sym typeface="Wingdings" panose="05000000000000000000" pitchFamily="2" charset="2"/>
              </a:rPr>
              <a:t>, </a:t>
            </a:r>
          </a:p>
          <a:p>
            <a:pPr lvl="1">
              <a:lnSpc>
                <a:spcPct val="180000"/>
              </a:lnSpc>
              <a:buFontTx/>
              <a:buChar char="-"/>
            </a:pPr>
            <a:r>
              <a:rPr lang="ko-KR" altLang="de-DE" sz="1200" dirty="0">
                <a:sym typeface="Wingdings" panose="05000000000000000000" pitchFamily="2" charset="2"/>
              </a:rPr>
              <a:t>주택</a:t>
            </a:r>
            <a:r>
              <a:rPr lang="de-DE" altLang="ko-KR" sz="1200" dirty="0">
                <a:sym typeface="Wingdings" panose="05000000000000000000" pitchFamily="2" charset="2"/>
              </a:rPr>
              <a:t>(</a:t>
            </a:r>
            <a:r>
              <a:rPr lang="ko-KR" altLang="de-DE" sz="1200" dirty="0">
                <a:sym typeface="Wingdings" panose="05000000000000000000" pitchFamily="2" charset="2"/>
              </a:rPr>
              <a:t>아파트</a:t>
            </a:r>
            <a:r>
              <a:rPr lang="de-DE" altLang="ko-KR" sz="1200" dirty="0">
                <a:sym typeface="Wingdings" panose="05000000000000000000" pitchFamily="2" charset="2"/>
              </a:rPr>
              <a:t>, </a:t>
            </a:r>
            <a:r>
              <a:rPr lang="ko-KR" altLang="de-DE" sz="1200" dirty="0">
                <a:sym typeface="Wingdings" panose="05000000000000000000" pitchFamily="2" charset="2"/>
              </a:rPr>
              <a:t>별장</a:t>
            </a:r>
            <a:r>
              <a:rPr lang="de-DE" altLang="ko-KR" sz="1200" dirty="0">
                <a:sym typeface="Wingdings" panose="05000000000000000000" pitchFamily="2" charset="2"/>
              </a:rPr>
              <a:t>) </a:t>
            </a:r>
            <a:r>
              <a:rPr lang="ko-KR" altLang="de-DE" sz="1200" dirty="0">
                <a:sym typeface="Wingdings" panose="05000000000000000000" pitchFamily="2" charset="2"/>
              </a:rPr>
              <a:t>구입은 당해 연도 완공된 경우에만 투자에 </a:t>
            </a:r>
            <a:r>
              <a:rPr lang="ko-KR" altLang="de-DE" sz="1200" dirty="0">
                <a:sym typeface="Wingdings" panose="05000000000000000000" pitchFamily="2" charset="2"/>
              </a:rPr>
              <a:t>포함됨</a:t>
            </a:r>
            <a:r>
              <a:rPr lang="en-US" altLang="ko-KR" sz="1200" dirty="0">
                <a:sym typeface="Wingdings" panose="05000000000000000000" pitchFamily="2" charset="2"/>
              </a:rPr>
              <a:t>.</a:t>
            </a:r>
            <a:r>
              <a:rPr lang="de-DE" altLang="ko-KR" sz="1200" dirty="0">
                <a:sym typeface="Wingdings" panose="05000000000000000000" pitchFamily="2" charset="2"/>
              </a:rPr>
              <a:t> </a:t>
            </a:r>
            <a:endParaRPr lang="de-DE" altLang="ko-KR" sz="1200" dirty="0">
              <a:sym typeface="Wingdings" panose="05000000000000000000" pitchFamily="2" charset="2"/>
            </a:endParaRPr>
          </a:p>
          <a:p>
            <a:pPr>
              <a:lnSpc>
                <a:spcPct val="160000"/>
              </a:lnSpc>
            </a:pPr>
            <a:r>
              <a:rPr lang="ko-KR" altLang="de-DE" sz="1400" dirty="0" err="1">
                <a:sym typeface="Wingdings" panose="05000000000000000000" pitchFamily="2" charset="2"/>
              </a:rPr>
              <a:t>정부구입</a:t>
            </a:r>
            <a:r>
              <a:rPr lang="de-DE" altLang="ko-KR" sz="1400" dirty="0">
                <a:sym typeface="Wingdings" panose="05000000000000000000" pitchFamily="2" charset="2"/>
              </a:rPr>
              <a:t>(G) : </a:t>
            </a:r>
            <a:r>
              <a:rPr lang="ko-KR" altLang="de-DE" sz="1400" dirty="0">
                <a:sym typeface="Wingdings" panose="05000000000000000000" pitchFamily="2" charset="2"/>
              </a:rPr>
              <a:t>정부가</a:t>
            </a:r>
            <a:r>
              <a:rPr lang="de-DE" altLang="ko-KR" sz="1400" dirty="0">
                <a:sym typeface="Wingdings" panose="05000000000000000000" pitchFamily="2" charset="2"/>
              </a:rPr>
              <a:t> </a:t>
            </a:r>
            <a:r>
              <a:rPr lang="ko-KR" altLang="de-DE" sz="1400" dirty="0">
                <a:sym typeface="Wingdings" panose="05000000000000000000" pitchFamily="2" charset="2"/>
              </a:rPr>
              <a:t>사들인 재화와 서비스 지출</a:t>
            </a:r>
            <a:endParaRPr lang="de-DE" altLang="ko-KR" sz="1400" dirty="0">
              <a:sym typeface="Wingdings" panose="05000000000000000000" pitchFamily="2" charset="2"/>
            </a:endParaRPr>
          </a:p>
          <a:p>
            <a:pPr lvl="1">
              <a:lnSpc>
                <a:spcPct val="180000"/>
              </a:lnSpc>
              <a:buFontTx/>
              <a:buChar char="-"/>
            </a:pPr>
            <a:r>
              <a:rPr lang="ko-KR" altLang="de-DE" sz="1200" dirty="0" err="1">
                <a:sym typeface="Wingdings" panose="05000000000000000000" pitchFamily="2" charset="2"/>
              </a:rPr>
              <a:t>이전지출</a:t>
            </a:r>
            <a:r>
              <a:rPr lang="de-DE" altLang="ko-KR" sz="1200" dirty="0">
                <a:sym typeface="Wingdings" panose="05000000000000000000" pitchFamily="2" charset="2"/>
              </a:rPr>
              <a:t>(</a:t>
            </a:r>
            <a:r>
              <a:rPr lang="ko-KR" altLang="de-DE" sz="1200" dirty="0">
                <a:sym typeface="Wingdings" panose="05000000000000000000" pitchFamily="2" charset="2"/>
              </a:rPr>
              <a:t>법이나 규정에 의해 국민들에게 주는 </a:t>
            </a:r>
            <a:r>
              <a:rPr lang="ko-KR" altLang="de-DE" sz="1200" dirty="0">
                <a:sym typeface="Wingdings" panose="05000000000000000000" pitchFamily="2" charset="2"/>
              </a:rPr>
              <a:t>돈</a:t>
            </a:r>
            <a:r>
              <a:rPr lang="en-US" altLang="ko-KR" sz="1200" dirty="0">
                <a:sym typeface="Wingdings" panose="05000000000000000000" pitchFamily="2" charset="2"/>
              </a:rPr>
              <a:t>) </a:t>
            </a:r>
            <a:r>
              <a:rPr lang="ko-KR" altLang="en-US" sz="1200" dirty="0">
                <a:sym typeface="Wingdings" panose="05000000000000000000" pitchFamily="2" charset="2"/>
              </a:rPr>
              <a:t>제외함</a:t>
            </a:r>
            <a:r>
              <a:rPr lang="en-US" altLang="ko-KR" sz="1200" dirty="0">
                <a:sym typeface="Wingdings" panose="05000000000000000000" pitchFamily="2" charset="2"/>
              </a:rPr>
              <a:t>.</a:t>
            </a:r>
            <a:r>
              <a:rPr lang="de-DE" altLang="ko-KR" sz="1200" dirty="0">
                <a:sym typeface="Wingdings" panose="05000000000000000000" pitchFamily="2" charset="2"/>
              </a:rPr>
              <a:t> </a:t>
            </a:r>
            <a:r>
              <a:rPr lang="ko-KR" altLang="de-DE" sz="1200" dirty="0">
                <a:sym typeface="Wingdings" panose="05000000000000000000" pitchFamily="2" charset="2"/>
              </a:rPr>
              <a:t>재화나 서비스의 </a:t>
            </a:r>
            <a:r>
              <a:rPr lang="ko-KR" altLang="de-DE" sz="1200" dirty="0" err="1">
                <a:sym typeface="Wingdings" panose="05000000000000000000" pitchFamily="2" charset="2"/>
              </a:rPr>
              <a:t>구입댓가가</a:t>
            </a:r>
            <a:r>
              <a:rPr lang="ko-KR" altLang="de-DE" sz="1200" dirty="0">
                <a:sym typeface="Wingdings" panose="05000000000000000000" pitchFamily="2" charset="2"/>
              </a:rPr>
              <a:t> </a:t>
            </a:r>
            <a:r>
              <a:rPr lang="ko-KR" altLang="de-DE" sz="1200" dirty="0">
                <a:sym typeface="Wingdings" panose="05000000000000000000" pitchFamily="2" charset="2"/>
              </a:rPr>
              <a:t>아</a:t>
            </a:r>
            <a:r>
              <a:rPr lang="ko-KR" altLang="en-US" sz="1200" dirty="0">
                <a:sym typeface="Wingdings" panose="05000000000000000000" pitchFamily="2" charset="2"/>
              </a:rPr>
              <a:t>니기 때문</a:t>
            </a:r>
            <a:endParaRPr lang="de-DE" altLang="ko-KR" sz="1200" dirty="0">
              <a:sym typeface="Wingdings" panose="05000000000000000000" pitchFamily="2" charset="2"/>
            </a:endParaRPr>
          </a:p>
          <a:p>
            <a:pPr>
              <a:lnSpc>
                <a:spcPct val="160000"/>
              </a:lnSpc>
            </a:pPr>
            <a:r>
              <a:rPr lang="ko-KR" altLang="de-DE" sz="1400" dirty="0" err="1" smtClean="0">
                <a:sym typeface="Wingdings" panose="05000000000000000000" pitchFamily="2" charset="2"/>
              </a:rPr>
              <a:t>순수출</a:t>
            </a:r>
            <a:r>
              <a:rPr lang="ko-KR" altLang="de-DE" sz="1400" dirty="0" smtClean="0">
                <a:sym typeface="Wingdings" panose="05000000000000000000" pitchFamily="2" charset="2"/>
              </a:rPr>
              <a:t> </a:t>
            </a:r>
            <a:r>
              <a:rPr lang="de-DE" altLang="ko-KR" sz="1400" dirty="0" smtClean="0">
                <a:sym typeface="Wingdings" panose="05000000000000000000" pitchFamily="2" charset="2"/>
              </a:rPr>
              <a:t>net</a:t>
            </a:r>
            <a:r>
              <a:rPr lang="ko-KR" altLang="de-DE" sz="1400" dirty="0" smtClean="0">
                <a:sym typeface="Wingdings" panose="05000000000000000000" pitchFamily="2" charset="2"/>
              </a:rPr>
              <a:t> </a:t>
            </a:r>
            <a:r>
              <a:rPr lang="de-DE" altLang="ko-KR" sz="1400" dirty="0" smtClean="0">
                <a:sym typeface="Wingdings" panose="05000000000000000000" pitchFamily="2" charset="2"/>
              </a:rPr>
              <a:t>export (NX) : </a:t>
            </a:r>
            <a:r>
              <a:rPr lang="ko-KR" altLang="de-DE" sz="1400" dirty="0" smtClean="0">
                <a:sym typeface="Wingdings" panose="05000000000000000000" pitchFamily="2" charset="2"/>
              </a:rPr>
              <a:t>수출</a:t>
            </a:r>
            <a:r>
              <a:rPr lang="de-DE" altLang="ko-KR" sz="1400" dirty="0" smtClean="0">
                <a:sym typeface="Wingdings" panose="05000000000000000000" pitchFamily="2" charset="2"/>
              </a:rPr>
              <a:t> expoert – </a:t>
            </a:r>
            <a:r>
              <a:rPr lang="ko-KR" altLang="de-DE" sz="1400" dirty="0" smtClean="0">
                <a:sym typeface="Wingdings" panose="05000000000000000000" pitchFamily="2" charset="2"/>
              </a:rPr>
              <a:t>수입 </a:t>
            </a:r>
            <a:r>
              <a:rPr lang="de-DE" altLang="ko-KR" sz="1400" dirty="0" smtClean="0">
                <a:sym typeface="Wingdings" panose="05000000000000000000" pitchFamily="2" charset="2"/>
              </a:rPr>
              <a:t>import</a:t>
            </a:r>
          </a:p>
          <a:p>
            <a:pPr>
              <a:lnSpc>
                <a:spcPct val="160000"/>
              </a:lnSpc>
            </a:pPr>
            <a:endParaRPr lang="de-DE" altLang="ko-KR" sz="1200" dirty="0">
              <a:sym typeface="Wingdings" panose="05000000000000000000" pitchFamily="2" charset="2"/>
            </a:endParaRPr>
          </a:p>
          <a:p>
            <a:pPr>
              <a:lnSpc>
                <a:spcPct val="160000"/>
              </a:lnSpc>
            </a:pPr>
            <a:r>
              <a:rPr lang="de-DE" altLang="ko-KR" sz="1325" dirty="0">
                <a:sym typeface="Wingdings" panose="05000000000000000000" pitchFamily="2" charset="2"/>
              </a:rPr>
              <a:t>Y = C + I + G + NX </a:t>
            </a:r>
          </a:p>
          <a:p>
            <a:pPr lvl="1">
              <a:lnSpc>
                <a:spcPct val="180000"/>
              </a:lnSpc>
              <a:buFontTx/>
              <a:buChar char="-"/>
            </a:pPr>
            <a:r>
              <a:rPr lang="ko-KR" altLang="de-DE" sz="1200" dirty="0">
                <a:sym typeface="Wingdings" panose="05000000000000000000" pitchFamily="2" charset="2"/>
              </a:rPr>
              <a:t>우리나라의</a:t>
            </a:r>
            <a:r>
              <a:rPr lang="de-DE" altLang="ko-KR" sz="1200" dirty="0">
                <a:sym typeface="Wingdings" panose="05000000000000000000" pitchFamily="2" charset="2"/>
              </a:rPr>
              <a:t> GDP </a:t>
            </a:r>
            <a:r>
              <a:rPr lang="ko-KR" altLang="de-DE" sz="1200" dirty="0">
                <a:sym typeface="Wingdings" panose="05000000000000000000" pitchFamily="2" charset="2"/>
              </a:rPr>
              <a:t>구성항목</a:t>
            </a:r>
            <a:r>
              <a:rPr lang="de-DE" altLang="ko-KR" sz="1200" dirty="0">
                <a:sym typeface="Wingdings" panose="05000000000000000000" pitchFamily="2" charset="2"/>
              </a:rPr>
              <a:t>: </a:t>
            </a:r>
            <a:r>
              <a:rPr lang="ko-KR" altLang="de-DE" sz="1200" dirty="0">
                <a:sym typeface="Wingdings" panose="05000000000000000000" pitchFamily="2" charset="2"/>
              </a:rPr>
              <a:t>소비가 상대적으로 작고 투자가 많다</a:t>
            </a:r>
            <a:r>
              <a:rPr lang="de-DE" altLang="ko-KR" sz="1200" dirty="0">
                <a:sym typeface="Wingdings" panose="05000000000000000000" pitchFamily="2" charset="2"/>
              </a:rPr>
              <a:t>.  </a:t>
            </a:r>
            <a:r>
              <a:rPr lang="ko-KR" altLang="de-DE" sz="1200" dirty="0">
                <a:sym typeface="Wingdings" panose="05000000000000000000" pitchFamily="2" charset="2"/>
              </a:rPr>
              <a:t>기업투자 중시</a:t>
            </a:r>
            <a:endParaRPr lang="de-DE" altLang="ko-KR" sz="1200" dirty="0">
              <a:sym typeface="Wingdings" panose="05000000000000000000" pitchFamily="2" charset="2"/>
            </a:endParaRPr>
          </a:p>
          <a:p>
            <a:pPr lvl="1">
              <a:lnSpc>
                <a:spcPct val="180000"/>
              </a:lnSpc>
              <a:buFontTx/>
              <a:buChar char="-"/>
            </a:pPr>
            <a:r>
              <a:rPr lang="ko-KR" altLang="de-DE" sz="1200" dirty="0">
                <a:sym typeface="Wingdings" panose="05000000000000000000" pitchFamily="2" charset="2"/>
              </a:rPr>
              <a:t>미국</a:t>
            </a:r>
            <a:r>
              <a:rPr lang="de-DE" altLang="ko-KR" sz="1200" dirty="0">
                <a:sym typeface="Wingdings" panose="05000000000000000000" pitchFamily="2" charset="2"/>
              </a:rPr>
              <a:t>: </a:t>
            </a:r>
            <a:r>
              <a:rPr lang="ko-KR" altLang="de-DE" sz="1200" dirty="0">
                <a:sym typeface="Wingdings" panose="05000000000000000000" pitchFamily="2" charset="2"/>
              </a:rPr>
              <a:t>소비의 비중이 압도적이다</a:t>
            </a:r>
            <a:r>
              <a:rPr lang="de-DE" altLang="ko-KR" sz="1200" dirty="0">
                <a:sym typeface="Wingdings" panose="05000000000000000000" pitchFamily="2" charset="2"/>
              </a:rPr>
              <a:t>(</a:t>
            </a:r>
            <a:r>
              <a:rPr lang="ko-KR" altLang="de-DE" sz="1200" dirty="0">
                <a:sym typeface="Wingdings" panose="05000000000000000000" pitchFamily="2" charset="2"/>
              </a:rPr>
              <a:t>투자에 비해</a:t>
            </a:r>
            <a:r>
              <a:rPr lang="de-DE" altLang="ko-KR" sz="1200" dirty="0">
                <a:sym typeface="Wingdings" panose="05000000000000000000" pitchFamily="2" charset="2"/>
              </a:rPr>
              <a:t>)  </a:t>
            </a:r>
            <a:r>
              <a:rPr lang="ko-KR" altLang="de-DE" sz="1200" dirty="0">
                <a:sym typeface="Wingdings" panose="05000000000000000000" pitchFamily="2" charset="2"/>
              </a:rPr>
              <a:t>경기활성화 정책 소비에 맞추어 짐</a:t>
            </a:r>
            <a:r>
              <a:rPr lang="de-DE" altLang="ko-KR" sz="1200" dirty="0">
                <a:sym typeface="Wingdings" panose="05000000000000000000" pitchFamily="2" charset="2"/>
              </a:rPr>
              <a:t>.</a:t>
            </a:r>
          </a:p>
          <a:p>
            <a:pPr lvl="1">
              <a:lnSpc>
                <a:spcPct val="160000"/>
              </a:lnSpc>
            </a:pPr>
            <a:endParaRPr lang="de-DE" altLang="ko-KR" sz="1100" dirty="0">
              <a:sym typeface="Wingdings" panose="05000000000000000000" pitchFamily="2" charset="2"/>
            </a:endParaRPr>
          </a:p>
          <a:p>
            <a:pPr>
              <a:lnSpc>
                <a:spcPct val="160000"/>
              </a:lnSpc>
            </a:pPr>
            <a:r>
              <a:rPr lang="de-DE" altLang="ko-KR" sz="1325" dirty="0">
                <a:sym typeface="Wingdings" panose="05000000000000000000" pitchFamily="2" charset="2"/>
              </a:rPr>
              <a:t>GDP </a:t>
            </a:r>
            <a:r>
              <a:rPr lang="ko-KR" altLang="de-DE" sz="1325" dirty="0">
                <a:sym typeface="Wingdings" panose="05000000000000000000" pitchFamily="2" charset="2"/>
              </a:rPr>
              <a:t>구성항목 예시</a:t>
            </a:r>
            <a:r>
              <a:rPr lang="de-DE" altLang="ko-KR" sz="1325" dirty="0">
                <a:sym typeface="Wingdings" panose="05000000000000000000" pitchFamily="2" charset="2"/>
              </a:rPr>
              <a:t>(</a:t>
            </a:r>
            <a:r>
              <a:rPr lang="ko-KR" altLang="de-DE" sz="1325" dirty="0">
                <a:sym typeface="Wingdings" panose="05000000000000000000" pitchFamily="2" charset="2"/>
              </a:rPr>
              <a:t>주의</a:t>
            </a:r>
            <a:r>
              <a:rPr lang="de-DE" altLang="ko-KR" sz="1325" dirty="0">
                <a:sym typeface="Wingdings" panose="05000000000000000000" pitchFamily="2" charset="2"/>
              </a:rPr>
              <a:t>!!) ☆☆</a:t>
            </a:r>
          </a:p>
          <a:p>
            <a:pPr lvl="1">
              <a:lnSpc>
                <a:spcPct val="180000"/>
              </a:lnSpc>
              <a:buFontTx/>
              <a:buChar char="-"/>
            </a:pPr>
            <a:r>
              <a:rPr lang="ko-KR" altLang="de-DE" sz="1200" dirty="0">
                <a:sym typeface="Wingdings" panose="05000000000000000000" pitchFamily="2" charset="2"/>
              </a:rPr>
              <a:t>기업이 외국산 제품</a:t>
            </a:r>
            <a:r>
              <a:rPr lang="de-DE" altLang="ko-KR" sz="1200" dirty="0">
                <a:sym typeface="Wingdings" panose="05000000000000000000" pitchFamily="2" charset="2"/>
              </a:rPr>
              <a:t>(</a:t>
            </a:r>
            <a:r>
              <a:rPr lang="ko-KR" altLang="de-DE" sz="1200" dirty="0">
                <a:sym typeface="Wingdings" panose="05000000000000000000" pitchFamily="2" charset="2"/>
              </a:rPr>
              <a:t>장비</a:t>
            </a:r>
            <a:r>
              <a:rPr lang="de-DE" altLang="ko-KR" sz="1200" dirty="0">
                <a:sym typeface="Wingdings" panose="05000000000000000000" pitchFamily="2" charset="2"/>
              </a:rPr>
              <a:t>, </a:t>
            </a:r>
            <a:r>
              <a:rPr lang="ko-KR" altLang="de-DE" sz="1200" dirty="0">
                <a:sym typeface="Wingdings" panose="05000000000000000000" pitchFamily="2" charset="2"/>
              </a:rPr>
              <a:t>기계</a:t>
            </a:r>
            <a:r>
              <a:rPr lang="de-DE" altLang="ko-KR" sz="1200" dirty="0">
                <a:sym typeface="Wingdings" panose="05000000000000000000" pitchFamily="2" charset="2"/>
              </a:rPr>
              <a:t>)</a:t>
            </a:r>
            <a:r>
              <a:rPr lang="ko-KR" altLang="de-DE" sz="1200" dirty="0">
                <a:sym typeface="Wingdings" panose="05000000000000000000" pitchFamily="2" charset="2"/>
              </a:rPr>
              <a:t>을 사업목적으로 구입하는 경우 투자는 증가하지만</a:t>
            </a:r>
            <a:r>
              <a:rPr lang="de-DE" altLang="ko-KR" sz="1200" dirty="0">
                <a:sym typeface="Wingdings" panose="05000000000000000000" pitchFamily="2" charset="2"/>
              </a:rPr>
              <a:t>, </a:t>
            </a:r>
            <a:r>
              <a:rPr lang="ko-KR" altLang="de-DE" sz="1200" dirty="0" err="1">
                <a:sym typeface="Wingdings" panose="05000000000000000000" pitchFamily="2" charset="2"/>
              </a:rPr>
              <a:t>순수출이</a:t>
            </a:r>
            <a:r>
              <a:rPr lang="ko-KR" altLang="de-DE" sz="1200" dirty="0">
                <a:sym typeface="Wingdings" panose="05000000000000000000" pitchFamily="2" charset="2"/>
              </a:rPr>
              <a:t> 줄어들어 </a:t>
            </a:r>
            <a:r>
              <a:rPr lang="de-DE" altLang="ko-KR" sz="1200" dirty="0">
                <a:sym typeface="Wingdings" panose="05000000000000000000" pitchFamily="2" charset="2"/>
              </a:rPr>
              <a:t>GDP</a:t>
            </a:r>
            <a:r>
              <a:rPr lang="ko-KR" altLang="de-DE" sz="1200" dirty="0">
                <a:sym typeface="Wingdings" panose="05000000000000000000" pitchFamily="2" charset="2"/>
              </a:rPr>
              <a:t>는 불변</a:t>
            </a:r>
            <a:endParaRPr lang="de-DE" altLang="ko-KR" sz="1200" dirty="0">
              <a:sym typeface="Wingdings" panose="05000000000000000000" pitchFamily="2" charset="2"/>
            </a:endParaRPr>
          </a:p>
          <a:p>
            <a:pPr lvl="1">
              <a:lnSpc>
                <a:spcPct val="180000"/>
              </a:lnSpc>
              <a:buFontTx/>
              <a:buChar char="-"/>
            </a:pPr>
            <a:r>
              <a:rPr lang="ko-KR" altLang="de-DE" sz="1200" dirty="0">
                <a:sym typeface="Wingdings" panose="05000000000000000000" pitchFamily="2" charset="2"/>
              </a:rPr>
              <a:t>중고제품</a:t>
            </a:r>
            <a:r>
              <a:rPr lang="de-DE" altLang="ko-KR" sz="1200" dirty="0">
                <a:sym typeface="Wingdings" panose="05000000000000000000" pitchFamily="2" charset="2"/>
              </a:rPr>
              <a:t>, </a:t>
            </a:r>
            <a:r>
              <a:rPr lang="ko-KR" altLang="de-DE" sz="1200" dirty="0">
                <a:sym typeface="Wingdings" panose="05000000000000000000" pitchFamily="2" charset="2"/>
              </a:rPr>
              <a:t>그리고 당해 연도 이전에 만들어진 재고는 아무리 사고 팔아도 </a:t>
            </a:r>
            <a:r>
              <a:rPr lang="de-DE" altLang="ko-KR" sz="1200" dirty="0">
                <a:sym typeface="Wingdings" panose="05000000000000000000" pitchFamily="2" charset="2"/>
              </a:rPr>
              <a:t>GDP</a:t>
            </a:r>
            <a:r>
              <a:rPr lang="ko-KR" altLang="de-DE" sz="1200" dirty="0">
                <a:sym typeface="Wingdings" panose="05000000000000000000" pitchFamily="2" charset="2"/>
              </a:rPr>
              <a:t>와 그 </a:t>
            </a:r>
            <a:r>
              <a:rPr lang="ko-KR" altLang="de-DE" sz="1200" dirty="0" err="1">
                <a:sym typeface="Wingdings" panose="05000000000000000000" pitchFamily="2" charset="2"/>
              </a:rPr>
              <a:t>구성항목에</a:t>
            </a:r>
            <a:r>
              <a:rPr lang="ko-KR" altLang="de-DE" sz="1200" dirty="0">
                <a:sym typeface="Wingdings" panose="05000000000000000000" pitchFamily="2" charset="2"/>
              </a:rPr>
              <a:t> 영향을 주지 않음</a:t>
            </a:r>
            <a:r>
              <a:rPr lang="de-DE" altLang="ko-KR" sz="1200" dirty="0">
                <a:sym typeface="Wingdings" panose="05000000000000000000" pitchFamily="2" charset="2"/>
              </a:rPr>
              <a:t>. </a:t>
            </a:r>
          </a:p>
          <a:p>
            <a:pPr lvl="1">
              <a:lnSpc>
                <a:spcPct val="190000"/>
              </a:lnSpc>
              <a:buFontTx/>
              <a:buChar char="-"/>
            </a:pPr>
            <a:r>
              <a:rPr lang="ko-KR" altLang="de-DE" sz="1200" dirty="0">
                <a:sym typeface="Wingdings" panose="05000000000000000000" pitchFamily="2" charset="2"/>
              </a:rPr>
              <a:t>올해 만든 제품이 팔리지 않는 경우 투자</a:t>
            </a:r>
            <a:r>
              <a:rPr lang="de-DE" altLang="ko-KR" sz="1200" dirty="0">
                <a:sym typeface="Wingdings" panose="05000000000000000000" pitchFamily="2" charset="2"/>
              </a:rPr>
              <a:t>(</a:t>
            </a:r>
            <a:r>
              <a:rPr lang="ko-KR" altLang="de-DE" sz="1200" dirty="0">
                <a:sym typeface="Wingdings" panose="05000000000000000000" pitchFamily="2" charset="2"/>
              </a:rPr>
              <a:t>재고투자</a:t>
            </a:r>
            <a:r>
              <a:rPr lang="de-DE" altLang="ko-KR" sz="1200" dirty="0">
                <a:sym typeface="Wingdings" panose="05000000000000000000" pitchFamily="2" charset="2"/>
              </a:rPr>
              <a:t>)</a:t>
            </a:r>
            <a:r>
              <a:rPr lang="ko-KR" altLang="de-DE" sz="1200" dirty="0">
                <a:sym typeface="Wingdings" panose="05000000000000000000" pitchFamily="2" charset="2"/>
              </a:rPr>
              <a:t>로 편입되며</a:t>
            </a:r>
            <a:r>
              <a:rPr lang="de-DE" altLang="ko-KR" sz="1200" dirty="0">
                <a:sym typeface="Wingdings" panose="05000000000000000000" pitchFamily="2" charset="2"/>
              </a:rPr>
              <a:t> GDP</a:t>
            </a:r>
            <a:r>
              <a:rPr lang="ko-KR" altLang="de-DE" sz="1200" dirty="0">
                <a:sym typeface="Wingdings" panose="05000000000000000000" pitchFamily="2" charset="2"/>
              </a:rPr>
              <a:t>에는 포함됨</a:t>
            </a:r>
            <a:r>
              <a:rPr lang="de-DE" altLang="ko-KR" sz="1200" dirty="0">
                <a:sym typeface="Wingdings" panose="05000000000000000000" pitchFamily="2" charset="2"/>
              </a:rPr>
              <a:t>.</a:t>
            </a:r>
            <a:endParaRPr lang="de-DE" altLang="ko-KR" sz="1200" dirty="0">
              <a:sym typeface="Wingdings" panose="05000000000000000000" pitchFamily="2" charset="2"/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035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1488" y="960120"/>
            <a:ext cx="5915025" cy="9574530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ko-KR" altLang="de-DE" sz="1325" dirty="0" smtClean="0">
                <a:sym typeface="Wingdings" panose="05000000000000000000" pitchFamily="2" charset="2"/>
              </a:rPr>
              <a:t>실질</a:t>
            </a:r>
            <a:r>
              <a:rPr lang="de-DE" altLang="ko-KR" sz="1325" dirty="0">
                <a:sym typeface="Wingdings" panose="05000000000000000000" pitchFamily="2" charset="2"/>
              </a:rPr>
              <a:t>GDP</a:t>
            </a:r>
            <a:r>
              <a:rPr lang="ko-KR" altLang="de-DE" sz="1325" dirty="0">
                <a:sym typeface="Wingdings" panose="05000000000000000000" pitchFamily="2" charset="2"/>
              </a:rPr>
              <a:t>와 명목</a:t>
            </a:r>
            <a:r>
              <a:rPr lang="de-DE" altLang="ko-KR" sz="1325" dirty="0">
                <a:sym typeface="Wingdings" panose="05000000000000000000" pitchFamily="2" charset="2"/>
              </a:rPr>
              <a:t>GDP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de-DE" sz="1100" dirty="0" smtClean="0">
                <a:sym typeface="Wingdings" panose="05000000000000000000" pitchFamily="2" charset="2"/>
              </a:rPr>
              <a:t>명목 </a:t>
            </a:r>
            <a:r>
              <a:rPr lang="de-DE" altLang="ko-KR" sz="1100" dirty="0">
                <a:sym typeface="Wingdings" panose="05000000000000000000" pitchFamily="2" charset="2"/>
              </a:rPr>
              <a:t>GDP: </a:t>
            </a:r>
            <a:r>
              <a:rPr lang="ko-KR" altLang="de-DE" sz="1100" dirty="0">
                <a:sym typeface="Wingdings" panose="05000000000000000000" pitchFamily="2" charset="2"/>
              </a:rPr>
              <a:t>현재 가격으로 계산한 산출물의 가치</a:t>
            </a:r>
            <a:r>
              <a:rPr lang="de-DE" altLang="ko-KR" sz="1100" dirty="0">
                <a:sym typeface="Wingdings" panose="05000000000000000000" pitchFamily="2" charset="2"/>
              </a:rPr>
              <a:t>, </a:t>
            </a:r>
            <a:r>
              <a:rPr lang="ko-KR" altLang="de-DE" sz="1100" dirty="0">
                <a:sym typeface="Wingdings" panose="05000000000000000000" pitchFamily="2" charset="2"/>
              </a:rPr>
              <a:t>인플레이션을 고려하지 않은 </a:t>
            </a:r>
            <a:r>
              <a:rPr lang="ko-KR" altLang="de-DE" sz="1100" dirty="0" smtClean="0">
                <a:sym typeface="Wingdings" panose="05000000000000000000" pitchFamily="2" charset="2"/>
              </a:rPr>
              <a:t>것</a:t>
            </a:r>
            <a:endParaRPr lang="en-US" altLang="ko-KR" sz="1100" dirty="0" smtClean="0">
              <a:sym typeface="Wingdings" panose="05000000000000000000" pitchFamily="2" charset="2"/>
            </a:endParaRP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de-DE" sz="1100" dirty="0" smtClean="0">
                <a:sym typeface="Wingdings" panose="05000000000000000000" pitchFamily="2" charset="2"/>
              </a:rPr>
              <a:t>실질 </a:t>
            </a:r>
            <a:r>
              <a:rPr lang="de-DE" altLang="ko-KR" sz="1100" dirty="0">
                <a:sym typeface="Wingdings" panose="05000000000000000000" pitchFamily="2" charset="2"/>
              </a:rPr>
              <a:t>GDP: </a:t>
            </a:r>
            <a:r>
              <a:rPr lang="ko-KR" altLang="de-DE" sz="1100" dirty="0">
                <a:sym typeface="Wingdings" panose="05000000000000000000" pitchFamily="2" charset="2"/>
              </a:rPr>
              <a:t>기준연도</a:t>
            </a:r>
            <a:r>
              <a:rPr lang="de-DE" altLang="ko-KR" sz="1100" dirty="0">
                <a:sym typeface="Wingdings" panose="05000000000000000000" pitchFamily="2" charset="2"/>
              </a:rPr>
              <a:t> </a:t>
            </a:r>
            <a:r>
              <a:rPr lang="ko-KR" altLang="de-DE" sz="1100" dirty="0">
                <a:sym typeface="Wingdings" panose="05000000000000000000" pitchFamily="2" charset="2"/>
              </a:rPr>
              <a:t>가격을 사용한 산출물의 가치</a:t>
            </a:r>
            <a:r>
              <a:rPr lang="de-DE" altLang="ko-KR" sz="1100" dirty="0">
                <a:sym typeface="Wingdings" panose="05000000000000000000" pitchFamily="2" charset="2"/>
              </a:rPr>
              <a:t>, </a:t>
            </a:r>
            <a:r>
              <a:rPr lang="ko-KR" altLang="de-DE" sz="1100" dirty="0">
                <a:sym typeface="Wingdings" panose="05000000000000000000" pitchFamily="2" charset="2"/>
              </a:rPr>
              <a:t>인플레이션을 보정</a:t>
            </a:r>
            <a:r>
              <a:rPr lang="de-DE" altLang="ko-KR" sz="1100" dirty="0">
                <a:sym typeface="Wingdings" panose="05000000000000000000" pitchFamily="2" charset="2"/>
              </a:rPr>
              <a:t>(correct) </a:t>
            </a:r>
            <a:r>
              <a:rPr lang="ko-KR" altLang="de-DE" sz="1100" dirty="0">
                <a:sym typeface="Wingdings" panose="05000000000000000000" pitchFamily="2" charset="2"/>
              </a:rPr>
              <a:t>한</a:t>
            </a:r>
            <a:r>
              <a:rPr lang="de-DE" altLang="ko-KR" sz="1100" dirty="0">
                <a:sym typeface="Wingdings" panose="05000000000000000000" pitchFamily="2" charset="2"/>
              </a:rPr>
              <a:t> </a:t>
            </a:r>
            <a:r>
              <a:rPr lang="ko-KR" altLang="de-DE" sz="1100" dirty="0">
                <a:sym typeface="Wingdings" panose="05000000000000000000" pitchFamily="2" charset="2"/>
              </a:rPr>
              <a:t>것</a:t>
            </a:r>
            <a:r>
              <a:rPr lang="de-DE" altLang="ko-KR" sz="1100" dirty="0">
                <a:sym typeface="Wingdings" panose="05000000000000000000" pitchFamily="2" charset="2"/>
              </a:rPr>
              <a:t>. </a:t>
            </a:r>
          </a:p>
          <a:p>
            <a:pPr marL="257175" lvl="1" indent="0">
              <a:lnSpc>
                <a:spcPct val="160000"/>
              </a:lnSpc>
              <a:buNone/>
            </a:pPr>
            <a:endParaRPr lang="de-DE" altLang="ko-KR" sz="1100" dirty="0" smtClean="0">
              <a:sym typeface="Wingdings" panose="05000000000000000000" pitchFamily="2" charset="2"/>
            </a:endParaRPr>
          </a:p>
          <a:p>
            <a:pPr>
              <a:lnSpc>
                <a:spcPct val="160000"/>
              </a:lnSpc>
            </a:pPr>
            <a:r>
              <a:rPr lang="ko-KR" altLang="de-DE" sz="1300" dirty="0"/>
              <a:t>명목</a:t>
            </a:r>
            <a:r>
              <a:rPr lang="de-DE" altLang="ko-KR" sz="1300" dirty="0"/>
              <a:t>GDP</a:t>
            </a:r>
            <a:r>
              <a:rPr lang="ko-KR" altLang="de-DE" sz="1300" dirty="0"/>
              <a:t>의 변화율</a:t>
            </a:r>
            <a:r>
              <a:rPr lang="de-DE" altLang="ko-KR" sz="1300" dirty="0"/>
              <a:t>(=</a:t>
            </a:r>
            <a:r>
              <a:rPr lang="ko-KR" altLang="de-DE" sz="1300" dirty="0"/>
              <a:t>명목 성장률</a:t>
            </a:r>
            <a:r>
              <a:rPr lang="de-DE" altLang="ko-KR" sz="1300" dirty="0"/>
              <a:t>)</a:t>
            </a:r>
            <a:r>
              <a:rPr lang="ko-KR" altLang="de-DE" sz="1300" dirty="0"/>
              <a:t>은 가격과 생산량의 변화를 모두 반영</a:t>
            </a:r>
            <a:endParaRPr lang="de-DE" altLang="ko-KR" sz="1300" dirty="0"/>
          </a:p>
          <a:p>
            <a:pPr>
              <a:lnSpc>
                <a:spcPct val="160000"/>
              </a:lnSpc>
            </a:pPr>
            <a:r>
              <a:rPr lang="ko-KR" altLang="de-DE" sz="1300" dirty="0"/>
              <a:t>실질</a:t>
            </a:r>
            <a:r>
              <a:rPr lang="de-DE" altLang="ko-KR" sz="1300" dirty="0"/>
              <a:t>GDP</a:t>
            </a:r>
            <a:r>
              <a:rPr lang="ko-KR" altLang="de-DE" sz="1300" dirty="0"/>
              <a:t>의 변화율</a:t>
            </a:r>
            <a:r>
              <a:rPr lang="de-DE" altLang="ko-KR" sz="1300" dirty="0"/>
              <a:t>(=</a:t>
            </a:r>
            <a:r>
              <a:rPr lang="ko-KR" altLang="de-DE" sz="1300" dirty="0"/>
              <a:t>실질성장률</a:t>
            </a:r>
            <a:r>
              <a:rPr lang="de-DE" altLang="ko-KR" sz="1300" dirty="0"/>
              <a:t>)</a:t>
            </a:r>
            <a:r>
              <a:rPr lang="ko-KR" altLang="de-DE" sz="1300" dirty="0"/>
              <a:t>은 가격 고정</a:t>
            </a:r>
            <a:r>
              <a:rPr lang="de-DE" altLang="ko-KR" sz="1300" dirty="0"/>
              <a:t>, </a:t>
            </a:r>
            <a:r>
              <a:rPr lang="ko-KR" altLang="de-DE" sz="1300" dirty="0"/>
              <a:t>생산량의 변화만을 측정</a:t>
            </a:r>
            <a:endParaRPr lang="de-DE" altLang="ko-KR" sz="1300" dirty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/>
              <a:t>실</a:t>
            </a:r>
            <a:r>
              <a:rPr lang="ko-KR" altLang="de-DE" sz="1100" dirty="0"/>
              <a:t>질 </a:t>
            </a:r>
            <a:r>
              <a:rPr lang="de-DE" altLang="ko-KR" sz="1100" dirty="0"/>
              <a:t>GDP</a:t>
            </a:r>
            <a:r>
              <a:rPr lang="ko-KR" altLang="de-DE" sz="1100" dirty="0"/>
              <a:t>는 인플레이션의 효과를 제거한 것</a:t>
            </a:r>
            <a:r>
              <a:rPr lang="de-DE" altLang="ko-KR" sz="1100" dirty="0"/>
              <a:t> </a:t>
            </a:r>
          </a:p>
          <a:p>
            <a:pPr marL="257175" lvl="1" indent="0">
              <a:lnSpc>
                <a:spcPct val="160000"/>
              </a:lnSpc>
              <a:buNone/>
            </a:pPr>
            <a:endParaRPr lang="de-DE" altLang="ko-KR" sz="1100" dirty="0">
              <a:sym typeface="Wingdings" panose="05000000000000000000" pitchFamily="2" charset="2"/>
            </a:endParaRPr>
          </a:p>
          <a:p>
            <a:pPr>
              <a:lnSpc>
                <a:spcPct val="160000"/>
              </a:lnSpc>
            </a:pPr>
            <a:r>
              <a:rPr lang="de-DE" altLang="ko-KR" sz="1300" dirty="0" smtClean="0"/>
              <a:t>GDP </a:t>
            </a:r>
            <a:r>
              <a:rPr lang="ko-KR" altLang="de-DE" sz="1300" dirty="0" err="1"/>
              <a:t>디플레이터</a:t>
            </a:r>
            <a:r>
              <a:rPr lang="ko-KR" altLang="en-US" sz="1300" dirty="0"/>
              <a:t> </a:t>
            </a:r>
            <a:r>
              <a:rPr lang="en-US" altLang="ko-KR" sz="1300" dirty="0"/>
              <a:t>deflator </a:t>
            </a:r>
            <a:r>
              <a:rPr lang="de-DE" altLang="ko-KR" sz="1300" dirty="0"/>
              <a:t>: </a:t>
            </a:r>
            <a:r>
              <a:rPr lang="ko-KR" altLang="de-DE" sz="1300" dirty="0"/>
              <a:t>전반적 가격</a:t>
            </a:r>
            <a:r>
              <a:rPr lang="de-DE" altLang="ko-KR" sz="1300" dirty="0"/>
              <a:t>(</a:t>
            </a:r>
            <a:r>
              <a:rPr lang="ko-KR" altLang="de-DE" sz="1300" dirty="0"/>
              <a:t>물가</a:t>
            </a:r>
            <a:r>
              <a:rPr lang="de-DE" altLang="ko-KR" sz="1300" dirty="0"/>
              <a:t>)</a:t>
            </a:r>
            <a:r>
              <a:rPr lang="ko-KR" altLang="de-DE" sz="1300" dirty="0"/>
              <a:t>수준에 대한 하나의 척도</a:t>
            </a:r>
            <a:endParaRPr lang="de-DE" altLang="ko-KR" sz="1300" dirty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de-DE" altLang="ko-KR" sz="1100" dirty="0"/>
              <a:t>(</a:t>
            </a:r>
            <a:r>
              <a:rPr lang="ko-KR" altLang="de-DE" sz="1100" dirty="0"/>
              <a:t>명목</a:t>
            </a:r>
            <a:r>
              <a:rPr lang="de-DE" altLang="ko-KR" sz="1100" dirty="0"/>
              <a:t>GDP / </a:t>
            </a:r>
            <a:r>
              <a:rPr lang="ko-KR" altLang="de-DE" sz="1100" dirty="0"/>
              <a:t>실질</a:t>
            </a:r>
            <a:r>
              <a:rPr lang="de-DE" altLang="ko-KR" sz="1100" dirty="0"/>
              <a:t> GDP) X 100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de-DE" sz="1100" dirty="0"/>
              <a:t>명목</a:t>
            </a:r>
            <a:r>
              <a:rPr lang="de-DE" altLang="ko-KR" sz="1100" dirty="0"/>
              <a:t> GDP </a:t>
            </a:r>
            <a:r>
              <a:rPr lang="ko-KR" altLang="de-DE" sz="1100" dirty="0"/>
              <a:t>증가분 중에서 실질 </a:t>
            </a:r>
            <a:r>
              <a:rPr lang="de-DE" altLang="ko-KR" sz="1100" dirty="0"/>
              <a:t>GDP</a:t>
            </a:r>
            <a:r>
              <a:rPr lang="ko-KR" altLang="de-DE" sz="1100" dirty="0"/>
              <a:t>의 증가와 무관한 부분을 표시</a:t>
            </a:r>
            <a:endParaRPr lang="de-DE" altLang="ko-KR" sz="1100" dirty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de-DE" sz="1100" dirty="0"/>
              <a:t>기준연도 대비 현재의 물가수준 측정</a:t>
            </a:r>
            <a:r>
              <a:rPr lang="de-DE" altLang="ko-KR" sz="1100" dirty="0"/>
              <a:t>(=</a:t>
            </a:r>
            <a:r>
              <a:rPr lang="ko-KR" altLang="de-DE" sz="1100" dirty="0"/>
              <a:t>경제전체의 인플레이션율</a:t>
            </a:r>
            <a:r>
              <a:rPr lang="de-DE" altLang="ko-KR" sz="1100" dirty="0"/>
              <a:t>)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de-DE" altLang="ko-KR" sz="1100" dirty="0"/>
              <a:t>GDP </a:t>
            </a:r>
            <a:r>
              <a:rPr lang="ko-KR" altLang="de-DE" sz="1100" dirty="0" err="1"/>
              <a:t>디플레이터는</a:t>
            </a:r>
            <a:r>
              <a:rPr lang="de-DE" altLang="ko-KR" sz="1100" dirty="0"/>
              <a:t> </a:t>
            </a:r>
            <a:r>
              <a:rPr lang="ko-KR" altLang="de-DE" sz="1100" dirty="0"/>
              <a:t>그 나라에서 생산된 재화와 서비스의 가격 변동을 </a:t>
            </a:r>
            <a:r>
              <a:rPr lang="ko-KR" altLang="de-DE" sz="1100" dirty="0"/>
              <a:t>표시한다</a:t>
            </a:r>
            <a:r>
              <a:rPr lang="en-US" altLang="ko-KR" sz="1100" dirty="0"/>
              <a:t>.</a:t>
            </a:r>
            <a:endParaRPr lang="de-DE" altLang="ko-KR" sz="1100" dirty="0"/>
          </a:p>
          <a:p>
            <a:pPr>
              <a:lnSpc>
                <a:spcPct val="160000"/>
              </a:lnSpc>
            </a:pPr>
            <a:endParaRPr lang="de-DE" altLang="ko-KR" sz="1325" dirty="0"/>
          </a:p>
          <a:p>
            <a:pPr>
              <a:lnSpc>
                <a:spcPct val="160000"/>
              </a:lnSpc>
            </a:pPr>
            <a:r>
              <a:rPr lang="de-DE" altLang="ko-KR" sz="1325" dirty="0"/>
              <a:t>GDP</a:t>
            </a:r>
            <a:r>
              <a:rPr lang="ko-KR" altLang="en-US" sz="1325" dirty="0"/>
              <a:t>와</a:t>
            </a:r>
            <a:r>
              <a:rPr lang="de-DE" altLang="ko-KR" sz="1325" dirty="0"/>
              <a:t> </a:t>
            </a:r>
            <a:r>
              <a:rPr lang="ko-KR" altLang="en-US" sz="1325" dirty="0"/>
              <a:t>경제적 후생</a:t>
            </a:r>
            <a:r>
              <a:rPr lang="de-DE" altLang="ko-KR" sz="1325" dirty="0"/>
              <a:t>: 1</a:t>
            </a:r>
            <a:r>
              <a:rPr lang="ko-KR" altLang="de-DE" sz="1325" dirty="0"/>
              <a:t>인당 </a:t>
            </a:r>
            <a:r>
              <a:rPr lang="de-DE" altLang="ko-KR" sz="1325" dirty="0"/>
              <a:t>GDP</a:t>
            </a:r>
            <a:r>
              <a:rPr lang="ko-KR" altLang="de-DE" sz="1325" dirty="0"/>
              <a:t>는 그 나라의 평균적 생활수준을 보여주지만</a:t>
            </a:r>
            <a:r>
              <a:rPr lang="de-DE" altLang="ko-KR" sz="1325" dirty="0"/>
              <a:t>, </a:t>
            </a:r>
            <a:r>
              <a:rPr lang="ko-KR" altLang="de-DE" sz="1325" dirty="0"/>
              <a:t>후생의 완벽한 척도는 아니다</a:t>
            </a:r>
            <a:r>
              <a:rPr lang="de-DE" altLang="ko-KR" sz="1325" dirty="0"/>
              <a:t>. 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de-DE" altLang="ko-KR" sz="1100" dirty="0"/>
              <a:t>“</a:t>
            </a:r>
            <a:r>
              <a:rPr lang="de-DE" altLang="ko-KR" sz="1100" dirty="0"/>
              <a:t>GDP</a:t>
            </a:r>
            <a:r>
              <a:rPr lang="ko-KR" altLang="de-DE" sz="1100" dirty="0"/>
              <a:t>는</a:t>
            </a:r>
            <a:r>
              <a:rPr lang="de-DE" altLang="ko-KR" sz="1100" dirty="0"/>
              <a:t> </a:t>
            </a:r>
            <a:r>
              <a:rPr lang="ko-KR" altLang="de-DE" sz="1100" dirty="0"/>
              <a:t>우리의 삶을 가치 있게 만드는 바로 그것을 제외한 모든 것을 측정한다</a:t>
            </a:r>
            <a:r>
              <a:rPr lang="de-DE" altLang="ko-KR" sz="1100" dirty="0"/>
              <a:t>.“</a:t>
            </a:r>
          </a:p>
          <a:p>
            <a:pPr>
              <a:lnSpc>
                <a:spcPct val="160000"/>
              </a:lnSpc>
            </a:pPr>
            <a:r>
              <a:rPr lang="de-DE" altLang="ko-KR" sz="1325" dirty="0"/>
              <a:t>GDP</a:t>
            </a:r>
            <a:r>
              <a:rPr lang="ko-KR" altLang="de-DE" sz="1325" dirty="0"/>
              <a:t>가</a:t>
            </a:r>
            <a:r>
              <a:rPr lang="de-DE" altLang="ko-KR" sz="1325" dirty="0"/>
              <a:t> </a:t>
            </a:r>
            <a:r>
              <a:rPr lang="ko-KR" altLang="de-DE" sz="1325" dirty="0"/>
              <a:t>고려하지 않는 것들</a:t>
            </a:r>
            <a:endParaRPr lang="de-DE" altLang="ko-KR" sz="1325" dirty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de-DE" sz="1100" dirty="0"/>
              <a:t>환경의 질</a:t>
            </a:r>
            <a:r>
              <a:rPr lang="de-DE" altLang="ko-KR" sz="1100" dirty="0"/>
              <a:t>, </a:t>
            </a:r>
            <a:r>
              <a:rPr lang="ko-KR" altLang="de-DE" sz="1100" dirty="0"/>
              <a:t>여가시간</a:t>
            </a:r>
            <a:r>
              <a:rPr lang="de-DE" altLang="ko-KR" sz="1100" dirty="0"/>
              <a:t>, </a:t>
            </a:r>
            <a:r>
              <a:rPr lang="ko-KR" altLang="de-DE" sz="1100" dirty="0"/>
              <a:t>여러가지 </a:t>
            </a:r>
            <a:r>
              <a:rPr lang="ko-KR" altLang="de-DE" sz="1100" dirty="0" err="1"/>
              <a:t>비시장</a:t>
            </a:r>
            <a:r>
              <a:rPr lang="ko-KR" altLang="de-DE" sz="1100" dirty="0"/>
              <a:t> 활동</a:t>
            </a:r>
            <a:r>
              <a:rPr lang="de-DE" altLang="ko-KR" sz="1100" dirty="0"/>
              <a:t>(</a:t>
            </a:r>
            <a:r>
              <a:rPr lang="ko-KR" altLang="de-DE" sz="1100" dirty="0"/>
              <a:t>육아</a:t>
            </a:r>
            <a:r>
              <a:rPr lang="de-DE" altLang="ko-KR" sz="1100" dirty="0"/>
              <a:t>, </a:t>
            </a:r>
            <a:r>
              <a:rPr lang="ko-KR" altLang="de-DE" sz="1100" dirty="0"/>
              <a:t>휴식</a:t>
            </a:r>
            <a:r>
              <a:rPr lang="de-DE" altLang="ko-KR" sz="1100" dirty="0"/>
              <a:t>, </a:t>
            </a:r>
            <a:r>
              <a:rPr lang="ko-KR" altLang="de-DE" sz="1100" dirty="0"/>
              <a:t>가사노동 등 가정에서 일어나는 많은 일들</a:t>
            </a:r>
            <a:r>
              <a:rPr lang="de-DE" altLang="ko-KR" sz="1100" dirty="0"/>
              <a:t>), </a:t>
            </a:r>
            <a:r>
              <a:rPr lang="ko-KR" altLang="de-DE" sz="1100" dirty="0"/>
              <a:t>소득</a:t>
            </a:r>
            <a:r>
              <a:rPr lang="ko-KR" altLang="en-US" sz="1100" dirty="0"/>
              <a:t>분배</a:t>
            </a:r>
            <a:r>
              <a:rPr lang="ko-KR" altLang="de-DE" sz="1100" dirty="0"/>
              <a:t>상황 </a:t>
            </a:r>
            <a:r>
              <a:rPr lang="ko-KR" altLang="de-DE" sz="1100" dirty="0"/>
              <a:t>등</a:t>
            </a:r>
            <a:endParaRPr lang="de-DE" altLang="ko-KR" sz="1100" dirty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de-DE" sz="1100" dirty="0"/>
              <a:t>그럼에도 불구하고 </a:t>
            </a:r>
            <a:r>
              <a:rPr lang="de-DE" altLang="ko-KR" sz="1100" dirty="0"/>
              <a:t>GDP</a:t>
            </a:r>
            <a:r>
              <a:rPr lang="ko-KR" altLang="de-DE" sz="1100" dirty="0"/>
              <a:t>가 커지면 교육</a:t>
            </a:r>
            <a:r>
              <a:rPr lang="de-DE" altLang="ko-KR" sz="1100" dirty="0"/>
              <a:t>, </a:t>
            </a:r>
            <a:r>
              <a:rPr lang="ko-KR" altLang="de-DE" sz="1100" dirty="0"/>
              <a:t>환경</a:t>
            </a:r>
            <a:r>
              <a:rPr lang="de-DE" altLang="ko-KR" sz="1100" dirty="0"/>
              <a:t>, </a:t>
            </a:r>
            <a:r>
              <a:rPr lang="ko-KR" altLang="de-DE" sz="1100" dirty="0"/>
              <a:t>의료</a:t>
            </a:r>
            <a:r>
              <a:rPr lang="de-DE" altLang="ko-KR" sz="1100" dirty="0"/>
              <a:t>, </a:t>
            </a:r>
            <a:r>
              <a:rPr lang="ko-KR" altLang="de-DE" sz="1100" dirty="0"/>
              <a:t>복지 등 할 수 있는 일이 많아짐</a:t>
            </a:r>
            <a:r>
              <a:rPr lang="de-DE" altLang="ko-KR" sz="1100" dirty="0"/>
              <a:t>. 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de-DE" sz="1100" dirty="0"/>
              <a:t>삶의 질에 관한 지표들은 </a:t>
            </a:r>
            <a:r>
              <a:rPr lang="de-DE" altLang="ko-KR" sz="1100" dirty="0"/>
              <a:t>GDP</a:t>
            </a:r>
            <a:r>
              <a:rPr lang="ko-KR" altLang="de-DE" sz="1100" dirty="0"/>
              <a:t>와 정</a:t>
            </a:r>
            <a:r>
              <a:rPr lang="de-DE" altLang="ko-KR" sz="1100" dirty="0"/>
              <a:t>(+)</a:t>
            </a:r>
            <a:r>
              <a:rPr lang="ko-KR" altLang="de-DE" sz="1100" dirty="0"/>
              <a:t>의 상관관계를 갖고 있음</a:t>
            </a:r>
            <a:r>
              <a:rPr lang="de-DE" altLang="ko-KR" sz="1100" dirty="0"/>
              <a:t>. 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de-DE" altLang="ko-KR" sz="1100" dirty="0" smtClean="0"/>
              <a:t>GDP</a:t>
            </a:r>
            <a:r>
              <a:rPr lang="ko-KR" altLang="en-US" sz="1100" smtClean="0"/>
              <a:t>의 </a:t>
            </a:r>
            <a:r>
              <a:rPr lang="ko-KR" altLang="de-DE" sz="1100" smtClean="0"/>
              <a:t>대안</a:t>
            </a:r>
            <a:r>
              <a:rPr lang="de-DE" altLang="ko-KR" sz="1100" dirty="0"/>
              <a:t>?</a:t>
            </a:r>
            <a:endParaRPr lang="de-DE" altLang="ko-KR" sz="1100" dirty="0"/>
          </a:p>
          <a:p>
            <a:pPr>
              <a:lnSpc>
                <a:spcPct val="160000"/>
              </a:lnSpc>
            </a:pPr>
            <a:endParaRPr lang="de-DE" altLang="ko-KR" sz="11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7AACF2-4E8D-444E-8FEB-7FAF57A63B4E}" type="slidenum">
              <a:rPr kumimoji="0" lang="ko-KR" altLang="en-US" sz="675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ko-KR" altLang="en-US" sz="675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026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Words>750</Words>
  <Application>Microsoft Office PowerPoint</Application>
  <PresentationFormat>와이드스크린</PresentationFormat>
  <Paragraphs>76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맑은 고딕</vt:lpstr>
      <vt:lpstr>Arial</vt:lpstr>
      <vt:lpstr>Wingdings</vt:lpstr>
      <vt:lpstr>Office 테마</vt:lpstr>
      <vt:lpstr>23장. 국민소득의 측정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현대경제분석   강의노트</dc:title>
  <dc:creator>User</dc:creator>
  <cp:lastModifiedBy>User</cp:lastModifiedBy>
  <cp:revision>46</cp:revision>
  <dcterms:created xsi:type="dcterms:W3CDTF">2021-06-28T02:08:57Z</dcterms:created>
  <dcterms:modified xsi:type="dcterms:W3CDTF">2022-12-25T09:38:34Z</dcterms:modified>
</cp:coreProperties>
</file>