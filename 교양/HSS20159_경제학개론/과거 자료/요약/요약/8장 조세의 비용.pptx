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31" r:id="rId1"/>
  </p:sldMasterIdLst>
  <p:notesMasterIdLst>
    <p:notesMasterId r:id="rId3"/>
  </p:notesMasterIdLst>
  <p:sldIdLst>
    <p:sldId id="257" r:id="rId2"/>
  </p:sldIdLst>
  <p:sldSz cx="6858000" cy="12192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6" d="100"/>
          <a:sy n="66" d="100"/>
        </p:scale>
        <p:origin x="335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3ACC92-CB11-4036-ADF7-E0BC6A6A1264}" type="datetimeFigureOut">
              <a:rPr lang="ko-KR" altLang="en-US" smtClean="0"/>
              <a:t>2023-03-17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EE10A1-D3FC-451D-B227-50AB5FD54F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0385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57250" y="1995312"/>
            <a:ext cx="5143500" cy="4244622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68940-2C76-495C-8FB7-F4A9D28239AA}" type="datetime1">
              <a:rPr lang="ko-KR" altLang="en-US" smtClean="0"/>
              <a:t>2023-03-17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4845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3A891-E498-4678-8D06-486FCC2BADEF}" type="datetime1">
              <a:rPr lang="ko-KR" altLang="en-US" smtClean="0"/>
              <a:t>2023-03-17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678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67916" y="3039535"/>
            <a:ext cx="5915025" cy="5071532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67916" y="8159046"/>
            <a:ext cx="5915025" cy="266699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4FA93-A02B-42D6-A8B3-8681C853C7B8}" type="datetime1">
              <a:rPr lang="ko-KR" altLang="en-US" smtClean="0"/>
              <a:t>2023-03-17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5947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91E48-2200-4646-B2AF-8A65E8AA4025}" type="datetime1">
              <a:rPr lang="ko-KR" altLang="en-US" smtClean="0"/>
              <a:t>2023-03-17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456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649112"/>
            <a:ext cx="5915025" cy="235655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F0A6E-CDCA-463B-AB9C-2AD65F7DC7CE}" type="datetime1">
              <a:rPr lang="ko-KR" altLang="en-US" smtClean="0"/>
              <a:t>2023-03-17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9918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2F37D-F6B4-429A-93F0-670EB34C6EF1}" type="datetime1">
              <a:rPr lang="ko-KR" altLang="en-US" smtClean="0"/>
              <a:t>2023-03-17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8359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75B21-6647-4787-AAB5-A8BA543A8A03}" type="datetime1">
              <a:rPr lang="ko-KR" altLang="en-US" smtClean="0"/>
              <a:t>2023-03-17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1135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F1AC2-CEA2-4AD0-9EED-9798843472E1}" type="datetime1">
              <a:rPr lang="ko-KR" altLang="en-US" smtClean="0"/>
              <a:t>2023-03-17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6768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37C7C-8297-41A4-AED2-93F81127B44B}" type="datetime1">
              <a:rPr lang="ko-KR" altLang="en-US" smtClean="0"/>
              <a:t>2023-03-17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5451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448E2-EAB7-4DB0-B809-DCB379E8731B}" type="datetime1">
              <a:rPr lang="ko-KR" altLang="en-US" smtClean="0"/>
              <a:t>2023-03-17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311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4907756" y="649111"/>
            <a:ext cx="1478756" cy="10332156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71487" y="649111"/>
            <a:ext cx="4350544" cy="10332156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703C7-C7FA-46F0-BB19-A2462D02B89C}" type="datetime1">
              <a:rPr lang="ko-KR" altLang="en-US" smtClean="0"/>
              <a:t>2023-03-17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7099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71488" y="649112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71488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6E84B-CCB9-4E10-8C0E-8C6664F6450B}" type="datetime1">
              <a:rPr lang="ko-KR" altLang="en-US" smtClean="0"/>
              <a:t>2023-03-17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271713" y="11300179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843463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2197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2" r:id="rId1"/>
    <p:sldLayoutId id="2147484133" r:id="rId2"/>
    <p:sldLayoutId id="2147484134" r:id="rId3"/>
    <p:sldLayoutId id="2147484135" r:id="rId4"/>
    <p:sldLayoutId id="2147484136" r:id="rId5"/>
    <p:sldLayoutId id="2147484137" r:id="rId6"/>
    <p:sldLayoutId id="2147484138" r:id="rId7"/>
    <p:sldLayoutId id="2147484139" r:id="rId8"/>
    <p:sldLayoutId id="2147484140" r:id="rId9"/>
    <p:sldLayoutId id="2147484141" r:id="rId10"/>
    <p:sldLayoutId id="2147484142" r:id="rId11"/>
  </p:sldLayoutIdLst>
  <p:hf hdr="0" ftr="0" dt="0"/>
  <p:txStyles>
    <p:titleStyle>
      <a:lvl1pPr algn="l" defTabSz="514350" rtl="0" eaLnBrk="1" latinLnBrk="1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1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114920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8</a:t>
            </a:r>
            <a:r>
              <a:rPr lang="ko-KR" altLang="en-US" dirty="0"/>
              <a:t>장 조세의 비용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1488" y="1798319"/>
            <a:ext cx="5915025" cy="9744567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ko-KR" altLang="en-US" sz="1300" dirty="0"/>
              <a:t>세금의 효과</a:t>
            </a:r>
            <a:r>
              <a:rPr lang="en-US" altLang="ko-KR" sz="1300" dirty="0"/>
              <a:t>: </a:t>
            </a:r>
            <a:r>
              <a:rPr lang="ko-KR" altLang="en-US" sz="1300" dirty="0"/>
              <a:t>세금이 소비자잉여</a:t>
            </a:r>
            <a:r>
              <a:rPr lang="en-US" altLang="ko-KR" sz="1300" dirty="0"/>
              <a:t>, </a:t>
            </a:r>
            <a:r>
              <a:rPr lang="ko-KR" altLang="en-US" sz="1300" dirty="0"/>
              <a:t>생산자잉여</a:t>
            </a:r>
            <a:r>
              <a:rPr lang="en-US" altLang="ko-KR" sz="1300" dirty="0"/>
              <a:t>, </a:t>
            </a:r>
            <a:r>
              <a:rPr lang="ko-KR" altLang="en-US" sz="1300" dirty="0"/>
              <a:t>그리고 총잉여에 어떤 영향을 주는가</a:t>
            </a:r>
            <a:r>
              <a:rPr lang="en-US" altLang="ko-KR" sz="1300" dirty="0"/>
              <a:t>? </a:t>
            </a:r>
            <a:r>
              <a:rPr lang="ko-KR" altLang="en-US" sz="1300" dirty="0"/>
              <a:t>즉</a:t>
            </a:r>
            <a:r>
              <a:rPr lang="en-US" altLang="ko-KR" sz="1300" dirty="0"/>
              <a:t>, </a:t>
            </a:r>
            <a:r>
              <a:rPr lang="ko-KR" altLang="en-US" sz="1300" dirty="0"/>
              <a:t>정부가 세금을 부과하면 사회 후생에는 어떤 일이 발생하는가</a:t>
            </a:r>
            <a:r>
              <a:rPr lang="en-US" altLang="ko-KR" sz="1300" dirty="0"/>
              <a:t>?</a:t>
            </a:r>
          </a:p>
          <a:p>
            <a:pPr>
              <a:lnSpc>
                <a:spcPct val="160000"/>
              </a:lnSpc>
            </a:pPr>
            <a:r>
              <a:rPr lang="ko-KR" altLang="en-US" sz="1300" dirty="0"/>
              <a:t>세금은 구매자가 지불하는 가격 </a:t>
            </a:r>
            <a:r>
              <a:rPr lang="en-US" altLang="ko-KR" sz="1300" dirty="0"/>
              <a:t>P</a:t>
            </a:r>
            <a:r>
              <a:rPr lang="en-US" altLang="ko-KR" sz="1300" baseline="-25000" dirty="0"/>
              <a:t>B</a:t>
            </a:r>
            <a:r>
              <a:rPr lang="ko-KR" altLang="en-US" sz="1300" dirty="0"/>
              <a:t>과 판매자가 받는 가격 </a:t>
            </a:r>
            <a:r>
              <a:rPr lang="en-US" altLang="ko-KR" sz="1300" dirty="0"/>
              <a:t>P</a:t>
            </a:r>
            <a:r>
              <a:rPr lang="en-US" altLang="ko-KR" sz="1300" baseline="-25000" dirty="0"/>
              <a:t>S</a:t>
            </a:r>
            <a:r>
              <a:rPr lang="ko-KR" altLang="en-US" sz="1300" dirty="0"/>
              <a:t>사이에 위치</a:t>
            </a:r>
            <a:endParaRPr lang="en-US" altLang="ko-KR" sz="1300" dirty="0"/>
          </a:p>
          <a:p>
            <a:pPr marL="257175" lvl="1" indent="0">
              <a:lnSpc>
                <a:spcPct val="160000"/>
              </a:lnSpc>
              <a:buNone/>
            </a:pPr>
            <a:r>
              <a:rPr lang="en-US" altLang="ko-KR" sz="1100" dirty="0" smtClean="0"/>
              <a:t>- </a:t>
            </a:r>
            <a:r>
              <a:rPr lang="ko-KR" altLang="en-US" sz="1100" dirty="0" smtClean="0"/>
              <a:t>세금은 </a:t>
            </a:r>
            <a:r>
              <a:rPr lang="ko-KR" altLang="en-US" sz="1100" dirty="0"/>
              <a:t>구매자가격은 올라가고 판매자가격은 내려 가도록 함</a:t>
            </a:r>
            <a:r>
              <a:rPr lang="en-US" altLang="ko-KR" sz="1100" dirty="0"/>
              <a:t>.</a:t>
            </a:r>
          </a:p>
          <a:p>
            <a:pPr marL="257175" lvl="1" indent="0">
              <a:lnSpc>
                <a:spcPct val="160000"/>
              </a:lnSpc>
              <a:buNone/>
            </a:pPr>
            <a:r>
              <a:rPr lang="en-US" altLang="ko-KR" sz="1100" dirty="0" smtClean="0"/>
              <a:t>- </a:t>
            </a:r>
            <a:r>
              <a:rPr lang="ko-KR" altLang="en-US" sz="1100" dirty="0" smtClean="0"/>
              <a:t>시장에서 </a:t>
            </a:r>
            <a:r>
              <a:rPr lang="ko-KR" altLang="en-US" sz="1100" dirty="0"/>
              <a:t>거래되는 재화의 양을 감소시킴</a:t>
            </a:r>
            <a:r>
              <a:rPr lang="en-US" altLang="ko-KR" sz="1100" dirty="0"/>
              <a:t>.</a:t>
            </a:r>
          </a:p>
          <a:p>
            <a:pPr lvl="1">
              <a:lnSpc>
                <a:spcPct val="160000"/>
              </a:lnSpc>
            </a:pPr>
            <a:endParaRPr lang="en-US" altLang="ko-KR" sz="1075" dirty="0"/>
          </a:p>
          <a:p>
            <a:pPr>
              <a:lnSpc>
                <a:spcPct val="160000"/>
              </a:lnSpc>
            </a:pPr>
            <a:r>
              <a:rPr lang="ko-KR" altLang="en-US" sz="1300" dirty="0" smtClean="0"/>
              <a:t>세금이</a:t>
            </a:r>
            <a:r>
              <a:rPr lang="en-US" altLang="ko-KR" sz="1300" dirty="0" smtClean="0"/>
              <a:t> </a:t>
            </a:r>
            <a:r>
              <a:rPr lang="ko-KR" altLang="en-US" sz="1300" dirty="0"/>
              <a:t>없는 경우 </a:t>
            </a:r>
            <a:r>
              <a:rPr lang="ko-KR" altLang="en-US" sz="1300" dirty="0" err="1"/>
              <a:t>총잉여</a:t>
            </a:r>
            <a:r>
              <a:rPr lang="ko-KR" altLang="en-US" sz="1300" dirty="0"/>
              <a:t> </a:t>
            </a:r>
            <a:r>
              <a:rPr lang="en-US" altLang="ko-KR" sz="1300" dirty="0"/>
              <a:t>TS = (A+B+C) + (D+E+F)</a:t>
            </a:r>
          </a:p>
          <a:p>
            <a:pPr>
              <a:lnSpc>
                <a:spcPct val="160000"/>
              </a:lnSpc>
            </a:pPr>
            <a:r>
              <a:rPr lang="ko-KR" altLang="en-US" sz="1300" dirty="0"/>
              <a:t>세금이 부과되는 경우 </a:t>
            </a:r>
            <a:r>
              <a:rPr lang="ko-KR" altLang="en-US" sz="1300" dirty="0" err="1"/>
              <a:t>총잉여</a:t>
            </a:r>
            <a:r>
              <a:rPr lang="ko-KR" altLang="en-US" sz="1300" dirty="0"/>
              <a:t> </a:t>
            </a:r>
            <a:r>
              <a:rPr lang="en-US" altLang="ko-KR" sz="1300" dirty="0"/>
              <a:t>TS</a:t>
            </a:r>
            <a:r>
              <a:rPr lang="ko-KR" altLang="en-US" sz="1300" dirty="0"/>
              <a:t> </a:t>
            </a:r>
            <a:r>
              <a:rPr lang="en-US" altLang="ko-KR" sz="1300" dirty="0"/>
              <a:t>= CS(A)+ PS(F) + </a:t>
            </a:r>
            <a:r>
              <a:rPr lang="ko-KR" altLang="en-US" sz="1300" dirty="0"/>
              <a:t>조세수입</a:t>
            </a:r>
            <a:r>
              <a:rPr lang="en-US" altLang="ko-KR" sz="1300" dirty="0"/>
              <a:t>(B+D)</a:t>
            </a:r>
          </a:p>
          <a:p>
            <a:pPr>
              <a:lnSpc>
                <a:spcPct val="160000"/>
              </a:lnSpc>
            </a:pPr>
            <a:r>
              <a:rPr lang="ko-KR" altLang="en-US" sz="1300" dirty="0"/>
              <a:t>세금부과로 인해 </a:t>
            </a:r>
            <a:r>
              <a:rPr lang="ko-KR" altLang="en-US" sz="1300" dirty="0" err="1"/>
              <a:t>총잉여</a:t>
            </a:r>
            <a:r>
              <a:rPr lang="ko-KR" altLang="en-US" sz="1300" dirty="0"/>
              <a:t> </a:t>
            </a:r>
            <a:r>
              <a:rPr lang="en-US" altLang="ko-KR" sz="1300" dirty="0"/>
              <a:t>TS</a:t>
            </a:r>
            <a:r>
              <a:rPr lang="ko-KR" altLang="en-US" sz="1300" dirty="0"/>
              <a:t>는 </a:t>
            </a:r>
            <a:r>
              <a:rPr lang="en-US" altLang="ko-KR" sz="1300" dirty="0"/>
              <a:t>C+E </a:t>
            </a:r>
            <a:r>
              <a:rPr lang="ko-KR" altLang="en-US" sz="1300" dirty="0"/>
              <a:t>만큼 줄어들게 됨</a:t>
            </a:r>
            <a:r>
              <a:rPr lang="en-US" altLang="ko-KR" sz="1300" dirty="0"/>
              <a:t>. </a:t>
            </a:r>
            <a:r>
              <a:rPr lang="ko-KR" altLang="en-US" sz="1300" dirty="0"/>
              <a:t>이를 경제학에서는 </a:t>
            </a:r>
            <a:r>
              <a:rPr lang="en-US" altLang="ko-KR" sz="1300" dirty="0"/>
              <a:t>‘</a:t>
            </a:r>
            <a:r>
              <a:rPr lang="ko-KR" altLang="en-US" sz="1300" u="sng" dirty="0"/>
              <a:t>자중손실 </a:t>
            </a:r>
            <a:r>
              <a:rPr lang="en-US" altLang="ko-KR" sz="1300" u="sng" dirty="0"/>
              <a:t>Deadweight loss, DWL</a:t>
            </a:r>
            <a:r>
              <a:rPr lang="en-US" altLang="ko-KR" sz="1300" dirty="0"/>
              <a:t>’</a:t>
            </a:r>
            <a:r>
              <a:rPr lang="ko-KR" altLang="en-US" sz="1300" dirty="0"/>
              <a:t>이라고 부름</a:t>
            </a:r>
            <a:r>
              <a:rPr lang="en-US" altLang="ko-KR" sz="1300" dirty="0"/>
              <a:t>. ★★★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smtClean="0"/>
              <a:t>세금 </a:t>
            </a:r>
            <a:r>
              <a:rPr lang="ko-KR" altLang="en-US" sz="1100" dirty="0"/>
              <a:t>등 시장 왜곡으로 초래된 총잉여의 감소분을 일컬음</a:t>
            </a:r>
            <a:r>
              <a:rPr lang="en-US" altLang="ko-KR" sz="1100" dirty="0"/>
              <a:t>. </a:t>
            </a:r>
            <a:endParaRPr lang="en-US" altLang="ko-KR" sz="1100" dirty="0" smtClean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smtClean="0"/>
              <a:t>세금으로 </a:t>
            </a:r>
            <a:r>
              <a:rPr lang="ko-KR" altLang="en-US" sz="1100" dirty="0"/>
              <a:t>인해 재화나 서비스의 거래량도 </a:t>
            </a:r>
            <a:r>
              <a:rPr lang="en-US" altLang="ko-KR" sz="1100" dirty="0"/>
              <a:t>Q</a:t>
            </a:r>
            <a:r>
              <a:rPr lang="en-US" altLang="ko-KR" sz="1100" baseline="-25000" dirty="0"/>
              <a:t>E</a:t>
            </a:r>
            <a:r>
              <a:rPr lang="en-US" altLang="ko-KR" sz="1100" dirty="0"/>
              <a:t> – Q</a:t>
            </a:r>
            <a:r>
              <a:rPr lang="en-US" altLang="ko-KR" sz="1100" baseline="-25000" dirty="0"/>
              <a:t>T</a:t>
            </a:r>
            <a:r>
              <a:rPr lang="en-US" altLang="ko-KR" sz="1100" dirty="0"/>
              <a:t> </a:t>
            </a:r>
            <a:r>
              <a:rPr lang="ko-KR" altLang="en-US" sz="1100" dirty="0"/>
              <a:t>만큼 감소하였으며</a:t>
            </a:r>
            <a:r>
              <a:rPr lang="en-US" altLang="ko-KR" sz="1100" dirty="0"/>
              <a:t>, </a:t>
            </a:r>
            <a:r>
              <a:rPr lang="ko-KR" altLang="en-US" sz="1100" dirty="0"/>
              <a:t>그 만큼 소비자와 생산자가 잉여를 누릴 기회가 줄어들었다는 것을 의미함</a:t>
            </a:r>
            <a:r>
              <a:rPr lang="en-US" altLang="ko-KR" sz="1100" dirty="0"/>
              <a:t>. </a:t>
            </a:r>
          </a:p>
          <a:p>
            <a:pPr lvl="1">
              <a:lnSpc>
                <a:spcPct val="160000"/>
              </a:lnSpc>
            </a:pPr>
            <a:endParaRPr lang="en-US" altLang="ko-KR" sz="700" dirty="0"/>
          </a:p>
          <a:p>
            <a:pPr>
              <a:lnSpc>
                <a:spcPct val="160000"/>
              </a:lnSpc>
            </a:pPr>
            <a:r>
              <a:rPr lang="ko-KR" altLang="en-US" sz="1325" dirty="0"/>
              <a:t>자중손실의 결정요인</a:t>
            </a:r>
            <a:endParaRPr lang="en-US" altLang="ko-KR" sz="1325" dirty="0"/>
          </a:p>
          <a:p>
            <a:pPr>
              <a:lnSpc>
                <a:spcPct val="160000"/>
              </a:lnSpc>
            </a:pPr>
            <a:r>
              <a:rPr lang="ko-KR" altLang="en-US" sz="1325" dirty="0"/>
              <a:t>수요와 공급의 탄력성이 클수록 세금부과로 인한 자중손실이 더 커짐</a:t>
            </a:r>
            <a:r>
              <a:rPr lang="en-US" altLang="ko-KR" sz="1325" dirty="0"/>
              <a:t>.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en-US" altLang="ko-KR" sz="1100" dirty="0" smtClean="0"/>
              <a:t>(</a:t>
            </a:r>
            <a:r>
              <a:rPr lang="ko-KR" altLang="en-US" sz="1100" dirty="0"/>
              <a:t>주어진 수요곡선에 대해</a:t>
            </a:r>
            <a:r>
              <a:rPr lang="en-US" altLang="ko-KR" sz="1100" dirty="0"/>
              <a:t>)</a:t>
            </a:r>
            <a:r>
              <a:rPr lang="ko-KR" altLang="en-US" sz="1100" dirty="0"/>
              <a:t> 공급의 탄력성이 클수록 자중손실은 더 큼</a:t>
            </a:r>
            <a:r>
              <a:rPr lang="en-US" altLang="ko-KR" sz="1100" dirty="0" smtClean="0"/>
              <a:t>.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en-US" altLang="ko-KR" sz="1100" dirty="0" smtClean="0"/>
              <a:t>(</a:t>
            </a:r>
            <a:r>
              <a:rPr lang="ko-KR" altLang="en-US" sz="1100" dirty="0"/>
              <a:t>주어진 공급곡선에 대해</a:t>
            </a:r>
            <a:r>
              <a:rPr lang="en-US" altLang="ko-KR" sz="1100" dirty="0"/>
              <a:t>)</a:t>
            </a:r>
            <a:r>
              <a:rPr lang="ko-KR" altLang="en-US" sz="1100" dirty="0"/>
              <a:t> 수요의 탄력성이 클수록 자중손실은 더 큼</a:t>
            </a:r>
            <a:r>
              <a:rPr lang="en-US" altLang="ko-KR" sz="1100" dirty="0"/>
              <a:t>. </a:t>
            </a:r>
            <a:endParaRPr lang="en-US" altLang="ko-KR" sz="1100" dirty="0" smtClean="0"/>
          </a:p>
          <a:p>
            <a:pPr lvl="1">
              <a:lnSpc>
                <a:spcPct val="160000"/>
              </a:lnSpc>
              <a:buFontTx/>
              <a:buChar char="-"/>
            </a:pPr>
            <a:endParaRPr lang="en-US" altLang="ko-KR" sz="1100" dirty="0"/>
          </a:p>
          <a:p>
            <a:pPr>
              <a:lnSpc>
                <a:spcPct val="160000"/>
              </a:lnSpc>
            </a:pPr>
            <a:r>
              <a:rPr lang="ko-KR" altLang="en-US" sz="1300" dirty="0"/>
              <a:t>세금의 크기</a:t>
            </a:r>
            <a:r>
              <a:rPr lang="en-US" altLang="ko-KR" sz="1300" dirty="0"/>
              <a:t>(tax size)</a:t>
            </a:r>
            <a:r>
              <a:rPr lang="ko-KR" altLang="en-US" sz="1300" dirty="0"/>
              <a:t>와 </a:t>
            </a:r>
            <a:r>
              <a:rPr lang="ko-KR" altLang="en-US" sz="1300" dirty="0" err="1"/>
              <a:t>자중손실</a:t>
            </a:r>
            <a:endParaRPr lang="en-US" altLang="ko-KR" sz="1300" dirty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/>
              <a:t>세금이 증가하면</a:t>
            </a:r>
            <a:r>
              <a:rPr lang="en-US" altLang="ko-KR" sz="1100" dirty="0"/>
              <a:t>, </a:t>
            </a:r>
            <a:r>
              <a:rPr lang="ko-KR" altLang="en-US" sz="1100" dirty="0" err="1"/>
              <a:t>자중손실은</a:t>
            </a:r>
            <a:r>
              <a:rPr lang="ko-KR" altLang="en-US" sz="1100" dirty="0"/>
              <a:t> 증가하며</a:t>
            </a:r>
            <a:r>
              <a:rPr lang="en-US" altLang="ko-KR" sz="1100" dirty="0"/>
              <a:t>, </a:t>
            </a:r>
            <a:r>
              <a:rPr lang="ko-KR" altLang="en-US" sz="1100" dirty="0"/>
              <a:t>세금의 크기보다 더 빠르게 증가함</a:t>
            </a:r>
            <a:r>
              <a:rPr lang="en-US" altLang="ko-KR" sz="1100" dirty="0"/>
              <a:t>.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/>
              <a:t>조세수입은 초기에 증가하지만</a:t>
            </a:r>
            <a:r>
              <a:rPr lang="en-US" altLang="ko-KR" sz="1100" dirty="0"/>
              <a:t>, </a:t>
            </a:r>
            <a:r>
              <a:rPr lang="ko-KR" altLang="en-US" sz="1100" dirty="0"/>
              <a:t>세금이 계속 커지면 감소함</a:t>
            </a:r>
            <a:r>
              <a:rPr lang="en-US" altLang="ko-KR" sz="1100" dirty="0"/>
              <a:t>. </a:t>
            </a:r>
            <a:r>
              <a:rPr lang="ko-KR" altLang="en-US" sz="1100" dirty="0"/>
              <a:t>세금의 증가가 시장의 규모를 급격하게 축소시키기 때문</a:t>
            </a:r>
            <a:endParaRPr lang="en-US" altLang="ko-KR" sz="1100" dirty="0"/>
          </a:p>
          <a:p>
            <a:pPr marL="257175" lvl="1" indent="0">
              <a:lnSpc>
                <a:spcPct val="160000"/>
              </a:lnSpc>
              <a:buNone/>
            </a:pPr>
            <a:endParaRPr lang="en-US" altLang="ko-KR" sz="1100" dirty="0"/>
          </a:p>
          <a:p>
            <a:pPr>
              <a:lnSpc>
                <a:spcPct val="160000"/>
              </a:lnSpc>
            </a:pPr>
            <a:r>
              <a:rPr lang="ko-KR" altLang="en-US" sz="1300" u="sng" dirty="0" err="1"/>
              <a:t>래퍼곡선</a:t>
            </a:r>
            <a:r>
              <a:rPr lang="ko-KR" altLang="en-US" sz="1300" u="sng" dirty="0"/>
              <a:t> </a:t>
            </a:r>
            <a:r>
              <a:rPr lang="en-US" altLang="ko-KR" sz="1300" u="sng" dirty="0" err="1"/>
              <a:t>Laffer</a:t>
            </a:r>
            <a:r>
              <a:rPr lang="en-US" altLang="ko-KR" sz="1300" u="sng" dirty="0"/>
              <a:t> Curve:</a:t>
            </a:r>
            <a:r>
              <a:rPr lang="en-US" altLang="ko-KR" sz="1300" dirty="0"/>
              <a:t> </a:t>
            </a:r>
            <a:r>
              <a:rPr lang="ko-KR" altLang="en-US" sz="1300" dirty="0"/>
              <a:t>세금의 크기와 조세수입 사이의 관계 </a:t>
            </a:r>
            <a:endParaRPr lang="en-US" altLang="ko-KR" sz="1300" dirty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/>
              <a:t>미국 레이건 행정부</a:t>
            </a:r>
            <a:r>
              <a:rPr lang="en-US" altLang="ko-KR" sz="1100" dirty="0"/>
              <a:t>(1980~1987)</a:t>
            </a:r>
            <a:r>
              <a:rPr lang="ko-KR" altLang="en-US" sz="1100" dirty="0"/>
              <a:t>를 비롯해 전세계 많은 국가에서 감세 </a:t>
            </a:r>
            <a:r>
              <a:rPr lang="en-US" altLang="ko-KR" sz="1100" dirty="0"/>
              <a:t>tax cut</a:t>
            </a:r>
            <a:r>
              <a:rPr lang="ko-KR" altLang="en-US" sz="1100" dirty="0"/>
              <a:t> 정책의 이론적 토대가 되었음</a:t>
            </a:r>
            <a:r>
              <a:rPr lang="en-US" altLang="ko-KR" sz="1100" dirty="0"/>
              <a:t>. 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/>
              <a:t>단</a:t>
            </a:r>
            <a:r>
              <a:rPr lang="en-US" altLang="ko-KR" sz="1100" dirty="0"/>
              <a:t>, </a:t>
            </a:r>
            <a:r>
              <a:rPr lang="ko-KR" altLang="en-US" sz="1100" dirty="0"/>
              <a:t>이 곡선의 </a:t>
            </a:r>
            <a:r>
              <a:rPr lang="en-US" altLang="ko-KR" sz="1100" dirty="0"/>
              <a:t>Fact </a:t>
            </a:r>
            <a:r>
              <a:rPr lang="ko-KR" altLang="en-US" sz="1100" dirty="0"/>
              <a:t>여부에 대해서는 경제학자들 사이에 많은 논란이 있음</a:t>
            </a:r>
            <a:r>
              <a:rPr lang="en-US" altLang="ko-KR" sz="1100" dirty="0"/>
              <a:t>. 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/>
              <a:t>이 곡선의 주창자들은 </a:t>
            </a:r>
            <a:r>
              <a:rPr lang="en-US" altLang="ko-KR" sz="1100" dirty="0"/>
              <a:t>“</a:t>
            </a:r>
            <a:r>
              <a:rPr lang="ko-KR" altLang="en-US" sz="1100" dirty="0"/>
              <a:t>세금을 줄이면 정부 재정수입은 오히려</a:t>
            </a:r>
            <a:r>
              <a:rPr lang="en-US" altLang="ko-KR" sz="1100" dirty="0"/>
              <a:t> </a:t>
            </a:r>
            <a:r>
              <a:rPr lang="ko-KR" altLang="en-US" sz="1100" dirty="0"/>
              <a:t>증가한다</a:t>
            </a:r>
            <a:r>
              <a:rPr lang="en-US" altLang="ko-KR" sz="1100" dirty="0"/>
              <a:t>”</a:t>
            </a:r>
            <a:r>
              <a:rPr lang="ko-KR" altLang="en-US" sz="1100" dirty="0"/>
              <a:t>고 주장함</a:t>
            </a:r>
            <a:endParaRPr lang="en-US" altLang="ko-KR" sz="1100" dirty="0"/>
          </a:p>
          <a:p>
            <a:pPr lvl="1">
              <a:lnSpc>
                <a:spcPct val="160000"/>
              </a:lnSpc>
            </a:pPr>
            <a:endParaRPr lang="ko-KR" altLang="en-US" sz="11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2060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823</TotalTime>
  <Words>266</Words>
  <Application>Microsoft Office PowerPoint</Application>
  <PresentationFormat>와이드스크린</PresentationFormat>
  <Paragraphs>26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8장 조세의 비용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현대경제분석   강의노트</dc:title>
  <dc:creator>User</dc:creator>
  <cp:lastModifiedBy>user</cp:lastModifiedBy>
  <cp:revision>75</cp:revision>
  <dcterms:created xsi:type="dcterms:W3CDTF">2021-06-28T02:08:57Z</dcterms:created>
  <dcterms:modified xsi:type="dcterms:W3CDTF">2023-03-17T08:44:29Z</dcterms:modified>
</cp:coreProperties>
</file>