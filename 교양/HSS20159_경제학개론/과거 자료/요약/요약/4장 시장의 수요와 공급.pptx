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1" r:id="rId1"/>
  </p:sldMasterIdLst>
  <p:notesMasterIdLst>
    <p:notesMasterId r:id="rId4"/>
  </p:notesMasterIdLst>
  <p:sldIdLst>
    <p:sldId id="257" r:id="rId2"/>
    <p:sldId id="258" r:id="rId3"/>
  </p:sldIdLst>
  <p:sldSz cx="6858000" cy="12192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26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ACC92-CB11-4036-ADF7-E0BC6A6A1264}" type="datetimeFigureOut">
              <a:rPr lang="ko-KR" altLang="en-US" smtClean="0"/>
              <a:t>2023-03-05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E10A1-D3FC-451D-B227-50AB5FD54F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385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68940-2C76-495C-8FB7-F4A9D28239AA}" type="datetime1">
              <a:rPr lang="ko-KR" altLang="en-US" smtClean="0"/>
              <a:t>2023-03-05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845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3A891-E498-4678-8D06-486FCC2BADEF}" type="datetime1">
              <a:rPr lang="ko-KR" altLang="en-US" smtClean="0"/>
              <a:t>2023-03-05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678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4FA93-A02B-42D6-A8B3-8681C853C7B8}" type="datetime1">
              <a:rPr lang="ko-KR" altLang="en-US" smtClean="0"/>
              <a:t>2023-03-05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947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91E48-2200-4646-B2AF-8A65E8AA4025}" type="datetime1">
              <a:rPr lang="ko-KR" altLang="en-US" smtClean="0"/>
              <a:t>2023-03-05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456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F0A6E-CDCA-463B-AB9C-2AD65F7DC7CE}" type="datetime1">
              <a:rPr lang="ko-KR" altLang="en-US" smtClean="0"/>
              <a:t>2023-03-05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918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2F37D-F6B4-429A-93F0-670EB34C6EF1}" type="datetime1">
              <a:rPr lang="ko-KR" altLang="en-US" smtClean="0"/>
              <a:t>2023-03-05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359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75B21-6647-4787-AAB5-A8BA543A8A03}" type="datetime1">
              <a:rPr lang="ko-KR" altLang="en-US" smtClean="0"/>
              <a:t>2023-03-05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135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F1AC2-CEA2-4AD0-9EED-9798843472E1}" type="datetime1">
              <a:rPr lang="ko-KR" altLang="en-US" smtClean="0"/>
              <a:t>2023-03-05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768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37C7C-8297-41A4-AED2-93F81127B44B}" type="datetime1">
              <a:rPr lang="ko-KR" altLang="en-US" smtClean="0"/>
              <a:t>2023-03-05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45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448E2-EAB7-4DB0-B809-DCB379E8731B}" type="datetime1">
              <a:rPr lang="ko-KR" altLang="en-US" smtClean="0"/>
              <a:t>2023-03-05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1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03C7-C7FA-46F0-BB19-A2462D02B89C}" type="datetime1">
              <a:rPr lang="ko-KR" altLang="en-US" smtClean="0"/>
              <a:t>2023-03-05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09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6E84B-CCB9-4E10-8C0E-8C6664F6450B}" type="datetime1">
              <a:rPr lang="ko-KR" altLang="en-US" smtClean="0"/>
              <a:t>2023-03-05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19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hf hdr="0" ftr="0" dt="0"/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114920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4</a:t>
            </a:r>
            <a:r>
              <a:rPr lang="ko-KR" altLang="en-US" dirty="0"/>
              <a:t>장 시장의 수요와 공급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1488" y="1798320"/>
            <a:ext cx="5915025" cy="9650730"/>
          </a:xfrm>
        </p:spPr>
        <p:txBody>
          <a:bodyPr>
            <a:normAutofit lnSpcReduction="10000"/>
          </a:bodyPr>
          <a:lstStyle/>
          <a:p>
            <a:pPr>
              <a:lnSpc>
                <a:spcPct val="160000"/>
              </a:lnSpc>
            </a:pPr>
            <a:r>
              <a:rPr lang="ko-KR" altLang="en-US" sz="1300" smtClean="0"/>
              <a:t>경쟁시장 </a:t>
            </a:r>
            <a:r>
              <a:rPr lang="en-US" altLang="ko-KR" sz="1300" dirty="0"/>
              <a:t>competitive market</a:t>
            </a:r>
          </a:p>
          <a:p>
            <a:pPr>
              <a:lnSpc>
                <a:spcPct val="160000"/>
              </a:lnSpc>
            </a:pPr>
            <a:r>
              <a:rPr lang="ko-KR" altLang="en-US" sz="1300" smtClean="0"/>
              <a:t>완전경쟁시장 </a:t>
            </a:r>
            <a:r>
              <a:rPr lang="en-US" altLang="ko-KR" sz="1300" dirty="0"/>
              <a:t>perfectly competitive market 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smtClean="0"/>
              <a:t>모든 </a:t>
            </a:r>
            <a:r>
              <a:rPr lang="ko-KR" altLang="en-US" sz="1100" dirty="0"/>
              <a:t>재화가</a:t>
            </a:r>
            <a:r>
              <a:rPr lang="en-US" altLang="ko-KR" sz="1100" dirty="0"/>
              <a:t> </a:t>
            </a:r>
            <a:r>
              <a:rPr lang="ko-KR" altLang="en-US" sz="1100"/>
              <a:t>정확히 </a:t>
            </a:r>
            <a:r>
              <a:rPr lang="ko-KR" altLang="en-US" sz="1100" smtClean="0"/>
              <a:t>동일</a:t>
            </a:r>
            <a:endParaRPr lang="en-US" altLang="ko-KR" sz="110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/>
              <a:t>구</a:t>
            </a:r>
            <a:r>
              <a:rPr lang="ko-KR" altLang="en-US" sz="1100" smtClean="0"/>
              <a:t>매자와 </a:t>
            </a:r>
            <a:r>
              <a:rPr lang="ko-KR" altLang="en-US" sz="1100" dirty="0"/>
              <a:t>판매자가 너무 많아서 누구도 시장가격에 영향을 주지 </a:t>
            </a:r>
            <a:r>
              <a:rPr lang="ko-KR" altLang="en-US" sz="1100"/>
              <a:t>못함</a:t>
            </a:r>
            <a:r>
              <a:rPr lang="en-US" altLang="ko-KR" sz="1100" smtClean="0"/>
              <a:t>.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smtClean="0">
                <a:sym typeface="Wingdings" panose="05000000000000000000" pitchFamily="2" charset="2"/>
              </a:rPr>
              <a:t>모두가 </a:t>
            </a:r>
            <a:r>
              <a:rPr lang="en-US" altLang="ko-KR" sz="1100" dirty="0">
                <a:sym typeface="Wingdings" panose="05000000000000000000" pitchFamily="2" charset="2"/>
              </a:rPr>
              <a:t>“</a:t>
            </a:r>
            <a:r>
              <a:rPr lang="ko-KR" altLang="en-US" sz="1100" dirty="0">
                <a:sym typeface="Wingdings" panose="05000000000000000000" pitchFamily="2" charset="2"/>
              </a:rPr>
              <a:t>가격수용자 </a:t>
            </a:r>
            <a:r>
              <a:rPr lang="en-US" altLang="ko-KR" sz="1100" dirty="0">
                <a:sym typeface="Wingdings" panose="05000000000000000000" pitchFamily="2" charset="2"/>
              </a:rPr>
              <a:t>price takers”</a:t>
            </a:r>
          </a:p>
          <a:p>
            <a:pPr>
              <a:lnSpc>
                <a:spcPct val="160000"/>
              </a:lnSpc>
            </a:pPr>
            <a:endParaRPr lang="en-US" altLang="ko-KR" sz="1300" smtClean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ko-KR" altLang="en-US" sz="1300" smtClean="0">
                <a:sym typeface="Wingdings" panose="05000000000000000000" pitchFamily="2" charset="2"/>
              </a:rPr>
              <a:t>수요량 </a:t>
            </a:r>
            <a:r>
              <a:rPr lang="en-US" altLang="ko-KR" sz="1300" dirty="0">
                <a:sym typeface="Wingdings" panose="05000000000000000000" pitchFamily="2" charset="2"/>
              </a:rPr>
              <a:t>Quantity demanded: </a:t>
            </a:r>
            <a:r>
              <a:rPr lang="ko-KR" altLang="en-US" sz="1300" dirty="0">
                <a:sym typeface="Wingdings" panose="05000000000000000000" pitchFamily="2" charset="2"/>
              </a:rPr>
              <a:t>소비자들이</a:t>
            </a:r>
            <a:r>
              <a:rPr lang="en-US" altLang="ko-KR" sz="1300" dirty="0">
                <a:sym typeface="Wingdings" panose="05000000000000000000" pitchFamily="2" charset="2"/>
              </a:rPr>
              <a:t> </a:t>
            </a:r>
            <a:r>
              <a:rPr lang="ko-KR" altLang="en-US" sz="1300" dirty="0">
                <a:sym typeface="Wingdings" panose="05000000000000000000" pitchFamily="2" charset="2"/>
              </a:rPr>
              <a:t>값을 치르고 구매할 의지와 능력이 있는 재화의 양</a:t>
            </a:r>
            <a:endParaRPr lang="en-US" altLang="ko-KR" sz="1300" dirty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ko-KR" altLang="en-US" sz="1300">
                <a:sym typeface="Wingdings" panose="05000000000000000000" pitchFamily="2" charset="2"/>
              </a:rPr>
              <a:t>수요의 </a:t>
            </a:r>
            <a:r>
              <a:rPr lang="ko-KR" altLang="en-US" sz="1300" smtClean="0">
                <a:sym typeface="Wingdings" panose="05000000000000000000" pitchFamily="2" charset="2"/>
              </a:rPr>
              <a:t>법칙</a:t>
            </a:r>
            <a:r>
              <a:rPr lang="en-US" altLang="ko-KR" sz="1300" smtClean="0">
                <a:sym typeface="Wingdings" panose="05000000000000000000" pitchFamily="2" charset="2"/>
              </a:rPr>
              <a:t>: </a:t>
            </a:r>
            <a:r>
              <a:rPr lang="ko-KR" altLang="en-US" sz="1300" smtClean="0">
                <a:sym typeface="Wingdings" panose="05000000000000000000" pitchFamily="2" charset="2"/>
              </a:rPr>
              <a:t>가격과</a:t>
            </a:r>
            <a:r>
              <a:rPr lang="en-US" altLang="ko-KR" sz="1300" smtClean="0">
                <a:sym typeface="Wingdings" panose="05000000000000000000" pitchFamily="2" charset="2"/>
              </a:rPr>
              <a:t> </a:t>
            </a:r>
            <a:r>
              <a:rPr lang="ko-KR" altLang="en-US" sz="1300" smtClean="0">
                <a:sym typeface="Wingdings" panose="05000000000000000000" pitchFamily="2" charset="2"/>
              </a:rPr>
              <a:t>수요량 사이의 관계</a:t>
            </a:r>
            <a:endParaRPr lang="en-US" altLang="ko-KR" sz="1300" dirty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100" smtClean="0">
                <a:sym typeface="Wingdings" panose="05000000000000000000" pitchFamily="2" charset="2"/>
              </a:rPr>
              <a:t>(</a:t>
            </a:r>
            <a:r>
              <a:rPr lang="ko-KR" altLang="en-US" sz="1100" dirty="0">
                <a:sym typeface="Wingdings" panose="05000000000000000000" pitchFamily="2" charset="2"/>
              </a:rPr>
              <a:t>다른</a:t>
            </a:r>
            <a:r>
              <a:rPr lang="en-US" altLang="ko-KR" sz="1100" dirty="0">
                <a:sym typeface="Wingdings" panose="05000000000000000000" pitchFamily="2" charset="2"/>
              </a:rPr>
              <a:t> </a:t>
            </a:r>
            <a:r>
              <a:rPr lang="ko-KR" altLang="en-US" sz="1100" dirty="0">
                <a:sym typeface="Wingdings" panose="05000000000000000000" pitchFamily="2" charset="2"/>
              </a:rPr>
              <a:t>조건이 같을 때</a:t>
            </a:r>
            <a:r>
              <a:rPr lang="en-US" altLang="ko-KR" sz="1100" dirty="0">
                <a:sym typeface="Wingdings" panose="05000000000000000000" pitchFamily="2" charset="2"/>
              </a:rPr>
              <a:t>) “</a:t>
            </a:r>
            <a:r>
              <a:rPr lang="ko-KR" altLang="en-US" sz="1100" dirty="0">
                <a:sym typeface="Wingdings" panose="05000000000000000000" pitchFamily="2" charset="2"/>
              </a:rPr>
              <a:t>재화의 가격이 오르면</a:t>
            </a:r>
            <a:r>
              <a:rPr lang="en-US" altLang="ko-KR" sz="1100" dirty="0">
                <a:sym typeface="Wingdings" panose="05000000000000000000" pitchFamily="2" charset="2"/>
              </a:rPr>
              <a:t> </a:t>
            </a:r>
            <a:r>
              <a:rPr lang="ko-KR" altLang="en-US" sz="1100" dirty="0">
                <a:sym typeface="Wingdings" panose="05000000000000000000" pitchFamily="2" charset="2"/>
              </a:rPr>
              <a:t>수요량은 줄어들고</a:t>
            </a:r>
            <a:r>
              <a:rPr lang="en-US" altLang="ko-KR" sz="1100" dirty="0">
                <a:sym typeface="Wingdings" panose="05000000000000000000" pitchFamily="2" charset="2"/>
              </a:rPr>
              <a:t>,</a:t>
            </a:r>
            <a:r>
              <a:rPr lang="ko-KR" altLang="en-US" sz="1100" dirty="0">
                <a:sym typeface="Wingdings" panose="05000000000000000000" pitchFamily="2" charset="2"/>
              </a:rPr>
              <a:t> 가격이 떨어지면 수요량은 </a:t>
            </a:r>
            <a:r>
              <a:rPr lang="ko-KR" altLang="en-US" sz="1100">
                <a:sym typeface="Wingdings" panose="05000000000000000000" pitchFamily="2" charset="2"/>
              </a:rPr>
              <a:t>늘어난다</a:t>
            </a:r>
            <a:r>
              <a:rPr lang="en-US" altLang="ko-KR" sz="1100" smtClean="0">
                <a:sym typeface="Wingdings" panose="05000000000000000000" pitchFamily="2" charset="2"/>
              </a:rPr>
              <a:t>”.. </a:t>
            </a:r>
            <a:r>
              <a:rPr lang="ko-KR" altLang="en-US" sz="1100" smtClean="0">
                <a:sym typeface="Wingdings" panose="05000000000000000000" pitchFamily="2" charset="2"/>
              </a:rPr>
              <a:t>수</a:t>
            </a:r>
            <a:r>
              <a:rPr lang="ko-KR" altLang="en-US" sz="1100" smtClean="0">
                <a:sym typeface="Wingdings" panose="05000000000000000000" pitchFamily="2" charset="2"/>
              </a:rPr>
              <a:t>요곡선은 </a:t>
            </a:r>
            <a:r>
              <a:rPr lang="ko-KR" altLang="en-US" sz="1100" dirty="0" err="1">
                <a:sym typeface="Wingdings" panose="05000000000000000000" pitchFamily="2" charset="2"/>
              </a:rPr>
              <a:t>우하향</a:t>
            </a:r>
            <a:r>
              <a:rPr lang="en-US" altLang="ko-KR" sz="1100" dirty="0">
                <a:sym typeface="Wingdings" panose="05000000000000000000" pitchFamily="2" charset="2"/>
              </a:rPr>
              <a:t>(downward sloping)</a:t>
            </a:r>
          </a:p>
          <a:p>
            <a:pPr>
              <a:lnSpc>
                <a:spcPct val="160000"/>
              </a:lnSpc>
            </a:pPr>
            <a:r>
              <a:rPr lang="ko-KR" altLang="en-US" sz="1300" dirty="0">
                <a:sym typeface="Wingdings" panose="05000000000000000000" pitchFamily="2" charset="2"/>
              </a:rPr>
              <a:t>시장수요</a:t>
            </a:r>
            <a:r>
              <a:rPr lang="en-US" altLang="ko-KR" sz="1300">
                <a:sym typeface="Wingdings" panose="05000000000000000000" pitchFamily="2" charset="2"/>
              </a:rPr>
              <a:t>: </a:t>
            </a:r>
            <a:r>
              <a:rPr lang="ko-KR" altLang="en-US" sz="1300" smtClean="0">
                <a:sym typeface="Wingdings" panose="05000000000000000000" pitchFamily="2" charset="2"/>
              </a:rPr>
              <a:t>모든 </a:t>
            </a:r>
            <a:r>
              <a:rPr lang="ko-KR" altLang="en-US" sz="1300" dirty="0">
                <a:sym typeface="Wingdings" panose="05000000000000000000" pitchFamily="2" charset="2"/>
              </a:rPr>
              <a:t>구매자들의 수요 합계</a:t>
            </a:r>
            <a:r>
              <a:rPr lang="en-US" altLang="ko-KR" sz="1300" dirty="0">
                <a:sym typeface="Wingdings" panose="05000000000000000000" pitchFamily="2" charset="2"/>
              </a:rPr>
              <a:t>(sum)</a:t>
            </a:r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100" smtClean="0">
                <a:sym typeface="Wingdings" panose="05000000000000000000" pitchFamily="2" charset="2"/>
              </a:rPr>
              <a:t>- </a:t>
            </a:r>
            <a:r>
              <a:rPr lang="ko-KR" altLang="en-US" sz="1100" smtClean="0">
                <a:sym typeface="Wingdings" panose="05000000000000000000" pitchFamily="2" charset="2"/>
              </a:rPr>
              <a:t>시장수요곡선은</a:t>
            </a:r>
            <a:r>
              <a:rPr lang="en-US" altLang="ko-KR" sz="1100" smtClean="0">
                <a:sym typeface="Wingdings" panose="05000000000000000000" pitchFamily="2" charset="2"/>
              </a:rPr>
              <a:t> </a:t>
            </a:r>
            <a:r>
              <a:rPr lang="ko-KR" altLang="en-US" sz="1100" dirty="0">
                <a:sym typeface="Wingdings" panose="05000000000000000000" pitchFamily="2" charset="2"/>
              </a:rPr>
              <a:t>각 개인들의 수요곡선을 모두 합한 것</a:t>
            </a:r>
            <a:endParaRPr lang="en-US" altLang="ko-KR" sz="1100" dirty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ko-KR" altLang="en-US" sz="1300" dirty="0">
                <a:sym typeface="Wingdings" panose="05000000000000000000" pitchFamily="2" charset="2"/>
              </a:rPr>
              <a:t>수요곡선의</a:t>
            </a:r>
            <a:r>
              <a:rPr lang="en-US" altLang="ko-KR" sz="1300" dirty="0">
                <a:sym typeface="Wingdings" panose="05000000000000000000" pitchFamily="2" charset="2"/>
              </a:rPr>
              <a:t> </a:t>
            </a:r>
            <a:r>
              <a:rPr lang="ko-KR" altLang="en-US" sz="1300" dirty="0">
                <a:sym typeface="Wingdings" panose="05000000000000000000" pitchFamily="2" charset="2"/>
              </a:rPr>
              <a:t>이동</a:t>
            </a:r>
            <a:r>
              <a:rPr lang="en-US" altLang="ko-KR" sz="1300" dirty="0">
                <a:sym typeface="Wingdings" panose="05000000000000000000" pitchFamily="2" charset="2"/>
              </a:rPr>
              <a:t>(shift)</a:t>
            </a:r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100" smtClean="0">
                <a:sym typeface="Wingdings" panose="05000000000000000000" pitchFamily="2" charset="2"/>
              </a:rPr>
              <a:t>- </a:t>
            </a:r>
            <a:r>
              <a:rPr lang="ko-KR" altLang="en-US" sz="1100" smtClean="0">
                <a:sym typeface="Wingdings" panose="05000000000000000000" pitchFamily="2" charset="2"/>
              </a:rPr>
              <a:t>가격이 </a:t>
            </a:r>
            <a:r>
              <a:rPr lang="ko-KR" altLang="en-US" sz="1100" dirty="0">
                <a:sym typeface="Wingdings" panose="05000000000000000000" pitchFamily="2" charset="2"/>
              </a:rPr>
              <a:t>외의 다른 조건들</a:t>
            </a:r>
            <a:r>
              <a:rPr lang="en-US" altLang="ko-KR" sz="1100" dirty="0">
                <a:sym typeface="Wingdings" panose="05000000000000000000" pitchFamily="2" charset="2"/>
              </a:rPr>
              <a:t>(=</a:t>
            </a:r>
            <a:r>
              <a:rPr lang="ko-KR" altLang="en-US" sz="1100" dirty="0">
                <a:sym typeface="Wingdings" panose="05000000000000000000" pitchFamily="2" charset="2"/>
              </a:rPr>
              <a:t>비가격 요인들</a:t>
            </a:r>
            <a:r>
              <a:rPr lang="en-US" altLang="ko-KR" sz="1100" dirty="0">
                <a:sym typeface="Wingdings" panose="05000000000000000000" pitchFamily="2" charset="2"/>
              </a:rPr>
              <a:t>)</a:t>
            </a:r>
            <a:r>
              <a:rPr lang="ko-KR" altLang="en-US" sz="1100" dirty="0">
                <a:sym typeface="Wingdings" panose="05000000000000000000" pitchFamily="2" charset="2"/>
              </a:rPr>
              <a:t>의 변화는 수요곡선을 이동하게 만듦</a:t>
            </a:r>
            <a:r>
              <a:rPr lang="en-US" altLang="ko-KR" sz="1100" dirty="0">
                <a:sym typeface="Wingdings" panose="05000000000000000000" pitchFamily="2" charset="2"/>
              </a:rPr>
              <a:t>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altLang="ko-KR" sz="1300">
                <a:sym typeface="Wingdings" panose="05000000000000000000" pitchFamily="2" charset="2"/>
              </a:rPr>
              <a:t> </a:t>
            </a:r>
            <a:r>
              <a:rPr lang="en-US" altLang="ko-KR" sz="1300" smtClean="0">
                <a:sym typeface="Wingdings" panose="05000000000000000000" pitchFamily="2" charset="2"/>
              </a:rPr>
              <a:t>   </a:t>
            </a:r>
            <a:r>
              <a:rPr lang="ko-KR" altLang="en-US" sz="1300" smtClean="0">
                <a:sym typeface="Wingdings" panose="05000000000000000000" pitchFamily="2" charset="2"/>
              </a:rPr>
              <a:t>①</a:t>
            </a:r>
            <a:r>
              <a:rPr lang="en-US" altLang="ko-KR" sz="1300" smtClean="0">
                <a:sym typeface="Wingdings" panose="05000000000000000000" pitchFamily="2" charset="2"/>
              </a:rPr>
              <a:t> </a:t>
            </a:r>
            <a:r>
              <a:rPr lang="ko-KR" altLang="en-US" sz="1300" dirty="0">
                <a:sym typeface="Wingdings" panose="05000000000000000000" pitchFamily="2" charset="2"/>
              </a:rPr>
              <a:t>구매자의 숫자</a:t>
            </a:r>
            <a:endParaRPr lang="en-US" altLang="ko-KR" sz="1300" dirty="0">
              <a:sym typeface="Wingdings" panose="05000000000000000000" pitchFamily="2" charset="2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ko-KR" altLang="en-US" sz="1300" smtClean="0">
                <a:sym typeface="Wingdings" panose="05000000000000000000" pitchFamily="2" charset="2"/>
              </a:rPr>
              <a:t>    ② </a:t>
            </a:r>
            <a:r>
              <a:rPr lang="ko-KR" altLang="en-US" sz="1300" dirty="0">
                <a:sym typeface="Wingdings" panose="05000000000000000000" pitchFamily="2" charset="2"/>
              </a:rPr>
              <a:t>소득의 변화</a:t>
            </a:r>
            <a:r>
              <a:rPr lang="en-US" altLang="ko-KR" sz="1300" dirty="0">
                <a:sym typeface="Wingdings" panose="05000000000000000000" pitchFamily="2" charset="2"/>
              </a:rPr>
              <a:t>: </a:t>
            </a:r>
            <a:r>
              <a:rPr lang="ko-KR" altLang="en-US" sz="1300" dirty="0" err="1">
                <a:sym typeface="Wingdings" panose="05000000000000000000" pitchFamily="2" charset="2"/>
              </a:rPr>
              <a:t>정상재</a:t>
            </a:r>
            <a:r>
              <a:rPr lang="ko-KR" altLang="en-US" sz="1300" dirty="0">
                <a:sym typeface="Wingdings" panose="05000000000000000000" pitchFamily="2" charset="2"/>
              </a:rPr>
              <a:t> </a:t>
            </a:r>
            <a:r>
              <a:rPr lang="en-US" altLang="ko-KR" sz="1300" dirty="0">
                <a:sym typeface="Wingdings" panose="05000000000000000000" pitchFamily="2" charset="2"/>
              </a:rPr>
              <a:t>vs. </a:t>
            </a:r>
            <a:r>
              <a:rPr lang="ko-KR" altLang="en-US" sz="1300" dirty="0" err="1">
                <a:sym typeface="Wingdings" panose="05000000000000000000" pitchFamily="2" charset="2"/>
              </a:rPr>
              <a:t>열등재</a:t>
            </a:r>
            <a:endParaRPr lang="en-US" altLang="ko-KR" sz="1300" dirty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smtClean="0">
                <a:sym typeface="Wingdings" panose="05000000000000000000" pitchFamily="2" charset="2"/>
              </a:rPr>
              <a:t>정상재 </a:t>
            </a:r>
            <a:r>
              <a:rPr lang="en-US" altLang="ko-KR" sz="1100" dirty="0">
                <a:sym typeface="Wingdings" panose="05000000000000000000" pitchFamily="2" charset="2"/>
              </a:rPr>
              <a:t>normal goods :</a:t>
            </a:r>
            <a:r>
              <a:rPr lang="ko-KR" altLang="en-US" sz="1100" dirty="0">
                <a:sym typeface="Wingdings" panose="05000000000000000000" pitchFamily="2" charset="2"/>
              </a:rPr>
              <a:t> 일반적으로 소득 증가는 수요 </a:t>
            </a:r>
            <a:r>
              <a:rPr lang="ko-KR" altLang="en-US" sz="1100">
                <a:sym typeface="Wingdings" panose="05000000000000000000" pitchFamily="2" charset="2"/>
              </a:rPr>
              <a:t>증가를 </a:t>
            </a:r>
            <a:r>
              <a:rPr lang="ko-KR" altLang="en-US" sz="1100" smtClean="0">
                <a:sym typeface="Wingdings" panose="05000000000000000000" pitchFamily="2" charset="2"/>
              </a:rPr>
              <a:t>유발</a:t>
            </a:r>
            <a:r>
              <a:rPr lang="en-US" altLang="ko-KR" sz="1100" smtClean="0">
                <a:sym typeface="Wingdings" panose="05000000000000000000" pitchFamily="2" charset="2"/>
              </a:rPr>
              <a:t>.. </a:t>
            </a:r>
            <a:r>
              <a:rPr lang="ko-KR" altLang="en-US" sz="1100" smtClean="0">
                <a:sym typeface="Wingdings" panose="05000000000000000000" pitchFamily="2" charset="2"/>
              </a:rPr>
              <a:t>수요곡선 </a:t>
            </a:r>
            <a:r>
              <a:rPr lang="ko-KR" altLang="en-US" sz="1100">
                <a:sym typeface="Wingdings" panose="05000000000000000000" pitchFamily="2" charset="2"/>
              </a:rPr>
              <a:t>오른쪽으로 </a:t>
            </a:r>
            <a:r>
              <a:rPr lang="ko-KR" altLang="en-US" sz="1100" smtClean="0">
                <a:sym typeface="Wingdings" panose="05000000000000000000" pitchFamily="2" charset="2"/>
              </a:rPr>
              <a:t>이동</a:t>
            </a:r>
            <a:endParaRPr lang="en-US" altLang="ko-KR" sz="1100" smtClean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smtClean="0">
                <a:sym typeface="Wingdings" panose="05000000000000000000" pitchFamily="2" charset="2"/>
              </a:rPr>
              <a:t>열등재 </a:t>
            </a:r>
            <a:r>
              <a:rPr lang="en-US" altLang="ko-KR" sz="1100" dirty="0">
                <a:sym typeface="Wingdings" panose="05000000000000000000" pitchFamily="2" charset="2"/>
              </a:rPr>
              <a:t>inferior goods :</a:t>
            </a:r>
            <a:r>
              <a:rPr lang="ko-KR" altLang="en-US" sz="1100" dirty="0">
                <a:sym typeface="Wingdings" panose="05000000000000000000" pitchFamily="2" charset="2"/>
              </a:rPr>
              <a:t> 소득의 증가가 수요의 감소를 </a:t>
            </a:r>
            <a:r>
              <a:rPr lang="ko-KR" altLang="en-US" sz="1100">
                <a:sym typeface="Wingdings" panose="05000000000000000000" pitchFamily="2" charset="2"/>
              </a:rPr>
              <a:t>초래하는 </a:t>
            </a:r>
            <a:r>
              <a:rPr lang="ko-KR" altLang="en-US" sz="1100" smtClean="0">
                <a:sym typeface="Wingdings" panose="05000000000000000000" pitchFamily="2" charset="2"/>
              </a:rPr>
              <a:t>경우</a:t>
            </a:r>
            <a:r>
              <a:rPr lang="en-US" altLang="ko-KR" sz="1100" smtClean="0">
                <a:sym typeface="Wingdings" panose="05000000000000000000" pitchFamily="2" charset="2"/>
              </a:rPr>
              <a:t>.. </a:t>
            </a:r>
            <a:r>
              <a:rPr lang="ko-KR" altLang="en-US" sz="1100" dirty="0">
                <a:sym typeface="Wingdings" panose="05000000000000000000" pitchFamily="2" charset="2"/>
              </a:rPr>
              <a:t>수요곡선 </a:t>
            </a:r>
            <a:r>
              <a:rPr lang="ko-KR" altLang="en-US" sz="1100">
                <a:sym typeface="Wingdings" panose="05000000000000000000" pitchFamily="2" charset="2"/>
              </a:rPr>
              <a:t>왼쪽으로 </a:t>
            </a:r>
            <a:r>
              <a:rPr lang="ko-KR" altLang="en-US" sz="1100" smtClean="0">
                <a:sym typeface="Wingdings" panose="05000000000000000000" pitchFamily="2" charset="2"/>
              </a:rPr>
              <a:t>이동</a:t>
            </a:r>
            <a:endParaRPr lang="en-US" altLang="ko-KR" sz="1100" smtClean="0">
              <a:sym typeface="Wingdings" panose="05000000000000000000" pitchFamily="2" charset="2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ko-KR" altLang="en-US" sz="1300" smtClean="0">
                <a:sym typeface="Wingdings" panose="05000000000000000000" pitchFamily="2" charset="2"/>
              </a:rPr>
              <a:t>   ③ </a:t>
            </a:r>
            <a:r>
              <a:rPr lang="ko-KR" altLang="en-US" sz="1300">
                <a:sym typeface="Wingdings" panose="05000000000000000000" pitchFamily="2" charset="2"/>
              </a:rPr>
              <a:t>연관재 </a:t>
            </a:r>
            <a:r>
              <a:rPr lang="en-US" altLang="ko-KR" sz="1300">
                <a:sym typeface="Wingdings" panose="05000000000000000000" pitchFamily="2" charset="2"/>
              </a:rPr>
              <a:t>related goods</a:t>
            </a:r>
            <a:r>
              <a:rPr lang="ko-KR" altLang="en-US" sz="1300">
                <a:sym typeface="Wingdings" panose="05000000000000000000" pitchFamily="2" charset="2"/>
              </a:rPr>
              <a:t>의 가격변화</a:t>
            </a:r>
            <a:r>
              <a:rPr lang="en-US" altLang="ko-KR" sz="1300">
                <a:sym typeface="Wingdings" panose="05000000000000000000" pitchFamily="2" charset="2"/>
              </a:rPr>
              <a:t>: </a:t>
            </a:r>
            <a:r>
              <a:rPr lang="ko-KR" altLang="en-US" sz="1300">
                <a:sym typeface="Wingdings" panose="05000000000000000000" pitchFamily="2" charset="2"/>
              </a:rPr>
              <a:t>대체재 </a:t>
            </a:r>
            <a:r>
              <a:rPr lang="en-US" altLang="ko-KR" sz="1300">
                <a:sym typeface="Wingdings" panose="05000000000000000000" pitchFamily="2" charset="2"/>
              </a:rPr>
              <a:t>vs.</a:t>
            </a:r>
            <a:r>
              <a:rPr lang="ko-KR" altLang="en-US" sz="1300">
                <a:sym typeface="Wingdings" panose="05000000000000000000" pitchFamily="2" charset="2"/>
              </a:rPr>
              <a:t> 보완재 </a:t>
            </a:r>
            <a:endParaRPr lang="en-US" altLang="ko-KR" sz="130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smtClean="0">
                <a:sym typeface="Wingdings" panose="05000000000000000000" pitchFamily="2" charset="2"/>
              </a:rPr>
              <a:t>대체재 </a:t>
            </a:r>
            <a:r>
              <a:rPr lang="en-US" altLang="ko-KR" sz="1100">
                <a:sym typeface="Wingdings" panose="05000000000000000000" pitchFamily="2" charset="2"/>
              </a:rPr>
              <a:t>substitutes</a:t>
            </a:r>
            <a:r>
              <a:rPr lang="ko-KR" altLang="en-US" sz="1100">
                <a:sym typeface="Wingdings" panose="05000000000000000000" pitchFamily="2" charset="2"/>
              </a:rPr>
              <a:t> </a:t>
            </a:r>
            <a:r>
              <a:rPr lang="en-US" altLang="ko-KR" sz="1100">
                <a:sym typeface="Wingdings" panose="05000000000000000000" pitchFamily="2" charset="2"/>
              </a:rPr>
              <a:t>: </a:t>
            </a:r>
            <a:r>
              <a:rPr lang="ko-KR" altLang="en-US" sz="1100">
                <a:sym typeface="Wingdings" panose="05000000000000000000" pitchFamily="2" charset="2"/>
              </a:rPr>
              <a:t>한 재화의 가격 상승이</a:t>
            </a:r>
            <a:r>
              <a:rPr lang="en-US" altLang="ko-KR" sz="1100">
                <a:sym typeface="Wingdings" panose="05000000000000000000" pitchFamily="2" charset="2"/>
              </a:rPr>
              <a:t> </a:t>
            </a:r>
            <a:r>
              <a:rPr lang="ko-KR" altLang="en-US" sz="1100">
                <a:sym typeface="Wingdings" panose="05000000000000000000" pitchFamily="2" charset="2"/>
              </a:rPr>
              <a:t>다른 재화의 수요 </a:t>
            </a:r>
            <a:r>
              <a:rPr lang="ko-KR" altLang="en-US" sz="1100">
                <a:sym typeface="Wingdings" panose="05000000000000000000" pitchFamily="2" charset="2"/>
              </a:rPr>
              <a:t>증가를 </a:t>
            </a:r>
            <a:r>
              <a:rPr lang="ko-KR" altLang="en-US" sz="1100" smtClean="0">
                <a:sym typeface="Wingdings" panose="05000000000000000000" pitchFamily="2" charset="2"/>
              </a:rPr>
              <a:t>유발 </a:t>
            </a:r>
            <a:r>
              <a:rPr lang="en-US" altLang="ko-KR" sz="1100" smtClean="0">
                <a:sym typeface="Wingdings" panose="05000000000000000000" pitchFamily="2" charset="2"/>
              </a:rPr>
              <a:t>Ex</a:t>
            </a:r>
            <a:r>
              <a:rPr lang="en-US" altLang="ko-KR" sz="1100">
                <a:sym typeface="Wingdings" panose="05000000000000000000" pitchFamily="2" charset="2"/>
              </a:rPr>
              <a:t>. </a:t>
            </a:r>
            <a:r>
              <a:rPr lang="ko-KR" altLang="en-US" sz="1100">
                <a:sym typeface="Wingdings" panose="05000000000000000000" pitchFamily="2" charset="2"/>
              </a:rPr>
              <a:t>피자와 햄버거</a:t>
            </a:r>
            <a:r>
              <a:rPr lang="en-US" altLang="ko-KR" sz="1100">
                <a:sym typeface="Wingdings" panose="05000000000000000000" pitchFamily="2" charset="2"/>
              </a:rPr>
              <a:t>, </a:t>
            </a:r>
            <a:r>
              <a:rPr lang="ko-KR" altLang="en-US" sz="1100">
                <a:sym typeface="Wingdings" panose="05000000000000000000" pitchFamily="2" charset="2"/>
              </a:rPr>
              <a:t>케이블</a:t>
            </a:r>
            <a:r>
              <a:rPr lang="en-US" altLang="ko-KR" sz="1100">
                <a:sym typeface="Wingdings" panose="05000000000000000000" pitchFamily="2" charset="2"/>
              </a:rPr>
              <a:t>TV</a:t>
            </a:r>
            <a:r>
              <a:rPr lang="ko-KR" altLang="en-US" sz="1100">
                <a:sym typeface="Wingdings" panose="05000000000000000000" pitchFamily="2" charset="2"/>
              </a:rPr>
              <a:t>와 넷플릭스 등</a:t>
            </a:r>
            <a:endParaRPr lang="en-US" altLang="ko-KR" sz="110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smtClean="0">
                <a:sym typeface="Wingdings" panose="05000000000000000000" pitchFamily="2" charset="2"/>
              </a:rPr>
              <a:t>보완재 </a:t>
            </a:r>
            <a:r>
              <a:rPr lang="en-US" altLang="ko-KR" sz="1100">
                <a:sym typeface="Wingdings" panose="05000000000000000000" pitchFamily="2" charset="2"/>
              </a:rPr>
              <a:t>complements</a:t>
            </a:r>
            <a:r>
              <a:rPr lang="ko-KR" altLang="en-US" sz="1100">
                <a:sym typeface="Wingdings" panose="05000000000000000000" pitchFamily="2" charset="2"/>
              </a:rPr>
              <a:t> </a:t>
            </a:r>
            <a:r>
              <a:rPr lang="en-US" altLang="ko-KR" sz="1100">
                <a:sym typeface="Wingdings" panose="05000000000000000000" pitchFamily="2" charset="2"/>
              </a:rPr>
              <a:t>:</a:t>
            </a:r>
            <a:r>
              <a:rPr lang="ko-KR" altLang="en-US" sz="1100">
                <a:sym typeface="Wingdings" panose="05000000000000000000" pitchFamily="2" charset="2"/>
              </a:rPr>
              <a:t> 한 재화의 가격 상승이 다른 재화의 수요 </a:t>
            </a:r>
            <a:r>
              <a:rPr lang="ko-KR" altLang="en-US" sz="1100">
                <a:sym typeface="Wingdings" panose="05000000000000000000" pitchFamily="2" charset="2"/>
              </a:rPr>
              <a:t>감소를 </a:t>
            </a:r>
            <a:r>
              <a:rPr lang="ko-KR" altLang="en-US" sz="1100" smtClean="0">
                <a:sym typeface="Wingdings" panose="05000000000000000000" pitchFamily="2" charset="2"/>
              </a:rPr>
              <a:t>유발 </a:t>
            </a:r>
            <a:r>
              <a:rPr lang="en-US" altLang="ko-KR" sz="1100" smtClean="0">
                <a:sym typeface="Wingdings" panose="05000000000000000000" pitchFamily="2" charset="2"/>
              </a:rPr>
              <a:t>Ex</a:t>
            </a:r>
            <a:r>
              <a:rPr lang="en-US" altLang="ko-KR" sz="1100">
                <a:sym typeface="Wingdings" panose="05000000000000000000" pitchFamily="2" charset="2"/>
              </a:rPr>
              <a:t>. </a:t>
            </a:r>
            <a:r>
              <a:rPr lang="ko-KR" altLang="en-US" sz="1100">
                <a:sym typeface="Wingdings" panose="05000000000000000000" pitchFamily="2" charset="2"/>
              </a:rPr>
              <a:t>컴퓨터와</a:t>
            </a:r>
            <a:r>
              <a:rPr lang="en-US" altLang="ko-KR" sz="1100">
                <a:sym typeface="Wingdings" panose="05000000000000000000" pitchFamily="2" charset="2"/>
              </a:rPr>
              <a:t> </a:t>
            </a:r>
            <a:r>
              <a:rPr lang="ko-KR" altLang="en-US" sz="1100" smtClean="0">
                <a:sym typeface="Wingdings" panose="05000000000000000000" pitchFamily="2" charset="2"/>
              </a:rPr>
              <a:t>소프트웨어</a:t>
            </a:r>
            <a:endParaRPr lang="en-US" altLang="ko-KR" sz="1100">
              <a:sym typeface="Wingdings" panose="05000000000000000000" pitchFamily="2" charset="2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ko-KR" altLang="en-US" sz="1300" smtClean="0">
                <a:sym typeface="Wingdings" panose="05000000000000000000" pitchFamily="2" charset="2"/>
              </a:rPr>
              <a:t>   ④ </a:t>
            </a:r>
            <a:r>
              <a:rPr lang="ko-KR" altLang="en-US" sz="1300">
                <a:sym typeface="Wingdings" panose="05000000000000000000" pitchFamily="2" charset="2"/>
              </a:rPr>
              <a:t>취향의 </a:t>
            </a:r>
            <a:r>
              <a:rPr lang="ko-KR" altLang="en-US" sz="1300" smtClean="0">
                <a:sym typeface="Wingdings" panose="05000000000000000000" pitchFamily="2" charset="2"/>
              </a:rPr>
              <a:t>변화</a:t>
            </a:r>
            <a:r>
              <a:rPr lang="ko-KR" altLang="en-US" sz="1525" smtClean="0">
                <a:sym typeface="Wingdings" panose="05000000000000000000" pitchFamily="2" charset="2"/>
              </a:rPr>
              <a:t> </a:t>
            </a:r>
            <a:r>
              <a:rPr lang="en-US" altLang="ko-KR" sz="1075" smtClean="0">
                <a:sym typeface="Wingdings" panose="05000000000000000000" pitchFamily="2" charset="2"/>
              </a:rPr>
              <a:t>Ex</a:t>
            </a:r>
            <a:r>
              <a:rPr lang="en-US" altLang="ko-KR" sz="1075">
                <a:sym typeface="Wingdings" panose="05000000000000000000" pitchFamily="2" charset="2"/>
              </a:rPr>
              <a:t>. SUV</a:t>
            </a:r>
            <a:r>
              <a:rPr lang="ko-KR" altLang="en-US" sz="1075">
                <a:sym typeface="Wingdings" panose="05000000000000000000" pitchFamily="2" charset="2"/>
              </a:rPr>
              <a:t> 자동차</a:t>
            </a:r>
            <a:r>
              <a:rPr lang="en-US" altLang="ko-KR" sz="1075">
                <a:sym typeface="Wingdings" panose="05000000000000000000" pitchFamily="2" charset="2"/>
              </a:rPr>
              <a:t>, </a:t>
            </a:r>
            <a:r>
              <a:rPr lang="ko-KR" altLang="en-US" sz="1075">
                <a:sym typeface="Wingdings" panose="05000000000000000000" pitchFamily="2" charset="2"/>
              </a:rPr>
              <a:t>게임</a:t>
            </a:r>
            <a:r>
              <a:rPr lang="en-US" altLang="ko-KR" sz="1075">
                <a:sym typeface="Wingdings" panose="05000000000000000000" pitchFamily="2" charset="2"/>
              </a:rPr>
              <a:t>, </a:t>
            </a:r>
            <a:r>
              <a:rPr lang="ko-KR" altLang="en-US" sz="1075">
                <a:sym typeface="Wingdings" panose="05000000000000000000" pitchFamily="2" charset="2"/>
              </a:rPr>
              <a:t>음악 등 </a:t>
            </a:r>
            <a:endParaRPr lang="en-US" altLang="ko-KR" sz="1075">
              <a:sym typeface="Wingdings" panose="05000000000000000000" pitchFamily="2" charset="2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altLang="ko-KR" sz="1300" smtClean="0">
                <a:sym typeface="Wingdings" panose="05000000000000000000" pitchFamily="2" charset="2"/>
              </a:rPr>
              <a:t>   </a:t>
            </a:r>
            <a:r>
              <a:rPr lang="ko-KR" altLang="ko-KR" sz="1300" smtClean="0">
                <a:sym typeface="Wingdings" panose="05000000000000000000" pitchFamily="2" charset="2"/>
              </a:rPr>
              <a:t>⑤</a:t>
            </a:r>
            <a:r>
              <a:rPr lang="en-US" altLang="ko-KR" sz="1300" smtClean="0">
                <a:sym typeface="Wingdings" panose="05000000000000000000" pitchFamily="2" charset="2"/>
              </a:rPr>
              <a:t> </a:t>
            </a:r>
            <a:r>
              <a:rPr lang="ko-KR" altLang="en-US" sz="1300">
                <a:sym typeface="Wingdings" panose="05000000000000000000" pitchFamily="2" charset="2"/>
              </a:rPr>
              <a:t>미래에 </a:t>
            </a:r>
            <a:r>
              <a:rPr lang="ko-KR" altLang="en-US" sz="1300">
                <a:sym typeface="Wingdings" panose="05000000000000000000" pitchFamily="2" charset="2"/>
              </a:rPr>
              <a:t>대한 </a:t>
            </a:r>
            <a:r>
              <a:rPr lang="ko-KR" altLang="en-US" sz="1300" smtClean="0">
                <a:sym typeface="Wingdings" panose="05000000000000000000" pitchFamily="2" charset="2"/>
              </a:rPr>
              <a:t>예상</a:t>
            </a:r>
            <a:endParaRPr lang="en-US" altLang="ko-KR" sz="1300">
              <a:sym typeface="Wingdings" panose="05000000000000000000" pitchFamily="2" charset="2"/>
            </a:endParaRPr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075" smtClean="0"/>
              <a:t>- </a:t>
            </a:r>
            <a:r>
              <a:rPr lang="ko-KR" altLang="en-US" sz="1075" smtClean="0"/>
              <a:t>미래의</a:t>
            </a:r>
            <a:r>
              <a:rPr lang="en-US" altLang="ko-KR" sz="1075" smtClean="0"/>
              <a:t> </a:t>
            </a:r>
            <a:r>
              <a:rPr lang="ko-KR" altLang="en-US" sz="1075"/>
              <a:t>소득증가</a:t>
            </a:r>
            <a:r>
              <a:rPr lang="en-US" altLang="ko-KR" sz="1075"/>
              <a:t>, </a:t>
            </a:r>
            <a:r>
              <a:rPr lang="ko-KR" altLang="en-US" sz="1075"/>
              <a:t>또는 미래의 가격 상승 예상은 현재 수요를 증가시킴</a:t>
            </a:r>
            <a:r>
              <a:rPr lang="en-US" altLang="ko-KR" sz="1075"/>
              <a:t>. </a:t>
            </a:r>
            <a:endParaRPr lang="ko-KR" altLang="en-US" sz="1075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060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500063" y="893444"/>
            <a:ext cx="5915025" cy="10174606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ko-KR" altLang="en-US" sz="1300" smtClean="0"/>
              <a:t>공급량</a:t>
            </a:r>
            <a:r>
              <a:rPr lang="en-US" altLang="ko-KR" sz="1300" smtClean="0"/>
              <a:t> </a:t>
            </a:r>
            <a:r>
              <a:rPr lang="en-US" altLang="ko-KR" sz="1300" dirty="0"/>
              <a:t>Quantity supplied: </a:t>
            </a:r>
            <a:r>
              <a:rPr lang="ko-KR" altLang="en-US" sz="1300" dirty="0"/>
              <a:t>판매자들이</a:t>
            </a:r>
            <a:r>
              <a:rPr lang="en-US" altLang="ko-KR" sz="1300" dirty="0"/>
              <a:t> </a:t>
            </a:r>
            <a:r>
              <a:rPr lang="ko-KR" altLang="en-US" sz="1300" dirty="0"/>
              <a:t>팔 의지와 능력이 있는 재화의 양</a:t>
            </a:r>
            <a:endParaRPr lang="en-US" altLang="ko-KR" sz="1300" dirty="0"/>
          </a:p>
          <a:p>
            <a:pPr>
              <a:lnSpc>
                <a:spcPct val="160000"/>
              </a:lnSpc>
            </a:pPr>
            <a:r>
              <a:rPr lang="ko-KR" altLang="en-US" sz="1300"/>
              <a:t>공급의 </a:t>
            </a:r>
            <a:r>
              <a:rPr lang="ko-KR" altLang="en-US" sz="1300" smtClean="0"/>
              <a:t>법칙</a:t>
            </a:r>
            <a:endParaRPr lang="en-US" altLang="ko-KR" sz="13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100" smtClean="0"/>
              <a:t>(</a:t>
            </a:r>
            <a:r>
              <a:rPr lang="ko-KR" altLang="en-US" sz="1100" dirty="0"/>
              <a:t>다른 조건이 같을 때</a:t>
            </a:r>
            <a:r>
              <a:rPr lang="en-US" altLang="ko-KR" sz="1100" dirty="0"/>
              <a:t>) “</a:t>
            </a:r>
            <a:r>
              <a:rPr lang="ko-KR" altLang="en-US" sz="1100" dirty="0"/>
              <a:t>어떤 재화의 가격이 오르면 공급량이 증가하고</a:t>
            </a:r>
            <a:r>
              <a:rPr lang="en-US" altLang="ko-KR" sz="1100" dirty="0"/>
              <a:t>, </a:t>
            </a:r>
            <a:r>
              <a:rPr lang="ko-KR" altLang="en-US" sz="1100" dirty="0"/>
              <a:t>가격이 하락하면 공급량이 감소한다</a:t>
            </a:r>
            <a:r>
              <a:rPr lang="en-US" altLang="ko-KR" sz="1100"/>
              <a:t>” </a:t>
            </a:r>
            <a:r>
              <a:rPr lang="en-US" altLang="ko-KR" sz="1100" smtClean="0"/>
              <a:t>.. </a:t>
            </a:r>
            <a:r>
              <a:rPr lang="ko-KR" altLang="en-US" sz="1100" smtClean="0"/>
              <a:t>공급곡선은 </a:t>
            </a:r>
            <a:r>
              <a:rPr lang="ko-KR" altLang="en-US" sz="1100" dirty="0" err="1"/>
              <a:t>우상향</a:t>
            </a:r>
            <a:r>
              <a:rPr lang="ko-KR" altLang="en-US" sz="1100" dirty="0"/>
              <a:t> </a:t>
            </a:r>
            <a:r>
              <a:rPr lang="en-US" altLang="ko-KR" sz="1100" dirty="0"/>
              <a:t>(upward</a:t>
            </a:r>
            <a:r>
              <a:rPr lang="ko-KR" altLang="en-US" sz="1100" dirty="0"/>
              <a:t> </a:t>
            </a:r>
            <a:r>
              <a:rPr lang="en-US" altLang="ko-KR" sz="1100"/>
              <a:t>sloping</a:t>
            </a:r>
            <a:r>
              <a:rPr lang="en-US" altLang="ko-KR" sz="1100" smtClean="0"/>
              <a:t>)</a:t>
            </a:r>
            <a:endParaRPr lang="en-US" altLang="ko-KR" sz="1100" dirty="0"/>
          </a:p>
          <a:p>
            <a:pPr>
              <a:lnSpc>
                <a:spcPct val="160000"/>
              </a:lnSpc>
            </a:pPr>
            <a:r>
              <a:rPr lang="ko-KR" altLang="en-US" sz="1300" dirty="0">
                <a:sym typeface="Wingdings" panose="05000000000000000000" pitchFamily="2" charset="2"/>
              </a:rPr>
              <a:t>시장공급</a:t>
            </a:r>
            <a:r>
              <a:rPr lang="en-US" altLang="ko-KR" sz="1300">
                <a:sym typeface="Wingdings" panose="05000000000000000000" pitchFamily="2" charset="2"/>
              </a:rPr>
              <a:t>: </a:t>
            </a:r>
            <a:r>
              <a:rPr lang="ko-KR" altLang="en-US" sz="1300" smtClean="0">
                <a:sym typeface="Wingdings" panose="05000000000000000000" pitchFamily="2" charset="2"/>
              </a:rPr>
              <a:t>모든 </a:t>
            </a:r>
            <a:r>
              <a:rPr lang="ko-KR" altLang="en-US" sz="1300" dirty="0">
                <a:sym typeface="Wingdings" panose="05000000000000000000" pitchFamily="2" charset="2"/>
              </a:rPr>
              <a:t>판매자들의 공급 합계</a:t>
            </a:r>
            <a:r>
              <a:rPr lang="en-US" altLang="ko-KR" sz="1300" dirty="0">
                <a:sym typeface="Wingdings" panose="05000000000000000000" pitchFamily="2" charset="2"/>
              </a:rPr>
              <a:t>(sum)</a:t>
            </a:r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100" smtClean="0">
                <a:sym typeface="Wingdings" panose="05000000000000000000" pitchFamily="2" charset="2"/>
              </a:rPr>
              <a:t>- </a:t>
            </a:r>
            <a:r>
              <a:rPr lang="ko-KR" altLang="en-US" sz="1100" smtClean="0">
                <a:sym typeface="Wingdings" panose="05000000000000000000" pitchFamily="2" charset="2"/>
              </a:rPr>
              <a:t>시장공급곡선은</a:t>
            </a:r>
            <a:r>
              <a:rPr lang="en-US" altLang="ko-KR" sz="1100" smtClean="0">
                <a:sym typeface="Wingdings" panose="05000000000000000000" pitchFamily="2" charset="2"/>
              </a:rPr>
              <a:t> </a:t>
            </a:r>
            <a:r>
              <a:rPr lang="ko-KR" altLang="en-US" sz="1100" dirty="0">
                <a:sym typeface="Wingdings" panose="05000000000000000000" pitchFamily="2" charset="2"/>
              </a:rPr>
              <a:t>각 판매자들의 공급곡선을 모두 합한 것</a:t>
            </a:r>
            <a:endParaRPr lang="en-US" altLang="ko-KR" sz="1100" dirty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ko-KR" altLang="en-US" sz="1300" dirty="0">
                <a:sym typeface="Wingdings" panose="05000000000000000000" pitchFamily="2" charset="2"/>
              </a:rPr>
              <a:t>공급곡선의</a:t>
            </a:r>
            <a:r>
              <a:rPr lang="en-US" altLang="ko-KR" sz="1300" dirty="0">
                <a:sym typeface="Wingdings" panose="05000000000000000000" pitchFamily="2" charset="2"/>
              </a:rPr>
              <a:t> </a:t>
            </a:r>
            <a:r>
              <a:rPr lang="ko-KR" altLang="en-US" sz="1300" dirty="0">
                <a:sym typeface="Wingdings" panose="05000000000000000000" pitchFamily="2" charset="2"/>
              </a:rPr>
              <a:t>이동</a:t>
            </a:r>
            <a:r>
              <a:rPr lang="en-US" altLang="ko-KR" sz="1300" dirty="0">
                <a:sym typeface="Wingdings" panose="05000000000000000000" pitchFamily="2" charset="2"/>
              </a:rPr>
              <a:t>(shift)</a:t>
            </a:r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100" smtClean="0">
                <a:sym typeface="Wingdings" panose="05000000000000000000" pitchFamily="2" charset="2"/>
              </a:rPr>
              <a:t>- </a:t>
            </a:r>
            <a:r>
              <a:rPr lang="ko-KR" altLang="en-US" sz="1100" smtClean="0">
                <a:sym typeface="Wingdings" panose="05000000000000000000" pitchFamily="2" charset="2"/>
              </a:rPr>
              <a:t>가격이 </a:t>
            </a:r>
            <a:r>
              <a:rPr lang="ko-KR" altLang="en-US" sz="1100" dirty="0">
                <a:sym typeface="Wingdings" panose="05000000000000000000" pitchFamily="2" charset="2"/>
              </a:rPr>
              <a:t>외의 다른 조건들</a:t>
            </a:r>
            <a:r>
              <a:rPr lang="en-US" altLang="ko-KR" sz="1100" dirty="0">
                <a:sym typeface="Wingdings" panose="05000000000000000000" pitchFamily="2" charset="2"/>
              </a:rPr>
              <a:t>(=</a:t>
            </a:r>
            <a:r>
              <a:rPr lang="ko-KR" altLang="en-US" sz="1100" dirty="0">
                <a:sym typeface="Wingdings" panose="05000000000000000000" pitchFamily="2" charset="2"/>
              </a:rPr>
              <a:t>비가격 요인들</a:t>
            </a:r>
            <a:r>
              <a:rPr lang="en-US" altLang="ko-KR" sz="1100" dirty="0">
                <a:sym typeface="Wingdings" panose="05000000000000000000" pitchFamily="2" charset="2"/>
              </a:rPr>
              <a:t>)</a:t>
            </a:r>
            <a:r>
              <a:rPr lang="ko-KR" altLang="en-US" sz="1100" dirty="0">
                <a:sym typeface="Wingdings" panose="05000000000000000000" pitchFamily="2" charset="2"/>
              </a:rPr>
              <a:t>의 변화는 공급곡선을 이동하게 만듦</a:t>
            </a:r>
            <a:r>
              <a:rPr lang="en-US" altLang="ko-KR" sz="1100" dirty="0">
                <a:sym typeface="Wingdings" panose="05000000000000000000" pitchFamily="2" charset="2"/>
              </a:rPr>
              <a:t>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ko-KR" altLang="en-US" sz="1300" smtClean="0">
                <a:sym typeface="Wingdings" panose="05000000000000000000" pitchFamily="2" charset="2"/>
              </a:rPr>
              <a:t>   ①</a:t>
            </a:r>
            <a:r>
              <a:rPr lang="en-US" altLang="ko-KR" sz="1300" smtClean="0">
                <a:sym typeface="Wingdings" panose="05000000000000000000" pitchFamily="2" charset="2"/>
              </a:rPr>
              <a:t> </a:t>
            </a:r>
            <a:r>
              <a:rPr lang="ko-KR" altLang="en-US" sz="1300" dirty="0">
                <a:sym typeface="Wingdings" panose="05000000000000000000" pitchFamily="2" charset="2"/>
              </a:rPr>
              <a:t>투입요소의 가격 </a:t>
            </a:r>
            <a:r>
              <a:rPr lang="en-US" altLang="ko-KR" sz="1300" dirty="0">
                <a:sym typeface="Wingdings" panose="05000000000000000000" pitchFamily="2" charset="2"/>
              </a:rPr>
              <a:t>input prices</a:t>
            </a:r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100" smtClean="0"/>
              <a:t>- </a:t>
            </a:r>
            <a:r>
              <a:rPr lang="ko-KR" altLang="en-US" sz="1100" smtClean="0"/>
              <a:t>투입요소</a:t>
            </a:r>
            <a:r>
              <a:rPr lang="en-US" altLang="ko-KR" sz="1100" smtClean="0"/>
              <a:t> </a:t>
            </a:r>
            <a:r>
              <a:rPr lang="ko-KR" altLang="en-US" sz="1100" dirty="0"/>
              <a:t>가격</a:t>
            </a:r>
            <a:r>
              <a:rPr lang="en-US" altLang="ko-KR" sz="1100" dirty="0"/>
              <a:t>(ex. </a:t>
            </a:r>
            <a:r>
              <a:rPr lang="ko-KR" altLang="en-US" sz="1100" dirty="0"/>
              <a:t>임금</a:t>
            </a:r>
            <a:r>
              <a:rPr lang="en-US" altLang="ko-KR" sz="1100" dirty="0"/>
              <a:t>, </a:t>
            </a:r>
            <a:r>
              <a:rPr lang="ko-KR" altLang="en-US" sz="1100" dirty="0"/>
              <a:t>원자재 가격</a:t>
            </a:r>
            <a:r>
              <a:rPr lang="en-US" altLang="ko-KR" sz="1100" dirty="0"/>
              <a:t> </a:t>
            </a:r>
            <a:r>
              <a:rPr lang="ko-KR" altLang="en-US" sz="1100" dirty="0"/>
              <a:t>등</a:t>
            </a:r>
            <a:r>
              <a:rPr lang="en-US" altLang="ko-KR" sz="1100" dirty="0"/>
              <a:t>)</a:t>
            </a:r>
            <a:r>
              <a:rPr lang="ko-KR" altLang="en-US" sz="1100" dirty="0"/>
              <a:t>의 하락은 판매자들의 이익을 크게 만들어 더 많이 공급하도록 함</a:t>
            </a:r>
            <a:r>
              <a:rPr lang="en-US" altLang="ko-KR" sz="1100" dirty="0"/>
              <a:t>. 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altLang="ko-KR" sz="1325" smtClean="0"/>
              <a:t>   ② </a:t>
            </a:r>
            <a:r>
              <a:rPr lang="ko-KR" altLang="en-US" sz="1325" dirty="0"/>
              <a:t>기술 </a:t>
            </a:r>
            <a:r>
              <a:rPr lang="en-US" altLang="ko-KR" sz="1325" dirty="0"/>
              <a:t>Technology	</a:t>
            </a:r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100" smtClean="0"/>
              <a:t>- </a:t>
            </a:r>
            <a:r>
              <a:rPr lang="ko-KR" altLang="en-US" sz="1100" smtClean="0"/>
              <a:t>비용을</a:t>
            </a:r>
            <a:r>
              <a:rPr lang="en-US" altLang="ko-KR" sz="1100" smtClean="0"/>
              <a:t> </a:t>
            </a:r>
            <a:r>
              <a:rPr lang="ko-KR" altLang="en-US" sz="1100" dirty="0"/>
              <a:t>줄여주는 신기술은 요소가격 하락과 같은 효과</a:t>
            </a:r>
            <a:endParaRPr lang="en-US" altLang="ko-KR" sz="1100" dirty="0"/>
          </a:p>
          <a:p>
            <a:pPr marL="0" indent="0">
              <a:lnSpc>
                <a:spcPct val="160000"/>
              </a:lnSpc>
              <a:buNone/>
            </a:pPr>
            <a:r>
              <a:rPr lang="ko-KR" altLang="en-US" sz="1300" smtClean="0">
                <a:sym typeface="Wingdings" panose="05000000000000000000" pitchFamily="2" charset="2"/>
              </a:rPr>
              <a:t>   ③ </a:t>
            </a:r>
            <a:r>
              <a:rPr lang="ko-KR" altLang="en-US" sz="1300">
                <a:sym typeface="Wingdings" panose="05000000000000000000" pitchFamily="2" charset="2"/>
              </a:rPr>
              <a:t>판매자의 숫자</a:t>
            </a:r>
            <a:endParaRPr lang="en-US" altLang="ko-KR" sz="1300">
              <a:sym typeface="Wingdings" panose="05000000000000000000" pitchFamily="2" charset="2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ko-KR" altLang="en-US" sz="1300" smtClean="0">
                <a:sym typeface="Wingdings" panose="05000000000000000000" pitchFamily="2" charset="2"/>
              </a:rPr>
              <a:t>   ④ </a:t>
            </a:r>
            <a:r>
              <a:rPr lang="ko-KR" altLang="en-US" sz="1300">
                <a:sym typeface="Wingdings" panose="05000000000000000000" pitchFamily="2" charset="2"/>
              </a:rPr>
              <a:t>미래에 대한 예상</a:t>
            </a:r>
            <a:r>
              <a:rPr lang="en-US" altLang="ko-KR" sz="1300">
                <a:sym typeface="Wingdings" panose="05000000000000000000" pitchFamily="2" charset="2"/>
              </a:rPr>
              <a:t>, </a:t>
            </a:r>
            <a:r>
              <a:rPr lang="ko-KR" altLang="en-US" sz="1300">
                <a:sym typeface="Wingdings" panose="05000000000000000000" pitchFamily="2" charset="2"/>
              </a:rPr>
              <a:t>또는 기대</a:t>
            </a:r>
            <a:endParaRPr lang="en-US" altLang="ko-KR" sz="130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075" smtClean="0">
                <a:sym typeface="Wingdings" panose="05000000000000000000" pitchFamily="2" charset="2"/>
              </a:rPr>
              <a:t>Ex</a:t>
            </a:r>
            <a:r>
              <a:rPr lang="en-US" altLang="ko-KR" sz="1075">
                <a:sym typeface="Wingdings" panose="05000000000000000000" pitchFamily="2" charset="2"/>
              </a:rPr>
              <a:t>. </a:t>
            </a:r>
            <a:r>
              <a:rPr lang="ko-KR" altLang="en-US" sz="1075">
                <a:sym typeface="Wingdings" panose="05000000000000000000" pitchFamily="2" charset="2"/>
              </a:rPr>
              <a:t>중동지역의 정세 불안이 고유가 예상으로 </a:t>
            </a:r>
            <a:r>
              <a:rPr lang="ko-KR" altLang="en-US" sz="1075">
                <a:sym typeface="Wingdings" panose="05000000000000000000" pitchFamily="2" charset="2"/>
              </a:rPr>
              <a:t>이어지는 </a:t>
            </a:r>
            <a:r>
              <a:rPr lang="ko-KR" altLang="en-US" sz="1075" smtClean="0">
                <a:sym typeface="Wingdings" panose="05000000000000000000" pitchFamily="2" charset="2"/>
              </a:rPr>
              <a:t>경우</a:t>
            </a:r>
            <a:endParaRPr lang="en-US" altLang="ko-KR" sz="1075" smtClean="0">
              <a:sym typeface="Wingdings" panose="05000000000000000000" pitchFamily="2" charset="2"/>
            </a:endParaRPr>
          </a:p>
          <a:p>
            <a:pPr lvl="1">
              <a:lnSpc>
                <a:spcPct val="160000"/>
              </a:lnSpc>
              <a:buFontTx/>
              <a:buChar char="-"/>
            </a:pPr>
            <a:endParaRPr lang="en-US" altLang="ko-KR" sz="1075" smtClean="0">
              <a:sym typeface="Wingdings" panose="05000000000000000000" pitchFamily="2" charset="2"/>
            </a:endParaRPr>
          </a:p>
          <a:p>
            <a:pPr>
              <a:lnSpc>
                <a:spcPct val="160000"/>
              </a:lnSpc>
            </a:pPr>
            <a:r>
              <a:rPr lang="ko-KR" altLang="en-US" sz="1300"/>
              <a:t>균형점</a:t>
            </a:r>
            <a:r>
              <a:rPr lang="en-US" altLang="ko-KR" sz="1300"/>
              <a:t>(Equilibrium): </a:t>
            </a:r>
            <a:r>
              <a:rPr lang="ko-KR" altLang="en-US" sz="1300"/>
              <a:t>시장</a:t>
            </a:r>
            <a:r>
              <a:rPr lang="en-US" altLang="ko-KR" sz="1300"/>
              <a:t> </a:t>
            </a:r>
            <a:r>
              <a:rPr lang="ko-KR" altLang="en-US" sz="1300"/>
              <a:t>내부의 공급량과 수요량이 </a:t>
            </a:r>
            <a:r>
              <a:rPr lang="ko-KR" altLang="en-US" sz="1300"/>
              <a:t>같아지는 </a:t>
            </a:r>
            <a:r>
              <a:rPr lang="ko-KR" altLang="en-US" sz="1300" smtClean="0"/>
              <a:t>지점</a:t>
            </a:r>
            <a:r>
              <a:rPr lang="en-US" altLang="ko-KR" sz="1300" smtClean="0"/>
              <a:t> </a:t>
            </a:r>
            <a:endParaRPr lang="en-US" altLang="ko-KR" sz="1300"/>
          </a:p>
          <a:p>
            <a:pPr>
              <a:lnSpc>
                <a:spcPct val="160000"/>
              </a:lnSpc>
            </a:pPr>
            <a:r>
              <a:rPr lang="ko-KR" altLang="en-US" sz="1300"/>
              <a:t>시장이 </a:t>
            </a:r>
            <a:r>
              <a:rPr lang="ko-KR" altLang="en-US" sz="1300" smtClean="0"/>
              <a:t>균형을 </a:t>
            </a:r>
            <a:r>
              <a:rPr lang="ko-KR" altLang="en-US" sz="1300"/>
              <a:t>벗어나는 경우</a:t>
            </a:r>
            <a:endParaRPr lang="en-US" altLang="ko-KR" sz="1300"/>
          </a:p>
          <a:p>
            <a:pPr marL="0" indent="0">
              <a:lnSpc>
                <a:spcPct val="160000"/>
              </a:lnSpc>
              <a:buNone/>
            </a:pPr>
            <a:r>
              <a:rPr lang="ko-KR" altLang="en-US" sz="1300"/>
              <a:t>  ① 과잉 </a:t>
            </a:r>
            <a:r>
              <a:rPr lang="en-US" altLang="ko-KR" sz="1300"/>
              <a:t>Surplus : </a:t>
            </a:r>
            <a:r>
              <a:rPr lang="ko-KR" altLang="en-US" sz="1300"/>
              <a:t>공급량이</a:t>
            </a:r>
            <a:r>
              <a:rPr lang="en-US" altLang="ko-KR" sz="1300"/>
              <a:t> </a:t>
            </a:r>
            <a:r>
              <a:rPr lang="ko-KR" altLang="en-US" sz="1300"/>
              <a:t>수요량보다 더 많은 상태</a:t>
            </a:r>
            <a:r>
              <a:rPr lang="en-US" altLang="ko-KR" sz="1300"/>
              <a:t>, </a:t>
            </a:r>
            <a:r>
              <a:rPr lang="ko-KR" altLang="en-US" sz="1300"/>
              <a:t>초과공급</a:t>
            </a:r>
            <a:endParaRPr lang="en-US" altLang="ko-KR" sz="1300"/>
          </a:p>
          <a:p>
            <a:pPr marL="0" indent="0">
              <a:lnSpc>
                <a:spcPct val="160000"/>
              </a:lnSpc>
              <a:buNone/>
            </a:pPr>
            <a:r>
              <a:rPr lang="ko-KR" altLang="en-US" sz="1300"/>
              <a:t>  ② 부족 </a:t>
            </a:r>
            <a:r>
              <a:rPr lang="en-US" altLang="ko-KR" sz="1300"/>
              <a:t>Shortage</a:t>
            </a:r>
            <a:r>
              <a:rPr lang="ko-KR" altLang="en-US" sz="1300"/>
              <a:t> </a:t>
            </a:r>
            <a:r>
              <a:rPr lang="en-US" altLang="ko-KR" sz="1300"/>
              <a:t>: </a:t>
            </a:r>
            <a:r>
              <a:rPr lang="ko-KR" altLang="en-US" sz="1300"/>
              <a:t>수요량이</a:t>
            </a:r>
            <a:r>
              <a:rPr lang="en-US" altLang="ko-KR" sz="1300"/>
              <a:t> </a:t>
            </a:r>
            <a:r>
              <a:rPr lang="ko-KR" altLang="en-US" sz="1300"/>
              <a:t>공급량보다 많은 상태</a:t>
            </a:r>
            <a:r>
              <a:rPr lang="en-US" altLang="ko-KR" sz="1300"/>
              <a:t>, </a:t>
            </a:r>
            <a:r>
              <a:rPr lang="ko-KR" altLang="en-US" sz="1300"/>
              <a:t>초과수요</a:t>
            </a:r>
            <a:endParaRPr lang="en-US" altLang="ko-KR" sz="1300"/>
          </a:p>
          <a:p>
            <a:pPr>
              <a:lnSpc>
                <a:spcPct val="160000"/>
              </a:lnSpc>
            </a:pPr>
            <a:r>
              <a:rPr lang="ko-KR" altLang="en-US" sz="1300"/>
              <a:t>어떤 사건으로 인해 시장이 균형상태에서 벗어날 경우</a:t>
            </a:r>
            <a:endParaRPr lang="en-US" altLang="ko-KR" sz="130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075"/>
              <a:t>공급곡선</a:t>
            </a:r>
            <a:r>
              <a:rPr lang="en-US" altLang="ko-KR" sz="1075"/>
              <a:t>, </a:t>
            </a:r>
            <a:r>
              <a:rPr lang="ko-KR" altLang="en-US" sz="1075"/>
              <a:t>수요곡선 중 어떤 것이 이동하는가</a:t>
            </a:r>
            <a:r>
              <a:rPr lang="en-US" altLang="ko-KR" sz="1075"/>
              <a:t>,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075"/>
              <a:t>해당곡선이 어느 방향으로 이동하는가</a:t>
            </a:r>
            <a:r>
              <a:rPr lang="en-US" altLang="ko-KR" sz="1075"/>
              <a:t>.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075"/>
              <a:t>균형가격과 균형량에 어떤 변화가 생겼는가</a:t>
            </a:r>
            <a:r>
              <a:rPr lang="en-US" altLang="ko-KR" sz="1075"/>
              <a:t>?</a:t>
            </a:r>
          </a:p>
          <a:p>
            <a:pPr>
              <a:lnSpc>
                <a:spcPct val="160000"/>
              </a:lnSpc>
            </a:pPr>
            <a:r>
              <a:rPr lang="ko-KR" altLang="en-US" sz="1300"/>
              <a:t>하이브리드 자동차 시장 사례</a:t>
            </a:r>
            <a:endParaRPr lang="en-US" altLang="ko-KR" sz="130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075" smtClean="0"/>
              <a:t>수요곡선만 </a:t>
            </a:r>
            <a:r>
              <a:rPr lang="ko-KR" altLang="en-US" sz="1075"/>
              <a:t>이동하는 </a:t>
            </a:r>
            <a:r>
              <a:rPr lang="ko-KR" altLang="en-US" sz="1075"/>
              <a:t>경우</a:t>
            </a:r>
            <a:r>
              <a:rPr lang="en-US" altLang="ko-KR" sz="1075"/>
              <a:t> </a:t>
            </a:r>
            <a:endParaRPr lang="en-US" altLang="ko-KR" sz="1075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075" smtClean="0"/>
              <a:t>공급곡선만 </a:t>
            </a:r>
            <a:r>
              <a:rPr lang="ko-KR" altLang="en-US" sz="1075"/>
              <a:t>이동하는 </a:t>
            </a:r>
            <a:r>
              <a:rPr lang="ko-KR" altLang="en-US" sz="1075"/>
              <a:t>경우</a:t>
            </a:r>
            <a:r>
              <a:rPr lang="en-US" altLang="ko-KR" sz="1075"/>
              <a:t> </a:t>
            </a:r>
            <a:endParaRPr lang="en-US" altLang="ko-KR" sz="1075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075" smtClean="0"/>
              <a:t>수요곡선과 </a:t>
            </a:r>
            <a:r>
              <a:rPr lang="ko-KR" altLang="en-US" sz="1075"/>
              <a:t>공급곡선 모두 </a:t>
            </a:r>
            <a:r>
              <a:rPr lang="ko-KR" altLang="en-US" sz="1075"/>
              <a:t>이동하는 </a:t>
            </a:r>
            <a:r>
              <a:rPr lang="ko-KR" altLang="en-US" sz="1075" smtClean="0"/>
              <a:t>경우</a:t>
            </a:r>
            <a:endParaRPr lang="ko-KR" altLang="en-US" sz="1075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35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463</TotalTime>
  <Words>346</Words>
  <Application>Microsoft Office PowerPoint</Application>
  <PresentationFormat>와이드스크린</PresentationFormat>
  <Paragraphs>53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Wingdings</vt:lpstr>
      <vt:lpstr>Office 테마</vt:lpstr>
      <vt:lpstr>4장 시장의 수요와 공급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현대경제분석   강의노트</dc:title>
  <dc:creator>User</dc:creator>
  <cp:lastModifiedBy>TETRA</cp:lastModifiedBy>
  <cp:revision>49</cp:revision>
  <dcterms:created xsi:type="dcterms:W3CDTF">2021-06-28T02:08:57Z</dcterms:created>
  <dcterms:modified xsi:type="dcterms:W3CDTF">2023-03-05T10:44:04Z</dcterms:modified>
</cp:coreProperties>
</file>