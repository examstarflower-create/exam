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9" autoAdjust="0"/>
    <p:restoredTop sz="94660"/>
  </p:normalViewPr>
  <p:slideViewPr>
    <p:cSldViewPr snapToGrid="0">
      <p:cViewPr>
        <p:scale>
          <a:sx n="100" d="100"/>
          <a:sy n="100" d="100"/>
        </p:scale>
        <p:origin x="2868" y="-2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2022-12-28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altLang="ko-KR" dirty="0" smtClean="0"/>
              <a:t>25</a:t>
            </a:r>
            <a:r>
              <a:rPr lang="ko-KR" altLang="en-US" dirty="0" smtClean="0"/>
              <a:t>장</a:t>
            </a:r>
            <a:r>
              <a:rPr lang="de-DE" altLang="ko-KR" dirty="0" smtClean="0"/>
              <a:t>.</a:t>
            </a:r>
            <a:r>
              <a:rPr lang="ko-KR" altLang="en-US" dirty="0" smtClean="0"/>
              <a:t> </a:t>
            </a:r>
            <a:r>
              <a:rPr lang="ko-KR" altLang="de-DE" dirty="0" smtClean="0"/>
              <a:t>생산과 성장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298305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de-DE" sz="1300" dirty="0" smtClean="0"/>
              <a:t>한 나라의 생활수준 </a:t>
            </a:r>
            <a:r>
              <a:rPr lang="de-DE" altLang="ko-KR" sz="1300" dirty="0" smtClean="0"/>
              <a:t>standard of living</a:t>
            </a:r>
            <a:r>
              <a:rPr lang="ko-KR" altLang="de-DE" sz="1300" dirty="0" smtClean="0"/>
              <a:t>은 무엇에 좌우되는가</a:t>
            </a:r>
            <a:r>
              <a:rPr lang="de-DE" altLang="ko-KR" sz="1300" dirty="0" smtClean="0"/>
              <a:t>?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왜 </a:t>
            </a:r>
            <a:r>
              <a:rPr lang="ko-KR" altLang="de-DE" sz="1100" dirty="0" smtClean="0"/>
              <a:t>어떤 나라는 잘 </a:t>
            </a:r>
            <a:r>
              <a:rPr lang="ko-KR" altLang="de-DE" sz="1100" dirty="0" smtClean="0"/>
              <a:t>살고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어떤</a:t>
            </a:r>
            <a:r>
              <a:rPr lang="ko-KR" altLang="de-DE" sz="1100" dirty="0" smtClean="0"/>
              <a:t> </a:t>
            </a:r>
            <a:r>
              <a:rPr lang="ko-KR" altLang="de-DE" sz="1100" dirty="0" smtClean="0"/>
              <a:t>나라는 빈곤의 늪에 빠져 </a:t>
            </a:r>
            <a:r>
              <a:rPr lang="ko-KR" altLang="de-DE" sz="1100" dirty="0" smtClean="0"/>
              <a:t>있</a:t>
            </a:r>
            <a:r>
              <a:rPr lang="ko-KR" altLang="en-US" sz="1100" dirty="0" smtClean="0"/>
              <a:t>는가</a:t>
            </a:r>
            <a:r>
              <a:rPr lang="en-US" altLang="ko-KR" sz="1100" dirty="0" smtClean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어떤 </a:t>
            </a:r>
            <a:r>
              <a:rPr lang="ko-KR" altLang="de-DE" sz="1100" dirty="0" smtClean="0"/>
              <a:t>정책이 성장률을 부추기고 장기적으로 생활수준을 끌어 올리는가</a:t>
            </a:r>
            <a:r>
              <a:rPr lang="de-DE" altLang="ko-KR" sz="1100" dirty="0" smtClean="0"/>
              <a:t>?</a:t>
            </a:r>
          </a:p>
          <a:p>
            <a:pPr>
              <a:lnSpc>
                <a:spcPct val="160000"/>
              </a:lnSpc>
            </a:pPr>
            <a:endParaRPr lang="de-DE" altLang="ko-KR" sz="1300" b="1" dirty="0" smtClean="0"/>
          </a:p>
          <a:p>
            <a:pPr>
              <a:lnSpc>
                <a:spcPct val="160000"/>
              </a:lnSpc>
            </a:pPr>
            <a:r>
              <a:rPr lang="ko-KR" altLang="de-DE" sz="1300" b="1" dirty="0" smtClean="0"/>
              <a:t>생산성 </a:t>
            </a:r>
            <a:r>
              <a:rPr lang="de-DE" altLang="ko-KR" sz="1300" b="1" dirty="0" smtClean="0"/>
              <a:t>Productivity ( Y / L )</a:t>
            </a:r>
            <a:endParaRPr lang="de-DE" altLang="ko-KR" sz="1300" b="1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한</a:t>
            </a:r>
            <a:r>
              <a:rPr lang="de-DE" altLang="ko-KR" sz="1100" dirty="0"/>
              <a:t> </a:t>
            </a:r>
            <a:r>
              <a:rPr lang="ko-KR" altLang="de-DE" sz="1100" dirty="0"/>
              <a:t>단위의 노동</a:t>
            </a:r>
            <a:r>
              <a:rPr lang="de-DE" altLang="ko-KR" sz="1100" dirty="0"/>
              <a:t>(L)</a:t>
            </a:r>
            <a:r>
              <a:rPr lang="ko-KR" altLang="de-DE" sz="1100" dirty="0"/>
              <a:t> 투입으로 </a:t>
            </a:r>
            <a:r>
              <a:rPr lang="ko-KR" altLang="de-DE" sz="1100" dirty="0"/>
              <a:t>만들어내는</a:t>
            </a:r>
            <a:r>
              <a:rPr lang="ko-KR" altLang="de-DE" sz="1100" dirty="0"/>
              <a:t> 재화와 서비스의 양</a:t>
            </a:r>
            <a:r>
              <a:rPr lang="de-DE" altLang="ko-KR" sz="1100" dirty="0"/>
              <a:t>(Y)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100" dirty="0"/>
              <a:t>Y</a:t>
            </a:r>
            <a:r>
              <a:rPr lang="ko-KR" altLang="de-DE" sz="1100" dirty="0"/>
              <a:t>는 </a:t>
            </a:r>
            <a:r>
              <a:rPr lang="de-DE" altLang="ko-KR" sz="1100" dirty="0"/>
              <a:t>GDP, L</a:t>
            </a:r>
            <a:r>
              <a:rPr lang="ko-KR" altLang="de-DE" sz="1100" dirty="0"/>
              <a:t>은 노동의 양</a:t>
            </a:r>
            <a:endParaRPr lang="de-DE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생활수준을 좌우하는 가장 </a:t>
            </a:r>
            <a:r>
              <a:rPr lang="ko-KR" altLang="de-DE" sz="1100" dirty="0"/>
              <a:t>핵심적</a:t>
            </a:r>
            <a:r>
              <a:rPr lang="ko-KR" altLang="de-DE" sz="1100" dirty="0"/>
              <a:t> 요인</a:t>
            </a:r>
            <a:r>
              <a:rPr lang="de-DE" altLang="ko-KR" sz="1100" dirty="0"/>
              <a:t>. </a:t>
            </a:r>
            <a:r>
              <a:rPr lang="ko-KR" altLang="de-DE" sz="1100" dirty="0"/>
              <a:t>생산성의 증가가 생활수준 향상의 </a:t>
            </a:r>
            <a:r>
              <a:rPr lang="de-DE" altLang="ko-KR" sz="1100" dirty="0"/>
              <a:t>Key</a:t>
            </a:r>
          </a:p>
          <a:p>
            <a:pPr>
              <a:lnSpc>
                <a:spcPct val="160000"/>
              </a:lnSpc>
            </a:pPr>
            <a:endParaRPr lang="de-DE" altLang="ko-KR" sz="1000" dirty="0"/>
          </a:p>
          <a:p>
            <a:pPr marL="0" indent="0">
              <a:lnSpc>
                <a:spcPct val="160000"/>
              </a:lnSpc>
              <a:buNone/>
            </a:pPr>
            <a:r>
              <a:rPr lang="ko-KR" altLang="de-DE" sz="1300" b="1" u="sng" dirty="0" smtClean="0"/>
              <a:t>생산성</a:t>
            </a:r>
            <a:r>
              <a:rPr lang="de-DE" altLang="ko-KR" sz="1300" b="1" u="sng" dirty="0" smtClean="0"/>
              <a:t> </a:t>
            </a:r>
            <a:r>
              <a:rPr lang="ko-KR" altLang="de-DE" sz="1300" b="1" u="sng" dirty="0" smtClean="0"/>
              <a:t>결정요인</a:t>
            </a:r>
            <a:r>
              <a:rPr lang="ko-KR" altLang="de-DE" sz="1300" b="1" dirty="0" smtClean="0"/>
              <a:t> </a:t>
            </a:r>
            <a:endParaRPr lang="de-DE" altLang="ko-KR" sz="1300" b="1" dirty="0" smtClean="0"/>
          </a:p>
          <a:p>
            <a:pPr>
              <a:lnSpc>
                <a:spcPct val="160000"/>
              </a:lnSpc>
            </a:pPr>
            <a:r>
              <a:rPr lang="ko-KR" altLang="de-DE" sz="1300" b="1" dirty="0" smtClean="0"/>
              <a:t>생산함수 </a:t>
            </a:r>
            <a:r>
              <a:rPr lang="de-DE" altLang="ko-KR" sz="1300" b="1" dirty="0" smtClean="0"/>
              <a:t>: Y = A*f(L, K, H, N)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100" dirty="0"/>
              <a:t>A</a:t>
            </a:r>
            <a:r>
              <a:rPr lang="ko-KR" altLang="de-DE" sz="1100" dirty="0"/>
              <a:t>는 기술수준</a:t>
            </a:r>
            <a:r>
              <a:rPr lang="de-DE" altLang="ko-KR" sz="1100" dirty="0"/>
              <a:t>, L</a:t>
            </a:r>
            <a:r>
              <a:rPr lang="ko-KR" altLang="de-DE" sz="1100" dirty="0"/>
              <a:t>은 노동</a:t>
            </a:r>
            <a:r>
              <a:rPr lang="de-DE" altLang="ko-KR" sz="1100" dirty="0"/>
              <a:t>,  K</a:t>
            </a:r>
            <a:r>
              <a:rPr lang="ko-KR" altLang="de-DE" sz="1100" dirty="0"/>
              <a:t>는 </a:t>
            </a:r>
            <a:r>
              <a:rPr lang="ko-KR" altLang="de-DE" sz="1100" dirty="0"/>
              <a:t>물적 자본</a:t>
            </a:r>
            <a:r>
              <a:rPr lang="de-DE" altLang="ko-KR" sz="1100" dirty="0"/>
              <a:t>, H</a:t>
            </a:r>
            <a:r>
              <a:rPr lang="ko-KR" altLang="de-DE" sz="1100" dirty="0"/>
              <a:t>는 </a:t>
            </a:r>
            <a:r>
              <a:rPr lang="ko-KR" altLang="de-DE" sz="1100" dirty="0"/>
              <a:t>인적 자본</a:t>
            </a:r>
            <a:r>
              <a:rPr lang="de-DE" altLang="ko-KR" sz="1100" dirty="0"/>
              <a:t>,  N</a:t>
            </a:r>
            <a:r>
              <a:rPr lang="ko-KR" altLang="de-DE" sz="1100" dirty="0"/>
              <a:t>은 자연자원의 </a:t>
            </a:r>
            <a:r>
              <a:rPr lang="ko-KR" altLang="de-DE" sz="1100" dirty="0" smtClean="0"/>
              <a:t>양</a:t>
            </a:r>
            <a:endParaRPr lang="en-US" altLang="ko-KR" sz="1100" dirty="0" smtClean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smtClean="0"/>
              <a:t>규모의</a:t>
            </a:r>
            <a:r>
              <a:rPr lang="de-DE" altLang="ko-KR" sz="1100" dirty="0" smtClean="0"/>
              <a:t> </a:t>
            </a:r>
            <a:r>
              <a:rPr lang="ko-KR" altLang="de-DE" sz="1100" dirty="0" err="1" smtClean="0"/>
              <a:t>수익불변</a:t>
            </a:r>
            <a:r>
              <a:rPr lang="ko-KR" altLang="de-DE" sz="1100" dirty="0" smtClean="0"/>
              <a:t> </a:t>
            </a:r>
            <a:r>
              <a:rPr lang="de-DE" altLang="ko-KR" sz="1100" dirty="0" smtClean="0"/>
              <a:t>Constant Return to Scale</a:t>
            </a:r>
            <a:r>
              <a:rPr lang="ko-KR" altLang="de-DE" sz="1100" dirty="0" smtClean="0"/>
              <a:t> </a:t>
            </a:r>
            <a:r>
              <a:rPr lang="ko-KR" altLang="de-DE" sz="1100" dirty="0" smtClean="0"/>
              <a:t>가정</a:t>
            </a:r>
            <a:r>
              <a:rPr lang="en-US" altLang="ko-KR" sz="1100" dirty="0" smtClean="0"/>
              <a:t>: </a:t>
            </a:r>
            <a:r>
              <a:rPr lang="ko-KR" altLang="de-DE" sz="1100" dirty="0" smtClean="0"/>
              <a:t>모든 </a:t>
            </a:r>
            <a:r>
              <a:rPr lang="ko-KR" altLang="de-DE" sz="1100" dirty="0" err="1"/>
              <a:t>투입요소를</a:t>
            </a:r>
            <a:r>
              <a:rPr lang="ko-KR" altLang="de-DE" sz="1100" dirty="0"/>
              <a:t> </a:t>
            </a:r>
            <a:r>
              <a:rPr lang="ko-KR" altLang="de-DE" sz="1100" dirty="0"/>
              <a:t>일정</a:t>
            </a:r>
            <a:r>
              <a:rPr lang="ko-KR" altLang="de-DE" sz="1100" dirty="0"/>
              <a:t> 비율만큼 변화시키면 산출량에도 같은 비율의 변화가 </a:t>
            </a:r>
            <a:r>
              <a:rPr lang="ko-KR" altLang="de-DE" sz="1100" dirty="0" smtClean="0"/>
              <a:t>초래됨</a:t>
            </a:r>
            <a:r>
              <a:rPr lang="de-DE" altLang="ko-KR" sz="1100" dirty="0" smtClean="0"/>
              <a:t>.</a:t>
            </a:r>
            <a:endParaRPr lang="de-DE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err="1"/>
              <a:t>생산함수의</a:t>
            </a:r>
            <a:r>
              <a:rPr lang="ko-KR" altLang="de-DE" sz="1100" dirty="0"/>
              <a:t> 양변</a:t>
            </a:r>
            <a:r>
              <a:rPr lang="ko-KR" altLang="de-DE" sz="1100" dirty="0"/>
              <a:t>에</a:t>
            </a:r>
            <a:r>
              <a:rPr lang="ko-KR" altLang="de-DE" sz="1100" dirty="0"/>
              <a:t> </a:t>
            </a:r>
            <a:r>
              <a:rPr lang="de-DE" altLang="ko-KR" sz="1100" dirty="0"/>
              <a:t>1/L</a:t>
            </a:r>
            <a:r>
              <a:rPr lang="de-DE" altLang="ko-KR" sz="1100" dirty="0"/>
              <a:t>(</a:t>
            </a:r>
            <a:r>
              <a:rPr lang="ko-KR" altLang="de-DE" sz="1100" dirty="0" err="1"/>
              <a:t>상수값</a:t>
            </a:r>
            <a:r>
              <a:rPr lang="de-DE" altLang="ko-KR" sz="1100" dirty="0"/>
              <a:t>)</a:t>
            </a:r>
            <a:r>
              <a:rPr lang="ko-KR" altLang="de-DE" sz="1100" dirty="0"/>
              <a:t>을 곱해 </a:t>
            </a:r>
            <a:r>
              <a:rPr lang="ko-KR" altLang="de-DE" sz="1100" dirty="0" smtClean="0"/>
              <a:t>주면</a:t>
            </a:r>
            <a:endParaRPr lang="en-US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300" b="1" dirty="0" smtClean="0"/>
              <a:t>Y/L </a:t>
            </a:r>
            <a:r>
              <a:rPr lang="de-DE" altLang="ko-KR" sz="1300" b="1" dirty="0" smtClean="0"/>
              <a:t>= A*f(1, K/L, H/L, N/ L)</a:t>
            </a:r>
          </a:p>
          <a:p>
            <a:pPr lvl="1">
              <a:lnSpc>
                <a:spcPct val="160000"/>
              </a:lnSpc>
            </a:pPr>
            <a:endParaRPr lang="de-DE" altLang="ko-KR" sz="1050" dirty="0" smtClean="0"/>
          </a:p>
          <a:p>
            <a:pPr>
              <a:lnSpc>
                <a:spcPct val="160000"/>
              </a:lnSpc>
            </a:pPr>
            <a:r>
              <a:rPr lang="ko-KR" altLang="de-DE" sz="1300" dirty="0" smtClean="0"/>
              <a:t>결국</a:t>
            </a:r>
            <a:r>
              <a:rPr lang="de-DE" altLang="ko-KR" sz="1300" dirty="0" smtClean="0"/>
              <a:t>, </a:t>
            </a:r>
            <a:r>
              <a:rPr lang="ko-KR" altLang="de-DE" sz="1300" dirty="0" smtClean="0"/>
              <a:t>한 나라의 생산성은 기술 수준 </a:t>
            </a:r>
            <a:r>
              <a:rPr lang="de-DE" altLang="ko-KR" sz="1300" dirty="0" smtClean="0"/>
              <a:t>A, </a:t>
            </a:r>
            <a:r>
              <a:rPr lang="ko-KR" altLang="de-DE" sz="1300" dirty="0" smtClean="0"/>
              <a:t>노동자 </a:t>
            </a:r>
            <a:r>
              <a:rPr lang="de-DE" altLang="ko-KR" sz="1300" dirty="0" smtClean="0"/>
              <a:t>1</a:t>
            </a:r>
            <a:r>
              <a:rPr lang="ko-KR" altLang="de-DE" sz="1300" dirty="0" smtClean="0"/>
              <a:t>인당 물적 자본</a:t>
            </a:r>
            <a:r>
              <a:rPr lang="de-DE" altLang="ko-KR" sz="1300" dirty="0" smtClean="0"/>
              <a:t>(K/L), </a:t>
            </a:r>
            <a:r>
              <a:rPr lang="ko-KR" altLang="de-DE" sz="1300" dirty="0" smtClean="0"/>
              <a:t>노동자 </a:t>
            </a:r>
            <a:r>
              <a:rPr lang="de-DE" altLang="ko-KR" sz="1300" dirty="0" smtClean="0"/>
              <a:t>1</a:t>
            </a:r>
            <a:r>
              <a:rPr lang="ko-KR" altLang="de-DE" sz="1300" dirty="0" smtClean="0"/>
              <a:t>인당 인적 자본</a:t>
            </a:r>
            <a:r>
              <a:rPr lang="de-DE" altLang="ko-KR" sz="1300" dirty="0" smtClean="0"/>
              <a:t>(H/L), </a:t>
            </a:r>
            <a:r>
              <a:rPr lang="ko-KR" altLang="de-DE" sz="1300" dirty="0" smtClean="0"/>
              <a:t>노동자 </a:t>
            </a:r>
            <a:r>
              <a:rPr lang="de-DE" altLang="ko-KR" sz="1300" dirty="0" smtClean="0"/>
              <a:t>1</a:t>
            </a:r>
            <a:r>
              <a:rPr lang="ko-KR" altLang="de-DE" sz="1300" dirty="0" smtClean="0"/>
              <a:t>인당 자연자원</a:t>
            </a:r>
            <a:r>
              <a:rPr lang="de-DE" altLang="ko-KR" sz="1300" dirty="0" smtClean="0"/>
              <a:t>(N/L)</a:t>
            </a:r>
            <a:r>
              <a:rPr lang="ko-KR" altLang="de-DE" sz="1300" dirty="0" smtClean="0"/>
              <a:t>에 의해 결정됨</a:t>
            </a:r>
            <a:r>
              <a:rPr lang="de-DE" altLang="ko-KR" sz="1300" dirty="0" smtClean="0"/>
              <a:t>. </a:t>
            </a:r>
            <a:endParaRPr lang="de-DE" altLang="ko-KR" sz="800" dirty="0" smtClean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/>
              <a:t>따라서 </a:t>
            </a:r>
            <a:r>
              <a:rPr lang="ko-KR" altLang="de-DE" sz="1100" dirty="0"/>
              <a:t>생산성을 증가시키는 가장 좋은 방법</a:t>
            </a:r>
            <a:r>
              <a:rPr lang="de-DE" altLang="ko-KR" sz="1100" dirty="0"/>
              <a:t>(=</a:t>
            </a:r>
            <a:r>
              <a:rPr lang="ko-KR" altLang="de-DE" sz="1100" dirty="0"/>
              <a:t>경제를 성장시키고 생활수준을 </a:t>
            </a:r>
            <a:r>
              <a:rPr lang="ko-KR" altLang="de-DE" sz="1100" dirty="0"/>
              <a:t>향상시키는</a:t>
            </a:r>
            <a:r>
              <a:rPr lang="ko-KR" altLang="de-DE" sz="1100" dirty="0"/>
              <a:t> </a:t>
            </a:r>
            <a:r>
              <a:rPr lang="ko-KR" altLang="de-DE" sz="1100" dirty="0"/>
              <a:t>궁극적인</a:t>
            </a:r>
            <a:r>
              <a:rPr lang="ko-KR" altLang="de-DE" sz="1100" dirty="0"/>
              <a:t> 방법</a:t>
            </a:r>
            <a:r>
              <a:rPr lang="de-DE" altLang="ko-KR" sz="1100" dirty="0"/>
              <a:t>)</a:t>
            </a:r>
            <a:r>
              <a:rPr lang="ko-KR" altLang="de-DE" sz="1100" dirty="0"/>
              <a:t>은 이 </a:t>
            </a:r>
            <a:r>
              <a:rPr lang="de-DE" altLang="ko-KR" sz="1100" dirty="0"/>
              <a:t>4</a:t>
            </a:r>
            <a:r>
              <a:rPr lang="ko-KR" altLang="de-DE" sz="1100" dirty="0"/>
              <a:t>가지를 좀 더 크게 만드는 것</a:t>
            </a:r>
            <a:endParaRPr lang="de-DE" altLang="ko-KR" sz="1100" dirty="0"/>
          </a:p>
          <a:p>
            <a:pPr marL="257175" lvl="1" indent="0">
              <a:lnSpc>
                <a:spcPct val="160000"/>
              </a:lnSpc>
              <a:buNone/>
            </a:pPr>
            <a:endParaRPr lang="de-DE" altLang="ko-KR" sz="1000" dirty="0" smtClean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1) </a:t>
            </a:r>
            <a:r>
              <a:rPr lang="ko-KR" altLang="en-US" sz="1300" b="1" dirty="0" smtClean="0"/>
              <a:t>노동자 </a:t>
            </a:r>
            <a:r>
              <a:rPr lang="en-US" altLang="ko-KR" sz="1300" b="1" dirty="0" smtClean="0"/>
              <a:t>1</a:t>
            </a:r>
            <a:r>
              <a:rPr lang="ko-KR" altLang="en-US" sz="1300" b="1" dirty="0" smtClean="0"/>
              <a:t>인당 </a:t>
            </a:r>
            <a:r>
              <a:rPr lang="ko-KR" altLang="de-DE" sz="1300" b="1" dirty="0" smtClean="0"/>
              <a:t>물적 </a:t>
            </a:r>
            <a:r>
              <a:rPr lang="ko-KR" altLang="de-DE" sz="1300" b="1" dirty="0" smtClean="0"/>
              <a:t>자본</a:t>
            </a:r>
            <a:r>
              <a:rPr lang="de-DE" altLang="ko-KR" sz="1300" b="1" dirty="0" smtClean="0"/>
              <a:t> Physical</a:t>
            </a:r>
            <a:r>
              <a:rPr lang="ko-KR" altLang="de-DE" sz="1300" b="1" dirty="0" smtClean="0"/>
              <a:t> </a:t>
            </a:r>
            <a:r>
              <a:rPr lang="de-DE" altLang="ko-KR" sz="1300" b="1" dirty="0" smtClean="0"/>
              <a:t>capital, </a:t>
            </a:r>
            <a:r>
              <a:rPr lang="de-DE" altLang="ko-KR" sz="1300" b="1" dirty="0" smtClean="0"/>
              <a:t>K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/>
              <a:t>재화와 </a:t>
            </a:r>
            <a:r>
              <a:rPr lang="ko-KR" altLang="de-DE" sz="1100" dirty="0"/>
              <a:t>서비스를</a:t>
            </a:r>
            <a:r>
              <a:rPr lang="ko-KR" altLang="de-DE" sz="1100" dirty="0"/>
              <a:t> 생산하는 데 사용되는 장비와 건축물의 스톡 </a:t>
            </a:r>
            <a:r>
              <a:rPr lang="de-DE" altLang="ko-KR" sz="1100" dirty="0"/>
              <a:t>stock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/>
              <a:t>평균적</a:t>
            </a:r>
            <a:r>
              <a:rPr lang="de-DE" altLang="ko-KR" sz="1100" dirty="0"/>
              <a:t> </a:t>
            </a:r>
            <a:r>
              <a:rPr lang="ko-KR" altLang="de-DE" sz="1100" dirty="0"/>
              <a:t>노동자가</a:t>
            </a:r>
            <a:r>
              <a:rPr lang="ko-KR" altLang="de-DE" sz="1100" dirty="0"/>
              <a:t> 더 많은 물적 자본을 가지면 생산성은 높아짐</a:t>
            </a:r>
            <a:r>
              <a:rPr lang="de-DE" altLang="ko-KR" sz="1100" dirty="0"/>
              <a:t>.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2) </a:t>
            </a:r>
            <a:r>
              <a:rPr lang="ko-KR" altLang="en-US" sz="1300" b="1" dirty="0" smtClean="0"/>
              <a:t>노동자 </a:t>
            </a:r>
            <a:r>
              <a:rPr lang="en-US" altLang="ko-KR" sz="1300" b="1" dirty="0" smtClean="0"/>
              <a:t>1</a:t>
            </a:r>
            <a:r>
              <a:rPr lang="ko-KR" altLang="en-US" sz="1300" b="1" dirty="0" smtClean="0"/>
              <a:t>인당 </a:t>
            </a:r>
            <a:r>
              <a:rPr lang="ko-KR" altLang="de-DE" sz="1300" b="1" dirty="0" smtClean="0"/>
              <a:t>인적 </a:t>
            </a:r>
            <a:r>
              <a:rPr lang="ko-KR" altLang="de-DE" sz="1300" b="1" dirty="0" smtClean="0"/>
              <a:t>자본</a:t>
            </a:r>
            <a:r>
              <a:rPr lang="de-DE" altLang="ko-KR" sz="1300" b="1" dirty="0" smtClean="0"/>
              <a:t> Human</a:t>
            </a:r>
            <a:r>
              <a:rPr lang="ko-KR" altLang="de-DE" sz="1300" b="1" dirty="0" smtClean="0"/>
              <a:t> </a:t>
            </a:r>
            <a:r>
              <a:rPr lang="de-DE" altLang="ko-KR" sz="1300" b="1" dirty="0" smtClean="0"/>
              <a:t>Capital, </a:t>
            </a:r>
            <a:r>
              <a:rPr lang="de-DE" altLang="ko-KR" sz="1300" b="1" dirty="0" smtClean="0"/>
              <a:t>H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/>
              <a:t>노동자들이</a:t>
            </a:r>
            <a:r>
              <a:rPr lang="de-DE" altLang="ko-KR" sz="1100" dirty="0"/>
              <a:t> </a:t>
            </a:r>
            <a:r>
              <a:rPr lang="ko-KR" altLang="de-DE" sz="1100" dirty="0"/>
              <a:t>교육</a:t>
            </a:r>
            <a:r>
              <a:rPr lang="de-DE" altLang="ko-KR" sz="1100" dirty="0"/>
              <a:t>, </a:t>
            </a:r>
            <a:r>
              <a:rPr lang="ko-KR" altLang="de-DE" sz="1100" dirty="0"/>
              <a:t>훈련</a:t>
            </a:r>
            <a:r>
              <a:rPr lang="de-DE" altLang="ko-KR" sz="1100" dirty="0"/>
              <a:t>, </a:t>
            </a:r>
            <a:r>
              <a:rPr lang="ko-KR" altLang="de-DE" sz="1100" dirty="0"/>
              <a:t>그리고 경험을 통해 습득하는 </a:t>
            </a:r>
            <a:r>
              <a:rPr lang="de-DE" altLang="ko-KR" sz="1100" dirty="0"/>
              <a:t>(</a:t>
            </a:r>
            <a:r>
              <a:rPr lang="ko-KR" altLang="de-DE" sz="1100" dirty="0"/>
              <a:t>생산의</a:t>
            </a:r>
            <a:r>
              <a:rPr lang="de-DE" altLang="ko-KR" sz="1100" dirty="0"/>
              <a:t>) </a:t>
            </a:r>
            <a:r>
              <a:rPr lang="ko-KR" altLang="de-DE" sz="1100" dirty="0"/>
              <a:t>지식과 스킬</a:t>
            </a:r>
            <a:endParaRPr lang="de-DE" altLang="ko-KR" sz="11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100" dirty="0"/>
              <a:t>평균적 </a:t>
            </a:r>
            <a:r>
              <a:rPr lang="ko-KR" altLang="de-DE" sz="1100" dirty="0"/>
              <a:t>노동자가</a:t>
            </a:r>
            <a:r>
              <a:rPr lang="ko-KR" altLang="de-DE" sz="1100" dirty="0"/>
              <a:t> 더 많은 </a:t>
            </a:r>
            <a:r>
              <a:rPr lang="ko-KR" altLang="de-DE" sz="1100" dirty="0" err="1"/>
              <a:t>인적자본을</a:t>
            </a:r>
            <a:r>
              <a:rPr lang="ko-KR" altLang="de-DE" sz="1100" dirty="0"/>
              <a:t> 가지면 생산성은 높아짐</a:t>
            </a:r>
            <a:r>
              <a:rPr lang="de-DE" altLang="ko-KR" sz="1100" dirty="0"/>
              <a:t>. </a:t>
            </a:r>
          </a:p>
          <a:p>
            <a:pPr>
              <a:lnSpc>
                <a:spcPct val="160000"/>
              </a:lnSpc>
            </a:pPr>
            <a:endParaRPr lang="de-DE" altLang="ko-KR" sz="1100" dirty="0" smtClean="0"/>
          </a:p>
          <a:p>
            <a:pPr>
              <a:lnSpc>
                <a:spcPct val="160000"/>
              </a:lnSpc>
            </a:pPr>
            <a:endParaRPr lang="de-DE" altLang="ko-KR" sz="11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5"/>
            <a:ext cx="5915025" cy="1046035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 smtClean="0"/>
              <a:t>3) </a:t>
            </a:r>
            <a:r>
              <a:rPr lang="ko-KR" altLang="en-US" sz="1300" b="1" dirty="0" smtClean="0"/>
              <a:t>노동자 </a:t>
            </a:r>
            <a:r>
              <a:rPr lang="en-US" altLang="ko-KR" sz="1300" b="1" dirty="0" smtClean="0"/>
              <a:t>1</a:t>
            </a:r>
            <a:r>
              <a:rPr lang="ko-KR" altLang="en-US" sz="1300" b="1" dirty="0" smtClean="0"/>
              <a:t>인당 </a:t>
            </a:r>
            <a:r>
              <a:rPr lang="ko-KR" altLang="de-DE" sz="1300" b="1" dirty="0" smtClean="0"/>
              <a:t>자연자원</a:t>
            </a:r>
            <a:r>
              <a:rPr lang="de-DE" altLang="ko-KR" sz="1300" b="1" dirty="0" smtClean="0"/>
              <a:t> </a:t>
            </a:r>
            <a:r>
              <a:rPr lang="de-DE" altLang="ko-KR" sz="1300" b="1" dirty="0" smtClean="0"/>
              <a:t>Natural Resources, </a:t>
            </a:r>
            <a:r>
              <a:rPr lang="de-DE" altLang="ko-KR" sz="1300" b="1" dirty="0" smtClean="0"/>
              <a:t>N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/>
              <a:t>한 나라의 </a:t>
            </a:r>
            <a:r>
              <a:rPr lang="ko-KR" altLang="de-DE" sz="1200" dirty="0"/>
              <a:t>자연이</a:t>
            </a:r>
            <a:r>
              <a:rPr lang="ko-KR" altLang="de-DE" sz="1200" dirty="0"/>
              <a:t> 제공하는 생산 </a:t>
            </a:r>
            <a:r>
              <a:rPr lang="ko-KR" altLang="de-DE" sz="1200" dirty="0" err="1"/>
              <a:t>투입요소</a:t>
            </a:r>
            <a:r>
              <a:rPr lang="de-DE" altLang="ko-KR" sz="1200" dirty="0"/>
              <a:t>(</a:t>
            </a:r>
            <a:r>
              <a:rPr lang="ko-KR" altLang="de-DE" sz="1200" dirty="0"/>
              <a:t>토지</a:t>
            </a:r>
            <a:r>
              <a:rPr lang="de-DE" altLang="ko-KR" sz="1200" dirty="0"/>
              <a:t>, </a:t>
            </a:r>
            <a:r>
              <a:rPr lang="ko-KR" altLang="de-DE" sz="1200" dirty="0"/>
              <a:t>바다</a:t>
            </a:r>
            <a:r>
              <a:rPr lang="de-DE" altLang="ko-KR" sz="1200" dirty="0"/>
              <a:t>, </a:t>
            </a:r>
            <a:r>
              <a:rPr lang="ko-KR" altLang="de-DE" sz="1200" dirty="0"/>
              <a:t>광물자원</a:t>
            </a:r>
            <a:r>
              <a:rPr lang="de-DE" altLang="ko-KR" sz="1200" dirty="0"/>
              <a:t>, </a:t>
            </a:r>
            <a:r>
              <a:rPr lang="ko-KR" altLang="de-DE" sz="1200" dirty="0"/>
              <a:t>기후 등</a:t>
            </a:r>
            <a:r>
              <a:rPr lang="de-DE" altLang="ko-KR" sz="1200" dirty="0"/>
              <a:t>)</a:t>
            </a:r>
            <a:endParaRPr lang="de-DE" altLang="ko-KR" sz="12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/>
              <a:t>평균적</a:t>
            </a:r>
            <a:r>
              <a:rPr lang="de-DE" altLang="ko-KR" sz="1200" dirty="0"/>
              <a:t> </a:t>
            </a:r>
            <a:r>
              <a:rPr lang="ko-KR" altLang="de-DE" sz="1200" dirty="0"/>
              <a:t>노동자가 더 많은 </a:t>
            </a:r>
            <a:r>
              <a:rPr lang="ko-KR" altLang="de-DE" sz="1200" dirty="0"/>
              <a:t>자연자원을 가지면 더 많은 </a:t>
            </a:r>
            <a:r>
              <a:rPr lang="de-DE" altLang="ko-KR" sz="1200" dirty="0"/>
              <a:t>Y</a:t>
            </a:r>
            <a:r>
              <a:rPr lang="ko-KR" altLang="de-DE" sz="1200" dirty="0" err="1"/>
              <a:t>를</a:t>
            </a:r>
            <a:r>
              <a:rPr lang="ko-KR" altLang="de-DE" sz="1200" dirty="0"/>
              <a:t> 생산할 수 있음</a:t>
            </a:r>
            <a:r>
              <a:rPr lang="de-DE" altLang="ko-KR" sz="1200" dirty="0"/>
              <a:t>.</a:t>
            </a:r>
            <a:endParaRPr lang="de-DE" altLang="ko-KR" sz="1200" dirty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4) </a:t>
            </a:r>
            <a:r>
              <a:rPr lang="ko-KR" altLang="de-DE" sz="1300" b="1" dirty="0" smtClean="0"/>
              <a:t>기술 </a:t>
            </a:r>
            <a:r>
              <a:rPr lang="de-DE" altLang="ko-KR" sz="1300" b="1" dirty="0" smtClean="0"/>
              <a:t>Human</a:t>
            </a:r>
            <a:r>
              <a:rPr lang="ko-KR" altLang="de-DE" sz="1300" b="1" dirty="0" smtClean="0"/>
              <a:t> </a:t>
            </a:r>
            <a:r>
              <a:rPr lang="de-DE" altLang="ko-KR" sz="1300" b="1" dirty="0" smtClean="0"/>
              <a:t>Capital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/>
              <a:t>재화와 </a:t>
            </a:r>
            <a:r>
              <a:rPr lang="ko-KR" altLang="de-DE" sz="1200" dirty="0"/>
              <a:t>서비스를</a:t>
            </a:r>
            <a:r>
              <a:rPr lang="ko-KR" altLang="de-DE" sz="1200" dirty="0"/>
              <a:t> 생산하는 방법에 대한 이해의 정도</a:t>
            </a:r>
            <a:endParaRPr lang="de-DE" altLang="ko-KR" sz="12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 smtClean="0"/>
              <a:t>헨리 </a:t>
            </a:r>
            <a:r>
              <a:rPr lang="ko-KR" altLang="de-DE" sz="1300" dirty="0"/>
              <a:t>포드</a:t>
            </a:r>
            <a:r>
              <a:rPr lang="de-DE" altLang="ko-KR" sz="1200" dirty="0"/>
              <a:t>(H. </a:t>
            </a:r>
            <a:r>
              <a:rPr lang="de-DE" altLang="ko-KR" sz="1200" dirty="0"/>
              <a:t>Ford</a:t>
            </a:r>
            <a:r>
              <a:rPr lang="de-DE" altLang="ko-KR" sz="1200" dirty="0" smtClean="0"/>
              <a:t>)</a:t>
            </a:r>
            <a:r>
              <a:rPr lang="ko-KR" altLang="en-US" sz="1200" dirty="0" smtClean="0"/>
              <a:t>의</a:t>
            </a:r>
            <a:r>
              <a:rPr lang="ko-KR" altLang="de-DE" sz="1200" dirty="0" smtClean="0"/>
              <a:t> </a:t>
            </a:r>
            <a:r>
              <a:rPr lang="ko-KR" altLang="de-DE" sz="1200" dirty="0"/>
              <a:t>조립라인 공법</a:t>
            </a:r>
            <a:endParaRPr lang="de-DE" altLang="ko-KR" sz="1200" dirty="0"/>
          </a:p>
          <a:p>
            <a:pPr>
              <a:lnSpc>
                <a:spcPct val="160000"/>
              </a:lnSpc>
            </a:pPr>
            <a:endParaRPr lang="de-DE" altLang="ko-KR" sz="1000" dirty="0" smtClean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ko-KR" altLang="de-DE" sz="1400" b="1" u="sng" dirty="0" smtClean="0">
                <a:sym typeface="Wingdings" panose="05000000000000000000" pitchFamily="2" charset="2"/>
              </a:rPr>
              <a:t>경제성장과 정부정책 </a:t>
            </a:r>
            <a:endParaRPr lang="en-US" altLang="ko-KR" sz="1400" b="1" u="sng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00" dirty="0" smtClean="0">
                <a:sym typeface="Wingdings" panose="05000000000000000000" pitchFamily="2" charset="2"/>
              </a:rPr>
              <a:t>한 </a:t>
            </a:r>
            <a:r>
              <a:rPr lang="ko-KR" altLang="de-DE" sz="1300" dirty="0" smtClean="0">
                <a:sym typeface="Wingdings" panose="05000000000000000000" pitchFamily="2" charset="2"/>
              </a:rPr>
              <a:t>나라의 생산성과 생활수준의 장기 성장에 영향을 줄 수 있는 </a:t>
            </a:r>
            <a:r>
              <a:rPr lang="ko-KR" altLang="de-DE" sz="1300" dirty="0" smtClean="0">
                <a:sym typeface="Wingdings" panose="05000000000000000000" pitchFamily="2" charset="2"/>
              </a:rPr>
              <a:t>정책수단</a:t>
            </a:r>
            <a:endParaRPr lang="de-DE" altLang="ko-KR" sz="13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endParaRPr lang="en-US" altLang="ko-KR" sz="13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00" dirty="0" smtClean="0">
                <a:sym typeface="Wingdings" panose="05000000000000000000" pitchFamily="2" charset="2"/>
              </a:rPr>
              <a:t>저축과 </a:t>
            </a:r>
            <a:r>
              <a:rPr lang="ko-KR" altLang="de-DE" sz="1300" dirty="0" smtClean="0">
                <a:sym typeface="Wingdings" panose="05000000000000000000" pitchFamily="2" charset="2"/>
              </a:rPr>
              <a:t>투자 촉진 정책</a:t>
            </a:r>
            <a:endParaRPr lang="de-DE" altLang="ko-KR" sz="1300" dirty="0" smtClean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투자는 미래의 </a:t>
            </a:r>
            <a:r>
              <a:rPr lang="ko-KR" altLang="de-DE" sz="1200" dirty="0">
                <a:sym typeface="Wingdings" panose="05000000000000000000" pitchFamily="2" charset="2"/>
              </a:rPr>
              <a:t>생산성</a:t>
            </a:r>
            <a:r>
              <a:rPr lang="ko-KR" altLang="de-DE" sz="1200" dirty="0">
                <a:sym typeface="Wingdings" panose="05000000000000000000" pitchFamily="2" charset="2"/>
              </a:rPr>
              <a:t> 향상을 위해 </a:t>
            </a:r>
            <a:r>
              <a:rPr lang="ko-KR" altLang="de-DE" sz="1200" dirty="0" smtClean="0">
                <a:sym typeface="Wingdings" panose="05000000000000000000" pitchFamily="2" charset="2"/>
              </a:rPr>
              <a:t>필요한 </a:t>
            </a:r>
            <a:r>
              <a:rPr lang="ko-KR" altLang="de-DE" sz="1200" dirty="0">
                <a:sym typeface="Wingdings" panose="05000000000000000000" pitchFamily="2" charset="2"/>
              </a:rPr>
              <a:t>행동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소비를 줄여서 남긴 </a:t>
            </a:r>
            <a:r>
              <a:rPr lang="ko-KR" altLang="de-DE" sz="1200" dirty="0">
                <a:sym typeface="Wingdings" panose="05000000000000000000" pitchFamily="2" charset="2"/>
              </a:rPr>
              <a:t>자원</a:t>
            </a:r>
            <a:r>
              <a:rPr lang="de-DE" altLang="ko-KR" sz="1200" dirty="0">
                <a:sym typeface="Wingdings" panose="05000000000000000000" pitchFamily="2" charset="2"/>
              </a:rPr>
              <a:t>(=</a:t>
            </a:r>
            <a:r>
              <a:rPr lang="ko-KR" altLang="de-DE" sz="1200" dirty="0">
                <a:sym typeface="Wingdings" panose="05000000000000000000" pitchFamily="2" charset="2"/>
              </a:rPr>
              <a:t>저축</a:t>
            </a:r>
            <a:r>
              <a:rPr lang="de-DE" altLang="ko-KR" sz="1200" dirty="0">
                <a:sym typeface="Wingdings" panose="05000000000000000000" pitchFamily="2" charset="2"/>
              </a:rPr>
              <a:t>)</a:t>
            </a:r>
            <a:r>
              <a:rPr lang="ko-KR" altLang="de-DE" sz="1200" dirty="0" err="1">
                <a:sym typeface="Wingdings" panose="05000000000000000000" pitchFamily="2" charset="2"/>
              </a:rPr>
              <a:t>으로</a:t>
            </a:r>
            <a:r>
              <a:rPr lang="ko-KR" altLang="de-DE" sz="1200" dirty="0">
                <a:sym typeface="Wingdings" panose="05000000000000000000" pitchFamily="2" charset="2"/>
              </a:rPr>
              <a:t> </a:t>
            </a:r>
            <a:r>
              <a:rPr lang="ko-KR" altLang="de-DE" sz="1200" dirty="0" err="1">
                <a:sym typeface="Wingdings" panose="05000000000000000000" pitchFamily="2" charset="2"/>
              </a:rPr>
              <a:t>물적자본</a:t>
            </a:r>
            <a:r>
              <a:rPr lang="de-DE" altLang="ko-KR" sz="1200" dirty="0">
                <a:sym typeface="Wingdings" panose="05000000000000000000" pitchFamily="2" charset="2"/>
              </a:rPr>
              <a:t>(K)</a:t>
            </a:r>
            <a:r>
              <a:rPr lang="ko-KR" altLang="de-DE" sz="1200" dirty="0" err="1">
                <a:sym typeface="Wingdings" panose="05000000000000000000" pitchFamily="2" charset="2"/>
              </a:rPr>
              <a:t>를</a:t>
            </a:r>
            <a:r>
              <a:rPr lang="ko-KR" altLang="de-DE" sz="1200" dirty="0">
                <a:sym typeface="Wingdings" panose="05000000000000000000" pitchFamily="2" charset="2"/>
              </a:rPr>
              <a:t> 만들어 </a:t>
            </a:r>
            <a:r>
              <a:rPr lang="ko-KR" altLang="de-DE" sz="1200" dirty="0" smtClean="0">
                <a:sym typeface="Wingdings" panose="05000000000000000000" pitchFamily="2" charset="2"/>
              </a:rPr>
              <a:t>내는 것이 </a:t>
            </a:r>
            <a:r>
              <a:rPr lang="de-DE" altLang="ko-KR" sz="1200" dirty="0" smtClean="0">
                <a:sym typeface="Wingdings" panose="05000000000000000000" pitchFamily="2" charset="2"/>
              </a:rPr>
              <a:t>‘</a:t>
            </a:r>
            <a:r>
              <a:rPr lang="ko-KR" altLang="de-DE" sz="1200" dirty="0">
                <a:sym typeface="Wingdings" panose="05000000000000000000" pitchFamily="2" charset="2"/>
              </a:rPr>
              <a:t>투자</a:t>
            </a:r>
            <a:r>
              <a:rPr lang="de-DE" altLang="ko-KR" sz="1200" dirty="0" smtClean="0">
                <a:sym typeface="Wingdings" panose="05000000000000000000" pitchFamily="2" charset="2"/>
              </a:rPr>
              <a:t>‘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00" dirty="0" smtClean="0">
                <a:sym typeface="Wingdings" panose="05000000000000000000" pitchFamily="2" charset="2"/>
              </a:rPr>
              <a:t>자본의 증가는 </a:t>
            </a:r>
            <a:r>
              <a:rPr lang="de-DE" altLang="ko-KR" sz="1300" dirty="0" smtClean="0">
                <a:sym typeface="Wingdings" panose="05000000000000000000" pitchFamily="2" charset="2"/>
              </a:rPr>
              <a:t>&lt;</a:t>
            </a:r>
            <a:r>
              <a:rPr lang="ko-KR" altLang="de-DE" sz="1300" dirty="0" smtClean="0">
                <a:sym typeface="Wingdings" panose="05000000000000000000" pitchFamily="2" charset="2"/>
              </a:rPr>
              <a:t>빠른 성장</a:t>
            </a:r>
            <a:r>
              <a:rPr lang="de-DE" altLang="ko-KR" sz="1300" dirty="0" smtClean="0">
                <a:sym typeface="Wingdings" panose="05000000000000000000" pitchFamily="2" charset="2"/>
              </a:rPr>
              <a:t>&gt;</a:t>
            </a:r>
            <a:r>
              <a:rPr lang="ko-KR" altLang="de-DE" sz="1300" dirty="0" smtClean="0">
                <a:sym typeface="Wingdings" panose="05000000000000000000" pitchFamily="2" charset="2"/>
              </a:rPr>
              <a:t>을 가능케 함</a:t>
            </a:r>
            <a:r>
              <a:rPr lang="de-DE" altLang="ko-KR" sz="1300" dirty="0" smtClean="0">
                <a:sym typeface="Wingdings" panose="05000000000000000000" pitchFamily="2" charset="2"/>
              </a:rPr>
              <a:t>. </a:t>
            </a:r>
            <a:r>
              <a:rPr lang="ko-KR" altLang="de-DE" sz="1300" dirty="0" smtClean="0">
                <a:sym typeface="Wingdings" panose="05000000000000000000" pitchFamily="2" charset="2"/>
              </a:rPr>
              <a:t>그러나 그 효과는 </a:t>
            </a:r>
            <a:r>
              <a:rPr lang="ko-KR" altLang="de-DE" sz="1300" dirty="0" smtClean="0">
                <a:sym typeface="Wingdings" panose="05000000000000000000" pitchFamily="2" charset="2"/>
              </a:rPr>
              <a:t>일시적</a:t>
            </a:r>
            <a:endParaRPr lang="de-DE" altLang="ko-KR" sz="13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00" dirty="0" smtClean="0">
                <a:sym typeface="Wingdings" panose="05000000000000000000" pitchFamily="2" charset="2"/>
              </a:rPr>
              <a:t>자본의 수확체감</a:t>
            </a:r>
            <a:r>
              <a:rPr lang="de-DE" altLang="ko-KR" sz="1300" dirty="0">
                <a:sym typeface="Wingdings" panose="05000000000000000000" pitchFamily="2" charset="2"/>
              </a:rPr>
              <a:t> </a:t>
            </a:r>
            <a:r>
              <a:rPr lang="de-DE" altLang="ko-KR" sz="1300" dirty="0" smtClean="0">
                <a:sym typeface="Wingdings" panose="05000000000000000000" pitchFamily="2" charset="2"/>
              </a:rPr>
              <a:t>Diminishing Returns to </a:t>
            </a:r>
            <a:r>
              <a:rPr lang="de-DE" altLang="ko-KR" sz="1300" dirty="0" smtClean="0">
                <a:sym typeface="Wingdings" panose="05000000000000000000" pitchFamily="2" charset="2"/>
              </a:rPr>
              <a:t>Capital </a:t>
            </a:r>
            <a:r>
              <a:rPr lang="ko-KR" altLang="en-US" sz="1300" dirty="0" smtClean="0">
                <a:sym typeface="Wingdings" panose="05000000000000000000" pitchFamily="2" charset="2"/>
              </a:rPr>
              <a:t>때문</a:t>
            </a:r>
            <a:endParaRPr lang="de-DE" altLang="ko-KR" sz="1300" dirty="0" smtClean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추가투입되는 </a:t>
            </a:r>
            <a:r>
              <a:rPr lang="ko-KR" altLang="de-DE" sz="1200" dirty="0">
                <a:sym typeface="Wingdings" panose="05000000000000000000" pitchFamily="2" charset="2"/>
              </a:rPr>
              <a:t>자본</a:t>
            </a:r>
            <a:r>
              <a:rPr lang="ko-KR" altLang="de-DE" sz="1200" dirty="0">
                <a:sym typeface="Wingdings" panose="05000000000000000000" pitchFamily="2" charset="2"/>
              </a:rPr>
              <a:t> 한 단위가 만들어내는 산출량의 감소</a:t>
            </a:r>
            <a:r>
              <a:rPr lang="de-DE" altLang="ko-KR" sz="1200" dirty="0">
                <a:sym typeface="Wingdings" panose="05000000000000000000" pitchFamily="2" charset="2"/>
              </a:rPr>
              <a:t>(MPL </a:t>
            </a:r>
            <a:r>
              <a:rPr lang="ko-KR" altLang="de-DE" sz="1200" dirty="0">
                <a:sym typeface="Wingdings" panose="05000000000000000000" pitchFamily="2" charset="2"/>
              </a:rPr>
              <a:t>감소와 유사한 현상</a:t>
            </a:r>
            <a:r>
              <a:rPr lang="de-DE" altLang="ko-KR" sz="1200" dirty="0" smtClean="0"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de-DE" sz="1200" dirty="0" smtClean="0">
                <a:sym typeface="Wingdings" panose="05000000000000000000" pitchFamily="2" charset="2"/>
              </a:rPr>
              <a:t>따라잡기 </a:t>
            </a:r>
            <a:r>
              <a:rPr lang="ko-KR" altLang="de-DE" sz="1200" dirty="0" smtClean="0">
                <a:sym typeface="Wingdings" panose="05000000000000000000" pitchFamily="2" charset="2"/>
              </a:rPr>
              <a:t>효과</a:t>
            </a:r>
            <a:r>
              <a:rPr lang="de-DE" altLang="ko-KR" sz="1200" dirty="0" smtClean="0">
                <a:sym typeface="Wingdings" panose="05000000000000000000" pitchFamily="2" charset="2"/>
              </a:rPr>
              <a:t>(Catch-up effect): </a:t>
            </a:r>
            <a:r>
              <a:rPr lang="ko-KR" altLang="de-DE" sz="1200" dirty="0" smtClean="0">
                <a:sym typeface="Wingdings" panose="05000000000000000000" pitchFamily="2" charset="2"/>
              </a:rPr>
              <a:t>가난한 나라들이 더 빨리 성장하는 경향</a:t>
            </a:r>
            <a:endParaRPr lang="de-DE" altLang="ko-KR" sz="1200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00" dirty="0" smtClean="0">
                <a:sym typeface="Wingdings" panose="05000000000000000000" pitchFamily="2" charset="2"/>
              </a:rPr>
              <a:t>해외로부터의 투자</a:t>
            </a:r>
            <a:r>
              <a:rPr lang="de-DE" altLang="ko-KR" sz="1300" dirty="0" smtClean="0">
                <a:sym typeface="Wingdings" panose="05000000000000000000" pitchFamily="2" charset="2"/>
              </a:rPr>
              <a:t>(Investment from abroad</a:t>
            </a:r>
            <a:r>
              <a:rPr lang="de-DE" altLang="ko-KR" sz="1300" dirty="0" smtClean="0">
                <a:sym typeface="Wingdings" panose="05000000000000000000" pitchFamily="2" charset="2"/>
              </a:rPr>
              <a:t>)</a:t>
            </a:r>
            <a:endParaRPr lang="de-DE" altLang="ko-KR" sz="1300" dirty="0" smtClean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de-DE" sz="1200" dirty="0" err="1">
                <a:sym typeface="Wingdings" panose="05000000000000000000" pitchFamily="2" charset="2"/>
              </a:rPr>
              <a:t>국내저축이</a:t>
            </a:r>
            <a:r>
              <a:rPr lang="ko-KR" altLang="de-DE" sz="1200" dirty="0">
                <a:sym typeface="Wingdings" panose="05000000000000000000" pitchFamily="2" charset="2"/>
              </a:rPr>
              <a:t> </a:t>
            </a:r>
            <a:r>
              <a:rPr lang="ko-KR" altLang="de-DE" sz="1200" dirty="0">
                <a:sym typeface="Wingdings" panose="05000000000000000000" pitchFamily="2" charset="2"/>
              </a:rPr>
              <a:t>부족한</a:t>
            </a:r>
            <a:r>
              <a:rPr lang="ko-KR" altLang="de-DE" sz="1200" dirty="0">
                <a:sym typeface="Wingdings" panose="05000000000000000000" pitchFamily="2" charset="2"/>
              </a:rPr>
              <a:t> 경우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외국인직접투자 </a:t>
            </a:r>
            <a:r>
              <a:rPr lang="de-DE" altLang="ko-KR" sz="1200" dirty="0">
                <a:sym typeface="Wingdings" panose="05000000000000000000" pitchFamily="2" charset="2"/>
              </a:rPr>
              <a:t>FDI, </a:t>
            </a:r>
            <a:r>
              <a:rPr lang="de-DE" altLang="ko-KR" sz="1200" dirty="0">
                <a:sym typeface="Wingdings" panose="05000000000000000000" pitchFamily="2" charset="2"/>
              </a:rPr>
              <a:t>Foreign</a:t>
            </a:r>
            <a:r>
              <a:rPr lang="de-DE" altLang="ko-KR" sz="1200" dirty="0">
                <a:sym typeface="Wingdings" panose="05000000000000000000" pitchFamily="2" charset="2"/>
              </a:rPr>
              <a:t> Direct </a:t>
            </a:r>
            <a:r>
              <a:rPr lang="de-DE" altLang="ko-KR" sz="1200" dirty="0" smtClean="0">
                <a:sym typeface="Wingdings" panose="05000000000000000000" pitchFamily="2" charset="2"/>
              </a:rPr>
              <a:t>Investment vs.</a:t>
            </a:r>
            <a:r>
              <a:rPr lang="en-US" altLang="ko-KR" sz="1200" dirty="0" smtClean="0">
                <a:sym typeface="Wingdings" panose="05000000000000000000" pitchFamily="2" charset="2"/>
              </a:rPr>
              <a:t> </a:t>
            </a:r>
            <a:r>
              <a:rPr lang="ko-KR" altLang="de-DE" sz="1200" dirty="0" smtClean="0">
                <a:sym typeface="Wingdings" panose="05000000000000000000" pitchFamily="2" charset="2"/>
              </a:rPr>
              <a:t>외국인포트폴리오투자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00" dirty="0" smtClean="0">
                <a:sym typeface="Wingdings" panose="05000000000000000000" pitchFamily="2" charset="2"/>
              </a:rPr>
              <a:t>해외투자 유입의 장단점 </a:t>
            </a:r>
            <a:endParaRPr lang="de-DE" altLang="ko-KR" sz="13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endParaRPr lang="de-DE" altLang="ko-KR" sz="9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00" dirty="0" smtClean="0">
                <a:sym typeface="Wingdings" panose="05000000000000000000" pitchFamily="2" charset="2"/>
              </a:rPr>
              <a:t>교육</a:t>
            </a:r>
            <a:r>
              <a:rPr lang="de-DE" altLang="ko-KR" sz="1300" dirty="0" smtClean="0">
                <a:sym typeface="Wingdings" panose="05000000000000000000" pitchFamily="2" charset="2"/>
              </a:rPr>
              <a:t>: </a:t>
            </a:r>
            <a:r>
              <a:rPr lang="ko-KR" altLang="de-DE" sz="1300" dirty="0" smtClean="0">
                <a:sym typeface="Wingdings" panose="05000000000000000000" pitchFamily="2" charset="2"/>
              </a:rPr>
              <a:t>공교육에 대한 </a:t>
            </a:r>
            <a:r>
              <a:rPr lang="ko-KR" altLang="de-DE" sz="1300" dirty="0" smtClean="0">
                <a:sym typeface="Wingdings" panose="05000000000000000000" pitchFamily="2" charset="2"/>
              </a:rPr>
              <a:t>투자</a:t>
            </a:r>
            <a:endParaRPr lang="de-DE" altLang="ko-KR" sz="1300" dirty="0" smtClean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>
                <a:sym typeface="Wingdings" panose="05000000000000000000" pitchFamily="2" charset="2"/>
              </a:rPr>
              <a:t>더 많은 교육은 생산성을 </a:t>
            </a:r>
            <a:r>
              <a:rPr lang="ko-KR" altLang="de-DE" sz="1300" dirty="0">
                <a:sym typeface="Wingdings" panose="05000000000000000000" pitchFamily="2" charset="2"/>
              </a:rPr>
              <a:t>높이고</a:t>
            </a:r>
            <a:r>
              <a:rPr lang="ko-KR" altLang="de-DE" sz="1300" dirty="0">
                <a:sym typeface="Wingdings" panose="05000000000000000000" pitchFamily="2" charset="2"/>
              </a:rPr>
              <a:t> 임금수준을 끌어 </a:t>
            </a:r>
            <a:r>
              <a:rPr lang="ko-KR" altLang="de-DE" sz="1300" dirty="0" smtClean="0">
                <a:sym typeface="Wingdings" panose="05000000000000000000" pitchFamily="2" charset="2"/>
              </a:rPr>
              <a:t>올</a:t>
            </a:r>
            <a:r>
              <a:rPr lang="ko-KR" altLang="en-US" sz="1300" dirty="0" smtClean="0">
                <a:sym typeface="Wingdings" panose="05000000000000000000" pitchFamily="2" charset="2"/>
              </a:rPr>
              <a:t>림</a:t>
            </a:r>
            <a:r>
              <a:rPr lang="en-US" altLang="ko-KR" sz="1300" dirty="0" smtClean="0">
                <a:sym typeface="Wingdings" panose="05000000000000000000" pitchFamily="2" charset="2"/>
              </a:rPr>
              <a:t>. </a:t>
            </a:r>
            <a:endParaRPr lang="de-DE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300" dirty="0" smtClean="0">
                <a:sym typeface="Wingdings" panose="05000000000000000000" pitchFamily="2" charset="2"/>
              </a:rPr>
              <a:t>빈곤국가들</a:t>
            </a:r>
            <a:r>
              <a:rPr lang="ko-KR" altLang="en-US" sz="1300" dirty="0">
                <a:sym typeface="Wingdings" panose="05000000000000000000" pitchFamily="2" charset="2"/>
              </a:rPr>
              <a:t>의</a:t>
            </a:r>
            <a:r>
              <a:rPr lang="ko-KR" altLang="de-DE" sz="1300" dirty="0" smtClean="0">
                <a:sym typeface="Wingdings" panose="05000000000000000000" pitchFamily="2" charset="2"/>
              </a:rPr>
              <a:t> </a:t>
            </a:r>
            <a:r>
              <a:rPr lang="ko-KR" altLang="de-DE" sz="1300" dirty="0">
                <a:sym typeface="Wingdings" panose="05000000000000000000" pitchFamily="2" charset="2"/>
              </a:rPr>
              <a:t>두뇌 </a:t>
            </a:r>
            <a:r>
              <a:rPr lang="ko-KR" altLang="de-DE" sz="1300" dirty="0" smtClean="0">
                <a:sym typeface="Wingdings" panose="05000000000000000000" pitchFamily="2" charset="2"/>
              </a:rPr>
              <a:t>유출</a:t>
            </a:r>
            <a:r>
              <a:rPr lang="de-DE" altLang="ko-KR" sz="1300" dirty="0" smtClean="0">
                <a:sym typeface="Wingdings" panose="05000000000000000000" pitchFamily="2" charset="2"/>
              </a:rPr>
              <a:t>(</a:t>
            </a:r>
            <a:r>
              <a:rPr lang="de-DE" altLang="ko-KR" sz="1300" dirty="0">
                <a:sym typeface="Wingdings" panose="05000000000000000000" pitchFamily="2" charset="2"/>
              </a:rPr>
              <a:t>Brain drain)</a:t>
            </a:r>
            <a:r>
              <a:rPr lang="ko-KR" altLang="de-DE" sz="1300" dirty="0">
                <a:sym typeface="Wingdings" panose="05000000000000000000" pitchFamily="2" charset="2"/>
              </a:rPr>
              <a:t> </a:t>
            </a:r>
            <a:r>
              <a:rPr lang="ko-KR" altLang="de-DE" sz="1300" dirty="0">
                <a:sym typeface="Wingdings" panose="05000000000000000000" pitchFamily="2" charset="2"/>
              </a:rPr>
              <a:t>문제</a:t>
            </a:r>
            <a:r>
              <a:rPr lang="de-DE" altLang="ko-KR" sz="1300" dirty="0">
                <a:sym typeface="Wingdings" panose="05000000000000000000" pitchFamily="2" charset="2"/>
              </a:rPr>
              <a:t> </a:t>
            </a:r>
          </a:p>
          <a:p>
            <a:pPr marL="257175" lvl="1" indent="0">
              <a:lnSpc>
                <a:spcPct val="160000"/>
              </a:lnSpc>
              <a:buNone/>
            </a:pPr>
            <a:endParaRPr lang="de-DE" altLang="ko-KR" sz="1300" dirty="0">
              <a:sym typeface="Wingdings" panose="05000000000000000000" pitchFamily="2" charset="2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4"/>
            <a:ext cx="5915025" cy="1070800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 smtClean="0"/>
              <a:t>건강과 영양상태 </a:t>
            </a:r>
            <a:r>
              <a:rPr lang="ko-KR" altLang="en-US" sz="1300" dirty="0" smtClean="0"/>
              <a:t>개선</a:t>
            </a:r>
            <a:endParaRPr lang="en-US" altLang="ko-KR" sz="1300" dirty="0" smtClean="0"/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en-US" sz="1100" dirty="0" err="1"/>
              <a:t>인적자본</a:t>
            </a:r>
            <a:r>
              <a:rPr lang="en-US" altLang="ko-KR" sz="1100" dirty="0"/>
              <a:t>(H) </a:t>
            </a:r>
            <a:r>
              <a:rPr lang="ko-KR" altLang="en-US" sz="1100" dirty="0" err="1"/>
              <a:t>투자정책의</a:t>
            </a:r>
            <a:r>
              <a:rPr lang="ko-KR" altLang="en-US" sz="1100" dirty="0"/>
              <a:t> 일환</a:t>
            </a:r>
            <a:r>
              <a:rPr lang="en-US" altLang="ko-KR" sz="1100" dirty="0"/>
              <a:t>..</a:t>
            </a:r>
            <a:r>
              <a:rPr lang="ko-KR" altLang="en-US" sz="1100" dirty="0"/>
              <a:t>더</a:t>
            </a:r>
            <a:r>
              <a:rPr lang="ko-KR" altLang="en-US" sz="1100" dirty="0"/>
              <a:t> 건강한 노동자들이 더 생산적이기</a:t>
            </a:r>
            <a:r>
              <a:rPr lang="en-US" altLang="ko-KR" sz="1100" dirty="0"/>
              <a:t> </a:t>
            </a:r>
            <a:r>
              <a:rPr lang="ko-KR" altLang="en-US" sz="1100" dirty="0"/>
              <a:t>때문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endParaRPr lang="de-DE" altLang="ko-KR" sz="12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재산권 </a:t>
            </a:r>
            <a:r>
              <a:rPr lang="ko-KR" altLang="en-US" sz="1300" dirty="0">
                <a:sym typeface="Wingdings" panose="05000000000000000000" pitchFamily="2" charset="2"/>
              </a:rPr>
              <a:t>보호</a:t>
            </a:r>
            <a:r>
              <a:rPr lang="ko-KR" altLang="en-US" sz="1300" dirty="0">
                <a:sym typeface="Wingdings" panose="05000000000000000000" pitchFamily="2" charset="2"/>
              </a:rPr>
              <a:t> 및 정치적 안정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en-US" sz="1100" dirty="0">
                <a:sym typeface="Wingdings" panose="05000000000000000000" pitchFamily="2" charset="2"/>
              </a:rPr>
              <a:t>효율적 형사</a:t>
            </a:r>
            <a:r>
              <a:rPr lang="en-US" altLang="ko-KR" sz="1100" dirty="0">
                <a:sym typeface="Wingdings" panose="05000000000000000000" pitchFamily="2" charset="2"/>
              </a:rPr>
              <a:t>/</a:t>
            </a:r>
            <a:r>
              <a:rPr lang="ko-KR" altLang="en-US" sz="1100" dirty="0" err="1">
                <a:sym typeface="Wingdings" panose="05000000000000000000" pitchFamily="2" charset="2"/>
              </a:rPr>
              <a:t>사업제도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정직한 공무원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안정적 헌법 등이 필요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자유무역</a:t>
            </a:r>
            <a:r>
              <a:rPr lang="en-US" altLang="ko-KR" sz="1300" dirty="0">
                <a:sym typeface="Wingdings" panose="05000000000000000000" pitchFamily="2" charset="2"/>
              </a:rPr>
              <a:t>: </a:t>
            </a:r>
            <a:r>
              <a:rPr lang="ko-KR" altLang="en-US" sz="1300" dirty="0">
                <a:sym typeface="Wingdings" panose="05000000000000000000" pitchFamily="2" charset="2"/>
              </a:rPr>
              <a:t>대외지향적</a:t>
            </a:r>
            <a:r>
              <a:rPr lang="ko-KR" altLang="en-US" sz="1300" dirty="0">
                <a:sym typeface="Wingdings" panose="05000000000000000000" pitchFamily="2" charset="2"/>
              </a:rPr>
              <a:t> 무역정책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무역은 </a:t>
            </a:r>
            <a:r>
              <a:rPr lang="ko-KR" altLang="en-US" sz="1100" dirty="0">
                <a:sym typeface="Wingdings" panose="05000000000000000000" pitchFamily="2" charset="2"/>
              </a:rPr>
              <a:t>신기술을 </a:t>
            </a:r>
            <a:r>
              <a:rPr lang="ko-KR" altLang="en-US" sz="1100" dirty="0">
                <a:sym typeface="Wingdings" panose="05000000000000000000" pitchFamily="2" charset="2"/>
              </a:rPr>
              <a:t>발명하는</a:t>
            </a:r>
            <a:r>
              <a:rPr lang="ko-KR" altLang="en-US" sz="1100" dirty="0">
                <a:sym typeface="Wingdings" panose="05000000000000000000" pitchFamily="2" charset="2"/>
              </a:rPr>
              <a:t> 것과 비슷한 효과</a:t>
            </a:r>
            <a:r>
              <a:rPr lang="en-US" altLang="ko-KR" sz="1100" dirty="0" smtClean="0">
                <a:sym typeface="Wingdings" panose="05000000000000000000" pitchFamily="2" charset="2"/>
              </a:rPr>
              <a:t>(</a:t>
            </a:r>
            <a:r>
              <a:rPr lang="ko-KR" altLang="en-US" sz="1100" dirty="0" smtClean="0">
                <a:sym typeface="Wingdings" panose="05000000000000000000" pitchFamily="2" charset="2"/>
              </a:rPr>
              <a:t>규모의 </a:t>
            </a:r>
            <a:r>
              <a:rPr lang="ko-KR" altLang="en-US" sz="1100" dirty="0">
                <a:sym typeface="Wingdings" panose="05000000000000000000" pitchFamily="2" charset="2"/>
              </a:rPr>
              <a:t>경제 </a:t>
            </a:r>
            <a:r>
              <a:rPr lang="en-US" altLang="ko-KR" sz="1100" dirty="0">
                <a:sym typeface="Wingdings" panose="05000000000000000000" pitchFamily="2" charset="2"/>
              </a:rPr>
              <a:t>economies of </a:t>
            </a:r>
            <a:r>
              <a:rPr lang="en-US" altLang="ko-KR" sz="1100" dirty="0" smtClean="0">
                <a:sym typeface="Wingdings" panose="05000000000000000000" pitchFamily="2" charset="2"/>
              </a:rPr>
              <a:t>scale)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>
                <a:sym typeface="Wingdings" panose="05000000000000000000" pitchFamily="2" charset="2"/>
              </a:rPr>
              <a:t>대외지향정책을 </a:t>
            </a:r>
            <a:r>
              <a:rPr lang="ko-KR" altLang="en-US" sz="1100" dirty="0">
                <a:sym typeface="Wingdings" panose="05000000000000000000" pitchFamily="2" charset="2"/>
              </a:rPr>
              <a:t>사용한</a:t>
            </a:r>
            <a:r>
              <a:rPr lang="ko-KR" altLang="en-US" sz="1100" dirty="0">
                <a:sym typeface="Wingdings" panose="05000000000000000000" pitchFamily="2" charset="2"/>
              </a:rPr>
              <a:t> 국가들</a:t>
            </a:r>
            <a:r>
              <a:rPr lang="en-US" altLang="ko-KR" sz="1100" dirty="0">
                <a:sym typeface="Wingdings" panose="05000000000000000000" pitchFamily="2" charset="2"/>
              </a:rPr>
              <a:t>, ex, </a:t>
            </a:r>
            <a:r>
              <a:rPr lang="ko-KR" altLang="en-US" sz="1100" dirty="0">
                <a:sym typeface="Wingdings" panose="05000000000000000000" pitchFamily="2" charset="2"/>
              </a:rPr>
              <a:t>한국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싱가포르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대만 등은 성장에 성공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기술진보를 위한 </a:t>
            </a:r>
            <a:r>
              <a:rPr lang="ko-KR" altLang="en-US" sz="1300" dirty="0">
                <a:sym typeface="Wingdings" panose="05000000000000000000" pitchFamily="2" charset="2"/>
              </a:rPr>
              <a:t>연구개발</a:t>
            </a:r>
            <a:r>
              <a:rPr lang="ko-KR" altLang="en-US" sz="1300" dirty="0">
                <a:sym typeface="Wingdings" panose="05000000000000000000" pitchFamily="2" charset="2"/>
              </a:rPr>
              <a:t> 투자촉진 정책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특허관련 </a:t>
            </a:r>
            <a:r>
              <a:rPr lang="ko-KR" altLang="en-US" sz="1100" dirty="0">
                <a:sym typeface="Wingdings" panose="05000000000000000000" pitchFamily="2" charset="2"/>
              </a:rPr>
              <a:t>법률 </a:t>
            </a:r>
            <a:r>
              <a:rPr lang="ko-KR" altLang="en-US" sz="1100" dirty="0">
                <a:sym typeface="Wingdings" panose="05000000000000000000" pitchFamily="2" charset="2"/>
              </a:rPr>
              <a:t>제정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민간부문의 </a:t>
            </a:r>
            <a:r>
              <a:rPr lang="en-US" altLang="ko-KR" sz="1100" dirty="0">
                <a:sym typeface="Wingdings" panose="05000000000000000000" pitchFamily="2" charset="2"/>
              </a:rPr>
              <a:t>R&amp;D</a:t>
            </a:r>
            <a:r>
              <a:rPr lang="ko-KR" altLang="en-US" sz="1100" dirty="0">
                <a:sym typeface="Wingdings" panose="05000000000000000000" pitchFamily="2" charset="2"/>
              </a:rPr>
              <a:t>에 대한 세금 인센티브나 직접자금지원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대학의 기초연구자금 제공 등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400" b="1" u="sng" dirty="0" smtClean="0">
                <a:sym typeface="Wingdings" panose="05000000000000000000" pitchFamily="2" charset="2"/>
              </a:rPr>
              <a:t>인구와</a:t>
            </a:r>
            <a:r>
              <a:rPr lang="en-US" altLang="ko-KR" sz="1400" b="1" u="sng" dirty="0" smtClean="0">
                <a:sym typeface="Wingdings" panose="05000000000000000000" pitchFamily="2" charset="2"/>
              </a:rPr>
              <a:t> </a:t>
            </a:r>
            <a:r>
              <a:rPr lang="ko-KR" altLang="en-US" sz="1400" b="1" u="sng" dirty="0" smtClean="0">
                <a:sym typeface="Wingdings" panose="05000000000000000000" pitchFamily="2" charset="2"/>
              </a:rPr>
              <a:t>경제성장</a:t>
            </a:r>
            <a:endParaRPr lang="en-US" altLang="ko-KR" sz="1400" b="1" u="sng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en-US" altLang="ko-KR" sz="1300" dirty="0">
                <a:sym typeface="Wingdings" panose="05000000000000000000" pitchFamily="2" charset="2"/>
              </a:rPr>
              <a:t>1) </a:t>
            </a:r>
            <a:r>
              <a:rPr lang="ko-KR" altLang="en-US" sz="1300" dirty="0" err="1">
                <a:sym typeface="Wingdings" panose="05000000000000000000" pitchFamily="2" charset="2"/>
              </a:rPr>
              <a:t>자연자원에</a:t>
            </a:r>
            <a:r>
              <a:rPr lang="ko-KR" altLang="en-US" sz="1300" dirty="0">
                <a:sym typeface="Wingdings" panose="05000000000000000000" pitchFamily="2" charset="2"/>
              </a:rPr>
              <a:t> </a:t>
            </a:r>
            <a:r>
              <a:rPr lang="ko-KR" altLang="en-US" sz="1300" dirty="0">
                <a:sym typeface="Wingdings" panose="05000000000000000000" pitchFamily="2" charset="2"/>
              </a:rPr>
              <a:t>대한</a:t>
            </a:r>
            <a:r>
              <a:rPr lang="ko-KR" altLang="en-US" sz="1300" dirty="0">
                <a:sym typeface="Wingdings" panose="05000000000000000000" pitchFamily="2" charset="2"/>
              </a:rPr>
              <a:t> 압박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en-US" sz="1100" dirty="0" err="1">
                <a:sym typeface="Wingdings" panose="05000000000000000000" pitchFamily="2" charset="2"/>
              </a:rPr>
              <a:t>맬서스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Malthus</a:t>
            </a:r>
            <a:r>
              <a:rPr lang="ko-KR" altLang="en-US" sz="1100" dirty="0">
                <a:sym typeface="Wingdings" panose="05000000000000000000" pitchFamily="2" charset="2"/>
              </a:rPr>
              <a:t>의 주장</a:t>
            </a:r>
            <a:r>
              <a:rPr lang="en-US" altLang="ko-KR" sz="1100" dirty="0">
                <a:sym typeface="Wingdings" panose="05000000000000000000" pitchFamily="2" charset="2"/>
              </a:rPr>
              <a:t>(</a:t>
            </a:r>
            <a:r>
              <a:rPr lang="ko-KR" altLang="en-US" sz="1100" dirty="0" smtClean="0">
                <a:sym typeface="Wingdings" panose="05000000000000000000" pitchFamily="2" charset="2"/>
              </a:rPr>
              <a:t>인구론</a:t>
            </a:r>
            <a:r>
              <a:rPr lang="en-US" altLang="ko-KR" sz="1100" dirty="0" smtClean="0">
                <a:sym typeface="Wingdings" panose="05000000000000000000" pitchFamily="2" charset="2"/>
              </a:rPr>
              <a:t>)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en-US" altLang="ko-KR" sz="1300" dirty="0">
                <a:sym typeface="Wingdings" panose="05000000000000000000" pitchFamily="2" charset="2"/>
              </a:rPr>
              <a:t>2) 1</a:t>
            </a:r>
            <a:r>
              <a:rPr lang="ko-KR" altLang="en-US" sz="1300" dirty="0">
                <a:sym typeface="Wingdings" panose="05000000000000000000" pitchFamily="2" charset="2"/>
              </a:rPr>
              <a:t>인당 </a:t>
            </a:r>
            <a:r>
              <a:rPr lang="ko-KR" altLang="en-US" sz="1300" dirty="0" err="1">
                <a:sym typeface="Wingdings" panose="05000000000000000000" pitchFamily="2" charset="2"/>
              </a:rPr>
              <a:t>자본스톡</a:t>
            </a:r>
            <a:r>
              <a:rPr lang="en-US" altLang="ko-KR" sz="1300" dirty="0">
                <a:sym typeface="Wingdings" panose="05000000000000000000" pitchFamily="2" charset="2"/>
              </a:rPr>
              <a:t>(K/L)</a:t>
            </a:r>
            <a:r>
              <a:rPr lang="ko-KR" altLang="en-US" sz="1300" dirty="0">
                <a:sym typeface="Wingdings" panose="05000000000000000000" pitchFamily="2" charset="2"/>
              </a:rPr>
              <a:t> 희석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  <a:buFontTx/>
              <a:buChar char="-"/>
            </a:pPr>
            <a:r>
              <a:rPr lang="ko-KR" altLang="en-US" sz="1100" dirty="0" err="1" smtClean="0">
                <a:sym typeface="Wingdings" panose="05000000000000000000" pitchFamily="2" charset="2"/>
              </a:rPr>
              <a:t>성장초기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단계의</a:t>
            </a:r>
            <a:r>
              <a:rPr lang="ko-KR" altLang="en-US" sz="1100" dirty="0">
                <a:sym typeface="Wingdings" panose="05000000000000000000" pitchFamily="2" charset="2"/>
              </a:rPr>
              <a:t> 많은 </a:t>
            </a:r>
            <a:r>
              <a:rPr lang="ko-KR" altLang="en-US" sz="1100" dirty="0">
                <a:sym typeface="Wingdings" panose="05000000000000000000" pitchFamily="2" charset="2"/>
              </a:rPr>
              <a:t>국가들이</a:t>
            </a:r>
            <a:r>
              <a:rPr lang="ko-KR" altLang="en-US" sz="1100" dirty="0">
                <a:sym typeface="Wingdings" panose="05000000000000000000" pitchFamily="2" charset="2"/>
              </a:rPr>
              <a:t> 인구억제정책을 </a:t>
            </a:r>
            <a:r>
              <a:rPr lang="ko-KR" altLang="en-US" sz="1100" dirty="0" smtClean="0">
                <a:sym typeface="Wingdings" panose="05000000000000000000" pitchFamily="2" charset="2"/>
              </a:rPr>
              <a:t>사용하는 이유</a:t>
            </a:r>
            <a:r>
              <a:rPr lang="en-US" altLang="ko-KR" sz="1100" dirty="0" smtClean="0">
                <a:sym typeface="Wingdings" panose="05000000000000000000" pitchFamily="2" charset="2"/>
              </a:rPr>
              <a:t>(</a:t>
            </a:r>
            <a:r>
              <a:rPr lang="en-US" altLang="ko-KR" sz="1100" dirty="0">
                <a:sym typeface="Wingdings" panose="05000000000000000000" pitchFamily="2" charset="2"/>
              </a:rPr>
              <a:t>ex. </a:t>
            </a:r>
            <a:r>
              <a:rPr lang="ko-KR" altLang="en-US" sz="1100" dirty="0">
                <a:sym typeface="Wingdings" panose="05000000000000000000" pitchFamily="2" charset="2"/>
              </a:rPr>
              <a:t>중국의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한자녀정책</a:t>
            </a:r>
            <a:r>
              <a:rPr lang="en-US" altLang="ko-KR" sz="1100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en-US" altLang="ko-KR" sz="1300" dirty="0">
                <a:sym typeface="Wingdings" panose="05000000000000000000" pitchFamily="2" charset="2"/>
              </a:rPr>
              <a:t>3) </a:t>
            </a:r>
            <a:r>
              <a:rPr lang="ko-KR" altLang="en-US" sz="1300" dirty="0">
                <a:sym typeface="Wingdings" panose="05000000000000000000" pitchFamily="2" charset="2"/>
              </a:rPr>
              <a:t>기술진보 </a:t>
            </a:r>
            <a:r>
              <a:rPr lang="ko-KR" altLang="en-US" sz="1300" dirty="0">
                <a:sym typeface="Wingdings" panose="05000000000000000000" pitchFamily="2" charset="2"/>
              </a:rPr>
              <a:t>촉진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마이클 </a:t>
            </a:r>
            <a:r>
              <a:rPr lang="ko-KR" altLang="en-US" sz="1100" dirty="0" err="1">
                <a:sym typeface="Wingdings" panose="05000000000000000000" pitchFamily="2" charset="2"/>
              </a:rPr>
              <a:t>크레머의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 smtClean="0">
                <a:sym typeface="Wingdings" panose="05000000000000000000" pitchFamily="2" charset="2"/>
              </a:rPr>
              <a:t>연구결과</a:t>
            </a: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인구 밀집지역</a:t>
            </a:r>
            <a:r>
              <a:rPr lang="en-US" altLang="ko-KR" sz="1100" dirty="0" smtClean="0">
                <a:sym typeface="Wingdings" panose="05000000000000000000" pitchFamily="2" charset="2"/>
              </a:rPr>
              <a:t>(ex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동아시아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서유럽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미국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동서부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연안지대</a:t>
            </a:r>
            <a:r>
              <a:rPr lang="en-US" altLang="ko-KR" sz="1100" dirty="0" smtClean="0">
                <a:sym typeface="Wingdings" panose="05000000000000000000" pitchFamily="2" charset="2"/>
              </a:rPr>
              <a:t>) </a:t>
            </a:r>
            <a:r>
              <a:rPr lang="ko-KR" altLang="en-US" sz="1100" dirty="0" smtClean="0">
                <a:sym typeface="Wingdings" panose="05000000000000000000" pitchFamily="2" charset="2"/>
              </a:rPr>
              <a:t>성장률이 </a:t>
            </a:r>
            <a:r>
              <a:rPr lang="ko-KR" altLang="en-US" sz="1100" dirty="0">
                <a:sym typeface="Wingdings" panose="05000000000000000000" pitchFamily="2" charset="2"/>
              </a:rPr>
              <a:t>상대적으로 더 높음</a:t>
            </a:r>
            <a:r>
              <a:rPr lang="en-US" altLang="ko-KR" sz="1100" dirty="0">
                <a:sym typeface="Wingdings" panose="05000000000000000000" pitchFamily="2" charset="2"/>
              </a:rPr>
              <a:t>. 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  <a:buFontTx/>
              <a:buChar char="-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en-US" altLang="ko-KR" sz="11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endParaRPr lang="en-US" altLang="ko-KR" sz="1325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endParaRPr lang="de-DE" altLang="ko-KR" sz="1100" dirty="0" smtClean="0">
              <a:sym typeface="Wingdings" panose="05000000000000000000" pitchFamily="2" charset="2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12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620</Words>
  <Application>Microsoft Office PowerPoint</Application>
  <PresentationFormat>와이드스크린</PresentationFormat>
  <Paragraphs>79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25장. 생산과 성장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62</cp:revision>
  <dcterms:created xsi:type="dcterms:W3CDTF">2021-06-28T02:08:57Z</dcterms:created>
  <dcterms:modified xsi:type="dcterms:W3CDTF">2022-12-28T02:47:41Z</dcterms:modified>
</cp:coreProperties>
</file>