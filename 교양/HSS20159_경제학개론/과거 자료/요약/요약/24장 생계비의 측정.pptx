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1" r:id="rId1"/>
  </p:sldMasterIdLst>
  <p:notesMasterIdLst>
    <p:notesMasterId r:id="rId4"/>
  </p:notesMasterIdLst>
  <p:sldIdLst>
    <p:sldId id="257" r:id="rId2"/>
    <p:sldId id="258" r:id="rId3"/>
  </p:sldIdLst>
  <p:sldSz cx="6858000" cy="12192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89" autoAdjust="0"/>
    <p:restoredTop sz="94660"/>
  </p:normalViewPr>
  <p:slideViewPr>
    <p:cSldViewPr snapToGrid="0">
      <p:cViewPr>
        <p:scale>
          <a:sx n="100" d="100"/>
          <a:sy n="100" d="100"/>
        </p:scale>
        <p:origin x="286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ACC92-CB11-4036-ADF7-E0BC6A6A1264}" type="datetimeFigureOut">
              <a:rPr lang="ko-KR" altLang="en-US" smtClean="0"/>
              <a:t>2022-12-25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E10A1-D3FC-451D-B227-50AB5FD54F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385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8940-2C76-495C-8FB7-F4A9D28239AA}" type="datetime1">
              <a:rPr lang="ko-KR" altLang="en-US" smtClean="0"/>
              <a:t>2022-12-25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84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3A891-E498-4678-8D06-486FCC2BADEF}" type="datetime1">
              <a:rPr lang="ko-KR" altLang="en-US" smtClean="0"/>
              <a:t>2022-12-25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678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4FA93-A02B-42D6-A8B3-8681C853C7B8}" type="datetime1">
              <a:rPr lang="ko-KR" altLang="en-US" smtClean="0"/>
              <a:t>2022-12-25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947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91E48-2200-4646-B2AF-8A65E8AA4025}" type="datetime1">
              <a:rPr lang="ko-KR" altLang="en-US" smtClean="0"/>
              <a:t>2022-12-25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456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0A6E-CDCA-463B-AB9C-2AD65F7DC7CE}" type="datetime1">
              <a:rPr lang="ko-KR" altLang="en-US" smtClean="0"/>
              <a:t>2022-12-25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918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2F37D-F6B4-429A-93F0-670EB34C6EF1}" type="datetime1">
              <a:rPr lang="ko-KR" altLang="en-US" smtClean="0"/>
              <a:t>2022-12-25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35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75B21-6647-4787-AAB5-A8BA543A8A03}" type="datetime1">
              <a:rPr lang="ko-KR" altLang="en-US" smtClean="0"/>
              <a:t>2022-12-25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135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1AC2-CEA2-4AD0-9EED-9798843472E1}" type="datetime1">
              <a:rPr lang="ko-KR" altLang="en-US" smtClean="0"/>
              <a:t>2022-12-25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768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37C7C-8297-41A4-AED2-93F81127B44B}" type="datetime1">
              <a:rPr lang="ko-KR" altLang="en-US" smtClean="0"/>
              <a:t>2022-12-25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45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448E2-EAB7-4DB0-B809-DCB379E8731B}" type="datetime1">
              <a:rPr lang="ko-KR" altLang="en-US" smtClean="0"/>
              <a:t>2022-12-25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1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3C7-C7FA-46F0-BB19-A2462D02B89C}" type="datetime1">
              <a:rPr lang="ko-KR" altLang="en-US" smtClean="0"/>
              <a:t>2022-12-25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09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6E84B-CCB9-4E10-8C0E-8C6664F6450B}" type="datetime1">
              <a:rPr lang="ko-KR" altLang="en-US" smtClean="0"/>
              <a:t>2022-12-25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19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hf hdr="0" ftr="0" dt="0"/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114920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altLang="ko-KR" dirty="0"/>
              <a:t>24</a:t>
            </a:r>
            <a:r>
              <a:rPr lang="ko-KR" altLang="en-US" dirty="0"/>
              <a:t>장</a:t>
            </a:r>
            <a:r>
              <a:rPr lang="de-DE" altLang="ko-KR" dirty="0"/>
              <a:t>.</a:t>
            </a:r>
            <a:r>
              <a:rPr lang="ko-KR" altLang="en-US" dirty="0"/>
              <a:t> </a:t>
            </a:r>
            <a:r>
              <a:rPr lang="ko-KR" altLang="de-DE" dirty="0"/>
              <a:t>생계비의</a:t>
            </a:r>
            <a:r>
              <a:rPr lang="de-DE" altLang="ko-KR" dirty="0"/>
              <a:t> </a:t>
            </a:r>
            <a:r>
              <a:rPr lang="ko-KR" altLang="de-DE" dirty="0"/>
              <a:t>측정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1488" y="1798320"/>
            <a:ext cx="5915025" cy="9501859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ko-KR" altLang="de-DE" sz="1300" dirty="0"/>
              <a:t>소비자물가지수 </a:t>
            </a:r>
            <a:r>
              <a:rPr lang="de-DE" altLang="ko-KR" sz="1300" dirty="0"/>
              <a:t>CPI, Consumer Price Index</a:t>
            </a:r>
            <a:r>
              <a:rPr lang="ko-KR" altLang="de-DE" sz="1300" dirty="0"/>
              <a:t>란 무엇인가</a:t>
            </a:r>
            <a:r>
              <a:rPr lang="de-DE" altLang="ko-KR" sz="1300" dirty="0"/>
              <a:t>?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de-DE" sz="1100" dirty="0" smtClean="0"/>
              <a:t>전반적인 </a:t>
            </a:r>
            <a:r>
              <a:rPr lang="ko-KR" altLang="de-DE" sz="1100" dirty="0"/>
              <a:t>가격의 수준을 측정하는 대표적 </a:t>
            </a:r>
            <a:r>
              <a:rPr lang="ko-KR" altLang="de-DE" sz="1100" dirty="0" smtClean="0"/>
              <a:t>지표</a:t>
            </a:r>
            <a:endParaRPr lang="en-US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de-DE" sz="1100" dirty="0" smtClean="0"/>
              <a:t>전형적인 </a:t>
            </a:r>
            <a:r>
              <a:rPr lang="ko-KR" altLang="de-DE" sz="1100" dirty="0"/>
              <a:t>소비자가 구매하는 재화와 서비스의 전체 비용을 측정함</a:t>
            </a:r>
            <a:r>
              <a:rPr lang="de-DE" altLang="ko-KR" sz="1100" dirty="0"/>
              <a:t>. </a:t>
            </a:r>
            <a:endParaRPr lang="de-DE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endParaRPr lang="de-DE" altLang="ko-KR" sz="1100" dirty="0"/>
          </a:p>
          <a:p>
            <a:pPr>
              <a:lnSpc>
                <a:spcPct val="160000"/>
              </a:lnSpc>
            </a:pPr>
            <a:r>
              <a:rPr lang="de-DE" altLang="ko-KR" sz="1300" dirty="0"/>
              <a:t>CPI, </a:t>
            </a:r>
            <a:r>
              <a:rPr lang="ko-KR" altLang="de-DE" sz="1300" dirty="0"/>
              <a:t>어떻게 계산하나</a:t>
            </a:r>
            <a:r>
              <a:rPr lang="de-DE" altLang="ko-KR" sz="1300" dirty="0"/>
              <a:t>?</a:t>
            </a: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100" dirty="0" err="1" smtClean="0"/>
              <a:t>구매품목</a:t>
            </a:r>
            <a:r>
              <a:rPr lang="ko-KR" altLang="de-DE" sz="1100" dirty="0" smtClean="0"/>
              <a:t> </a:t>
            </a:r>
            <a:r>
              <a:rPr lang="ko-KR" altLang="de-DE" sz="1100" dirty="0"/>
              <a:t>확정</a:t>
            </a:r>
            <a:r>
              <a:rPr lang="de-DE" altLang="ko-KR" sz="1100" dirty="0"/>
              <a:t>: </a:t>
            </a:r>
            <a:r>
              <a:rPr lang="ko-KR" altLang="de-DE" sz="1100" dirty="0"/>
              <a:t>쇼핑</a:t>
            </a:r>
            <a:r>
              <a:rPr lang="de-DE" altLang="ko-KR" sz="1100" dirty="0"/>
              <a:t> </a:t>
            </a:r>
            <a:r>
              <a:rPr lang="ko-KR" altLang="de-DE" sz="1100" dirty="0"/>
              <a:t>꾸러미에 무엇이 있는지를 알기 위해 정기 </a:t>
            </a:r>
            <a:r>
              <a:rPr lang="ko-KR" altLang="de-DE" sz="1100" dirty="0" err="1"/>
              <a:t>서베이를</a:t>
            </a:r>
            <a:r>
              <a:rPr lang="ko-KR" altLang="de-DE" sz="1100" dirty="0"/>
              <a:t> 실시</a:t>
            </a:r>
            <a:r>
              <a:rPr lang="de-DE" altLang="ko-KR" sz="1100" dirty="0"/>
              <a:t>(</a:t>
            </a:r>
            <a:r>
              <a:rPr lang="ko-KR" altLang="de-DE" sz="1100" dirty="0"/>
              <a:t>쇼핑 꾸러미는 </a:t>
            </a:r>
            <a:r>
              <a:rPr lang="de-DE" altLang="ko-KR" sz="1100" dirty="0"/>
              <a:t>‘</a:t>
            </a:r>
            <a:r>
              <a:rPr lang="ko-KR" altLang="de-DE" sz="1100" dirty="0"/>
              <a:t>고정</a:t>
            </a:r>
            <a:r>
              <a:rPr lang="de-DE" altLang="ko-KR" sz="1100" dirty="0"/>
              <a:t>‘ </a:t>
            </a:r>
            <a:r>
              <a:rPr lang="ko-KR" altLang="de-DE" sz="1100" dirty="0"/>
              <a:t>되어 있음</a:t>
            </a:r>
            <a:r>
              <a:rPr lang="de-DE" altLang="ko-KR" sz="1100" dirty="0" smtClean="0"/>
              <a:t>)</a:t>
            </a: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100" dirty="0" smtClean="0"/>
              <a:t>가격정보 </a:t>
            </a:r>
            <a:r>
              <a:rPr lang="ko-KR" altLang="de-DE" sz="1100" dirty="0"/>
              <a:t>수집</a:t>
            </a:r>
            <a:r>
              <a:rPr lang="de-DE" altLang="ko-KR" sz="1100" dirty="0"/>
              <a:t>: </a:t>
            </a:r>
            <a:r>
              <a:rPr lang="ko-KR" altLang="de-DE" sz="1100" dirty="0"/>
              <a:t>통계청</a:t>
            </a:r>
            <a:r>
              <a:rPr lang="de-DE" altLang="ko-KR" sz="1100" dirty="0"/>
              <a:t>, </a:t>
            </a:r>
            <a:r>
              <a:rPr lang="ko-KR" altLang="de-DE" sz="1100" dirty="0"/>
              <a:t>물가조사기관 등이 가격 데이터를 </a:t>
            </a:r>
            <a:r>
              <a:rPr lang="ko-KR" altLang="de-DE" sz="1100" dirty="0" smtClean="0"/>
              <a:t>모음</a:t>
            </a:r>
            <a:endParaRPr lang="en-US" altLang="ko-KR" sz="1100" dirty="0" smtClean="0"/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100" dirty="0" smtClean="0"/>
              <a:t>비용 </a:t>
            </a:r>
            <a:r>
              <a:rPr lang="ko-KR" altLang="de-DE" sz="1100" dirty="0"/>
              <a:t>계산</a:t>
            </a:r>
            <a:r>
              <a:rPr lang="de-DE" altLang="ko-KR" sz="1100" dirty="0"/>
              <a:t>: </a:t>
            </a:r>
            <a:r>
              <a:rPr lang="ko-KR" altLang="de-DE" sz="1100" dirty="0"/>
              <a:t>쇼핑 꾸러미의 총비용을 </a:t>
            </a:r>
            <a:r>
              <a:rPr lang="ko-KR" altLang="de-DE" sz="1100" dirty="0" smtClean="0"/>
              <a:t>계산함</a:t>
            </a:r>
            <a:endParaRPr lang="en-US" altLang="ko-KR" sz="1100" dirty="0" smtClean="0"/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100" dirty="0" err="1" smtClean="0"/>
              <a:t>기준연도를</a:t>
            </a:r>
            <a:r>
              <a:rPr lang="ko-KR" altLang="de-DE" sz="1100" dirty="0" smtClean="0"/>
              <a:t> </a:t>
            </a:r>
            <a:r>
              <a:rPr lang="ko-KR" altLang="de-DE" sz="1100" dirty="0"/>
              <a:t>택하고 </a:t>
            </a:r>
            <a:r>
              <a:rPr lang="de-DE" altLang="ko-KR" sz="1100" dirty="0"/>
              <a:t>CPI</a:t>
            </a:r>
            <a:r>
              <a:rPr lang="ko-KR" altLang="de-DE" sz="1100" dirty="0" err="1"/>
              <a:t>를</a:t>
            </a:r>
            <a:r>
              <a:rPr lang="ko-KR" altLang="de-DE" sz="1100" dirty="0"/>
              <a:t> 계산</a:t>
            </a:r>
            <a:r>
              <a:rPr lang="de-DE" altLang="ko-KR" sz="1100" dirty="0"/>
              <a:t>: </a:t>
            </a:r>
            <a:r>
              <a:rPr lang="ko-KR" altLang="de-DE" sz="1100" dirty="0"/>
              <a:t>현재 가격을 기준으로 총비용을 계산한 다음</a:t>
            </a:r>
            <a:r>
              <a:rPr lang="de-DE" altLang="ko-KR" sz="1100" dirty="0"/>
              <a:t>, </a:t>
            </a:r>
            <a:r>
              <a:rPr lang="ko-KR" altLang="de-DE" sz="1100" dirty="0"/>
              <a:t>기준연도의 총비용으로 나누어</a:t>
            </a:r>
            <a:r>
              <a:rPr lang="ko-KR" altLang="en-US" sz="1100" dirty="0"/>
              <a:t> </a:t>
            </a:r>
            <a:r>
              <a:rPr lang="ko-KR" altLang="de-DE" sz="1100" dirty="0"/>
              <a:t>줌</a:t>
            </a:r>
            <a:r>
              <a:rPr lang="de-DE" altLang="ko-KR" sz="1100" dirty="0"/>
              <a:t>(</a:t>
            </a:r>
            <a:r>
              <a:rPr lang="ko-KR" altLang="de-DE" sz="1100" dirty="0"/>
              <a:t>여기서</a:t>
            </a:r>
            <a:r>
              <a:rPr lang="de-DE" altLang="ko-KR" sz="1100" dirty="0"/>
              <a:t>, </a:t>
            </a:r>
            <a:r>
              <a:rPr lang="ko-KR" altLang="de-DE" sz="1100" dirty="0"/>
              <a:t>쇼핑 꾸러미는 </a:t>
            </a:r>
            <a:r>
              <a:rPr lang="de-DE" altLang="ko-KR" sz="1100" dirty="0"/>
              <a:t>&lt;</a:t>
            </a:r>
            <a:r>
              <a:rPr lang="ko-KR" altLang="de-DE" sz="1100" dirty="0"/>
              <a:t>고정</a:t>
            </a:r>
            <a:r>
              <a:rPr lang="de-DE" altLang="ko-KR" sz="1100" dirty="0"/>
              <a:t>&gt;</a:t>
            </a:r>
            <a:r>
              <a:rPr lang="ko-KR" altLang="de-DE" sz="1100" dirty="0"/>
              <a:t>이라는</a:t>
            </a:r>
            <a:r>
              <a:rPr lang="de-DE" altLang="ko-KR" sz="1100" dirty="0"/>
              <a:t> </a:t>
            </a:r>
            <a:r>
              <a:rPr lang="ko-KR" altLang="de-DE" sz="1100" dirty="0"/>
              <a:t>사실에 </a:t>
            </a:r>
            <a:r>
              <a:rPr lang="ko-KR" altLang="de-DE" sz="1100" dirty="0" smtClean="0"/>
              <a:t>주의</a:t>
            </a:r>
            <a:r>
              <a:rPr lang="de-DE" altLang="ko-KR" sz="1100" dirty="0" smtClean="0"/>
              <a:t>). </a:t>
            </a: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en-US" sz="1100" dirty="0" smtClean="0">
                <a:sym typeface="Wingdings" panose="05000000000000000000" pitchFamily="2" charset="2"/>
              </a:rPr>
              <a:t>곱하기</a:t>
            </a:r>
            <a:r>
              <a:rPr lang="de-DE" altLang="ko-KR" sz="1100" dirty="0" smtClean="0">
                <a:sym typeface="Wingdings" panose="05000000000000000000" pitchFamily="2" charset="2"/>
              </a:rPr>
              <a:t> </a:t>
            </a:r>
            <a:r>
              <a:rPr lang="de-DE" altLang="ko-KR" sz="1100" dirty="0">
                <a:sym typeface="Wingdings" panose="05000000000000000000" pitchFamily="2" charset="2"/>
              </a:rPr>
              <a:t>100</a:t>
            </a:r>
            <a:r>
              <a:rPr lang="ko-KR" altLang="de-DE" sz="1100" dirty="0">
                <a:sym typeface="Wingdings" panose="05000000000000000000" pitchFamily="2" charset="2"/>
              </a:rPr>
              <a:t>을 하면 소비자물가지수 </a:t>
            </a:r>
            <a:r>
              <a:rPr lang="de-DE" altLang="ko-KR" sz="1100" dirty="0">
                <a:sym typeface="Wingdings" panose="05000000000000000000" pitchFamily="2" charset="2"/>
              </a:rPr>
              <a:t>CPI</a:t>
            </a:r>
            <a:r>
              <a:rPr lang="ko-KR" altLang="de-DE" sz="1100" dirty="0">
                <a:sym typeface="Wingdings" panose="05000000000000000000" pitchFamily="2" charset="2"/>
              </a:rPr>
              <a:t>가 만들어짐</a:t>
            </a:r>
            <a:r>
              <a:rPr lang="de-DE" altLang="ko-KR" sz="1100" dirty="0" smtClean="0">
                <a:sym typeface="Wingdings" panose="05000000000000000000" pitchFamily="2" charset="2"/>
              </a:rPr>
              <a:t>.</a:t>
            </a:r>
            <a:endParaRPr lang="de-DE" altLang="ko-KR" sz="1100" b="1" dirty="0">
              <a:sym typeface="Wingdings" panose="05000000000000000000" pitchFamily="2" charset="2"/>
            </a:endParaRP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100" dirty="0"/>
              <a:t>인플레이션율</a:t>
            </a:r>
            <a:r>
              <a:rPr lang="de-DE" altLang="ko-KR" sz="1100" dirty="0"/>
              <a:t>(%):</a:t>
            </a:r>
            <a:r>
              <a:rPr lang="de-DE" altLang="ko-KR" sz="1100" dirty="0"/>
              <a:t> </a:t>
            </a:r>
            <a:r>
              <a:rPr lang="ko-KR" altLang="de-DE" sz="1100" dirty="0"/>
              <a:t>당해 </a:t>
            </a:r>
            <a:r>
              <a:rPr lang="ko-KR" altLang="de-DE" sz="1100" dirty="0"/>
              <a:t>연도 </a:t>
            </a:r>
            <a:r>
              <a:rPr lang="de-DE" altLang="ko-KR" sz="1100" dirty="0"/>
              <a:t>CPI – </a:t>
            </a:r>
            <a:r>
              <a:rPr lang="ko-KR" altLang="de-DE" sz="1100" dirty="0"/>
              <a:t>기준연도</a:t>
            </a:r>
            <a:r>
              <a:rPr lang="de-DE" altLang="ko-KR" sz="1100" dirty="0"/>
              <a:t> CPI)</a:t>
            </a:r>
            <a:r>
              <a:rPr lang="ko-KR" altLang="de-DE" sz="1100" dirty="0" err="1"/>
              <a:t>를</a:t>
            </a:r>
            <a:r>
              <a:rPr lang="de-DE" altLang="ko-KR" sz="1100" dirty="0"/>
              <a:t> </a:t>
            </a:r>
            <a:r>
              <a:rPr lang="ko-KR" altLang="de-DE" sz="1100" dirty="0"/>
              <a:t>기준연도 </a:t>
            </a:r>
            <a:r>
              <a:rPr lang="de-DE" altLang="ko-KR" sz="1100" dirty="0"/>
              <a:t>CPI</a:t>
            </a:r>
            <a:r>
              <a:rPr lang="ko-KR" altLang="de-DE" sz="1100" dirty="0"/>
              <a:t>로</a:t>
            </a:r>
            <a:r>
              <a:rPr lang="de-DE" altLang="ko-KR" sz="1100" dirty="0"/>
              <a:t> </a:t>
            </a:r>
            <a:r>
              <a:rPr lang="ko-KR" altLang="de-DE" sz="1100" dirty="0"/>
              <a:t>나누어</a:t>
            </a:r>
            <a:r>
              <a:rPr lang="de-DE" altLang="ko-KR" sz="1100" dirty="0"/>
              <a:t> </a:t>
            </a:r>
            <a:r>
              <a:rPr lang="ko-KR" altLang="de-DE" sz="1100" dirty="0"/>
              <a:t>주고 </a:t>
            </a:r>
            <a:r>
              <a:rPr lang="de-DE" altLang="ko-KR" sz="1100" dirty="0"/>
              <a:t>100</a:t>
            </a:r>
            <a:r>
              <a:rPr lang="ko-KR" altLang="de-DE" sz="1100" dirty="0"/>
              <a:t>을 </a:t>
            </a:r>
            <a:r>
              <a:rPr lang="ko-KR" altLang="de-DE" sz="1100" dirty="0" smtClean="0"/>
              <a:t>곱함</a:t>
            </a:r>
            <a:endParaRPr lang="en-US" altLang="ko-KR" sz="1100" dirty="0" smtClean="0"/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en-US" sz="1100" dirty="0"/>
              <a:t>해당 </a:t>
            </a:r>
            <a:r>
              <a:rPr lang="ko-KR" altLang="en-US" sz="1100" dirty="0"/>
              <a:t>기간</a:t>
            </a:r>
            <a:r>
              <a:rPr lang="ko-KR" altLang="de-DE" sz="1100" dirty="0"/>
              <a:t> 동안의 소비자물가상승률이 계산됨</a:t>
            </a:r>
            <a:r>
              <a:rPr lang="de-DE" altLang="ko-KR" sz="1100" dirty="0"/>
              <a:t>. </a:t>
            </a: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100" dirty="0"/>
              <a:t>결국</a:t>
            </a:r>
            <a:r>
              <a:rPr lang="de-DE" altLang="ko-KR" sz="1100" dirty="0"/>
              <a:t>, </a:t>
            </a:r>
            <a:r>
              <a:rPr lang="ko-KR" altLang="de-DE" sz="1100" dirty="0"/>
              <a:t>두 시점 사이에 소비자의 생계비</a:t>
            </a:r>
            <a:r>
              <a:rPr lang="de-DE" altLang="ko-KR" sz="1100" dirty="0"/>
              <a:t>(Living Cost)</a:t>
            </a:r>
            <a:r>
              <a:rPr lang="ko-KR" altLang="de-DE" sz="1100" dirty="0"/>
              <a:t>에 얼마나 변화가 생겼는지를 측정</a:t>
            </a:r>
            <a:endParaRPr lang="de-DE" altLang="ko-KR" sz="1100" dirty="0"/>
          </a:p>
          <a:p>
            <a:pPr lvl="1">
              <a:lnSpc>
                <a:spcPct val="160000"/>
              </a:lnSpc>
            </a:pPr>
            <a:endParaRPr lang="de-DE" altLang="ko-KR" sz="1000" dirty="0"/>
          </a:p>
          <a:p>
            <a:pPr>
              <a:lnSpc>
                <a:spcPct val="160000"/>
              </a:lnSpc>
            </a:pPr>
            <a:r>
              <a:rPr lang="ko-KR" altLang="de-DE" sz="1300" dirty="0"/>
              <a:t>소비자 물가지수의 문제점들 </a:t>
            </a:r>
            <a:endParaRPr lang="en-US" altLang="ko-KR" sz="1300" dirty="0" smtClean="0"/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100" dirty="0">
                <a:sym typeface="Wingdings" panose="05000000000000000000" pitchFamily="2" charset="2"/>
              </a:rPr>
              <a:t>고정된 </a:t>
            </a:r>
            <a:r>
              <a:rPr lang="ko-KR" altLang="de-DE" sz="1100" dirty="0">
                <a:sym typeface="Wingdings" panose="05000000000000000000" pitchFamily="2" charset="2"/>
              </a:rPr>
              <a:t>꾸러미를 사용하기 </a:t>
            </a:r>
            <a:r>
              <a:rPr lang="ko-KR" altLang="de-DE" sz="1100" dirty="0">
                <a:sym typeface="Wingdings" panose="05000000000000000000" pitchFamily="2" charset="2"/>
              </a:rPr>
              <a:t>때문</a:t>
            </a:r>
            <a:r>
              <a:rPr lang="ko-KR" altLang="en-US" sz="1100" dirty="0">
                <a:sym typeface="Wingdings" panose="05000000000000000000" pitchFamily="2" charset="2"/>
              </a:rPr>
              <a:t>에</a:t>
            </a:r>
            <a:r>
              <a:rPr lang="de-DE" altLang="ko-KR" sz="1100" dirty="0">
                <a:sym typeface="Wingdings" panose="05000000000000000000" pitchFamily="2" charset="2"/>
              </a:rPr>
              <a:t> </a:t>
            </a:r>
            <a:r>
              <a:rPr lang="ko-KR" altLang="de-DE" sz="1100" dirty="0">
                <a:sym typeface="Wingdings" panose="05000000000000000000" pitchFamily="2" charset="2"/>
              </a:rPr>
              <a:t>생계비를 과대평가하는 결과 </a:t>
            </a:r>
            <a:r>
              <a:rPr lang="ko-KR" altLang="de-DE" sz="1100" dirty="0">
                <a:sym typeface="Wingdings" panose="05000000000000000000" pitchFamily="2" charset="2"/>
              </a:rPr>
              <a:t>초래</a:t>
            </a:r>
            <a:endParaRPr lang="en-US" altLang="ko-KR" sz="1100" dirty="0">
              <a:sym typeface="Wingdings" panose="05000000000000000000" pitchFamily="2" charset="2"/>
            </a:endParaRP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100" dirty="0">
                <a:sym typeface="Wingdings" panose="05000000000000000000" pitchFamily="2" charset="2"/>
              </a:rPr>
              <a:t>공공부문의 </a:t>
            </a:r>
            <a:r>
              <a:rPr lang="ko-KR" altLang="de-DE" sz="1100" dirty="0">
                <a:sym typeface="Wingdings" panose="05000000000000000000" pitchFamily="2" charset="2"/>
              </a:rPr>
              <a:t>비용지출에 영향을 줌</a:t>
            </a:r>
            <a:r>
              <a:rPr lang="de-DE" altLang="ko-KR" sz="1100" dirty="0">
                <a:sym typeface="Wingdings" panose="05000000000000000000" pitchFamily="2" charset="2"/>
              </a:rPr>
              <a:t>. </a:t>
            </a:r>
            <a:endParaRPr lang="de-DE" altLang="ko-KR" sz="1100" dirty="0"/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100" dirty="0"/>
              <a:t>대체효과에 따른 왜곡 </a:t>
            </a:r>
            <a:r>
              <a:rPr lang="de-DE" altLang="ko-KR" sz="1100" dirty="0"/>
              <a:t>(</a:t>
            </a:r>
            <a:r>
              <a:rPr lang="ko-KR" altLang="de-DE" sz="1100" dirty="0"/>
              <a:t>가격상승 시 소비자들은 상대적으로 값싼 재화로 대체 노력</a:t>
            </a:r>
            <a:r>
              <a:rPr lang="de-DE" altLang="ko-KR" sz="1100" dirty="0"/>
              <a:t>)</a:t>
            </a: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100" dirty="0"/>
              <a:t>새로운 재화의 등장 </a:t>
            </a:r>
            <a:r>
              <a:rPr lang="de-DE" altLang="ko-KR" sz="1100" dirty="0"/>
              <a:t>(</a:t>
            </a:r>
            <a:r>
              <a:rPr lang="ko-KR" altLang="de-DE" sz="1100" dirty="0"/>
              <a:t>새로운 제품은 소비자의 다양성 욕구를 충족시켜주는 효과</a:t>
            </a:r>
            <a:r>
              <a:rPr lang="de-DE" altLang="ko-KR" sz="1100" dirty="0"/>
              <a:t>)</a:t>
            </a: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100" dirty="0"/>
              <a:t>측정되지 않는 품질의 변화 </a:t>
            </a:r>
            <a:r>
              <a:rPr lang="de-DE" altLang="ko-KR" sz="1100" dirty="0"/>
              <a:t>(</a:t>
            </a:r>
            <a:r>
              <a:rPr lang="ko-KR" altLang="de-DE" sz="1100" dirty="0"/>
              <a:t>품질의 개선은 소비자의 돈의 가치를 올려주는 효과</a:t>
            </a:r>
            <a:r>
              <a:rPr lang="de-DE" altLang="ko-KR" sz="1100" dirty="0"/>
              <a:t>)</a:t>
            </a:r>
          </a:p>
          <a:p>
            <a:pPr lvl="1">
              <a:lnSpc>
                <a:spcPct val="160000"/>
              </a:lnSpc>
            </a:pPr>
            <a:endParaRPr lang="de-DE" altLang="ko-KR" sz="1100" dirty="0"/>
          </a:p>
          <a:p>
            <a:pPr>
              <a:lnSpc>
                <a:spcPct val="160000"/>
              </a:lnSpc>
            </a:pPr>
            <a:r>
              <a:rPr lang="de-DE" altLang="ko-KR" sz="1325" dirty="0"/>
              <a:t>CPI</a:t>
            </a:r>
            <a:r>
              <a:rPr lang="ko-KR" altLang="de-DE" sz="1325" dirty="0"/>
              <a:t>와 </a:t>
            </a:r>
            <a:r>
              <a:rPr lang="de-DE" altLang="ko-KR" sz="1325" dirty="0"/>
              <a:t>GDP </a:t>
            </a:r>
            <a:r>
              <a:rPr lang="ko-KR" altLang="de-DE" sz="1325" dirty="0" err="1"/>
              <a:t>디플레이터</a:t>
            </a:r>
            <a:r>
              <a:rPr lang="ko-KR" altLang="de-DE" sz="1325" dirty="0"/>
              <a:t> 비교</a:t>
            </a:r>
            <a:endParaRPr lang="de-DE" altLang="ko-KR" sz="1325" dirty="0"/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100" dirty="0"/>
              <a:t>수입된 소비재 </a:t>
            </a:r>
            <a:r>
              <a:rPr lang="de-DE" altLang="ko-KR" sz="1100" dirty="0"/>
              <a:t>vs. </a:t>
            </a:r>
            <a:r>
              <a:rPr lang="ko-KR" altLang="de-DE" sz="1100" dirty="0"/>
              <a:t>자본재</a:t>
            </a:r>
            <a:endParaRPr lang="de-DE" altLang="ko-KR" sz="1100" dirty="0"/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100" dirty="0"/>
              <a:t>각각의 물가지표가 사용하는 </a:t>
            </a:r>
            <a:r>
              <a:rPr lang="de-DE" altLang="ko-KR" sz="1100" dirty="0"/>
              <a:t>basket</a:t>
            </a:r>
            <a:r>
              <a:rPr lang="ko-KR" altLang="de-DE" sz="1100" dirty="0"/>
              <a:t>의</a:t>
            </a:r>
            <a:r>
              <a:rPr lang="de-DE" altLang="ko-KR" sz="1100" dirty="0"/>
              <a:t> </a:t>
            </a:r>
            <a:r>
              <a:rPr lang="ko-KR" altLang="de-DE" sz="1100" dirty="0"/>
              <a:t>차이에서 비롯됨</a:t>
            </a:r>
            <a:r>
              <a:rPr lang="de-DE" altLang="ko-KR" sz="1100" dirty="0" smtClean="0"/>
              <a:t>.</a:t>
            </a:r>
            <a:endParaRPr lang="de-DE" altLang="ko-KR" sz="11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060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71488" y="702944"/>
            <a:ext cx="5915025" cy="10708005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ko-KR" altLang="de-DE" sz="1325" dirty="0"/>
              <a:t>인플레이션</a:t>
            </a:r>
            <a:r>
              <a:rPr lang="de-DE" altLang="ko-KR" sz="1325" dirty="0"/>
              <a:t> </a:t>
            </a:r>
            <a:r>
              <a:rPr lang="ko-KR" altLang="de-DE" sz="1325" dirty="0"/>
              <a:t>효과의 조정</a:t>
            </a:r>
            <a:r>
              <a:rPr lang="de-DE" altLang="ko-KR" sz="1325" dirty="0"/>
              <a:t>: </a:t>
            </a:r>
            <a:r>
              <a:rPr lang="ko-KR" altLang="de-DE" sz="1325" dirty="0"/>
              <a:t>특정 두 시기의 화폐가치 비교</a:t>
            </a:r>
            <a:endParaRPr lang="de-DE" altLang="ko-KR" sz="1325" dirty="0"/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de-DE" altLang="ko-KR" sz="1100" dirty="0"/>
              <a:t>1963</a:t>
            </a:r>
            <a:r>
              <a:rPr lang="ko-KR" altLang="de-DE" sz="1100" dirty="0"/>
              <a:t>년의 </a:t>
            </a:r>
            <a:r>
              <a:rPr lang="ko-KR" altLang="de-DE" sz="1100" dirty="0" smtClean="0"/>
              <a:t>최저임금 </a:t>
            </a:r>
            <a:r>
              <a:rPr lang="de-DE" altLang="ko-KR" sz="1100" dirty="0"/>
              <a:t>vs.</a:t>
            </a:r>
            <a:r>
              <a:rPr lang="ko-KR" altLang="de-DE" sz="1100" dirty="0"/>
              <a:t> </a:t>
            </a:r>
            <a:r>
              <a:rPr lang="de-DE" altLang="ko-KR" sz="1100" dirty="0"/>
              <a:t>2013</a:t>
            </a:r>
            <a:r>
              <a:rPr lang="ko-KR" altLang="de-DE" sz="1100" dirty="0"/>
              <a:t>년 </a:t>
            </a:r>
            <a:r>
              <a:rPr lang="ko-KR" altLang="de-DE" sz="1100" dirty="0" smtClean="0"/>
              <a:t>최저임금</a:t>
            </a:r>
            <a:endParaRPr lang="de-DE" altLang="ko-KR" sz="1100" dirty="0"/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100" dirty="0"/>
              <a:t>둘 중 어떤 것이 더 큰 구매력</a:t>
            </a:r>
            <a:r>
              <a:rPr lang="de-DE" altLang="ko-KR" sz="1100" dirty="0"/>
              <a:t>(Purchasing Power, </a:t>
            </a:r>
            <a:r>
              <a:rPr lang="ko-KR" altLang="de-DE" sz="1100" dirty="0"/>
              <a:t>특정 금액을 들고 시장에 갔을 때 장바구니에 담을 수는 재화나 서비스의 양</a:t>
            </a:r>
            <a:r>
              <a:rPr lang="de-DE" altLang="ko-KR" sz="1100" dirty="0"/>
              <a:t>)</a:t>
            </a:r>
            <a:r>
              <a:rPr lang="ko-KR" altLang="de-DE" sz="1100" dirty="0"/>
              <a:t>을 갖는가</a:t>
            </a:r>
            <a:r>
              <a:rPr lang="de-DE" altLang="ko-KR" sz="1100" dirty="0" smtClean="0"/>
              <a:t>?</a:t>
            </a: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de-DE" altLang="ko-KR" sz="1100" dirty="0" smtClean="0"/>
              <a:t>1963 </a:t>
            </a:r>
            <a:r>
              <a:rPr lang="ko-KR" altLang="de-DE" sz="1100" dirty="0" smtClean="0"/>
              <a:t>달러를 </a:t>
            </a:r>
            <a:r>
              <a:rPr lang="de-DE" altLang="ko-KR" sz="1100" dirty="0" smtClean="0"/>
              <a:t>2013 </a:t>
            </a:r>
            <a:r>
              <a:rPr lang="ko-KR" altLang="de-DE" sz="1100" dirty="0" smtClean="0"/>
              <a:t>달러로 전환</a:t>
            </a:r>
            <a:endParaRPr lang="en-US" altLang="ko-KR" sz="1300" dirty="0"/>
          </a:p>
          <a:p>
            <a:pPr>
              <a:lnSpc>
                <a:spcPct val="160000"/>
              </a:lnSpc>
            </a:pPr>
            <a:r>
              <a:rPr lang="ko-KR" altLang="de-DE" sz="1300" dirty="0" smtClean="0"/>
              <a:t>현재 </a:t>
            </a:r>
            <a:r>
              <a:rPr lang="ko-KR" altLang="de-DE" sz="1300" dirty="0"/>
              <a:t>금액 </a:t>
            </a:r>
            <a:r>
              <a:rPr lang="de-DE" altLang="ko-KR" sz="1300" dirty="0"/>
              <a:t>= T</a:t>
            </a:r>
            <a:r>
              <a:rPr lang="ko-KR" altLang="de-DE" sz="1300" dirty="0"/>
              <a:t>년도 금액 </a:t>
            </a:r>
            <a:r>
              <a:rPr lang="de-DE" altLang="ko-KR" sz="1300" dirty="0"/>
              <a:t>x</a:t>
            </a:r>
            <a:r>
              <a:rPr lang="ko-KR" altLang="de-DE" sz="1300" dirty="0"/>
              <a:t> </a:t>
            </a:r>
            <a:r>
              <a:rPr lang="de-DE" altLang="ko-KR" sz="1300" dirty="0"/>
              <a:t>[ </a:t>
            </a:r>
            <a:r>
              <a:rPr lang="ko-KR" altLang="de-DE" sz="1300" dirty="0"/>
              <a:t>현재의 물가수준</a:t>
            </a:r>
            <a:r>
              <a:rPr lang="de-DE" altLang="ko-KR" sz="1300" dirty="0"/>
              <a:t> / T</a:t>
            </a:r>
            <a:r>
              <a:rPr lang="ko-KR" altLang="de-DE" sz="1300" dirty="0"/>
              <a:t>년도 물가수준 </a:t>
            </a:r>
            <a:r>
              <a:rPr lang="de-DE" altLang="ko-KR" sz="1300" dirty="0"/>
              <a:t>]</a:t>
            </a: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100" dirty="0">
                <a:sym typeface="Wingdings" panose="05000000000000000000" pitchFamily="2" charset="2"/>
              </a:rPr>
              <a:t>여기서 물가수준으로는 소비자물가지수 </a:t>
            </a:r>
            <a:r>
              <a:rPr lang="de-DE" altLang="ko-KR" sz="1100" dirty="0">
                <a:sym typeface="Wingdings" panose="05000000000000000000" pitchFamily="2" charset="2"/>
              </a:rPr>
              <a:t>CPI</a:t>
            </a:r>
            <a:r>
              <a:rPr lang="ko-KR" altLang="de-DE" sz="1100" dirty="0">
                <a:sym typeface="Wingdings" panose="05000000000000000000" pitchFamily="2" charset="2"/>
              </a:rPr>
              <a:t>가 사용</a:t>
            </a:r>
            <a:endParaRPr lang="de-DE" altLang="ko-KR" sz="1100" dirty="0">
              <a:sym typeface="Wingdings" panose="05000000000000000000" pitchFamily="2" charset="2"/>
            </a:endParaRP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100" dirty="0">
                <a:sym typeface="Wingdings" panose="05000000000000000000" pitchFamily="2" charset="2"/>
              </a:rPr>
              <a:t>결국 인플레이션 효과를 제거하는 것</a:t>
            </a:r>
            <a:endParaRPr lang="de-DE" altLang="ko-KR" sz="1100" dirty="0">
              <a:sym typeface="Wingdings" panose="05000000000000000000" pitchFamily="2" charset="2"/>
            </a:endParaRPr>
          </a:p>
          <a:p>
            <a:pPr lvl="2">
              <a:lnSpc>
                <a:spcPct val="160000"/>
              </a:lnSpc>
            </a:pPr>
            <a:endParaRPr lang="de-DE" altLang="ko-KR" sz="875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ko-KR" altLang="de-DE" sz="1325" dirty="0" err="1">
                <a:sym typeface="Wingdings" panose="05000000000000000000" pitchFamily="2" charset="2"/>
              </a:rPr>
              <a:t>물가연동제</a:t>
            </a:r>
            <a:r>
              <a:rPr lang="de-DE" altLang="ko-KR" sz="1325" dirty="0">
                <a:sym typeface="Wingdings" panose="05000000000000000000" pitchFamily="2" charset="2"/>
              </a:rPr>
              <a:t>: </a:t>
            </a:r>
            <a:r>
              <a:rPr lang="ko-KR" altLang="de-DE" sz="1325" dirty="0">
                <a:sym typeface="Wingdings" panose="05000000000000000000" pitchFamily="2" charset="2"/>
              </a:rPr>
              <a:t>법이나 계약에 따라 자동적으로 인플레이션 효과를 조정</a:t>
            </a:r>
            <a:endParaRPr lang="de-DE" altLang="ko-KR" sz="1325" dirty="0">
              <a:sym typeface="Wingdings" panose="05000000000000000000" pitchFamily="2" charset="2"/>
            </a:endParaRP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100" dirty="0">
                <a:sym typeface="Wingdings" panose="05000000000000000000" pitchFamily="2" charset="2"/>
              </a:rPr>
              <a:t>임금 계약의 </a:t>
            </a:r>
            <a:r>
              <a:rPr lang="ko-KR" altLang="de-DE" sz="1100" dirty="0" smtClean="0">
                <a:sym typeface="Wingdings" panose="05000000000000000000" pitchFamily="2" charset="2"/>
              </a:rPr>
              <a:t>산정</a:t>
            </a:r>
            <a:r>
              <a:rPr lang="de-DE" altLang="ko-KR" sz="1100" dirty="0" smtClean="0">
                <a:sym typeface="Wingdings" panose="05000000000000000000" pitchFamily="2" charset="2"/>
              </a:rPr>
              <a:t> </a:t>
            </a:r>
            <a:r>
              <a:rPr lang="ko-KR" altLang="de-DE" sz="1100" dirty="0">
                <a:sym typeface="Wingdings" panose="05000000000000000000" pitchFamily="2" charset="2"/>
              </a:rPr>
              <a:t>혹은 사회보장급여 지급 시 물가연동 의무화</a:t>
            </a:r>
            <a:endParaRPr lang="de-DE" altLang="ko-KR" sz="1100" dirty="0">
              <a:sym typeface="Wingdings" panose="05000000000000000000" pitchFamily="2" charset="2"/>
            </a:endParaRP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100" dirty="0" smtClean="0">
                <a:sym typeface="Wingdings" panose="05000000000000000000" pitchFamily="2" charset="2"/>
              </a:rPr>
              <a:t>공공프로젝트 단가</a:t>
            </a:r>
            <a:r>
              <a:rPr lang="ko-KR" altLang="en-US" sz="1100" dirty="0" smtClean="0">
                <a:sym typeface="Wingdings" panose="05000000000000000000" pitchFamily="2" charset="2"/>
              </a:rPr>
              <a:t>의 실질 가치 보장</a:t>
            </a:r>
            <a:endParaRPr lang="en-US" altLang="ko-KR" sz="1100" dirty="0" smtClean="0">
              <a:sym typeface="Wingdings" panose="05000000000000000000" pitchFamily="2" charset="2"/>
            </a:endParaRPr>
          </a:p>
          <a:p>
            <a:pPr lvl="1">
              <a:lnSpc>
                <a:spcPct val="170000"/>
              </a:lnSpc>
              <a:buFontTx/>
              <a:buChar char="-"/>
            </a:pPr>
            <a:endParaRPr lang="de-DE" altLang="ko-KR" sz="1100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ko-KR" altLang="de-DE" sz="1325" dirty="0" err="1">
                <a:sym typeface="Wingdings" panose="05000000000000000000" pitchFamily="2" charset="2"/>
              </a:rPr>
              <a:t>명목이자율</a:t>
            </a:r>
            <a:r>
              <a:rPr lang="ko-KR" altLang="de-DE" sz="1325" dirty="0">
                <a:sym typeface="Wingdings" panose="05000000000000000000" pitchFamily="2" charset="2"/>
              </a:rPr>
              <a:t> </a:t>
            </a:r>
            <a:r>
              <a:rPr lang="de-DE" altLang="ko-KR" sz="1325" dirty="0">
                <a:sym typeface="Wingdings" panose="05000000000000000000" pitchFamily="2" charset="2"/>
              </a:rPr>
              <a:t>vs. </a:t>
            </a:r>
            <a:r>
              <a:rPr lang="ko-KR" altLang="de-DE" sz="1325" dirty="0" err="1">
                <a:sym typeface="Wingdings" panose="05000000000000000000" pitchFamily="2" charset="2"/>
              </a:rPr>
              <a:t>실질이자율</a:t>
            </a:r>
            <a:r>
              <a:rPr lang="de-DE" altLang="ko-KR" sz="1325" dirty="0">
                <a:sym typeface="Wingdings" panose="05000000000000000000" pitchFamily="2" charset="2"/>
              </a:rPr>
              <a:t> </a:t>
            </a: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100" dirty="0">
                <a:sym typeface="Wingdings" panose="05000000000000000000" pitchFamily="2" charset="2"/>
              </a:rPr>
              <a:t>실질이자율은 인플레이션에 대해 조정한 것</a:t>
            </a:r>
            <a:endParaRPr lang="de-DE" altLang="ko-KR" sz="1100" dirty="0">
              <a:sym typeface="Wingdings" panose="05000000000000000000" pitchFamily="2" charset="2"/>
            </a:endParaRP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100" dirty="0">
                <a:sym typeface="Wingdings" panose="05000000000000000000" pitchFamily="2" charset="2"/>
              </a:rPr>
              <a:t>예금이나 부채의 구매력 </a:t>
            </a:r>
            <a:r>
              <a:rPr lang="de-DE" altLang="ko-KR" sz="1100" dirty="0">
                <a:sym typeface="Wingdings" panose="05000000000000000000" pitchFamily="2" charset="2"/>
              </a:rPr>
              <a:t>purchasing power </a:t>
            </a:r>
            <a:r>
              <a:rPr lang="ko-KR" altLang="de-DE" sz="1100" dirty="0">
                <a:sym typeface="Wingdings" panose="05000000000000000000" pitchFamily="2" charset="2"/>
              </a:rPr>
              <a:t>증가율이 </a:t>
            </a:r>
            <a:r>
              <a:rPr lang="ko-KR" altLang="de-DE" sz="1100" dirty="0" err="1">
                <a:sym typeface="Wingdings" panose="05000000000000000000" pitchFamily="2" charset="2"/>
              </a:rPr>
              <a:t>실질이자율</a:t>
            </a:r>
            <a:endParaRPr lang="de-DE" altLang="ko-KR" sz="1100" dirty="0">
              <a:sym typeface="Wingdings" panose="05000000000000000000" pitchFamily="2" charset="2"/>
            </a:endParaRP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100" dirty="0" err="1">
                <a:sym typeface="Wingdings" panose="05000000000000000000" pitchFamily="2" charset="2"/>
              </a:rPr>
              <a:t>실질이자율</a:t>
            </a:r>
            <a:r>
              <a:rPr lang="de-DE" altLang="ko-KR" sz="1100" dirty="0">
                <a:sym typeface="Wingdings" panose="05000000000000000000" pitchFamily="2" charset="2"/>
              </a:rPr>
              <a:t> = </a:t>
            </a:r>
            <a:r>
              <a:rPr lang="ko-KR" altLang="de-DE" sz="1100" dirty="0" err="1">
                <a:sym typeface="Wingdings" panose="05000000000000000000" pitchFamily="2" charset="2"/>
              </a:rPr>
              <a:t>명목이자율</a:t>
            </a:r>
            <a:r>
              <a:rPr lang="ko-KR" altLang="de-DE" sz="1100" dirty="0">
                <a:sym typeface="Wingdings" panose="05000000000000000000" pitchFamily="2" charset="2"/>
              </a:rPr>
              <a:t> </a:t>
            </a:r>
            <a:r>
              <a:rPr lang="de-DE" altLang="ko-KR" sz="1100" dirty="0">
                <a:sym typeface="Wingdings" panose="05000000000000000000" pitchFamily="2" charset="2"/>
              </a:rPr>
              <a:t>– </a:t>
            </a:r>
            <a:r>
              <a:rPr lang="ko-KR" altLang="de-DE" sz="1100" dirty="0">
                <a:sym typeface="Wingdings" panose="05000000000000000000" pitchFamily="2" charset="2"/>
              </a:rPr>
              <a:t>인플레이션율</a:t>
            </a:r>
            <a:r>
              <a:rPr lang="de-DE" altLang="ko-KR" sz="1100" dirty="0">
                <a:sym typeface="Wingdings" panose="05000000000000000000" pitchFamily="2" charset="2"/>
              </a:rPr>
              <a:t>(</a:t>
            </a:r>
            <a:r>
              <a:rPr lang="ko-KR" altLang="de-DE" sz="1100" dirty="0">
                <a:sym typeface="Wingdings" panose="05000000000000000000" pitchFamily="2" charset="2"/>
              </a:rPr>
              <a:t>물가상승률</a:t>
            </a:r>
            <a:r>
              <a:rPr lang="de-DE" altLang="ko-KR" sz="1100" dirty="0">
                <a:sym typeface="Wingdings" panose="05000000000000000000" pitchFamily="2" charset="2"/>
              </a:rPr>
              <a:t>)</a:t>
            </a:r>
            <a:r>
              <a:rPr lang="ko-KR" altLang="de-DE" sz="1100" dirty="0">
                <a:sym typeface="Wingdings" panose="05000000000000000000" pitchFamily="2" charset="2"/>
              </a:rPr>
              <a:t> </a:t>
            </a:r>
            <a:endParaRPr lang="de-DE" altLang="ko-KR" sz="1100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endParaRPr lang="de-DE" altLang="ko-KR" sz="1325" dirty="0">
              <a:sym typeface="Wingdings" panose="05000000000000000000" pitchFamily="2" charset="2"/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35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346</Words>
  <Application>Microsoft Office PowerPoint</Application>
  <PresentationFormat>와이드스크린</PresentationFormat>
  <Paragraphs>43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Wingdings</vt:lpstr>
      <vt:lpstr>Office 테마</vt:lpstr>
      <vt:lpstr>24장. 생계비의 측정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현대경제분석   강의노트</dc:title>
  <dc:creator>User</dc:creator>
  <cp:lastModifiedBy>User</cp:lastModifiedBy>
  <cp:revision>50</cp:revision>
  <dcterms:created xsi:type="dcterms:W3CDTF">2021-06-28T02:08:57Z</dcterms:created>
  <dcterms:modified xsi:type="dcterms:W3CDTF">2022-12-25T09:24:53Z</dcterms:modified>
</cp:coreProperties>
</file>