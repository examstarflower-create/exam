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1" r:id="rId1"/>
  </p:sldMasterIdLst>
  <p:notesMasterIdLst>
    <p:notesMasterId r:id="rId5"/>
  </p:notesMasterIdLst>
  <p:sldIdLst>
    <p:sldId id="257" r:id="rId2"/>
    <p:sldId id="258" r:id="rId3"/>
    <p:sldId id="259" r:id="rId4"/>
  </p:sldIdLst>
  <p:sldSz cx="6858000" cy="12192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532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3ACC92-CB11-4036-ADF7-E0BC6A6A1264}" type="datetimeFigureOut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E10A1-D3FC-451D-B227-50AB5FD54F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385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8940-2C76-495C-8FB7-F4A9D28239AA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845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A891-E498-4678-8D06-486FCC2BADEF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678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4FA93-A02B-42D6-A8B3-8681C853C7B8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94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91E48-2200-4646-B2AF-8A65E8AA4025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45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F0A6E-CDCA-463B-AB9C-2AD65F7DC7CE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91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2F37D-F6B4-429A-93F0-670EB34C6EF1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5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75B21-6647-4787-AAB5-A8BA543A8A03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35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F1AC2-CEA2-4AD0-9EED-9798843472E1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76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37C7C-8297-41A4-AED2-93F81127B44B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45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48E2-EAB7-4DB0-B809-DCB379E8731B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1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03C7-C7FA-46F0-BB19-A2462D02B89C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09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6E84B-CCB9-4E10-8C0E-8C6664F6450B}" type="datetime1">
              <a:rPr lang="ko-KR" altLang="en-US" smtClean="0"/>
              <a:t>2022-12-18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7AACF2-4E8D-444E-8FEB-7FAF57A63B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19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hf hdr="0" ftr="0" dt="0"/>
  <p:txStyles>
    <p:titleStyle>
      <a:lvl1pPr algn="l" defTabSz="514350" rtl="0" eaLnBrk="1" latinLnBrk="1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1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1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1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/>
              <a:t>13</a:t>
            </a:r>
            <a:r>
              <a:rPr lang="ko-KR" altLang="en-US" dirty="0"/>
              <a:t>장 생산의 비용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1488" y="1798320"/>
            <a:ext cx="5915025" cy="918294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400" dirty="0"/>
              <a:t>기업의 목표는 이익의 극대화</a:t>
            </a:r>
            <a:endParaRPr lang="en-US" altLang="ko-KR" sz="1400" dirty="0"/>
          </a:p>
          <a:p>
            <a:pPr>
              <a:lnSpc>
                <a:spcPct val="160000"/>
              </a:lnSpc>
            </a:pPr>
            <a:r>
              <a:rPr lang="ko-KR" altLang="en-US" sz="1400" dirty="0"/>
              <a:t>이익 </a:t>
            </a:r>
            <a:r>
              <a:rPr lang="en-US" altLang="ko-KR" sz="1400" dirty="0"/>
              <a:t>profit = </a:t>
            </a:r>
            <a:r>
              <a:rPr lang="ko-KR" altLang="en-US" sz="1400" dirty="0"/>
              <a:t>총수입</a:t>
            </a:r>
            <a:r>
              <a:rPr lang="en-US" altLang="ko-KR" sz="1400" dirty="0"/>
              <a:t> total revenue – </a:t>
            </a:r>
            <a:r>
              <a:rPr lang="ko-KR" altLang="en-US" sz="1400" dirty="0"/>
              <a:t>총비용 </a:t>
            </a:r>
            <a:r>
              <a:rPr lang="en-US" altLang="ko-KR" sz="1400" dirty="0"/>
              <a:t>total cost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산출물을 </a:t>
            </a:r>
            <a:r>
              <a:rPr lang="ko-KR" altLang="en-US" sz="1100" dirty="0"/>
              <a:t>생산하고 팔아서 만들어내는 </a:t>
            </a:r>
            <a:r>
              <a:rPr lang="ko-KR" altLang="en-US" sz="1100" dirty="0" smtClean="0"/>
              <a:t>수입</a:t>
            </a:r>
            <a:endParaRPr lang="en-US" altLang="ko-KR" sz="1100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00" dirty="0" smtClean="0"/>
              <a:t>산출물을 </a:t>
            </a:r>
            <a:r>
              <a:rPr lang="ko-KR" altLang="en-US" sz="1100" dirty="0"/>
              <a:t>만드는 데 들어가는 </a:t>
            </a:r>
            <a:r>
              <a:rPr lang="ko-KR" altLang="en-US" sz="1100" dirty="0" smtClean="0"/>
              <a:t>투입 요소의 </a:t>
            </a:r>
            <a:r>
              <a:rPr lang="ko-KR" altLang="en-US" sz="1100" dirty="0"/>
              <a:t>양과 가격</a:t>
            </a:r>
            <a:endParaRPr lang="en-US" altLang="ko-KR" sz="1100" dirty="0"/>
          </a:p>
          <a:p>
            <a:pPr>
              <a:lnSpc>
                <a:spcPct val="160000"/>
              </a:lnSpc>
            </a:pPr>
            <a:r>
              <a:rPr lang="en-US" altLang="ko-KR" sz="1400" dirty="0"/>
              <a:t>(</a:t>
            </a:r>
            <a:r>
              <a:rPr lang="ko-KR" altLang="en-US" sz="1400" dirty="0"/>
              <a:t>기회</a:t>
            </a:r>
            <a:r>
              <a:rPr lang="en-US" altLang="ko-KR" sz="1400" dirty="0"/>
              <a:t>)</a:t>
            </a:r>
            <a:r>
              <a:rPr lang="ko-KR" altLang="en-US" sz="1400" dirty="0"/>
              <a:t>비용 </a:t>
            </a:r>
            <a:r>
              <a:rPr lang="en-US" altLang="ko-KR" sz="1400" dirty="0"/>
              <a:t>opportunity</a:t>
            </a:r>
            <a:r>
              <a:rPr lang="ko-KR" altLang="en-US" sz="1400" dirty="0"/>
              <a:t> </a:t>
            </a:r>
            <a:r>
              <a:rPr lang="en-US" altLang="ko-KR" sz="1400" dirty="0"/>
              <a:t>cost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무언가를 얻기 위해 포기한 모든 것</a:t>
            </a:r>
            <a:endParaRPr lang="en-US" altLang="ko-KR" sz="1400" dirty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경제학에서 </a:t>
            </a:r>
            <a:r>
              <a:rPr lang="ko-KR" altLang="en-US" sz="1100" dirty="0"/>
              <a:t>매우 중요하게 생각하는 </a:t>
            </a:r>
            <a:r>
              <a:rPr lang="ko-KR" altLang="en-US" sz="1100" dirty="0" smtClean="0"/>
              <a:t>비용 개념</a:t>
            </a:r>
            <a:r>
              <a:rPr lang="en-US" altLang="ko-KR" sz="1100" dirty="0"/>
              <a:t>, </a:t>
            </a:r>
            <a:r>
              <a:rPr lang="ko-KR" altLang="en-US" sz="1100" dirty="0"/>
              <a:t>반드시 기억할 것</a:t>
            </a:r>
            <a:r>
              <a:rPr lang="en-US" altLang="ko-KR" sz="1100" dirty="0"/>
              <a:t>. </a:t>
            </a:r>
          </a:p>
          <a:p>
            <a:pPr>
              <a:lnSpc>
                <a:spcPct val="160000"/>
              </a:lnSpc>
            </a:pPr>
            <a:r>
              <a:rPr lang="ko-KR" altLang="en-US" sz="1400" dirty="0"/>
              <a:t>총비용 </a:t>
            </a:r>
            <a:r>
              <a:rPr lang="en-US" altLang="ko-KR" sz="1400" dirty="0"/>
              <a:t>= </a:t>
            </a:r>
            <a:r>
              <a:rPr lang="ko-KR" altLang="en-US" sz="1400" dirty="0"/>
              <a:t>명시적 비용 </a:t>
            </a:r>
            <a:r>
              <a:rPr lang="en-US" altLang="ko-KR" sz="1400" dirty="0"/>
              <a:t>+ </a:t>
            </a:r>
            <a:r>
              <a:rPr lang="ko-KR" altLang="en-US" sz="1400" dirty="0"/>
              <a:t>암묵적 비용</a:t>
            </a:r>
            <a:endParaRPr lang="en-US" altLang="ko-KR" sz="1400" dirty="0"/>
          </a:p>
          <a:p>
            <a:pPr>
              <a:lnSpc>
                <a:spcPct val="160000"/>
              </a:lnSpc>
            </a:pPr>
            <a:r>
              <a:rPr lang="ko-KR" altLang="en-US" sz="1400" dirty="0"/>
              <a:t>암묵적 비용 </a:t>
            </a:r>
            <a:r>
              <a:rPr lang="en-US" altLang="ko-KR" sz="1400" dirty="0"/>
              <a:t>implicit cost </a:t>
            </a:r>
            <a:endParaRPr lang="en-US" altLang="ko-KR" sz="1400" dirty="0" smtClean="0"/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75" b="1" dirty="0" smtClean="0"/>
              <a:t>- </a:t>
            </a:r>
            <a:r>
              <a:rPr lang="ko-KR" altLang="en-US" sz="1175" dirty="0" smtClean="0"/>
              <a:t>사업주의 </a:t>
            </a:r>
            <a:r>
              <a:rPr lang="ko-KR" altLang="en-US" sz="1175" dirty="0"/>
              <a:t>시간 및 금전 등에 대한 </a:t>
            </a:r>
            <a:r>
              <a:rPr lang="ko-KR" altLang="en-US" sz="1175" dirty="0" smtClean="0"/>
              <a:t>기회 비용</a:t>
            </a:r>
            <a:r>
              <a:rPr lang="en-US" altLang="ko-KR" sz="1175" dirty="0" smtClean="0"/>
              <a:t>(</a:t>
            </a:r>
            <a:r>
              <a:rPr lang="ko-KR" altLang="en-US" sz="875" dirty="0" smtClean="0"/>
              <a:t>암묵적</a:t>
            </a:r>
            <a:r>
              <a:rPr lang="en-US" altLang="ko-KR" sz="875" dirty="0"/>
              <a:t>: </a:t>
            </a:r>
            <a:r>
              <a:rPr lang="ko-KR" altLang="en-US" sz="875" dirty="0"/>
              <a:t>눈에 보이지 </a:t>
            </a:r>
            <a:r>
              <a:rPr lang="ko-KR" altLang="en-US" sz="875" dirty="0" smtClean="0"/>
              <a:t>않는</a:t>
            </a:r>
            <a:r>
              <a:rPr lang="en-US" altLang="ko-KR" sz="875" dirty="0" smtClean="0"/>
              <a:t>)</a:t>
            </a:r>
            <a:endParaRPr lang="en-US" altLang="ko-KR" sz="875" dirty="0"/>
          </a:p>
          <a:p>
            <a:pPr>
              <a:lnSpc>
                <a:spcPct val="160000"/>
              </a:lnSpc>
            </a:pPr>
            <a:r>
              <a:rPr lang="ko-KR" altLang="en-US" sz="1400" dirty="0"/>
              <a:t>회계상의</a:t>
            </a:r>
            <a:r>
              <a:rPr lang="en-US" altLang="ko-KR" sz="1400" dirty="0"/>
              <a:t> </a:t>
            </a:r>
            <a:r>
              <a:rPr lang="ko-KR" altLang="en-US" sz="1400" dirty="0"/>
              <a:t>이익</a:t>
            </a:r>
            <a:r>
              <a:rPr lang="en-US" altLang="ko-KR" sz="1400" dirty="0"/>
              <a:t>(</a:t>
            </a:r>
            <a:r>
              <a:rPr lang="ko-KR" altLang="en-US" sz="1400" dirty="0"/>
              <a:t>총수입 </a:t>
            </a:r>
            <a:r>
              <a:rPr lang="en-US" altLang="ko-KR" sz="1400" dirty="0"/>
              <a:t>– </a:t>
            </a:r>
            <a:r>
              <a:rPr lang="ko-KR" altLang="en-US" sz="1400" dirty="0"/>
              <a:t>명시적 비용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vs. </a:t>
            </a:r>
            <a:endParaRPr lang="en-US" altLang="ko-KR" sz="1400" dirty="0" smtClean="0"/>
          </a:p>
          <a:p>
            <a:pPr>
              <a:lnSpc>
                <a:spcPct val="160000"/>
              </a:lnSpc>
            </a:pPr>
            <a:r>
              <a:rPr lang="ko-KR" altLang="en-US" sz="1400" dirty="0" smtClean="0"/>
              <a:t>경제적</a:t>
            </a:r>
            <a:r>
              <a:rPr lang="en-US" altLang="ko-KR" sz="1400" dirty="0" smtClean="0"/>
              <a:t> </a:t>
            </a:r>
            <a:r>
              <a:rPr lang="ko-KR" altLang="en-US" sz="1400" dirty="0"/>
              <a:t>이익</a:t>
            </a:r>
            <a:r>
              <a:rPr lang="en-US" altLang="ko-KR" sz="1400" dirty="0"/>
              <a:t>(</a:t>
            </a:r>
            <a:r>
              <a:rPr lang="ko-KR" altLang="en-US" sz="1400" dirty="0"/>
              <a:t>총수입</a:t>
            </a:r>
            <a:r>
              <a:rPr lang="en-US" altLang="ko-KR" sz="1400" dirty="0"/>
              <a:t> -  </a:t>
            </a:r>
            <a:r>
              <a:rPr lang="ko-KR" altLang="en-US" sz="1400" dirty="0"/>
              <a:t>명시적  비용</a:t>
            </a:r>
            <a:r>
              <a:rPr lang="en-US" altLang="ko-KR" sz="1400" dirty="0"/>
              <a:t> + </a:t>
            </a:r>
            <a:r>
              <a:rPr lang="ko-KR" altLang="en-US" sz="1400" dirty="0" err="1"/>
              <a:t>암묵적비용</a:t>
            </a:r>
            <a:r>
              <a:rPr lang="en-US" altLang="ko-KR" sz="1400" dirty="0"/>
              <a:t>)</a:t>
            </a:r>
          </a:p>
          <a:p>
            <a:pPr marL="257175" lvl="1" indent="0">
              <a:lnSpc>
                <a:spcPct val="160000"/>
              </a:lnSpc>
              <a:buNone/>
            </a:pPr>
            <a:r>
              <a:rPr lang="en-US" altLang="ko-KR" sz="1100" dirty="0" smtClean="0"/>
              <a:t>- </a:t>
            </a:r>
            <a:r>
              <a:rPr lang="ko-KR" altLang="en-US" sz="1100" dirty="0" smtClean="0"/>
              <a:t>회계상의 </a:t>
            </a:r>
            <a:r>
              <a:rPr lang="ko-KR" altLang="en-US" sz="1100" dirty="0"/>
              <a:t>이익은 명시적 비용만 계산한다</a:t>
            </a:r>
            <a:r>
              <a:rPr lang="en-US" altLang="ko-KR" sz="1100" dirty="0"/>
              <a:t>. </a:t>
            </a:r>
            <a:r>
              <a:rPr lang="ko-KR" altLang="en-US" sz="1100" dirty="0"/>
              <a:t>그래서 경제적 이익에 비해 더 크다</a:t>
            </a:r>
            <a:r>
              <a:rPr lang="en-US" altLang="ko-KR" sz="1100" dirty="0"/>
              <a:t>. </a:t>
            </a:r>
          </a:p>
          <a:p>
            <a:pPr>
              <a:lnSpc>
                <a:spcPct val="160000"/>
              </a:lnSpc>
            </a:pPr>
            <a:endParaRPr lang="en-US" altLang="ko-KR" sz="1400" dirty="0" smtClean="0"/>
          </a:p>
          <a:p>
            <a:pPr>
              <a:lnSpc>
                <a:spcPct val="160000"/>
              </a:lnSpc>
            </a:pPr>
            <a:r>
              <a:rPr lang="ko-KR" altLang="en-US" sz="1400" dirty="0" smtClean="0"/>
              <a:t>생산함수 </a:t>
            </a:r>
            <a:r>
              <a:rPr lang="en-US" altLang="ko-KR" sz="1400" dirty="0"/>
              <a:t>production </a:t>
            </a:r>
            <a:r>
              <a:rPr lang="en-US" altLang="ko-KR" sz="1400" dirty="0" smtClean="0"/>
              <a:t>function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75" dirty="0" smtClean="0"/>
              <a:t>어떤 </a:t>
            </a:r>
            <a:r>
              <a:rPr lang="ko-KR" altLang="en-US" sz="1175" dirty="0"/>
              <a:t>재화를 만들기 위해 사용된 생산요소의 투입량과 산출량 사이의 </a:t>
            </a:r>
            <a:r>
              <a:rPr lang="ko-KR" altLang="en-US" sz="1175" dirty="0" smtClean="0"/>
              <a:t>관계</a:t>
            </a:r>
            <a:endParaRPr lang="en-US" altLang="ko-KR" sz="1175" dirty="0" smtClean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75" dirty="0"/>
              <a:t>Gets </a:t>
            </a:r>
            <a:r>
              <a:rPr lang="en-US" altLang="ko-KR" sz="1175" dirty="0"/>
              <a:t>Flat, </a:t>
            </a:r>
            <a:r>
              <a:rPr lang="ko-KR" altLang="en-US" sz="1175" dirty="0"/>
              <a:t>평평해진다</a:t>
            </a:r>
            <a:r>
              <a:rPr lang="en-US" altLang="ko-KR" sz="1175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sz="1400" dirty="0" err="1"/>
              <a:t>한계생산물</a:t>
            </a:r>
            <a:r>
              <a:rPr lang="ko-KR" altLang="en-US" sz="1400" dirty="0"/>
              <a:t> </a:t>
            </a:r>
            <a:r>
              <a:rPr lang="en-US" altLang="ko-KR" sz="1400" dirty="0"/>
              <a:t>marginal product : </a:t>
            </a:r>
            <a:r>
              <a:rPr lang="ko-KR" altLang="en-US" sz="1400" dirty="0" err="1"/>
              <a:t>생산함수의</a:t>
            </a:r>
            <a:r>
              <a:rPr lang="ko-KR" altLang="en-US" sz="1400" dirty="0"/>
              <a:t> 기울기</a:t>
            </a:r>
            <a:r>
              <a:rPr lang="en-US" altLang="ko-KR" sz="1400" dirty="0"/>
              <a:t>(slope)</a:t>
            </a:r>
          </a:p>
          <a:p>
            <a:pPr>
              <a:lnSpc>
                <a:spcPct val="160000"/>
              </a:lnSpc>
            </a:pPr>
            <a:r>
              <a:rPr lang="ko-KR" altLang="en-US" sz="1400" dirty="0"/>
              <a:t>노동의 </a:t>
            </a:r>
            <a:r>
              <a:rPr lang="ko-KR" altLang="en-US" sz="1400" dirty="0" err="1"/>
              <a:t>한계생산물</a:t>
            </a:r>
            <a:r>
              <a:rPr lang="ko-KR" altLang="en-US" sz="1400" dirty="0"/>
              <a:t>  </a:t>
            </a:r>
            <a:r>
              <a:rPr lang="en-US" altLang="ko-KR" sz="1400" dirty="0"/>
              <a:t>MPL = ∆Q / ∆L</a:t>
            </a:r>
          </a:p>
          <a:p>
            <a:pPr>
              <a:lnSpc>
                <a:spcPct val="160000"/>
              </a:lnSpc>
            </a:pPr>
            <a:r>
              <a:rPr lang="ko-KR" altLang="en-US" sz="1400" dirty="0"/>
              <a:t>한계생산물의 감소</a:t>
            </a:r>
            <a:endParaRPr lang="en-US" altLang="ko-KR" sz="1400" dirty="0"/>
          </a:p>
          <a:p>
            <a:pPr>
              <a:lnSpc>
                <a:spcPct val="160000"/>
              </a:lnSpc>
            </a:pPr>
            <a:r>
              <a:rPr lang="ko-KR" altLang="en-US" sz="1400" dirty="0"/>
              <a:t>한계생산물은</a:t>
            </a:r>
            <a:r>
              <a:rPr lang="en-US" altLang="ko-KR" sz="1400" dirty="0"/>
              <a:t> </a:t>
            </a:r>
            <a:r>
              <a:rPr lang="ko-KR" altLang="en-US" sz="1400" dirty="0"/>
              <a:t>왜 중요한가</a:t>
            </a:r>
            <a:r>
              <a:rPr lang="en-US" altLang="ko-KR" sz="1400" dirty="0"/>
              <a:t>? </a:t>
            </a:r>
            <a:r>
              <a:rPr lang="ko-KR" altLang="en-US" sz="1400" dirty="0"/>
              <a:t>왜 감소하는가</a:t>
            </a:r>
            <a:r>
              <a:rPr lang="en-US" altLang="ko-KR" sz="1400" dirty="0"/>
              <a:t>?</a:t>
            </a:r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endParaRPr lang="en-US" altLang="ko-KR" sz="1400" dirty="0"/>
          </a:p>
          <a:p>
            <a:pPr>
              <a:lnSpc>
                <a:spcPct val="160000"/>
              </a:lnSpc>
            </a:pPr>
            <a:endParaRPr lang="ko-KR" altLang="en-US" sz="1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6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500063" y="979170"/>
            <a:ext cx="5915025" cy="10279380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1400" dirty="0"/>
              <a:t>총비용 곡선 </a:t>
            </a:r>
            <a:r>
              <a:rPr lang="en-US" altLang="ko-KR" sz="1400" dirty="0"/>
              <a:t>Total Cost Curve, TC</a:t>
            </a:r>
          </a:p>
          <a:p>
            <a:pPr>
              <a:lnSpc>
                <a:spcPct val="160000"/>
              </a:lnSpc>
            </a:pPr>
            <a:r>
              <a:rPr lang="ko-KR" altLang="en-US" sz="1400" dirty="0"/>
              <a:t>한계비용 </a:t>
            </a:r>
            <a:r>
              <a:rPr lang="en-US" altLang="ko-KR" sz="1400" dirty="0"/>
              <a:t>MC, marginal </a:t>
            </a:r>
            <a:r>
              <a:rPr lang="en-US" altLang="ko-KR" sz="1400" dirty="0" smtClean="0"/>
              <a:t>cost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75" dirty="0"/>
              <a:t>재화나 </a:t>
            </a:r>
            <a:r>
              <a:rPr lang="ko-KR" altLang="en-US" sz="1175" dirty="0"/>
              <a:t>서비스를 한 단위 추가 생산할 때 생겨나는 총비용의 증가분</a:t>
            </a:r>
            <a:endParaRPr lang="en-US" altLang="ko-KR" sz="1175" dirty="0"/>
          </a:p>
          <a:p>
            <a:pPr>
              <a:lnSpc>
                <a:spcPct val="160000"/>
              </a:lnSpc>
            </a:pPr>
            <a:r>
              <a:rPr lang="en-US" altLang="ko-KR" sz="1400" dirty="0"/>
              <a:t>MC = ∆TC / ∆Q</a:t>
            </a:r>
          </a:p>
          <a:p>
            <a:pPr>
              <a:lnSpc>
                <a:spcPct val="160000"/>
              </a:lnSpc>
            </a:pPr>
            <a:r>
              <a:rPr lang="ko-KR" altLang="en-US" sz="1400" dirty="0"/>
              <a:t>한계비용은 왜 중요한가</a:t>
            </a:r>
            <a:r>
              <a:rPr lang="en-US" altLang="ko-KR" sz="1400" dirty="0"/>
              <a:t>? </a:t>
            </a:r>
            <a:r>
              <a:rPr lang="ko-KR" altLang="en-US" sz="1400" dirty="0" smtClean="0"/>
              <a:t>답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이익극대화를 </a:t>
            </a:r>
            <a:r>
              <a:rPr lang="ko-KR" altLang="en-US" sz="1400" dirty="0"/>
              <a:t>위해서</a:t>
            </a:r>
            <a:endParaRPr lang="en-US" altLang="ko-KR" sz="14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75" dirty="0"/>
              <a:t>이익극대화를 위해서는 </a:t>
            </a:r>
            <a:r>
              <a:rPr lang="en-US" altLang="ko-KR" sz="1175" dirty="0"/>
              <a:t>(</a:t>
            </a:r>
            <a:r>
              <a:rPr lang="ko-KR" altLang="en-US" sz="1175" dirty="0" smtClean="0"/>
              <a:t>한계비용</a:t>
            </a:r>
            <a:r>
              <a:rPr lang="en-US" altLang="ko-KR" sz="1175" dirty="0" smtClean="0"/>
              <a:t> </a:t>
            </a:r>
            <a:r>
              <a:rPr lang="en-US" altLang="ko-KR" sz="1175" dirty="0"/>
              <a:t>MC = </a:t>
            </a:r>
            <a:r>
              <a:rPr lang="ko-KR" altLang="en-US" sz="1175" dirty="0" err="1"/>
              <a:t>한계수입</a:t>
            </a:r>
            <a:r>
              <a:rPr lang="en-US" altLang="ko-KR" sz="1175" dirty="0"/>
              <a:t> </a:t>
            </a:r>
            <a:r>
              <a:rPr lang="en-US" altLang="ko-KR" sz="1175" dirty="0" smtClean="0"/>
              <a:t>MR) </a:t>
            </a:r>
            <a:r>
              <a:rPr lang="ko-KR" altLang="en-US" sz="1175" dirty="0"/>
              <a:t>조건을 만족해야 함</a:t>
            </a:r>
            <a:r>
              <a:rPr lang="en-US" altLang="ko-KR" sz="1175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75" dirty="0"/>
              <a:t>14</a:t>
            </a:r>
            <a:r>
              <a:rPr lang="ko-KR" altLang="en-US" sz="1175" dirty="0"/>
              <a:t>장에서 다시 설명합니다</a:t>
            </a:r>
            <a:r>
              <a:rPr lang="en-US" altLang="ko-KR" sz="1175" dirty="0"/>
              <a:t>. </a:t>
            </a:r>
          </a:p>
          <a:p>
            <a:pPr>
              <a:lnSpc>
                <a:spcPct val="160000"/>
              </a:lnSpc>
            </a:pPr>
            <a:r>
              <a:rPr lang="ko-KR" altLang="en-US" sz="1400" dirty="0"/>
              <a:t>고정비용 </a:t>
            </a:r>
            <a:r>
              <a:rPr lang="en-US" altLang="ko-KR" sz="1400" dirty="0"/>
              <a:t>Fixed </a:t>
            </a:r>
            <a:r>
              <a:rPr lang="en-US" altLang="ko-KR" sz="1400" dirty="0" smtClean="0"/>
              <a:t>Cost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75" dirty="0"/>
              <a:t>산출량과 </a:t>
            </a:r>
            <a:r>
              <a:rPr lang="ko-KR" altLang="en-US" sz="1175" dirty="0"/>
              <a:t>상관없이 늘 고정</a:t>
            </a:r>
            <a:r>
              <a:rPr lang="en-US" altLang="ko-KR" sz="1175" dirty="0"/>
              <a:t>, ex. </a:t>
            </a:r>
            <a:r>
              <a:rPr lang="ko-KR" altLang="en-US" sz="1175" dirty="0"/>
              <a:t>임대료</a:t>
            </a:r>
            <a:r>
              <a:rPr lang="en-US" altLang="ko-KR" sz="1175" dirty="0"/>
              <a:t>, </a:t>
            </a:r>
            <a:r>
              <a:rPr lang="ko-KR" altLang="en-US" sz="1175" dirty="0"/>
              <a:t>이자</a:t>
            </a:r>
            <a:endParaRPr lang="en-US" altLang="ko-KR" sz="1175" dirty="0"/>
          </a:p>
          <a:p>
            <a:pPr>
              <a:lnSpc>
                <a:spcPct val="160000"/>
              </a:lnSpc>
            </a:pPr>
            <a:r>
              <a:rPr lang="ko-KR" altLang="en-US" sz="1400" dirty="0" err="1"/>
              <a:t>변동비용</a:t>
            </a:r>
            <a:r>
              <a:rPr lang="ko-KR" altLang="en-US" sz="1400" dirty="0"/>
              <a:t> </a:t>
            </a:r>
            <a:r>
              <a:rPr lang="en-US" altLang="ko-KR" sz="1400" dirty="0"/>
              <a:t>Variable</a:t>
            </a:r>
            <a:r>
              <a:rPr lang="en-US" altLang="ko-KR" sz="1400" dirty="0"/>
              <a:t> Cost </a:t>
            </a:r>
            <a:endParaRPr lang="en-US" altLang="ko-KR" sz="14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75" dirty="0"/>
              <a:t>산출량의 </a:t>
            </a:r>
            <a:r>
              <a:rPr lang="ko-KR" altLang="en-US" sz="1175" dirty="0"/>
              <a:t>변화에 따라 변하는 비용</a:t>
            </a:r>
            <a:r>
              <a:rPr lang="en-US" altLang="ko-KR" sz="1175" dirty="0"/>
              <a:t>, ex. </a:t>
            </a:r>
            <a:r>
              <a:rPr lang="ko-KR" altLang="en-US" sz="1175" dirty="0"/>
              <a:t>노동비용</a:t>
            </a:r>
            <a:r>
              <a:rPr lang="en-US" altLang="ko-KR" sz="1175" dirty="0"/>
              <a:t>, </a:t>
            </a:r>
            <a:r>
              <a:rPr lang="ko-KR" altLang="en-US" sz="1175" dirty="0"/>
              <a:t>재료비 등</a:t>
            </a:r>
            <a:endParaRPr lang="en-US" altLang="ko-KR" sz="1175" dirty="0"/>
          </a:p>
          <a:p>
            <a:pPr>
              <a:lnSpc>
                <a:spcPct val="160000"/>
              </a:lnSpc>
            </a:pPr>
            <a:endParaRPr lang="en-US" altLang="ko-KR" sz="1400" dirty="0" smtClean="0"/>
          </a:p>
          <a:p>
            <a:pPr>
              <a:lnSpc>
                <a:spcPct val="160000"/>
              </a:lnSpc>
            </a:pPr>
            <a:r>
              <a:rPr lang="ko-KR" altLang="en-US" sz="1400" dirty="0" smtClean="0"/>
              <a:t>총비용 </a:t>
            </a:r>
            <a:r>
              <a:rPr lang="en-US" altLang="ko-KR" sz="1400" dirty="0"/>
              <a:t>= </a:t>
            </a:r>
            <a:r>
              <a:rPr lang="ko-KR" altLang="en-US" sz="1400" dirty="0"/>
              <a:t>고정비 </a:t>
            </a:r>
            <a:r>
              <a:rPr lang="en-US" altLang="ko-KR" sz="1400" dirty="0"/>
              <a:t>+ </a:t>
            </a:r>
            <a:r>
              <a:rPr lang="ko-KR" altLang="en-US" sz="1400" dirty="0"/>
              <a:t>변동비</a:t>
            </a:r>
            <a:endParaRPr lang="en-US" altLang="ko-KR" sz="1400" dirty="0"/>
          </a:p>
          <a:p>
            <a:pPr>
              <a:lnSpc>
                <a:spcPct val="160000"/>
              </a:lnSpc>
            </a:pPr>
            <a:r>
              <a:rPr lang="ko-KR" altLang="en-US" sz="1400" dirty="0" err="1"/>
              <a:t>평균고정비</a:t>
            </a:r>
            <a:r>
              <a:rPr lang="ko-KR" altLang="en-US" sz="1400" dirty="0"/>
              <a:t> </a:t>
            </a:r>
            <a:r>
              <a:rPr lang="en-US" altLang="ko-KR" sz="1400" dirty="0"/>
              <a:t>AFC + </a:t>
            </a:r>
            <a:r>
              <a:rPr lang="ko-KR" altLang="en-US" sz="1400" dirty="0" err="1"/>
              <a:t>평균변동비</a:t>
            </a:r>
            <a:r>
              <a:rPr lang="ko-KR" altLang="en-US" sz="1400" dirty="0"/>
              <a:t> </a:t>
            </a:r>
            <a:r>
              <a:rPr lang="en-US" altLang="ko-KR" sz="1400" dirty="0"/>
              <a:t>AVC = </a:t>
            </a:r>
            <a:r>
              <a:rPr lang="ko-KR" altLang="en-US" sz="1400" dirty="0" err="1"/>
              <a:t>평균총비용</a:t>
            </a:r>
            <a:r>
              <a:rPr lang="ko-KR" altLang="en-US" sz="1400" dirty="0"/>
              <a:t> </a:t>
            </a:r>
            <a:r>
              <a:rPr lang="en-US" altLang="ko-KR" sz="1400" dirty="0"/>
              <a:t>ATC</a:t>
            </a:r>
          </a:p>
          <a:p>
            <a:pPr>
              <a:lnSpc>
                <a:spcPct val="160000"/>
              </a:lnSpc>
            </a:pPr>
            <a:r>
              <a:rPr lang="ko-KR" altLang="en-US" sz="1400" dirty="0" err="1"/>
              <a:t>평균총비용</a:t>
            </a:r>
            <a:r>
              <a:rPr lang="en-US" altLang="ko-KR" sz="1400" dirty="0"/>
              <a:t> ATC</a:t>
            </a:r>
            <a:r>
              <a:rPr lang="ko-KR" altLang="en-US" sz="1400" dirty="0"/>
              <a:t>는 알파벳 </a:t>
            </a:r>
            <a:r>
              <a:rPr lang="en-US" altLang="ko-KR" sz="1400" dirty="0"/>
              <a:t>U </a:t>
            </a:r>
            <a:r>
              <a:rPr lang="ko-KR" altLang="en-US" sz="1400" dirty="0"/>
              <a:t>자 모양 </a:t>
            </a:r>
            <a:endParaRPr lang="en-US" altLang="ko-KR" sz="14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en-US" altLang="ko-KR" sz="1175" dirty="0"/>
              <a:t>Q</a:t>
            </a:r>
            <a:r>
              <a:rPr lang="ko-KR" altLang="en-US" sz="1175" dirty="0"/>
              <a:t>가 증가하면서 초반에는 </a:t>
            </a:r>
            <a:r>
              <a:rPr lang="en-US" altLang="ko-KR" sz="1175" dirty="0"/>
              <a:t>AFC</a:t>
            </a:r>
            <a:r>
              <a:rPr lang="ko-KR" altLang="en-US" sz="1175" dirty="0"/>
              <a:t>의 하락이 </a:t>
            </a:r>
            <a:r>
              <a:rPr lang="en-US" altLang="ko-KR" sz="1175" dirty="0"/>
              <a:t>ATC</a:t>
            </a:r>
            <a:r>
              <a:rPr lang="ko-KR" altLang="en-US" sz="1175" dirty="0"/>
              <a:t>를 끌어내리지만</a:t>
            </a:r>
            <a:r>
              <a:rPr lang="en-US" altLang="ko-KR" sz="1175" dirty="0"/>
              <a:t>, Q</a:t>
            </a:r>
            <a:r>
              <a:rPr lang="ko-KR" altLang="en-US" sz="1175" dirty="0"/>
              <a:t>가 일정수준을 넘어서면 </a:t>
            </a:r>
            <a:r>
              <a:rPr lang="en-US" altLang="ko-KR" sz="1175" dirty="0"/>
              <a:t>AVC</a:t>
            </a:r>
            <a:r>
              <a:rPr lang="ko-KR" altLang="en-US" sz="1175" dirty="0"/>
              <a:t>의 증가가 </a:t>
            </a:r>
            <a:r>
              <a:rPr lang="en-US" altLang="ko-KR" sz="1175" dirty="0"/>
              <a:t>ATC</a:t>
            </a:r>
            <a:r>
              <a:rPr lang="ko-KR" altLang="en-US" sz="1175" dirty="0"/>
              <a:t>를 끌어 올린다</a:t>
            </a:r>
            <a:r>
              <a:rPr lang="en-US" altLang="ko-KR" sz="1175" dirty="0"/>
              <a:t>. </a:t>
            </a:r>
          </a:p>
          <a:p>
            <a:pPr>
              <a:lnSpc>
                <a:spcPct val="160000"/>
              </a:lnSpc>
            </a:pPr>
            <a:r>
              <a:rPr lang="ko-KR" altLang="en-US" sz="1400" dirty="0"/>
              <a:t>효율적 생산규모</a:t>
            </a:r>
            <a:r>
              <a:rPr lang="en-US" altLang="ko-KR" sz="1400" dirty="0"/>
              <a:t>: </a:t>
            </a:r>
            <a:r>
              <a:rPr lang="ko-KR" altLang="en-US" sz="1400" dirty="0" smtClean="0"/>
              <a:t>평균총생산비용 </a:t>
            </a:r>
            <a:r>
              <a:rPr lang="en-US" altLang="ko-KR" sz="1400" dirty="0" smtClean="0"/>
              <a:t>ATC</a:t>
            </a:r>
            <a:r>
              <a:rPr lang="ko-KR" altLang="en-US" sz="1400" dirty="0" smtClean="0"/>
              <a:t>가 가장 </a:t>
            </a:r>
            <a:r>
              <a:rPr lang="ko-KR" altLang="en-US" sz="1400" dirty="0"/>
              <a:t>낮은 생산규모</a:t>
            </a:r>
            <a:endParaRPr lang="en-US" altLang="ko-KR" sz="14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75" dirty="0"/>
              <a:t>쉽게 말하면</a:t>
            </a:r>
            <a:r>
              <a:rPr lang="en-US" altLang="ko-KR" sz="1175" dirty="0"/>
              <a:t> </a:t>
            </a:r>
            <a:r>
              <a:rPr lang="ko-KR" altLang="en-US" sz="1175" dirty="0"/>
              <a:t>단위당 생산원가가 가장 작은 </a:t>
            </a:r>
            <a:r>
              <a:rPr lang="en-US" altLang="ko-KR" sz="1175" dirty="0"/>
              <a:t>Q</a:t>
            </a:r>
            <a:r>
              <a:rPr lang="ko-KR" altLang="en-US" sz="1175" dirty="0"/>
              <a:t>가 얼마인지를 알려줌</a:t>
            </a:r>
            <a:r>
              <a:rPr lang="en-US" altLang="ko-KR" sz="1175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75" dirty="0"/>
              <a:t>기업의 이익관점에서는 중요한 사안 </a:t>
            </a:r>
            <a:endParaRPr lang="en-US" altLang="ko-KR" sz="1175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75" dirty="0"/>
              <a:t>단위당</a:t>
            </a:r>
            <a:r>
              <a:rPr lang="en-US" altLang="ko-KR" sz="1175" dirty="0"/>
              <a:t> </a:t>
            </a:r>
            <a:r>
              <a:rPr lang="ko-KR" altLang="en-US" sz="1175" dirty="0"/>
              <a:t>이익 또는 마진은 단위당 </a:t>
            </a:r>
            <a:r>
              <a:rPr lang="en-US" altLang="ko-KR" sz="1175" dirty="0" smtClean="0"/>
              <a:t>(</a:t>
            </a:r>
            <a:r>
              <a:rPr lang="ko-KR" altLang="en-US" sz="1175" dirty="0" smtClean="0"/>
              <a:t>가격 </a:t>
            </a:r>
            <a:r>
              <a:rPr lang="en-US" altLang="ko-KR" sz="1175" dirty="0"/>
              <a:t>– </a:t>
            </a:r>
            <a:r>
              <a:rPr lang="ko-KR" altLang="en-US" sz="1175" dirty="0" smtClean="0"/>
              <a:t>생산비용</a:t>
            </a:r>
            <a:r>
              <a:rPr lang="en-US" altLang="ko-KR" sz="1175" dirty="0" smtClean="0"/>
              <a:t>)</a:t>
            </a:r>
            <a:r>
              <a:rPr lang="ko-KR" altLang="en-US" sz="1175" dirty="0" smtClean="0"/>
              <a:t>이기 때문</a:t>
            </a:r>
            <a:endParaRPr lang="en-US" altLang="ko-KR" sz="1175" dirty="0" smtClean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평균총비용</a:t>
            </a:r>
            <a:r>
              <a:rPr lang="ko-KR" altLang="en-US" sz="1400" dirty="0"/>
              <a:t> </a:t>
            </a:r>
            <a:r>
              <a:rPr lang="en-US" altLang="ko-KR" sz="1400" dirty="0"/>
              <a:t>ATC</a:t>
            </a:r>
            <a:r>
              <a:rPr lang="ko-KR" altLang="en-US" sz="1400" dirty="0"/>
              <a:t>와 </a:t>
            </a:r>
            <a:r>
              <a:rPr lang="ko-KR" altLang="en-US" sz="1400" dirty="0" err="1"/>
              <a:t>한계비용의</a:t>
            </a:r>
            <a:r>
              <a:rPr lang="ko-KR" altLang="en-US" sz="1400" dirty="0"/>
              <a:t> 관계</a:t>
            </a:r>
            <a:endParaRPr lang="en-US" altLang="ko-KR" sz="1400" dirty="0"/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75" dirty="0"/>
              <a:t>그림으로 확인 바람</a:t>
            </a:r>
            <a:r>
              <a:rPr lang="en-US" altLang="ko-KR" sz="1175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r>
              <a:rPr lang="ko-KR" altLang="en-US" sz="1175" dirty="0"/>
              <a:t>한계비용곡선은 </a:t>
            </a:r>
            <a:r>
              <a:rPr lang="ko-KR" altLang="en-US" sz="1175" dirty="0" smtClean="0"/>
              <a:t>반드시 평균총비용곡선의 </a:t>
            </a:r>
            <a:r>
              <a:rPr lang="ko-KR" altLang="en-US" sz="1175" dirty="0"/>
              <a:t>최저점을 가로지른다</a:t>
            </a:r>
            <a:r>
              <a:rPr lang="en-US" altLang="ko-KR" sz="1175" dirty="0"/>
              <a:t>. </a:t>
            </a:r>
          </a:p>
          <a:p>
            <a:pPr lvl="1">
              <a:lnSpc>
                <a:spcPct val="160000"/>
              </a:lnSpc>
              <a:buFontTx/>
              <a:buChar char="-"/>
            </a:pPr>
            <a:endParaRPr lang="ko-KR" altLang="en-US" sz="1175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3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0538" y="940506"/>
            <a:ext cx="5915025" cy="1056569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smtClean="0"/>
              <a:t>장단기 </a:t>
            </a:r>
            <a:r>
              <a:rPr lang="ko-KR" altLang="en-US" sz="1400" dirty="0"/>
              <a:t>비용 구분</a:t>
            </a:r>
            <a:endParaRPr lang="en-US" altLang="ko-KR" sz="14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175" dirty="0"/>
              <a:t>경제학에서의 장단기 구분은 시간의 절대적 길이에 좌우되지 않음</a:t>
            </a:r>
            <a:r>
              <a:rPr lang="en-US" altLang="ko-KR" sz="1175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단기 </a:t>
            </a:r>
            <a:r>
              <a:rPr lang="en-US" altLang="ko-KR" sz="1400" dirty="0"/>
              <a:t>short run </a:t>
            </a:r>
            <a:endParaRPr lang="en-US" altLang="ko-KR" sz="1400" dirty="0" smtClean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200" dirty="0"/>
              <a:t>최소 </a:t>
            </a:r>
            <a:r>
              <a:rPr lang="ko-KR" altLang="en-US" sz="1100" dirty="0"/>
              <a:t>하나</a:t>
            </a:r>
            <a:r>
              <a:rPr lang="ko-KR" altLang="en-US" sz="1200" dirty="0"/>
              <a:t> 이상의 투입요소들이 고정되어 있는 상황</a:t>
            </a:r>
            <a:endParaRPr lang="en-US" altLang="ko-KR" sz="12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175" dirty="0"/>
              <a:t>고정비용 </a:t>
            </a:r>
            <a:r>
              <a:rPr lang="en-US" altLang="ko-KR" sz="1175" dirty="0"/>
              <a:t>FC</a:t>
            </a:r>
            <a:r>
              <a:rPr lang="ko-KR" altLang="en-US" sz="1175" dirty="0"/>
              <a:t> 발생하는</a:t>
            </a:r>
            <a:r>
              <a:rPr lang="en-US" altLang="ko-KR" sz="1175" dirty="0"/>
              <a:t> </a:t>
            </a:r>
            <a:r>
              <a:rPr lang="ko-KR" altLang="en-US" sz="1175" dirty="0"/>
              <a:t>상황을 말함</a:t>
            </a:r>
            <a:r>
              <a:rPr lang="en-US" altLang="ko-KR" sz="1175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장기 </a:t>
            </a:r>
            <a:r>
              <a:rPr lang="en-US" altLang="ko-KR" sz="1400" dirty="0"/>
              <a:t>long </a:t>
            </a:r>
            <a:r>
              <a:rPr lang="en-US" altLang="ko-KR" sz="1400" dirty="0" smtClean="0"/>
              <a:t>run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/>
              <a:t>모든</a:t>
            </a:r>
            <a:r>
              <a:rPr lang="en-US" altLang="ko-KR" sz="1100" dirty="0"/>
              <a:t> </a:t>
            </a:r>
            <a:r>
              <a:rPr lang="ko-KR" altLang="en-US" sz="1100" dirty="0"/>
              <a:t>투입요소들이 변동 가능함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/>
              <a:t>새로운 공장을 세우거나 기존 공장을 없애기도 함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/>
              <a:t>장기에는 고정비용이</a:t>
            </a:r>
            <a:r>
              <a:rPr lang="en-US" altLang="ko-KR" sz="1100" dirty="0"/>
              <a:t> </a:t>
            </a:r>
            <a:r>
              <a:rPr lang="ko-KR" altLang="en-US" sz="1100" dirty="0"/>
              <a:t>존재하지 </a:t>
            </a:r>
            <a:r>
              <a:rPr lang="ko-KR" altLang="en-US" sz="1200" dirty="0"/>
              <a:t>않음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 smtClean="0"/>
              <a:t>모든 </a:t>
            </a:r>
            <a:r>
              <a:rPr lang="ko-KR" altLang="en-US" sz="1100" dirty="0"/>
              <a:t>것은 변동가능하기 때문에 </a:t>
            </a:r>
            <a:r>
              <a:rPr lang="ko-KR" altLang="en-US" sz="1100" dirty="0" err="1"/>
              <a:t>변동비용만</a:t>
            </a:r>
            <a:r>
              <a:rPr lang="ko-KR" altLang="en-US" sz="1100" dirty="0"/>
              <a:t> 있음</a:t>
            </a:r>
            <a:r>
              <a:rPr lang="en-US" altLang="ko-KR" sz="1100" dirty="0"/>
              <a:t>. </a:t>
            </a:r>
            <a:endParaRPr lang="en-US" altLang="ko-KR" sz="1100" dirty="0" smtClean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100" dirty="0" smtClean="0"/>
              <a:t>장기에는 </a:t>
            </a:r>
            <a:r>
              <a:rPr lang="ko-KR" altLang="en-US" sz="1100" dirty="0"/>
              <a:t>따로 고정</a:t>
            </a:r>
            <a:r>
              <a:rPr lang="en-US" altLang="ko-KR" sz="1100" dirty="0"/>
              <a:t>/</a:t>
            </a:r>
            <a:r>
              <a:rPr lang="ko-KR" altLang="en-US" sz="1100" dirty="0" err="1"/>
              <a:t>변동구분을</a:t>
            </a:r>
            <a:r>
              <a:rPr lang="ko-KR" altLang="en-US" sz="1100" dirty="0"/>
              <a:t> 하지 않고 총비용이라고 함</a:t>
            </a:r>
            <a:r>
              <a:rPr lang="en-US" altLang="ko-KR" sz="1100" dirty="0"/>
              <a:t>.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200" dirty="0"/>
              <a:t>장기는 수많은 단기가 결합되어 있는 것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세가지 </a:t>
            </a:r>
            <a:r>
              <a:rPr lang="ko-KR" altLang="en-US" sz="1400" dirty="0" smtClean="0"/>
              <a:t>단기평균총비용과 장기평균총비용 </a:t>
            </a:r>
            <a:r>
              <a:rPr lang="en-US" altLang="ko-KR" sz="1400" dirty="0"/>
              <a:t>LRATC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en-US" altLang="ko-KR" sz="1200" dirty="0"/>
              <a:t>Small, Medium, Large </a:t>
            </a:r>
            <a:r>
              <a:rPr lang="ko-KR" altLang="en-US" sz="1200" dirty="0"/>
              <a:t>사이즈 공장 별로 각각 </a:t>
            </a:r>
            <a:r>
              <a:rPr lang="ko-KR" altLang="en-US" sz="1200" dirty="0" smtClean="0"/>
              <a:t>단기 </a:t>
            </a:r>
            <a:r>
              <a:rPr lang="ko-KR" altLang="en-US" sz="1200" dirty="0" err="1"/>
              <a:t>평균총비용</a:t>
            </a:r>
            <a:r>
              <a:rPr lang="ko-KR" altLang="en-US" sz="1200" dirty="0"/>
              <a:t> </a:t>
            </a:r>
            <a:r>
              <a:rPr lang="en-US" altLang="ko-KR" sz="1200" dirty="0" smtClean="0"/>
              <a:t>SRATC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200" dirty="0" smtClean="0"/>
              <a:t>단기에는 </a:t>
            </a:r>
            <a:r>
              <a:rPr lang="ko-KR" altLang="en-US" sz="1200" dirty="0"/>
              <a:t>다른 크기의 공장으로 바뀔 수 </a:t>
            </a:r>
            <a:r>
              <a:rPr lang="ko-KR" altLang="en-US" sz="1200" dirty="0" smtClean="0"/>
              <a:t>없으나</a:t>
            </a:r>
            <a:r>
              <a:rPr lang="en-US" altLang="ko-KR" sz="1200" dirty="0" smtClean="0"/>
              <a:t> </a:t>
            </a:r>
            <a:r>
              <a:rPr lang="ko-KR" altLang="en-US" sz="1200" dirty="0"/>
              <a:t>장기에는 가능하다</a:t>
            </a:r>
            <a:r>
              <a:rPr lang="en-US" altLang="ko-KR" sz="1200" dirty="0"/>
              <a:t>.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200" dirty="0"/>
              <a:t>여러 개의 단기평균총비용 </a:t>
            </a:r>
            <a:r>
              <a:rPr lang="en-US" altLang="ko-KR" sz="1200" dirty="0"/>
              <a:t>SRATC</a:t>
            </a:r>
            <a:r>
              <a:rPr lang="ko-KR" altLang="en-US" sz="1200" dirty="0"/>
              <a:t>의 바닥을 연결하면 장기평균총비용 </a:t>
            </a:r>
            <a:r>
              <a:rPr lang="en-US" altLang="ko-KR" sz="1200" dirty="0" smtClean="0"/>
              <a:t>LRATC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LRATC</a:t>
            </a:r>
            <a:r>
              <a:rPr lang="ko-KR" altLang="en-US" sz="1400" dirty="0"/>
              <a:t>는 </a:t>
            </a:r>
            <a:r>
              <a:rPr lang="ko-KR" altLang="en-US" sz="1400" dirty="0" err="1" smtClean="0"/>
              <a:t>생산규모별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최적 공장 사이즈를 알려준다</a:t>
            </a:r>
            <a:r>
              <a:rPr lang="en-US" altLang="ko-KR" sz="1400" dirty="0"/>
              <a:t>.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200" dirty="0"/>
              <a:t>최적이라는 말은 단위당 </a:t>
            </a:r>
            <a:r>
              <a:rPr lang="ko-KR" altLang="en-US" sz="1200" dirty="0" smtClean="0"/>
              <a:t>평균총비용이 </a:t>
            </a:r>
            <a:r>
              <a:rPr lang="ko-KR" altLang="en-US" sz="1200" dirty="0"/>
              <a:t>가장 작은 </a:t>
            </a:r>
            <a:r>
              <a:rPr lang="ko-KR" altLang="en-US" sz="1200" dirty="0" smtClean="0"/>
              <a:t>규모라는 </a:t>
            </a:r>
            <a:r>
              <a:rPr lang="ko-KR" altLang="en-US" sz="1200" dirty="0"/>
              <a:t>말</a:t>
            </a:r>
            <a:endParaRPr lang="en-US" altLang="ko-KR" sz="1200" dirty="0"/>
          </a:p>
          <a:p>
            <a:pPr lvl="1">
              <a:lnSpc>
                <a:spcPct val="150000"/>
              </a:lnSpc>
            </a:pPr>
            <a:endParaRPr lang="en-US" altLang="ko-KR" sz="15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전형적인 </a:t>
            </a:r>
            <a:r>
              <a:rPr lang="en-US" altLang="ko-KR" sz="1400" dirty="0"/>
              <a:t>LRATC</a:t>
            </a:r>
            <a:r>
              <a:rPr lang="ko-KR" altLang="en-US" sz="1400" dirty="0"/>
              <a:t>는 바닥이 평평한 샐러드 접시 모양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세개의 구간으로 나누어짐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규모의 경제 </a:t>
            </a:r>
            <a:r>
              <a:rPr lang="en-US" altLang="ko-KR" sz="1400" dirty="0"/>
              <a:t>Economies of Scale 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en-US" altLang="ko-KR" sz="1200" dirty="0"/>
              <a:t>Q</a:t>
            </a:r>
            <a:r>
              <a:rPr lang="ko-KR" altLang="en-US" sz="1200" dirty="0"/>
              <a:t>가 늘어나면서</a:t>
            </a:r>
            <a:r>
              <a:rPr lang="en-US" altLang="ko-KR" sz="1200" dirty="0"/>
              <a:t> </a:t>
            </a:r>
            <a:r>
              <a:rPr lang="ko-KR" altLang="en-US" sz="1200" dirty="0"/>
              <a:t>장기적으로</a:t>
            </a:r>
            <a:r>
              <a:rPr lang="en-US" altLang="ko-KR" sz="1200" dirty="0"/>
              <a:t> ATC</a:t>
            </a:r>
            <a:r>
              <a:rPr lang="ko-KR" altLang="en-US" sz="1200" dirty="0"/>
              <a:t>가 하락하는 구간</a:t>
            </a:r>
            <a:endParaRPr lang="en-US" altLang="ko-KR" sz="1200" dirty="0"/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200" dirty="0"/>
              <a:t>기업에게는 매우 중요한 구간</a:t>
            </a:r>
            <a:endParaRPr lang="en-US" altLang="ko-KR" sz="12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200" dirty="0"/>
              <a:t>주로 노동의 특화로 인해 생겨남</a:t>
            </a:r>
            <a:r>
              <a:rPr lang="en-US" altLang="ko-KR" sz="1200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규모의 </a:t>
            </a:r>
            <a:r>
              <a:rPr lang="ko-KR" altLang="en-US" sz="1400" dirty="0" err="1"/>
              <a:t>수익불변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규모의 불경제 </a:t>
            </a:r>
            <a:r>
              <a:rPr lang="en-US" altLang="ko-KR" sz="1400" dirty="0"/>
              <a:t>Diseconomies of Scale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200" dirty="0"/>
              <a:t>관료화된 대기업들에서 볼 수 있는 현상</a:t>
            </a:r>
            <a:r>
              <a:rPr lang="en-US" altLang="ko-KR" sz="1200" dirty="0"/>
              <a:t>. </a:t>
            </a:r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ko-KR" altLang="en-US" sz="1200" dirty="0" smtClean="0"/>
              <a:t>비용 통제에 </a:t>
            </a:r>
            <a:r>
              <a:rPr lang="ko-KR" altLang="en-US" sz="1200" dirty="0"/>
              <a:t>실패하는 경우</a:t>
            </a:r>
            <a:endParaRPr lang="en-US" altLang="ko-KR" sz="1200" dirty="0"/>
          </a:p>
          <a:p>
            <a:pPr lvl="1">
              <a:lnSpc>
                <a:spcPct val="180000"/>
              </a:lnSpc>
              <a:buFontTx/>
              <a:buChar char="-"/>
            </a:pPr>
            <a:r>
              <a:rPr lang="en-US" altLang="ko-KR" sz="1200" dirty="0"/>
              <a:t>Q</a:t>
            </a:r>
            <a:r>
              <a:rPr lang="ko-KR" altLang="en-US" sz="1200" dirty="0"/>
              <a:t>가 아주 클 때 일어나는 일</a:t>
            </a:r>
            <a:r>
              <a:rPr lang="en-US" altLang="ko-KR" sz="1200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sz="11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 marL="342900" lvl="1" indent="0">
              <a:lnSpc>
                <a:spcPct val="150000"/>
              </a:lnSpc>
              <a:buNone/>
            </a:pPr>
            <a:endParaRPr lang="en-US" altLang="ko-KR" sz="1100" dirty="0"/>
          </a:p>
          <a:p>
            <a:pPr>
              <a:lnSpc>
                <a:spcPct val="150000"/>
              </a:lnSpc>
            </a:pPr>
            <a:endParaRPr lang="ko-KR" altLang="en-US" sz="1400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AACF2-4E8D-444E-8FEB-7FAF57A63B4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223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Words>525</Words>
  <Application>Microsoft Office PowerPoint</Application>
  <PresentationFormat>와이드스크린</PresentationFormat>
  <Paragraphs>86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13장 생산의 비용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User</cp:lastModifiedBy>
  <cp:revision>12</cp:revision>
  <dcterms:created xsi:type="dcterms:W3CDTF">2021-06-28T02:08:57Z</dcterms:created>
  <dcterms:modified xsi:type="dcterms:W3CDTF">2022-12-18T08:15:08Z</dcterms:modified>
</cp:coreProperties>
</file>