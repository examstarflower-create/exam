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3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7</a:t>
            </a:r>
            <a:r>
              <a:rPr lang="ko-KR" altLang="en-US" dirty="0"/>
              <a:t>장 소비자</a:t>
            </a:r>
            <a:r>
              <a:rPr lang="en-US" altLang="ko-KR" dirty="0"/>
              <a:t>, </a:t>
            </a:r>
            <a:r>
              <a:rPr lang="ko-KR" altLang="en-US" dirty="0"/>
              <a:t>생산자</a:t>
            </a:r>
            <a:r>
              <a:rPr lang="en-US" altLang="ko-KR" dirty="0"/>
              <a:t>, </a:t>
            </a:r>
            <a:r>
              <a:rPr lang="ko-KR" altLang="en-US" dirty="0"/>
              <a:t>그리고 시장효율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64120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u="sng" dirty="0" err="1" smtClean="0"/>
              <a:t>지불의사</a:t>
            </a:r>
            <a:r>
              <a:rPr lang="ko-KR" altLang="en-US" sz="1300" u="sng" dirty="0" smtClean="0"/>
              <a:t> </a:t>
            </a:r>
            <a:r>
              <a:rPr lang="en-US" altLang="ko-KR" sz="1300" u="sng" dirty="0"/>
              <a:t>Willingness to Pay, WTP</a:t>
            </a:r>
            <a:r>
              <a:rPr lang="en-US" altLang="ko-KR" sz="1300" dirty="0"/>
              <a:t> : </a:t>
            </a:r>
            <a:r>
              <a:rPr lang="ko-KR" altLang="en-US" sz="1300" dirty="0"/>
              <a:t>어떤 재화나 서비스에</a:t>
            </a:r>
            <a:r>
              <a:rPr lang="en-US" altLang="ko-KR" sz="1300" dirty="0"/>
              <a:t> </a:t>
            </a:r>
            <a:r>
              <a:rPr lang="ko-KR" altLang="en-US" sz="1300" dirty="0"/>
              <a:t>대해 구매자가 얼마만큼의 돈을 지불할 생각을 갖고 있는가</a:t>
            </a:r>
            <a:r>
              <a:rPr lang="en-US" altLang="ko-KR" sz="1300" dirty="0" smtClean="0"/>
              <a:t>?</a:t>
            </a:r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집단 내 개별 구성원의 </a:t>
            </a:r>
            <a:r>
              <a:rPr lang="ko-KR" altLang="en-US" sz="1300" dirty="0" err="1" smtClean="0"/>
              <a:t>지불의사</a:t>
            </a:r>
            <a:r>
              <a:rPr lang="ko-KR" altLang="en-US" sz="1300" dirty="0" smtClean="0"/>
              <a:t> </a:t>
            </a:r>
            <a:r>
              <a:rPr lang="en-US" altLang="ko-KR" sz="1300" dirty="0" smtClean="0"/>
              <a:t>WTP</a:t>
            </a:r>
            <a:r>
              <a:rPr lang="ko-KR" altLang="en-US" sz="1300" dirty="0" smtClean="0"/>
              <a:t>를 알면 각</a:t>
            </a:r>
            <a:r>
              <a:rPr lang="en-US" altLang="ko-KR" sz="1300" dirty="0" smtClean="0"/>
              <a:t> </a:t>
            </a:r>
            <a:r>
              <a:rPr lang="ko-KR" altLang="en-US" sz="1300" dirty="0" smtClean="0"/>
              <a:t>가격대에서 수요량 </a:t>
            </a:r>
            <a:r>
              <a:rPr lang="en-US" altLang="ko-KR" sz="1300" dirty="0" err="1" smtClean="0"/>
              <a:t>Q</a:t>
            </a:r>
            <a:r>
              <a:rPr lang="en-US" altLang="ko-KR" sz="1300" baseline="-25000" dirty="0" err="1" smtClean="0"/>
              <a:t>d</a:t>
            </a:r>
            <a:r>
              <a:rPr lang="ko-KR" altLang="en-US" sz="1300" dirty="0" smtClean="0"/>
              <a:t>이 얼마인지를 알 수 있음</a:t>
            </a:r>
            <a:r>
              <a:rPr lang="en-US" altLang="ko-KR" sz="1300" dirty="0"/>
              <a:t>.</a:t>
            </a:r>
            <a:endParaRPr lang="en-US" altLang="ko-KR" sz="1300" dirty="0" smtClean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모든 </a:t>
            </a:r>
            <a:r>
              <a:rPr lang="en-US" altLang="ko-KR" sz="1100" dirty="0"/>
              <a:t>Q</a:t>
            </a:r>
            <a:r>
              <a:rPr lang="ko-KR" altLang="en-US" sz="1100" dirty="0"/>
              <a:t>에서 수요곡선의 높이는 해당 한계소비자의 지불의사를 나타냄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u="sng" dirty="0"/>
              <a:t>소비자잉여</a:t>
            </a:r>
            <a:r>
              <a:rPr lang="ko-KR" altLang="en-US" sz="1300" dirty="0"/>
              <a:t> </a:t>
            </a:r>
            <a:r>
              <a:rPr lang="en-US" altLang="ko-KR" sz="1300" dirty="0"/>
              <a:t>Consumer Surplus, CS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지불의사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마이너스</a:t>
            </a:r>
            <a:r>
              <a:rPr lang="en-US" altLang="ko-KR" sz="1100" dirty="0"/>
              <a:t> </a:t>
            </a:r>
            <a:r>
              <a:rPr lang="ko-KR" altLang="en-US" sz="1100" dirty="0" smtClean="0"/>
              <a:t>가격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시장에 </a:t>
            </a:r>
            <a:r>
              <a:rPr lang="ko-KR" altLang="en-US" sz="1100" dirty="0"/>
              <a:t>참여해 구매하는 소비자들이 누리는 </a:t>
            </a:r>
            <a:r>
              <a:rPr lang="ko-KR" altLang="en-US" sz="1100" dirty="0" smtClean="0"/>
              <a:t>이득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전체 </a:t>
            </a:r>
            <a:r>
              <a:rPr lang="ko-KR" altLang="en-US" sz="1100" dirty="0"/>
              <a:t>소비자잉여는 </a:t>
            </a:r>
            <a:r>
              <a:rPr lang="ko-KR" altLang="en-US" sz="1100" dirty="0" err="1"/>
              <a:t>가격선</a:t>
            </a:r>
            <a:r>
              <a:rPr lang="ko-KR" altLang="en-US" sz="1100" dirty="0"/>
              <a:t> 위</a:t>
            </a:r>
            <a:r>
              <a:rPr lang="en-US" altLang="ko-KR" sz="1100" dirty="0"/>
              <a:t>, </a:t>
            </a:r>
            <a:r>
              <a:rPr lang="ko-KR" altLang="en-US" sz="1100" dirty="0"/>
              <a:t>그리고 수요곡선 아래의 </a:t>
            </a:r>
            <a:r>
              <a:rPr lang="ko-KR" altLang="en-US" sz="1100" dirty="0" smtClean="0"/>
              <a:t>면적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1300" dirty="0" smtClean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가격상승과 </a:t>
            </a:r>
            <a:r>
              <a:rPr lang="ko-KR" altLang="en-US" sz="1300" dirty="0"/>
              <a:t>소비자잉여의 감소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가격이 </a:t>
            </a:r>
            <a:r>
              <a:rPr lang="ko-KR" altLang="en-US" sz="1100" dirty="0"/>
              <a:t>오르면서 일부 구매자들이 시장을 떠나야 하기</a:t>
            </a:r>
            <a:r>
              <a:rPr lang="en-US" altLang="ko-KR" sz="1100" dirty="0"/>
              <a:t>(=</a:t>
            </a:r>
            <a:r>
              <a:rPr lang="ko-KR" altLang="en-US" sz="1100" dirty="0"/>
              <a:t>구매를 포기하기</a:t>
            </a:r>
            <a:r>
              <a:rPr lang="en-US" altLang="ko-KR" sz="1100" dirty="0"/>
              <a:t>)</a:t>
            </a:r>
            <a:r>
              <a:rPr lang="ko-KR" altLang="en-US" sz="1100" dirty="0"/>
              <a:t> 때문에 소비자잉여 감소</a:t>
            </a:r>
            <a:r>
              <a:rPr lang="en-US" altLang="ko-KR" sz="1100" dirty="0"/>
              <a:t>(</a:t>
            </a:r>
            <a:r>
              <a:rPr lang="ko-KR" altLang="en-US" sz="1100" dirty="0"/>
              <a:t>오른쪽 삼각형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남아있는 </a:t>
            </a:r>
            <a:r>
              <a:rPr lang="ko-KR" altLang="en-US" sz="1100" dirty="0"/>
              <a:t>구매자들은 더 비싼 가격을 지불해야 하므로 소비자잉여 감소</a:t>
            </a:r>
            <a:r>
              <a:rPr lang="en-US" altLang="ko-KR" sz="1100" dirty="0"/>
              <a:t>(</a:t>
            </a:r>
            <a:r>
              <a:rPr lang="ko-KR" altLang="en-US" sz="1100" dirty="0"/>
              <a:t>왼쪽 사각형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반대로 </a:t>
            </a:r>
            <a:r>
              <a:rPr lang="ko-KR" altLang="en-US" sz="1100" dirty="0"/>
              <a:t>가격 하락시에는 소비자잉여 증가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endParaRPr lang="en-US" altLang="ko-KR" sz="700" u="sng" dirty="0"/>
          </a:p>
          <a:p>
            <a:pPr>
              <a:lnSpc>
                <a:spcPct val="160000"/>
              </a:lnSpc>
            </a:pPr>
            <a:r>
              <a:rPr lang="ko-KR" altLang="en-US" sz="1300" u="sng" dirty="0"/>
              <a:t>생산자잉여</a:t>
            </a:r>
            <a:r>
              <a:rPr lang="ko-KR" altLang="en-US" sz="1300" dirty="0"/>
              <a:t> </a:t>
            </a:r>
            <a:r>
              <a:rPr lang="en-US" altLang="ko-KR" sz="1300" dirty="0"/>
              <a:t>Producer Surplus, PS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가격 </a:t>
            </a:r>
            <a:r>
              <a:rPr lang="ko-KR" altLang="en-US" sz="1100" dirty="0"/>
              <a:t>마이너스 </a:t>
            </a:r>
            <a:r>
              <a:rPr lang="ko-KR" altLang="en-US" sz="1100" dirty="0" smtClean="0"/>
              <a:t>비용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시장에 </a:t>
            </a:r>
            <a:r>
              <a:rPr lang="ko-KR" altLang="en-US" sz="1100" dirty="0"/>
              <a:t>참여해 판매하는 생산자들이 누리는 이득</a:t>
            </a:r>
            <a:r>
              <a:rPr lang="en-US" altLang="ko-KR" sz="1100" dirty="0"/>
              <a:t>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여기서 </a:t>
            </a:r>
            <a:r>
              <a:rPr lang="ko-KR" altLang="en-US" sz="1100" dirty="0"/>
              <a:t>비용은 생산자</a:t>
            </a:r>
            <a:r>
              <a:rPr lang="en-US" altLang="ko-KR" sz="1100" dirty="0"/>
              <a:t>(=</a:t>
            </a:r>
            <a:r>
              <a:rPr lang="ko-KR" altLang="en-US" sz="1100" dirty="0"/>
              <a:t>판매자</a:t>
            </a:r>
            <a:r>
              <a:rPr lang="en-US" altLang="ko-KR" sz="1100" dirty="0"/>
              <a:t>)</a:t>
            </a:r>
            <a:r>
              <a:rPr lang="ko-KR" altLang="en-US" sz="1100" dirty="0"/>
              <a:t>가 포기해야만 하는 모든 것의 </a:t>
            </a:r>
            <a:r>
              <a:rPr lang="ko-KR" altLang="en-US" sz="1100" dirty="0" smtClean="0"/>
              <a:t>가치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전체 </a:t>
            </a:r>
            <a:r>
              <a:rPr lang="ko-KR" altLang="en-US" sz="1100" dirty="0"/>
              <a:t>생산자잉여는 공급곡선의 위</a:t>
            </a:r>
            <a:r>
              <a:rPr lang="en-US" altLang="ko-KR" sz="1100" dirty="0"/>
              <a:t>, </a:t>
            </a:r>
            <a:r>
              <a:rPr lang="ko-KR" altLang="en-US" sz="1100" dirty="0"/>
              <a:t>가격선의 아래 면적과 같음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가격의 하락과 생산자잉여의 감소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가격이 </a:t>
            </a:r>
            <a:r>
              <a:rPr lang="ko-KR" altLang="en-US" sz="1100" dirty="0"/>
              <a:t>하락하면 일부 </a:t>
            </a:r>
            <a:r>
              <a:rPr lang="ko-KR" altLang="en-US" sz="1100" dirty="0" err="1"/>
              <a:t>판매자들이</a:t>
            </a:r>
            <a:r>
              <a:rPr lang="ko-KR" altLang="en-US" sz="1100" dirty="0"/>
              <a:t> 시장을 떠나야 하기</a:t>
            </a:r>
            <a:r>
              <a:rPr lang="en-US" altLang="ko-KR" sz="1100" dirty="0"/>
              <a:t>(=</a:t>
            </a:r>
            <a:r>
              <a:rPr lang="ko-KR" altLang="en-US" sz="1100" dirty="0"/>
              <a:t>생산 및 </a:t>
            </a:r>
            <a:r>
              <a:rPr lang="ko-KR" altLang="en-US" sz="1100" dirty="0" err="1"/>
              <a:t>판매을</a:t>
            </a:r>
            <a:r>
              <a:rPr lang="ko-KR" altLang="en-US" sz="1100" dirty="0"/>
              <a:t> 포기하기</a:t>
            </a:r>
            <a:r>
              <a:rPr lang="en-US" altLang="ko-KR" sz="1100" dirty="0"/>
              <a:t>)</a:t>
            </a:r>
            <a:r>
              <a:rPr lang="ko-KR" altLang="en-US" sz="1100" dirty="0"/>
              <a:t> 때문에 </a:t>
            </a:r>
            <a:r>
              <a:rPr lang="ko-KR" altLang="en-US" sz="1100" dirty="0" err="1"/>
              <a:t>생산자잉여</a:t>
            </a:r>
            <a:r>
              <a:rPr lang="ko-KR" altLang="en-US" sz="1100" dirty="0"/>
              <a:t> 감소</a:t>
            </a:r>
            <a:r>
              <a:rPr lang="en-US" altLang="ko-KR" sz="1100" dirty="0"/>
              <a:t>(</a:t>
            </a:r>
            <a:r>
              <a:rPr lang="ko-KR" altLang="en-US" sz="1100" dirty="0"/>
              <a:t>오른쪽 삼각형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남아있는 </a:t>
            </a:r>
            <a:r>
              <a:rPr lang="ko-KR" altLang="en-US" sz="1100" dirty="0" err="1"/>
              <a:t>판매자들은</a:t>
            </a:r>
            <a:r>
              <a:rPr lang="ko-KR" altLang="en-US" sz="1100" dirty="0"/>
              <a:t> 더 낮은 가격을 받게 되므로 </a:t>
            </a:r>
            <a:r>
              <a:rPr lang="ko-KR" altLang="en-US" sz="1100" dirty="0" err="1"/>
              <a:t>생산자잉여</a:t>
            </a:r>
            <a:r>
              <a:rPr lang="ko-KR" altLang="en-US" sz="1100" dirty="0"/>
              <a:t> 감소</a:t>
            </a:r>
            <a:r>
              <a:rPr lang="en-US" altLang="ko-KR" sz="1100" dirty="0"/>
              <a:t>(</a:t>
            </a:r>
            <a:r>
              <a:rPr lang="ko-KR" altLang="en-US" sz="1100" dirty="0"/>
              <a:t>왼쪽 사각형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반대로 </a:t>
            </a:r>
            <a:r>
              <a:rPr lang="ko-KR" altLang="en-US" sz="1100" dirty="0"/>
              <a:t>가격 상승 시에는 </a:t>
            </a:r>
            <a:r>
              <a:rPr lang="ko-KR" altLang="en-US" sz="1100" dirty="0" err="1"/>
              <a:t>생산자잉여</a:t>
            </a:r>
            <a:r>
              <a:rPr lang="ko-KR" altLang="en-US" sz="1100" dirty="0"/>
              <a:t> 증가</a:t>
            </a:r>
            <a:endParaRPr lang="en-US" altLang="ko-KR" sz="1100" dirty="0"/>
          </a:p>
          <a:p>
            <a:pPr lvl="1">
              <a:lnSpc>
                <a:spcPct val="160000"/>
              </a:lnSpc>
            </a:pPr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3"/>
            <a:ext cx="5915025" cy="1040673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25" u="sng" dirty="0" err="1" smtClean="0"/>
              <a:t>총잉여</a:t>
            </a:r>
            <a:r>
              <a:rPr lang="ko-KR" altLang="en-US" sz="1325" dirty="0" smtClean="0"/>
              <a:t> </a:t>
            </a:r>
            <a:r>
              <a:rPr lang="en-US" altLang="ko-KR" sz="1325" dirty="0"/>
              <a:t>Total Surplus, TS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소비자잉여</a:t>
            </a:r>
            <a:r>
              <a:rPr lang="ko-KR" altLang="en-US" sz="1100" dirty="0" smtClean="0"/>
              <a:t> </a:t>
            </a:r>
            <a:r>
              <a:rPr lang="en-US" altLang="ko-KR" sz="1100" dirty="0"/>
              <a:t>+ </a:t>
            </a:r>
            <a:r>
              <a:rPr lang="ko-KR" altLang="en-US" sz="1100" dirty="0"/>
              <a:t>생산자잉여 </a:t>
            </a:r>
            <a:r>
              <a:rPr lang="en-US" altLang="ko-KR" sz="1100" dirty="0"/>
              <a:t>= (</a:t>
            </a:r>
            <a:r>
              <a:rPr lang="ko-KR" altLang="en-US" sz="1100" dirty="0"/>
              <a:t>소비자 지불의향 </a:t>
            </a:r>
            <a:r>
              <a:rPr lang="en-US" altLang="ko-KR" sz="1100" dirty="0"/>
              <a:t>– </a:t>
            </a:r>
            <a:r>
              <a:rPr lang="ko-KR" altLang="en-US" sz="1100" dirty="0"/>
              <a:t>가격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en-US" altLang="ko-KR" sz="1100" dirty="0"/>
              <a:t>+ (</a:t>
            </a:r>
            <a:r>
              <a:rPr lang="ko-KR" altLang="en-US" sz="1100" dirty="0"/>
              <a:t>가격 </a:t>
            </a:r>
            <a:r>
              <a:rPr lang="en-US" altLang="ko-KR" sz="1100" dirty="0"/>
              <a:t>– </a:t>
            </a:r>
            <a:r>
              <a:rPr lang="ko-KR" altLang="en-US" sz="1100" dirty="0"/>
              <a:t>생산자 비용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구매자</a:t>
            </a:r>
            <a:r>
              <a:rPr lang="en-US" altLang="ko-KR" sz="1100" dirty="0"/>
              <a:t>(=</a:t>
            </a:r>
            <a:r>
              <a:rPr lang="ko-KR" altLang="en-US" sz="1100" dirty="0"/>
              <a:t>소비자</a:t>
            </a:r>
            <a:r>
              <a:rPr lang="en-US" altLang="ko-KR" sz="1100" dirty="0"/>
              <a:t>)</a:t>
            </a:r>
            <a:r>
              <a:rPr lang="ko-KR" altLang="en-US" sz="1100" dirty="0"/>
              <a:t> 가치 </a:t>
            </a:r>
            <a:r>
              <a:rPr lang="en-US" altLang="ko-KR" sz="1100" dirty="0"/>
              <a:t>– </a:t>
            </a:r>
            <a:r>
              <a:rPr lang="ko-KR" altLang="en-US" sz="1100" dirty="0"/>
              <a:t>판매자</a:t>
            </a:r>
            <a:r>
              <a:rPr lang="en-US" altLang="ko-KR" sz="1100" dirty="0"/>
              <a:t>(=</a:t>
            </a:r>
            <a:r>
              <a:rPr lang="ko-KR" altLang="en-US" sz="1100" dirty="0"/>
              <a:t>생산자</a:t>
            </a:r>
            <a:r>
              <a:rPr lang="en-US" altLang="ko-KR" sz="1100" dirty="0"/>
              <a:t>)</a:t>
            </a:r>
            <a:r>
              <a:rPr lang="ko-KR" altLang="en-US" sz="1100" dirty="0"/>
              <a:t>의 </a:t>
            </a:r>
            <a:r>
              <a:rPr lang="ko-KR" altLang="en-US" sz="1100" dirty="0" smtClean="0"/>
              <a:t>비용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err="1" smtClean="0"/>
              <a:t>총잉여는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사회전체의 후생수준을 보여주는 척도로서</a:t>
            </a:r>
            <a:r>
              <a:rPr lang="en-US" altLang="ko-KR" sz="1100" dirty="0"/>
              <a:t>, </a:t>
            </a:r>
            <a:r>
              <a:rPr lang="ko-KR" altLang="en-US" sz="1100" dirty="0"/>
              <a:t>시장의 자원배분이 효율적인지 여부를 살펴보기 위해 </a:t>
            </a:r>
            <a:r>
              <a:rPr lang="ko-KR" altLang="en-US" sz="1100" dirty="0" smtClean="0"/>
              <a:t>사용</a:t>
            </a:r>
            <a:endParaRPr lang="en-US" altLang="ko-KR" sz="1100" dirty="0" smtClean="0"/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시장에 의한 효율적인 자원배분은 </a:t>
            </a:r>
            <a:r>
              <a:rPr lang="ko-KR" altLang="en-US" sz="1300" dirty="0" err="1"/>
              <a:t>총잉여</a:t>
            </a:r>
            <a:r>
              <a:rPr lang="ko-KR" altLang="en-US" sz="1300" dirty="0"/>
              <a:t> </a:t>
            </a:r>
            <a:r>
              <a:rPr lang="en-US" altLang="ko-KR" sz="1300" dirty="0"/>
              <a:t>TS</a:t>
            </a:r>
            <a:r>
              <a:rPr lang="ko-KR" altLang="en-US" sz="1300" dirty="0"/>
              <a:t>를 극대화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시장에서 </a:t>
            </a:r>
            <a:r>
              <a:rPr lang="ko-KR" altLang="en-US" sz="1100" dirty="0"/>
              <a:t>모든 재화는 그 재화를 가장 높이 평가하는 구매자들에 의해 소비됨</a:t>
            </a:r>
            <a:r>
              <a:rPr lang="en-US" altLang="ko-KR" sz="1100" dirty="0"/>
              <a:t>(=WTP</a:t>
            </a:r>
            <a:r>
              <a:rPr lang="ko-KR" altLang="en-US" sz="1100" dirty="0"/>
              <a:t> 순서대로 소비의 기회가 주어짐</a:t>
            </a:r>
            <a:r>
              <a:rPr lang="en-US" altLang="ko-KR" sz="1100" dirty="0"/>
              <a:t>) 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모든 </a:t>
            </a:r>
            <a:r>
              <a:rPr lang="ko-KR" altLang="en-US" sz="1100" dirty="0"/>
              <a:t>재화는 비용이 가장 낮은 생산자에 의해 만들어짐</a:t>
            </a:r>
            <a:r>
              <a:rPr lang="en-US" altLang="ko-KR" sz="1100" dirty="0"/>
              <a:t>(=</a:t>
            </a:r>
            <a:r>
              <a:rPr lang="ko-KR" altLang="en-US" sz="1100" dirty="0"/>
              <a:t>생산비용이 낮은 순서대로 판매의 기회가 주어짐</a:t>
            </a:r>
            <a:r>
              <a:rPr lang="en-US" altLang="ko-KR" sz="1100" dirty="0" smtClean="0"/>
              <a:t>)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 smtClean="0"/>
              <a:t>정부의 </a:t>
            </a:r>
            <a:r>
              <a:rPr lang="ko-KR" altLang="en-US" sz="1300" dirty="0"/>
              <a:t>개입이나 여타 이유로 재화의 양이 균형보다 더 늘어나거나 줄어드는 일은 </a:t>
            </a:r>
            <a:r>
              <a:rPr lang="ko-KR" altLang="en-US" sz="1300" dirty="0" err="1"/>
              <a:t>총잉여</a:t>
            </a:r>
            <a:r>
              <a:rPr lang="en-US" altLang="ko-KR" sz="1300" dirty="0"/>
              <a:t>(=</a:t>
            </a:r>
            <a:r>
              <a:rPr lang="ko-KR" altLang="en-US" sz="1300" dirty="0"/>
              <a:t>사회 </a:t>
            </a:r>
            <a:r>
              <a:rPr lang="ko-KR" altLang="en-US" sz="1300" dirty="0" err="1"/>
              <a:t>총후생</a:t>
            </a:r>
            <a:r>
              <a:rPr lang="en-US" altLang="ko-KR" sz="1300" dirty="0"/>
              <a:t>)</a:t>
            </a:r>
            <a:r>
              <a:rPr lang="ko-KR" altLang="en-US" sz="1300" dirty="0"/>
              <a:t>를 훼손하는 결과를 가져 옴</a:t>
            </a:r>
            <a:r>
              <a:rPr lang="en-US" altLang="ko-KR" sz="1300" dirty="0"/>
              <a:t>. </a:t>
            </a:r>
          </a:p>
          <a:p>
            <a:pPr lvl="1">
              <a:lnSpc>
                <a:spcPct val="160000"/>
              </a:lnSpc>
            </a:pP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/>
              <a:t>아담 스미스의 </a:t>
            </a:r>
            <a:r>
              <a:rPr lang="en-US" altLang="ko-KR" sz="1300" dirty="0"/>
              <a:t>“</a:t>
            </a:r>
            <a:r>
              <a:rPr lang="ko-KR" altLang="en-US" sz="1300" dirty="0"/>
              <a:t>보이지 않는 손＂</a:t>
            </a:r>
            <a:endParaRPr lang="en-US" altLang="ko-KR" sz="13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자유시장은 </a:t>
            </a:r>
            <a:r>
              <a:rPr lang="ko-KR" altLang="en-US" sz="1100" dirty="0"/>
              <a:t>경제적 효율성을 달성함</a:t>
            </a:r>
            <a:r>
              <a:rPr lang="en-US" altLang="ko-KR" sz="1100" dirty="0"/>
              <a:t>(=</a:t>
            </a:r>
            <a:r>
              <a:rPr lang="ko-KR" altLang="en-US" sz="1100" dirty="0"/>
              <a:t>자원을 효율적으로 배분하고 총잉여를 극대화</a:t>
            </a:r>
            <a:r>
              <a:rPr lang="en-US" altLang="ko-KR" sz="1100" dirty="0"/>
              <a:t>).</a:t>
            </a:r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marL="257175" lvl="1" indent="0">
              <a:lnSpc>
                <a:spcPct val="160000"/>
              </a:lnSpc>
              <a:buNone/>
            </a:pPr>
            <a:endParaRPr lang="ko-KR" altLang="en-US" sz="1100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650</TotalTime>
  <Words>329</Words>
  <Application>Microsoft Office PowerPoint</Application>
  <PresentationFormat>와이드스크린</PresentationFormat>
  <Paragraphs>40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7장 소비자, 생산자, 그리고 시장효율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63</cp:revision>
  <dcterms:created xsi:type="dcterms:W3CDTF">2021-06-28T02:08:57Z</dcterms:created>
  <dcterms:modified xsi:type="dcterms:W3CDTF">2023-03-17T08:45:36Z</dcterms:modified>
</cp:coreProperties>
</file>