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9" r:id="rId2"/>
    <p:sldId id="260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11</a:t>
            </a:r>
            <a:r>
              <a:rPr lang="ko-KR" altLang="en-US" dirty="0" smtClean="0"/>
              <a:t>장 공공재와 </a:t>
            </a:r>
            <a:r>
              <a:rPr lang="ko-KR" altLang="en-US" dirty="0" err="1" smtClean="0"/>
              <a:t>공유자원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869823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재화의 유형을 나누는 두가지 </a:t>
            </a:r>
            <a:r>
              <a:rPr lang="ko-KR" altLang="en-US" sz="1300" dirty="0" smtClean="0"/>
              <a:t>기준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배제성</a:t>
            </a:r>
            <a:r>
              <a:rPr lang="en-US" altLang="ko-KR" sz="1300" dirty="0"/>
              <a:t>: </a:t>
            </a:r>
            <a:r>
              <a:rPr lang="ko-KR" altLang="en-US" sz="1300" dirty="0"/>
              <a:t>어떤 재화를 사용하지 못하도록 막을 수 있는가</a:t>
            </a:r>
            <a:r>
              <a:rPr lang="en-US" altLang="ko-KR" sz="1300" dirty="0"/>
              <a:t>?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Ex</a:t>
            </a:r>
            <a:r>
              <a:rPr lang="en-US" altLang="ko-KR" sz="1100" dirty="0"/>
              <a:t>.</a:t>
            </a:r>
            <a:r>
              <a:rPr lang="ko-KR" altLang="en-US" sz="1100" dirty="0"/>
              <a:t> 무선인터넷 접속</a:t>
            </a:r>
            <a:r>
              <a:rPr lang="en-US" altLang="ko-KR" sz="1100" dirty="0"/>
              <a:t>, </a:t>
            </a:r>
            <a:r>
              <a:rPr lang="ko-KR" altLang="en-US" sz="1100" dirty="0"/>
              <a:t>옷</a:t>
            </a:r>
            <a:r>
              <a:rPr lang="en-US" altLang="ko-KR" sz="1100" dirty="0"/>
              <a:t>, </a:t>
            </a:r>
            <a:r>
              <a:rPr lang="ko-KR" altLang="en-US" sz="1100" dirty="0"/>
              <a:t>음식 등 일반적 재화와 서비스는 배제 가능 </a:t>
            </a:r>
            <a:r>
              <a:rPr lang="en-US" altLang="ko-KR" sz="1100" dirty="0" smtClean="0"/>
              <a:t>excludable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Ex</a:t>
            </a:r>
            <a:r>
              <a:rPr lang="en-US" altLang="ko-KR" sz="1100" dirty="0"/>
              <a:t>. </a:t>
            </a:r>
            <a:r>
              <a:rPr lang="ko-KR" altLang="en-US" sz="1100" dirty="0"/>
              <a:t>라디오주파수</a:t>
            </a:r>
            <a:r>
              <a:rPr lang="en-US" altLang="ko-KR" sz="1100" dirty="0"/>
              <a:t>, </a:t>
            </a:r>
            <a:r>
              <a:rPr lang="ko-KR" altLang="en-US" sz="1100" dirty="0"/>
              <a:t>국방 및 방역서비스 등</a:t>
            </a:r>
            <a:r>
              <a:rPr lang="en-US" altLang="ko-KR" sz="1100" dirty="0"/>
              <a:t>, </a:t>
            </a:r>
            <a:r>
              <a:rPr lang="ko-KR" altLang="en-US" sz="1100" dirty="0"/>
              <a:t>해안가의 경치는 배제 </a:t>
            </a:r>
            <a:r>
              <a:rPr lang="ko-KR" altLang="en-US" sz="1100" dirty="0" smtClean="0"/>
              <a:t>불가능</a:t>
            </a:r>
            <a:endParaRPr lang="en-US" altLang="ko-KR" sz="11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소비</a:t>
            </a:r>
            <a:r>
              <a:rPr lang="en-US" altLang="ko-KR" sz="1300" dirty="0" smtClean="0"/>
              <a:t> </a:t>
            </a:r>
            <a:r>
              <a:rPr lang="ko-KR" altLang="en-US" sz="1300" dirty="0" err="1" smtClean="0"/>
              <a:t>경합성</a:t>
            </a:r>
            <a:r>
              <a:rPr lang="en-US" altLang="ko-KR" sz="1300" dirty="0" smtClean="0"/>
              <a:t>: </a:t>
            </a:r>
            <a:r>
              <a:rPr lang="ko-KR" altLang="en-US" sz="1300" dirty="0" smtClean="0"/>
              <a:t>한 사람이 사용하면 다른 사람의 </a:t>
            </a:r>
            <a:r>
              <a:rPr lang="ko-KR" altLang="en-US" sz="1300" dirty="0" err="1" smtClean="0"/>
              <a:t>사용가능량을</a:t>
            </a:r>
            <a:r>
              <a:rPr lang="ko-KR" altLang="en-US" sz="1300" dirty="0" smtClean="0"/>
              <a:t> 줄게 하는가</a:t>
            </a:r>
            <a:r>
              <a:rPr lang="en-US" altLang="ko-KR" sz="13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Ex</a:t>
            </a:r>
            <a:r>
              <a:rPr lang="en-US" altLang="ko-KR" sz="1100" dirty="0"/>
              <a:t>. </a:t>
            </a:r>
            <a:r>
              <a:rPr lang="ko-KR" altLang="en-US" sz="1100" dirty="0"/>
              <a:t>공중화장실</a:t>
            </a:r>
            <a:r>
              <a:rPr lang="en-US" altLang="ko-KR" sz="1100" dirty="0"/>
              <a:t>, </a:t>
            </a:r>
            <a:r>
              <a:rPr lang="ko-KR" altLang="en-US" sz="1100" dirty="0"/>
              <a:t>도서관 좌석</a:t>
            </a:r>
            <a:r>
              <a:rPr lang="en-US" altLang="ko-KR" sz="1100" dirty="0"/>
              <a:t>, </a:t>
            </a:r>
            <a:r>
              <a:rPr lang="ko-KR" altLang="en-US" sz="1100" dirty="0"/>
              <a:t>생일파티의 음식 등은</a:t>
            </a:r>
            <a:r>
              <a:rPr lang="en-US" altLang="ko-KR" sz="1100" dirty="0"/>
              <a:t> </a:t>
            </a:r>
            <a:r>
              <a:rPr lang="ko-KR" altLang="en-US" sz="1100" dirty="0" err="1" smtClean="0"/>
              <a:t>경합적</a:t>
            </a:r>
            <a:endParaRPr lang="en-US" altLang="ko-KR" sz="11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이 </a:t>
            </a:r>
            <a:r>
              <a:rPr lang="ko-KR" altLang="en-US" sz="1300" dirty="0"/>
              <a:t>두가지 기준에 따라 재화와 서비스를 다음 네 가지로 구분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사용재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private </a:t>
            </a:r>
            <a:r>
              <a:rPr lang="en-US" altLang="ko-KR" sz="1100" dirty="0" smtClean="0"/>
              <a:t>goods: </a:t>
            </a:r>
            <a:r>
              <a:rPr lang="ko-KR" altLang="en-US" sz="1100" dirty="0" smtClean="0"/>
              <a:t>배제 가능 </a:t>
            </a:r>
            <a:r>
              <a:rPr lang="en-US" altLang="ko-KR" sz="1100" dirty="0" smtClean="0"/>
              <a:t>+ </a:t>
            </a:r>
            <a:r>
              <a:rPr lang="ko-KR" altLang="en-US" sz="1100" dirty="0" smtClean="0"/>
              <a:t>소비 </a:t>
            </a:r>
            <a:r>
              <a:rPr lang="ko-KR" altLang="en-US" sz="1100" dirty="0" err="1" smtClean="0"/>
              <a:t>경합성</a:t>
            </a:r>
            <a:r>
              <a:rPr lang="ko-KR" altLang="en-US" sz="1100" dirty="0" smtClean="0"/>
              <a:t> 있음</a:t>
            </a:r>
            <a:r>
              <a:rPr lang="en-US" altLang="ko-KR" sz="1100" dirty="0" smtClean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공공재 </a:t>
            </a:r>
            <a:r>
              <a:rPr lang="en-US" altLang="ko-KR" sz="1100" dirty="0"/>
              <a:t>public </a:t>
            </a:r>
            <a:r>
              <a:rPr lang="en-US" altLang="ko-KR" sz="1100" dirty="0" smtClean="0"/>
              <a:t>goods: </a:t>
            </a:r>
            <a:r>
              <a:rPr lang="ko-KR" altLang="en-US" sz="1100" dirty="0" smtClean="0"/>
              <a:t>배제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불능 </a:t>
            </a:r>
            <a:r>
              <a:rPr lang="en-US" altLang="ko-KR" sz="1100" dirty="0" smtClean="0"/>
              <a:t>+ </a:t>
            </a:r>
            <a:r>
              <a:rPr lang="ko-KR" altLang="en-US" sz="1100" dirty="0" smtClean="0"/>
              <a:t>소비 </a:t>
            </a:r>
            <a:r>
              <a:rPr lang="ko-KR" altLang="en-US" sz="1100" dirty="0" err="1" smtClean="0"/>
              <a:t>경합성</a:t>
            </a:r>
            <a:r>
              <a:rPr lang="ko-KR" altLang="en-US" sz="1100" dirty="0" smtClean="0"/>
              <a:t> 없음</a:t>
            </a:r>
            <a:r>
              <a:rPr lang="en-US" altLang="ko-KR" sz="1100" dirty="0" smtClean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공유자원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common resources: </a:t>
            </a:r>
            <a:r>
              <a:rPr lang="ko-KR" altLang="en-US" sz="1100" dirty="0"/>
              <a:t>배제 불능 </a:t>
            </a:r>
            <a:r>
              <a:rPr lang="en-US" altLang="ko-KR" sz="1100" dirty="0"/>
              <a:t>+ </a:t>
            </a:r>
            <a:r>
              <a:rPr lang="ko-KR" altLang="en-US" sz="1100" dirty="0" smtClean="0"/>
              <a:t>소비 </a:t>
            </a:r>
            <a:r>
              <a:rPr lang="ko-KR" altLang="en-US" sz="1100" dirty="0" err="1" smtClean="0"/>
              <a:t>경합성</a:t>
            </a:r>
            <a:r>
              <a:rPr lang="ko-KR" altLang="en-US" sz="1100" dirty="0" smtClean="0"/>
              <a:t> 있음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클럽재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club goods: </a:t>
            </a:r>
            <a:r>
              <a:rPr lang="ko-KR" altLang="en-US" sz="1100" dirty="0"/>
              <a:t>배제</a:t>
            </a:r>
            <a:r>
              <a:rPr lang="en-US" altLang="ko-KR" sz="1100" dirty="0"/>
              <a:t> </a:t>
            </a:r>
            <a:r>
              <a:rPr lang="ko-KR" altLang="en-US" sz="1100" dirty="0"/>
              <a:t>가능 </a:t>
            </a:r>
            <a:r>
              <a:rPr lang="en-US" altLang="ko-KR" sz="1100" dirty="0"/>
              <a:t>+ </a:t>
            </a:r>
            <a:r>
              <a:rPr lang="ko-KR" altLang="en-US" sz="1100" dirty="0" smtClean="0"/>
              <a:t>소비 </a:t>
            </a:r>
            <a:r>
              <a:rPr lang="ko-KR" altLang="en-US" sz="1100" dirty="0" err="1" smtClean="0"/>
              <a:t>경합성</a:t>
            </a:r>
            <a:r>
              <a:rPr lang="ko-KR" altLang="en-US" sz="1100" dirty="0" smtClean="0"/>
              <a:t> 없음</a:t>
            </a:r>
            <a:r>
              <a:rPr lang="en-US" altLang="ko-KR" sz="1100" dirty="0" smtClean="0"/>
              <a:t>.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6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공공재의 경우 민간의 의사결정이 비효율인 결과를 낳음</a:t>
            </a:r>
            <a:r>
              <a:rPr lang="en-US" altLang="ko-KR" sz="1300" dirty="0" smtClean="0"/>
              <a:t>.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공공재의 </a:t>
            </a:r>
            <a:r>
              <a:rPr lang="ko-KR" altLang="en-US" sz="1100" dirty="0"/>
              <a:t>가치 </a:t>
            </a:r>
            <a:r>
              <a:rPr lang="en-US" altLang="ko-KR" sz="1100" dirty="0"/>
              <a:t>value</a:t>
            </a:r>
            <a:r>
              <a:rPr lang="ko-KR" altLang="en-US" sz="1100" dirty="0"/>
              <a:t>에도 불구하고</a:t>
            </a:r>
            <a:r>
              <a:rPr lang="en-US" altLang="ko-KR" sz="1100" dirty="0"/>
              <a:t>, </a:t>
            </a:r>
            <a:r>
              <a:rPr lang="ko-KR" altLang="en-US" sz="1100" dirty="0"/>
              <a:t>시장에서 균형가격이 제대로 책정되지 않기 </a:t>
            </a:r>
            <a:r>
              <a:rPr lang="ko-KR" altLang="en-US" sz="1100" dirty="0" smtClean="0"/>
              <a:t>때문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결과적으로 공급 부족으로 인한 </a:t>
            </a:r>
            <a:r>
              <a:rPr lang="ko-KR" altLang="en-US" sz="1100" dirty="0" smtClean="0">
                <a:sym typeface="Wingdings" panose="05000000000000000000" pitchFamily="2" charset="2"/>
              </a:rPr>
              <a:t>후생 손실이 초래됨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정부의 개입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즉 공공정책으로 </a:t>
            </a:r>
            <a:r>
              <a:rPr lang="ko-KR" altLang="en-US" sz="1100" dirty="0"/>
              <a:t>경제전체의 후생을 증진시킬 수 있음</a:t>
            </a:r>
            <a:r>
              <a:rPr lang="en-US" altLang="ko-KR" sz="11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공공재의 무임승차자 </a:t>
            </a:r>
            <a:r>
              <a:rPr lang="en-US" altLang="ko-KR" sz="1300" dirty="0"/>
              <a:t>free-rider </a:t>
            </a:r>
            <a:r>
              <a:rPr lang="ko-KR" altLang="en-US" sz="1300" dirty="0"/>
              <a:t>문제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어떤 </a:t>
            </a:r>
            <a:r>
              <a:rPr lang="ko-KR" altLang="en-US" sz="1100" dirty="0"/>
              <a:t>재화로부터 편익</a:t>
            </a:r>
            <a:r>
              <a:rPr lang="en-US" altLang="ko-KR" sz="1100" dirty="0"/>
              <a:t> benefit</a:t>
            </a:r>
            <a:r>
              <a:rPr lang="ko-KR" altLang="en-US" sz="1100" dirty="0"/>
              <a:t>을 얻지만 비용지불은 회피하는 </a:t>
            </a:r>
            <a:r>
              <a:rPr lang="ko-KR" altLang="en-US" sz="1100" dirty="0" smtClean="0"/>
              <a:t>사람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공공재는 </a:t>
            </a:r>
            <a:r>
              <a:rPr lang="ko-KR" altLang="en-US" sz="1100" dirty="0"/>
              <a:t>배제가 불가능하므로</a:t>
            </a:r>
            <a:r>
              <a:rPr lang="en-US" altLang="ko-KR" sz="1100" dirty="0"/>
              <a:t>, </a:t>
            </a:r>
            <a:r>
              <a:rPr lang="ko-KR" altLang="en-US" sz="1100" dirty="0"/>
              <a:t>사람들은 무임승차자가 되려는 유인을 가짐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이 경우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시장을 </a:t>
            </a:r>
            <a:r>
              <a:rPr lang="ko-KR" altLang="en-US" sz="1100" dirty="0"/>
              <a:t>통해서는 </a:t>
            </a:r>
            <a:r>
              <a:rPr lang="ko-KR" altLang="en-US" sz="1100" dirty="0" smtClean="0"/>
              <a:t>재화의 </a:t>
            </a:r>
            <a:r>
              <a:rPr lang="ko-KR" altLang="en-US" sz="1100" dirty="0"/>
              <a:t>공급이 불가능 </a:t>
            </a:r>
            <a:r>
              <a:rPr lang="en-US" altLang="ko-KR" sz="1100" dirty="0"/>
              <a:t>= ‘</a:t>
            </a:r>
            <a:r>
              <a:rPr lang="ko-KR" altLang="en-US" sz="1100" dirty="0"/>
              <a:t>시장실패의 사례</a:t>
            </a:r>
            <a:r>
              <a:rPr lang="en-US" altLang="ko-KR" sz="1100" dirty="0"/>
              <a:t>’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정부에 의한 공공재 공급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공공재의 </a:t>
            </a:r>
            <a:r>
              <a:rPr lang="ko-KR" altLang="en-US" sz="1100" dirty="0" err="1"/>
              <a:t>총편익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&gt; </a:t>
            </a:r>
            <a:r>
              <a:rPr lang="ko-KR" altLang="en-US" sz="1100" dirty="0"/>
              <a:t>공공재의 </a:t>
            </a:r>
            <a:r>
              <a:rPr lang="ko-KR" altLang="en-US" sz="1100" dirty="0" err="1" smtClean="0"/>
              <a:t>공급비용인</a:t>
            </a:r>
            <a:r>
              <a:rPr lang="ko-KR" altLang="en-US" sz="1100" dirty="0" smtClean="0"/>
              <a:t> 경우</a:t>
            </a:r>
            <a:r>
              <a:rPr lang="en-US" altLang="ko-KR" sz="1100" dirty="0" smtClean="0"/>
              <a:t>,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관련비용은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조세수입으로 </a:t>
            </a:r>
            <a:r>
              <a:rPr lang="ko-KR" altLang="en-US" sz="1100" dirty="0" smtClean="0"/>
              <a:t>지불하면서 정부가 공공재를 공급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그러나 편익 </a:t>
            </a:r>
            <a:r>
              <a:rPr lang="en-US" altLang="ko-KR" sz="1100" dirty="0"/>
              <a:t>benefits</a:t>
            </a:r>
            <a:r>
              <a:rPr lang="ko-KR" altLang="en-US" sz="1100" dirty="0"/>
              <a:t>을 정확히 객관적으로 측정하는 일이 복잡하고 어려움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비용편익분석 </a:t>
            </a:r>
            <a:r>
              <a:rPr lang="en-US" altLang="ko-KR" sz="1100" dirty="0"/>
              <a:t>Cost-Benefit Analysis, C/B</a:t>
            </a:r>
            <a:r>
              <a:rPr lang="ko-KR" altLang="en-US" sz="1100" dirty="0"/>
              <a:t> </a:t>
            </a:r>
            <a:r>
              <a:rPr lang="ko-KR" altLang="en-US" sz="1100" dirty="0" smtClean="0"/>
              <a:t>분석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공공재의 </a:t>
            </a:r>
            <a:r>
              <a:rPr lang="ko-KR" altLang="en-US" sz="1100" dirty="0"/>
              <a:t>효율적 공급은 민간 재화보다 어려움</a:t>
            </a:r>
            <a:r>
              <a:rPr lang="en-US" altLang="ko-KR" sz="1100" dirty="0"/>
              <a:t>. </a:t>
            </a: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693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공유자원 </a:t>
            </a:r>
            <a:r>
              <a:rPr lang="en-US" altLang="ko-KR" sz="1300" dirty="0"/>
              <a:t>Common</a:t>
            </a:r>
            <a:r>
              <a:rPr lang="ko-KR" altLang="en-US" sz="1300" dirty="0"/>
              <a:t> </a:t>
            </a:r>
            <a:r>
              <a:rPr lang="en-US" altLang="ko-KR" sz="1300" dirty="0"/>
              <a:t>resources : </a:t>
            </a:r>
            <a:r>
              <a:rPr lang="ko-KR" altLang="en-US" sz="1300" dirty="0"/>
              <a:t>배제</a:t>
            </a:r>
            <a:r>
              <a:rPr lang="en-US" altLang="ko-KR" sz="1300" dirty="0"/>
              <a:t> </a:t>
            </a:r>
            <a:r>
              <a:rPr lang="ko-KR" altLang="en-US" sz="1300" dirty="0"/>
              <a:t>불가능하지만</a:t>
            </a:r>
            <a:r>
              <a:rPr lang="en-US" altLang="ko-KR" sz="1300" dirty="0"/>
              <a:t>, </a:t>
            </a:r>
            <a:r>
              <a:rPr lang="ko-KR" altLang="en-US" sz="1300" dirty="0"/>
              <a:t>소비의 </a:t>
            </a:r>
            <a:r>
              <a:rPr lang="ko-KR" altLang="en-US" sz="1300" dirty="0" err="1"/>
              <a:t>경합성</a:t>
            </a:r>
            <a:r>
              <a:rPr lang="ko-KR" altLang="en-US" sz="1300" dirty="0"/>
              <a:t> 존재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배제 </a:t>
            </a:r>
            <a:r>
              <a:rPr lang="ko-KR" altLang="en-US" sz="1100" dirty="0"/>
              <a:t>불가능으로 무임승차자를 막을 수 없기 때문에 민간기업이 공급하지 않음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각 </a:t>
            </a:r>
            <a:r>
              <a:rPr lang="ko-KR" altLang="en-US" sz="1100" dirty="0"/>
              <a:t>개인의 공유자원 사용은 타인의 사용 가능성을 줄임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정부의 </a:t>
            </a:r>
            <a:r>
              <a:rPr lang="ko-KR" altLang="en-US" sz="1100" dirty="0"/>
              <a:t>역할은 공유자원이 제공되는지 여부를 관찰하고</a:t>
            </a:r>
            <a:r>
              <a:rPr lang="en-US" altLang="ko-KR" sz="1100" dirty="0"/>
              <a:t>,</a:t>
            </a:r>
            <a:r>
              <a:rPr lang="ko-KR" altLang="en-US" sz="1100" dirty="0"/>
              <a:t> </a:t>
            </a:r>
            <a:r>
              <a:rPr lang="ko-KR" altLang="en-US" sz="1100" dirty="0" smtClean="0"/>
              <a:t>과다 </a:t>
            </a:r>
            <a:r>
              <a:rPr lang="ko-KR" altLang="en-US" sz="1100" dirty="0"/>
              <a:t>사용 </a:t>
            </a:r>
            <a:r>
              <a:rPr lang="en-US" altLang="ko-KR" sz="1100" dirty="0"/>
              <a:t>overuse </a:t>
            </a:r>
            <a:r>
              <a:rPr lang="ko-KR" altLang="en-US" sz="1100" dirty="0"/>
              <a:t>되지 않도록 </a:t>
            </a:r>
            <a:r>
              <a:rPr lang="ko-KR" altLang="en-US" sz="1100" dirty="0" smtClean="0"/>
              <a:t>관리하는 일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25" dirty="0"/>
              <a:t>공유지의</a:t>
            </a:r>
            <a:r>
              <a:rPr lang="en-US" altLang="ko-KR" sz="1325" dirty="0"/>
              <a:t> </a:t>
            </a:r>
            <a:r>
              <a:rPr lang="ko-KR" altLang="en-US" sz="1325" dirty="0"/>
              <a:t>비극 </a:t>
            </a:r>
            <a:r>
              <a:rPr lang="en-US" altLang="ko-KR" sz="1325" dirty="0"/>
              <a:t>Tragedy of the commons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공유자원은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바람직한 수준보다 더 많이 사용되는 </a:t>
            </a:r>
            <a:r>
              <a:rPr lang="ko-KR" altLang="en-US" sz="1100" dirty="0" smtClean="0"/>
              <a:t>경향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Ex</a:t>
            </a:r>
            <a:r>
              <a:rPr lang="en-US" altLang="ko-KR" sz="1100" dirty="0"/>
              <a:t>. </a:t>
            </a:r>
            <a:r>
              <a:rPr lang="ko-KR" altLang="en-US" sz="1100" dirty="0"/>
              <a:t>중세시대</a:t>
            </a:r>
            <a:r>
              <a:rPr lang="en-US" altLang="ko-KR" sz="1100" dirty="0"/>
              <a:t> </a:t>
            </a:r>
            <a:r>
              <a:rPr lang="ko-KR" altLang="en-US" sz="1100" dirty="0"/>
              <a:t>어떤 마을에서 일어난 불행한 </a:t>
            </a:r>
            <a:r>
              <a:rPr lang="ko-KR" altLang="en-US" sz="1100" dirty="0" smtClean="0"/>
              <a:t>사건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개인과 </a:t>
            </a:r>
            <a:r>
              <a:rPr lang="ko-KR" altLang="en-US" sz="1100" dirty="0"/>
              <a:t>사회</a:t>
            </a:r>
            <a:r>
              <a:rPr lang="en-US" altLang="ko-KR" sz="1100" dirty="0"/>
              <a:t>(</a:t>
            </a:r>
            <a:r>
              <a:rPr lang="ko-KR" altLang="en-US" sz="1100" dirty="0"/>
              <a:t>공동체</a:t>
            </a:r>
            <a:r>
              <a:rPr lang="en-US" altLang="ko-KR" sz="1100" dirty="0"/>
              <a:t>) </a:t>
            </a:r>
            <a:r>
              <a:rPr lang="ko-KR" altLang="en-US" sz="1100" dirty="0"/>
              <a:t>전체의 인센티브가 서로 다르기 때문에 </a:t>
            </a:r>
            <a:r>
              <a:rPr lang="ko-KR" altLang="en-US" sz="1100" dirty="0" smtClean="0"/>
              <a:t>발생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부정적 </a:t>
            </a:r>
            <a:r>
              <a:rPr lang="ko-KR" altLang="en-US" sz="1100" dirty="0"/>
              <a:t>외부효과가 존재</a:t>
            </a:r>
            <a:r>
              <a:rPr lang="en-US" altLang="ko-KR" sz="1100" dirty="0"/>
              <a:t>: </a:t>
            </a:r>
            <a:r>
              <a:rPr lang="ko-KR" altLang="en-US" sz="1100" dirty="0"/>
              <a:t>사람들은 자신의 행동이 야기하는 외부비용을 무시하기 때문에 과다 사용에 이르게 됨</a:t>
            </a:r>
            <a:r>
              <a:rPr lang="en-US" altLang="ko-KR" sz="1100" dirty="0"/>
              <a:t>. 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100" dirty="0"/>
              <a:t>공유지의 비극을 막는 방법</a:t>
            </a:r>
            <a:endParaRPr lang="en-US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해당 </a:t>
            </a:r>
            <a:r>
              <a:rPr lang="ko-KR" altLang="en-US" sz="1100" dirty="0"/>
              <a:t>자원의 사용 </a:t>
            </a:r>
            <a:r>
              <a:rPr lang="ko-KR" altLang="en-US" sz="1100" dirty="0" smtClean="0"/>
              <a:t>규제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일정 </a:t>
            </a:r>
            <a:r>
              <a:rPr lang="ko-KR" altLang="en-US" sz="1100" dirty="0"/>
              <a:t>금액의 세금 부과로 외부효과를 </a:t>
            </a:r>
            <a:r>
              <a:rPr lang="ko-KR" altLang="en-US" sz="1100" dirty="0" smtClean="0"/>
              <a:t>내부화</a:t>
            </a:r>
            <a:endParaRPr lang="en-US" altLang="ko-KR" sz="8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해당자원의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사용 허가권</a:t>
            </a:r>
            <a:r>
              <a:rPr lang="en-US" altLang="ko-KR" sz="1100" dirty="0"/>
              <a:t>(permits)</a:t>
            </a:r>
            <a:r>
              <a:rPr lang="ko-KR" altLang="en-US" sz="1100" dirty="0"/>
              <a:t>을 경매형식으로 </a:t>
            </a:r>
            <a:r>
              <a:rPr lang="ko-KR" altLang="en-US" sz="1100" dirty="0" smtClean="0"/>
              <a:t>판매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사용재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private</a:t>
            </a:r>
            <a:r>
              <a:rPr lang="ko-KR" altLang="en-US" sz="1100" dirty="0"/>
              <a:t> </a:t>
            </a:r>
            <a:r>
              <a:rPr lang="en-US" altLang="ko-KR" sz="1100" dirty="0"/>
              <a:t>goods</a:t>
            </a:r>
            <a:r>
              <a:rPr lang="ko-KR" altLang="en-US" sz="1100" dirty="0"/>
              <a:t>로 </a:t>
            </a:r>
            <a:r>
              <a:rPr lang="ko-KR" altLang="en-US" sz="1100" dirty="0" smtClean="0"/>
              <a:t>전환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075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0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1347</TotalTime>
  <Words>362</Words>
  <Application>Microsoft Office PowerPoint</Application>
  <PresentationFormat>와이드스크린</PresentationFormat>
  <Paragraphs>45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11장 공공재와 공유자원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107</cp:revision>
  <dcterms:created xsi:type="dcterms:W3CDTF">2021-06-28T02:08:57Z</dcterms:created>
  <dcterms:modified xsi:type="dcterms:W3CDTF">2023-04-10T05:41:47Z</dcterms:modified>
</cp:coreProperties>
</file>