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notesMasterIdLst>
    <p:notesMasterId r:id="rId13"/>
  </p:notesMasterIdLst>
  <p:sldIdLst>
    <p:sldId id="455" r:id="rId2"/>
    <p:sldId id="556" r:id="rId3"/>
    <p:sldId id="558" r:id="rId4"/>
    <p:sldId id="586" r:id="rId5"/>
    <p:sldId id="587" r:id="rId6"/>
    <p:sldId id="588" r:id="rId7"/>
    <p:sldId id="569" r:id="rId8"/>
    <p:sldId id="560" r:id="rId9"/>
    <p:sldId id="589" r:id="rId10"/>
    <p:sldId id="590" r:id="rId11"/>
    <p:sldId id="591" r:id="rId12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6600"/>
    <a:srgbClr val="57D3C1"/>
    <a:srgbClr val="FF9900"/>
    <a:srgbClr val="90C9F4"/>
    <a:srgbClr val="409EC4"/>
    <a:srgbClr val="47ABE3"/>
    <a:srgbClr val="33C1AD"/>
    <a:srgbClr val="B4C7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18" autoAdjust="0"/>
    <p:restoredTop sz="86232" autoAdjust="0"/>
  </p:normalViewPr>
  <p:slideViewPr>
    <p:cSldViewPr>
      <p:cViewPr varScale="1">
        <p:scale>
          <a:sx n="58" d="100"/>
          <a:sy n="58" d="100"/>
        </p:scale>
        <p:origin x="13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38"/>
    </p:cViewPr>
  </p:sorterViewPr>
  <p:notesViewPr>
    <p:cSldViewPr>
      <p:cViewPr varScale="1">
        <p:scale>
          <a:sx n="50" d="100"/>
          <a:sy n="50" d="100"/>
        </p:scale>
        <p:origin x="-3030" y="-11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굴림" pitchFamily="50" charset="-127"/>
              </a:defRPr>
            </a:lvl1pPr>
          </a:lstStyle>
          <a:p>
            <a:fld id="{E6AB8A2B-02F3-4321-8873-765761CBE4F2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8" name="머리글 개체 틀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2158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8A2B-02F3-4321-8873-765761CBE4F2}" type="slidenum">
              <a:rPr lang="ko-KR" altLang="en-US" smtClean="0"/>
              <a:pPr/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77594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8A2B-02F3-4321-8873-765761CBE4F2}" type="slidenum">
              <a:rPr lang="ko-KR" altLang="en-US" smtClean="0"/>
              <a:pPr/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2966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8A2B-02F3-4321-8873-765761CBE4F2}" type="slidenum">
              <a:rPr lang="ko-KR" altLang="en-US" smtClean="0"/>
              <a:pPr/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5394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8A2B-02F3-4321-8873-765761CBE4F2}" type="slidenum">
              <a:rPr lang="ko-KR" altLang="en-US" smtClean="0"/>
              <a:pPr/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5032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8A2B-02F3-4321-8873-765761CBE4F2}" type="slidenum">
              <a:rPr lang="ko-KR" altLang="en-US" smtClean="0"/>
              <a:pPr/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30815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8A2B-02F3-4321-8873-765761CBE4F2}" type="slidenum">
              <a:rPr lang="ko-KR" altLang="en-US" smtClean="0"/>
              <a:pPr/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5840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8A2B-02F3-4321-8873-765761CBE4F2}" type="slidenum">
              <a:rPr lang="ko-KR" altLang="en-US" smtClean="0"/>
              <a:pPr/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89126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8607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6/1/2020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69024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558751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283242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77181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277996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083782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6/1/2020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910279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180484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060089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7127133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194366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1197974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1455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6/1/2020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887968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917236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670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</p:sldLayoutIdLst>
  <p:transition spd="med">
    <p:fade/>
  </p:transition>
  <p:hf sldNum="0" hdr="0" dt="0"/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9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.emf"/><Relationship Id="rId9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3"/>
          <p:cNvSpPr txBox="1">
            <a:spLocks noChangeArrowheads="1"/>
          </p:cNvSpPr>
          <p:nvPr/>
        </p:nvSpPr>
        <p:spPr bwMode="auto">
          <a:xfrm>
            <a:off x="971600" y="404664"/>
            <a:ext cx="7797615" cy="286232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60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Gill Sans MT Ext Condensed Bold" panose="020B0902020104020203" pitchFamily="34" charset="0"/>
              </a:rPr>
              <a:t>Experiment 9. </a:t>
            </a:r>
          </a:p>
          <a:p>
            <a:pPr>
              <a:defRPr/>
            </a:pPr>
            <a:r>
              <a:rPr lang="en-US" altLang="ko-KR" sz="60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Gill Sans MT Ext Condensed Bold" panose="020B0902020104020203" pitchFamily="34" charset="0"/>
              </a:rPr>
              <a:t>Molar Solubility; Common-ion Effect</a:t>
            </a:r>
          </a:p>
        </p:txBody>
      </p:sp>
      <p:sp>
        <p:nvSpPr>
          <p:cNvPr id="5" name="Text Box 33"/>
          <p:cNvSpPr txBox="1">
            <a:spLocks noChangeArrowheads="1"/>
          </p:cNvSpPr>
          <p:nvPr/>
        </p:nvSpPr>
        <p:spPr bwMode="auto">
          <a:xfrm>
            <a:off x="971600" y="3645024"/>
            <a:ext cx="7200800" cy="19389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>
              <a:defRPr/>
            </a:pPr>
            <a:r>
              <a:rPr lang="en-US" altLang="ko-KR" sz="60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Gill Sans MT Ext Condensed Bold" panose="020B0902020104020203" pitchFamily="34" charset="0"/>
              </a:rPr>
              <a:t>Experimental Procedure</a:t>
            </a:r>
          </a:p>
          <a:p>
            <a:pPr>
              <a:defRPr/>
            </a:pPr>
            <a:r>
              <a:rPr lang="en-US" altLang="ko-KR" sz="60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Gill Sans MT Ext Condensed Bold" panose="020B0902020104020203" pitchFamily="34" charset="0"/>
              </a:rPr>
              <a:t>Online Class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13"/>
          <p:cNvSpPr>
            <a:spLocks noChangeArrowheads="1"/>
          </p:cNvSpPr>
          <p:nvPr/>
        </p:nvSpPr>
        <p:spPr bwMode="auto">
          <a:xfrm>
            <a:off x="395536" y="2132856"/>
            <a:ext cx="850106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4000" b="1" i="1" dirty="0">
                <a:solidFill>
                  <a:srgbClr val="006600"/>
                </a:solidFill>
                <a:latin typeface="Bookman Old Style" pitchFamily="18" charset="0"/>
                <a:cs typeface="Aharoni" pitchFamily="2" charset="-79"/>
              </a:rPr>
              <a:t>PART B. Molar Solubility and Solubility Product of Calcium Hydroxide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 설명선 1"/>
          <p:cNvSpPr/>
          <p:nvPr/>
        </p:nvSpPr>
        <p:spPr>
          <a:xfrm>
            <a:off x="896937" y="5072063"/>
            <a:ext cx="5214938" cy="769938"/>
          </a:xfrm>
          <a:prstGeom prst="wedgeRectCallout">
            <a:avLst>
              <a:gd name="adj1" fmla="val 53914"/>
              <a:gd name="adj2" fmla="val 45394"/>
            </a:avLst>
          </a:prstGeom>
          <a:noFill/>
          <a:ln w="9525">
            <a:solidFill>
              <a:srgbClr val="CC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en-US" altLang="ko-KR" sz="2200" b="1" dirty="0">
                <a:solidFill>
                  <a:schemeClr val="tx1"/>
                </a:solidFill>
                <a:latin typeface="AmeriGarmnd BT" pitchFamily="2" charset="0"/>
              </a:rPr>
              <a:t>Ca(OH)</a:t>
            </a:r>
            <a:r>
              <a:rPr lang="en-US" altLang="ko-KR" sz="2200" b="1" baseline="-25000" dirty="0">
                <a:solidFill>
                  <a:schemeClr val="tx1"/>
                </a:solidFill>
                <a:latin typeface="AmeriGarmnd BT" pitchFamily="2" charset="0"/>
              </a:rPr>
              <a:t>2</a:t>
            </a:r>
            <a:r>
              <a:rPr lang="en-US" altLang="ko-KR" sz="2200" b="1" dirty="0">
                <a:solidFill>
                  <a:schemeClr val="tx1"/>
                </a:solidFill>
                <a:latin typeface="AmeriGarmnd BT" pitchFamily="2" charset="0"/>
              </a:rPr>
              <a:t> solution 25 mL </a:t>
            </a:r>
          </a:p>
          <a:p>
            <a:pPr>
              <a:defRPr/>
            </a:pPr>
            <a:r>
              <a:rPr lang="en-US" altLang="ko-KR" sz="2200" b="1" dirty="0">
                <a:solidFill>
                  <a:schemeClr val="tx1"/>
                </a:solidFill>
                <a:latin typeface="AmeriGarmnd BT" pitchFamily="2" charset="0"/>
              </a:rPr>
              <a:t>+ methyl orange indicator (2 drops)</a:t>
            </a: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6572250" y="3143250"/>
          <a:ext cx="333375" cy="259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1" name="CS ChemDraw Drawing" r:id="rId3" imgW="511200" imgH="3066480" progId="">
                  <p:embed/>
                </p:oleObj>
              </mc:Choice>
              <mc:Fallback>
                <p:oleObj name="CS ChemDraw Drawing" r:id="rId3" imgW="511200" imgH="306648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3143250"/>
                        <a:ext cx="333375" cy="259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6427788" y="2605088"/>
          <a:ext cx="58420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2" name="CS ChemDraw Drawing" r:id="rId5" imgW="1085040" imgH="1932480" progId="">
                  <p:embed/>
                </p:oleObj>
              </mc:Choice>
              <mc:Fallback>
                <p:oleObj name="CS ChemDraw Drawing" r:id="rId5" imgW="1085040" imgH="193248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788" y="2605088"/>
                        <a:ext cx="584200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0080495"/>
              </p:ext>
            </p:extLst>
          </p:nvPr>
        </p:nvGraphicFramePr>
        <p:xfrm>
          <a:off x="3131840" y="2714625"/>
          <a:ext cx="1038225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3" name="CS ChemDraw Drawing" r:id="rId7" imgW="1038960" imgH="1788120" progId="">
                  <p:embed/>
                </p:oleObj>
              </mc:Choice>
              <mc:Fallback>
                <p:oleObj name="CS ChemDraw Drawing" r:id="rId7" imgW="1038960" imgH="1788120" progId="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2714625"/>
                        <a:ext cx="1038225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사각형 설명선 5"/>
          <p:cNvSpPr/>
          <p:nvPr/>
        </p:nvSpPr>
        <p:spPr>
          <a:xfrm>
            <a:off x="928688" y="1714500"/>
            <a:ext cx="3857625" cy="430213"/>
          </a:xfrm>
          <a:prstGeom prst="wedgeRectCallout">
            <a:avLst>
              <a:gd name="adj1" fmla="val 70833"/>
              <a:gd name="adj2" fmla="val 53216"/>
            </a:avLst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en-US" altLang="ko-KR" sz="2200" b="1" dirty="0">
                <a:solidFill>
                  <a:schemeClr val="tx1"/>
                </a:solidFill>
                <a:latin typeface="AmeriGarmnd BT" pitchFamily="2" charset="0"/>
              </a:rPr>
              <a:t>Standardized HCl solution</a:t>
            </a:r>
          </a:p>
        </p:txBody>
      </p:sp>
      <p:sp>
        <p:nvSpPr>
          <p:cNvPr id="7" name="직사각형 18"/>
          <p:cNvSpPr>
            <a:spLocks noChangeArrowheads="1"/>
          </p:cNvSpPr>
          <p:nvPr/>
        </p:nvSpPr>
        <p:spPr bwMode="auto">
          <a:xfrm>
            <a:off x="6372225" y="5786438"/>
            <a:ext cx="7350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400">
                <a:latin typeface="Century Gothic" pitchFamily="34" charset="0"/>
              </a:rPr>
              <a:t>125mL</a:t>
            </a:r>
            <a:endParaRPr lang="ko-KR" altLang="en-US" sz="1400"/>
          </a:p>
        </p:txBody>
      </p:sp>
      <p:pic>
        <p:nvPicPr>
          <p:cNvPr id="8" name="Picture 4" descr="C:\Users\윤은영\Desktop\2012 가을학기 TA\20120920_161827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165975" y="2816225"/>
            <a:ext cx="1692275" cy="225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179512" y="764704"/>
            <a:ext cx="86804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ko-KR" sz="2800" b="1" i="1" dirty="0">
                <a:solidFill>
                  <a:srgbClr val="006600"/>
                </a:solidFill>
                <a:latin typeface="Copperplate Gothic Light" pitchFamily="34" charset="0"/>
              </a:rPr>
              <a:t>Trial1</a:t>
            </a:r>
            <a:endParaRPr lang="en-US" altLang="ko-KR" sz="2400" i="1" dirty="0">
              <a:latin typeface="Gill Sans MT" pitchFamily="34" charset="0"/>
            </a:endParaRP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8" t="1" r="36324" b="1345"/>
          <a:stretch/>
        </p:blipFill>
        <p:spPr>
          <a:xfrm>
            <a:off x="1655676" y="1422568"/>
            <a:ext cx="1687958" cy="4320000"/>
          </a:xfr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5" r="48026" b="-438"/>
          <a:stretch/>
        </p:blipFill>
        <p:spPr>
          <a:xfrm>
            <a:off x="5796136" y="1458000"/>
            <a:ext cx="1672258" cy="4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7547" y="602128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Start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660157" y="602128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Finish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6911155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179512" y="764704"/>
            <a:ext cx="86804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ko-KR" sz="2800" b="1" i="1" dirty="0">
                <a:solidFill>
                  <a:srgbClr val="006600"/>
                </a:solidFill>
                <a:latin typeface="Copperplate Gothic Light" pitchFamily="34" charset="0"/>
              </a:rPr>
              <a:t>Trial 2</a:t>
            </a:r>
            <a:endParaRPr lang="en-US" altLang="ko-KR" sz="2400" i="1" dirty="0">
              <a:latin typeface="Gill Sans MT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7547" y="602128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Start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660157" y="602128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Finish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5" r="48026" b="-438"/>
          <a:stretch/>
        </p:blipFill>
        <p:spPr>
          <a:xfrm>
            <a:off x="1655676" y="1422568"/>
            <a:ext cx="1672258" cy="43200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45" r="38419"/>
          <a:stretch/>
        </p:blipFill>
        <p:spPr>
          <a:xfrm>
            <a:off x="5812210" y="1422568"/>
            <a:ext cx="1656184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56774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179512" y="764704"/>
            <a:ext cx="86804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ko-KR" sz="2800" b="1" i="1" dirty="0">
                <a:solidFill>
                  <a:srgbClr val="006600"/>
                </a:solidFill>
                <a:latin typeface="Copperplate Gothic Light" pitchFamily="34" charset="0"/>
              </a:rPr>
              <a:t>Trial 3</a:t>
            </a:r>
            <a:endParaRPr lang="en-US" altLang="ko-KR" sz="2400" i="1" dirty="0">
              <a:latin typeface="Gill Sans MT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47664" y="602128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Start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660157" y="602128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Finish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73" r="39229"/>
          <a:stretch/>
        </p:blipFill>
        <p:spPr>
          <a:xfrm>
            <a:off x="1475656" y="1422568"/>
            <a:ext cx="2088232" cy="43200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03" r="42881"/>
          <a:stretch/>
        </p:blipFill>
        <p:spPr>
          <a:xfrm>
            <a:off x="5940152" y="1458000"/>
            <a:ext cx="1512168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9851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179512" y="1988840"/>
            <a:ext cx="868045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endParaRPr lang="en-US" altLang="ko-KR" sz="4000" i="1" dirty="0">
              <a:solidFill>
                <a:srgbClr val="006600"/>
              </a:solidFill>
              <a:latin typeface="Bookman Old Style" pitchFamily="18" charset="0"/>
              <a:cs typeface="Aharoni" pitchFamily="2" charset="-79"/>
            </a:endParaRPr>
          </a:p>
          <a:p>
            <a:pPr algn="just">
              <a:defRPr/>
            </a:pPr>
            <a:r>
              <a:rPr lang="en-US" altLang="ko-KR" sz="4000" b="1" i="1" dirty="0">
                <a:solidFill>
                  <a:srgbClr val="006600"/>
                </a:solidFill>
                <a:latin typeface="Bookman Old Style" pitchFamily="18" charset="0"/>
                <a:cs typeface="Aharoni" pitchFamily="2" charset="-79"/>
              </a:rPr>
              <a:t>PART C. Molar Solubility of Calcium Hydroxide in the Presence of a Common Ion</a:t>
            </a:r>
          </a:p>
          <a:p>
            <a:pPr>
              <a:defRPr/>
            </a:pPr>
            <a:endParaRPr lang="en-US" altLang="ko-KR" sz="4000" b="1" i="1" dirty="0">
              <a:latin typeface="Bookman Old Style" pitchFamily="18" charset="0"/>
            </a:endParaRPr>
          </a:p>
          <a:p>
            <a:pPr>
              <a:defRPr/>
            </a:pPr>
            <a:endParaRPr lang="en-US" altLang="ko-KR" sz="4000" b="1" i="1" dirty="0">
              <a:latin typeface="Bookman Old Style" pitchFamily="18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 설명선 1"/>
          <p:cNvSpPr/>
          <p:nvPr/>
        </p:nvSpPr>
        <p:spPr>
          <a:xfrm>
            <a:off x="928688" y="4942470"/>
            <a:ext cx="5214938" cy="769938"/>
          </a:xfrm>
          <a:prstGeom prst="wedgeRectCallout">
            <a:avLst>
              <a:gd name="adj1" fmla="val 53914"/>
              <a:gd name="adj2" fmla="val 45394"/>
            </a:avLst>
          </a:prstGeom>
          <a:noFill/>
          <a:ln w="9525">
            <a:solidFill>
              <a:srgbClr val="CC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en-US" altLang="ko-KR" sz="2200" b="1" dirty="0">
                <a:solidFill>
                  <a:schemeClr val="tx1"/>
                </a:solidFill>
                <a:latin typeface="Bell MT" pitchFamily="18" charset="0"/>
              </a:rPr>
              <a:t>[Ca(OH)</a:t>
            </a:r>
            <a:r>
              <a:rPr lang="en-US" altLang="ko-KR" sz="2200" b="1" baseline="-25000" dirty="0">
                <a:solidFill>
                  <a:schemeClr val="tx1"/>
                </a:solidFill>
                <a:latin typeface="Bell MT" pitchFamily="18" charset="0"/>
              </a:rPr>
              <a:t>2</a:t>
            </a:r>
            <a:r>
              <a:rPr lang="en-US" altLang="ko-KR" sz="2200" b="1" dirty="0">
                <a:solidFill>
                  <a:schemeClr val="tx1"/>
                </a:solidFill>
                <a:latin typeface="Bell MT" pitchFamily="18" charset="0"/>
              </a:rPr>
              <a:t> + CaCl</a:t>
            </a:r>
            <a:r>
              <a:rPr lang="en-US" altLang="ko-KR" sz="2200" b="1" baseline="-25000" dirty="0">
                <a:solidFill>
                  <a:schemeClr val="tx1"/>
                </a:solidFill>
                <a:latin typeface="Bell MT" pitchFamily="18" charset="0"/>
              </a:rPr>
              <a:t>2</a:t>
            </a:r>
            <a:r>
              <a:rPr lang="en-US" altLang="ko-KR" sz="2200" b="1" dirty="0">
                <a:solidFill>
                  <a:schemeClr val="tx1"/>
                </a:solidFill>
                <a:latin typeface="Bell MT" pitchFamily="18" charset="0"/>
              </a:rPr>
              <a:t> Solution] 25 mL </a:t>
            </a:r>
          </a:p>
          <a:p>
            <a:pPr>
              <a:defRPr/>
            </a:pPr>
            <a:r>
              <a:rPr lang="en-US" altLang="ko-KR" sz="2200" b="1" dirty="0">
                <a:solidFill>
                  <a:schemeClr val="tx1"/>
                </a:solidFill>
                <a:latin typeface="Bell MT" pitchFamily="18" charset="0"/>
              </a:rPr>
              <a:t>+ methyl orange solution (2 drops)</a:t>
            </a: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6572250" y="3143250"/>
          <a:ext cx="333375" cy="259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5" name="CS ChemDraw Drawing" r:id="rId3" imgW="511200" imgH="3066480" progId="">
                  <p:embed/>
                </p:oleObj>
              </mc:Choice>
              <mc:Fallback>
                <p:oleObj name="CS ChemDraw Drawing" r:id="rId3" imgW="511200" imgH="306648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3143250"/>
                        <a:ext cx="333375" cy="259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6427788" y="2605088"/>
          <a:ext cx="58420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6" name="CS ChemDraw Drawing" r:id="rId5" imgW="1085040" imgH="1932480" progId="">
                  <p:embed/>
                </p:oleObj>
              </mc:Choice>
              <mc:Fallback>
                <p:oleObj name="CS ChemDraw Drawing" r:id="rId5" imgW="1085040" imgH="193248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788" y="2605088"/>
                        <a:ext cx="584200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9917480"/>
              </p:ext>
            </p:extLst>
          </p:nvPr>
        </p:nvGraphicFramePr>
        <p:xfrm>
          <a:off x="3185318" y="2749550"/>
          <a:ext cx="1038225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7" name="CS ChemDraw Drawing" r:id="rId7" imgW="1038960" imgH="1788120" progId="">
                  <p:embed/>
                </p:oleObj>
              </mc:Choice>
              <mc:Fallback>
                <p:oleObj name="CS ChemDraw Drawing" r:id="rId7" imgW="1038960" imgH="1788120" progId="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5318" y="2749550"/>
                        <a:ext cx="1038225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사각형 설명선 5"/>
          <p:cNvSpPr/>
          <p:nvPr/>
        </p:nvSpPr>
        <p:spPr>
          <a:xfrm>
            <a:off x="928688" y="1714500"/>
            <a:ext cx="3857625" cy="430213"/>
          </a:xfrm>
          <a:prstGeom prst="wedgeRectCallout">
            <a:avLst>
              <a:gd name="adj1" fmla="val 70833"/>
              <a:gd name="adj2" fmla="val 53216"/>
            </a:avLst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en-US" altLang="ko-KR" sz="2200" b="1" dirty="0">
                <a:solidFill>
                  <a:schemeClr val="tx1"/>
                </a:solidFill>
                <a:latin typeface="Bell MT" pitchFamily="18" charset="0"/>
              </a:rPr>
              <a:t>Standardized HCl solution</a:t>
            </a:r>
          </a:p>
        </p:txBody>
      </p:sp>
      <p:pic>
        <p:nvPicPr>
          <p:cNvPr id="7" name="Picture 4" descr="C:\Users\윤은영\Desktop\2012 가을학기 TA\20120920_161827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165975" y="2816225"/>
            <a:ext cx="1692275" cy="225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179512" y="764704"/>
            <a:ext cx="86804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ko-KR" sz="2800" b="1" i="1" dirty="0">
                <a:solidFill>
                  <a:srgbClr val="006600"/>
                </a:solidFill>
                <a:latin typeface="Copperplate Gothic Light" pitchFamily="34" charset="0"/>
              </a:rPr>
              <a:t>Trial1</a:t>
            </a:r>
            <a:endParaRPr lang="en-US" altLang="ko-KR" sz="2400" i="1" dirty="0">
              <a:latin typeface="Gill Sans MT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7547" y="602128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Start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660157" y="602128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Finish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0" r="46933"/>
          <a:stretch/>
        </p:blipFill>
        <p:spPr>
          <a:xfrm>
            <a:off x="1619672" y="1422568"/>
            <a:ext cx="1872208" cy="4320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31" r="50174"/>
          <a:stretch/>
        </p:blipFill>
        <p:spPr>
          <a:xfrm>
            <a:off x="6012160" y="1422568"/>
            <a:ext cx="1368152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898690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179512" y="764704"/>
            <a:ext cx="86804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ko-KR" sz="2800" b="1" i="1" dirty="0">
                <a:solidFill>
                  <a:srgbClr val="006600"/>
                </a:solidFill>
                <a:latin typeface="Copperplate Gothic Light" pitchFamily="34" charset="0"/>
              </a:rPr>
              <a:t>Trial 2</a:t>
            </a:r>
            <a:endParaRPr lang="en-US" altLang="ko-KR" sz="2400" i="1" dirty="0">
              <a:latin typeface="Gill Sans MT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7547" y="602128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Start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660157" y="602128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Finish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31" r="50174"/>
          <a:stretch/>
        </p:blipFill>
        <p:spPr>
          <a:xfrm>
            <a:off x="1807729" y="1413256"/>
            <a:ext cx="1368152" cy="432000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75" r="42881"/>
          <a:stretch/>
        </p:blipFill>
        <p:spPr>
          <a:xfrm>
            <a:off x="6136246" y="1413256"/>
            <a:ext cx="1008112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74652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179512" y="764704"/>
            <a:ext cx="86804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ko-KR" sz="2800" b="1" i="1" dirty="0">
                <a:solidFill>
                  <a:srgbClr val="006600"/>
                </a:solidFill>
                <a:latin typeface="Copperplate Gothic Light" pitchFamily="34" charset="0"/>
              </a:rPr>
              <a:t>Trial 3</a:t>
            </a:r>
            <a:endParaRPr lang="en-US" altLang="ko-KR" sz="2400" i="1" dirty="0">
              <a:latin typeface="Gill Sans MT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47664" y="602128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Start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660157" y="602128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Finish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65" r="41261"/>
          <a:stretch/>
        </p:blipFill>
        <p:spPr>
          <a:xfrm>
            <a:off x="1907704" y="1422568"/>
            <a:ext cx="1224136" cy="4320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62" r="48553"/>
          <a:stretch/>
        </p:blipFill>
        <p:spPr>
          <a:xfrm>
            <a:off x="6064238" y="1422568"/>
            <a:ext cx="1296144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032534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490337</TotalTime>
  <Words>110</Words>
  <Application>Microsoft Office PowerPoint</Application>
  <PresentationFormat>화면 슬라이드 쇼(4:3)</PresentationFormat>
  <Paragraphs>39</Paragraphs>
  <Slides>11</Slides>
  <Notes>7</Notes>
  <HiddenSlides>0</HiddenSlides>
  <MMClips>0</MMClips>
  <ScaleCrop>false</ScaleCrop>
  <HeadingPairs>
    <vt:vector size="8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7" baseType="lpstr">
      <vt:lpstr>AmeriGarmnd BT</vt:lpstr>
      <vt:lpstr>HY그래픽M</vt:lpstr>
      <vt:lpstr>굴림</vt:lpstr>
      <vt:lpstr>맑은 고딕</vt:lpstr>
      <vt:lpstr>Aharoni</vt:lpstr>
      <vt:lpstr>Arial</vt:lpstr>
      <vt:lpstr>Bell MT</vt:lpstr>
      <vt:lpstr>Bookman Old Style</vt:lpstr>
      <vt:lpstr>Century Gothic</vt:lpstr>
      <vt:lpstr>Copperplate Gothic Light</vt:lpstr>
      <vt:lpstr>Gill Sans MT</vt:lpstr>
      <vt:lpstr>Gill Sans MT Ext Condensed Bold</vt:lpstr>
      <vt:lpstr>Trebuchet MS</vt:lpstr>
      <vt:lpstr>Wingdings 3</vt:lpstr>
      <vt:lpstr>패싯</vt:lpstr>
      <vt:lpstr>CS ChemDraw Drawing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LG</dc:creator>
  <cp:lastModifiedBy>Kyung Ho Kang</cp:lastModifiedBy>
  <cp:revision>1310</cp:revision>
  <dcterms:created xsi:type="dcterms:W3CDTF">2010-05-27T07:33:16Z</dcterms:created>
  <dcterms:modified xsi:type="dcterms:W3CDTF">2020-06-01T01:17:00Z</dcterms:modified>
</cp:coreProperties>
</file>